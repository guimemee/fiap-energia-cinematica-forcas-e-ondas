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47"/>
  </p:notesMasterIdLst>
  <p:handoutMasterIdLst>
    <p:handoutMasterId r:id="rId48"/>
  </p:handoutMasterIdLst>
  <p:sldIdLst>
    <p:sldId id="256" r:id="rId6"/>
    <p:sldId id="266" r:id="rId7"/>
    <p:sldId id="258" r:id="rId8"/>
    <p:sldId id="259" r:id="rId9"/>
    <p:sldId id="329" r:id="rId10"/>
    <p:sldId id="352" r:id="rId11"/>
    <p:sldId id="360" r:id="rId12"/>
    <p:sldId id="353" r:id="rId13"/>
    <p:sldId id="354" r:id="rId14"/>
    <p:sldId id="355" r:id="rId15"/>
    <p:sldId id="356" r:id="rId16"/>
    <p:sldId id="357" r:id="rId17"/>
    <p:sldId id="358" r:id="rId18"/>
    <p:sldId id="359" r:id="rId19"/>
    <p:sldId id="348" r:id="rId20"/>
    <p:sldId id="361" r:id="rId21"/>
    <p:sldId id="362" r:id="rId22"/>
    <p:sldId id="363" r:id="rId23"/>
    <p:sldId id="364" r:id="rId24"/>
    <p:sldId id="365" r:id="rId25"/>
    <p:sldId id="383" r:id="rId26"/>
    <p:sldId id="384" r:id="rId27"/>
    <p:sldId id="376" r:id="rId28"/>
    <p:sldId id="375" r:id="rId29"/>
    <p:sldId id="381" r:id="rId30"/>
    <p:sldId id="382" r:id="rId31"/>
    <p:sldId id="373" r:id="rId32"/>
    <p:sldId id="374" r:id="rId33"/>
    <p:sldId id="366" r:id="rId34"/>
    <p:sldId id="367" r:id="rId35"/>
    <p:sldId id="379" r:id="rId36"/>
    <p:sldId id="368" r:id="rId37"/>
    <p:sldId id="377" r:id="rId38"/>
    <p:sldId id="378" r:id="rId39"/>
    <p:sldId id="369" r:id="rId40"/>
    <p:sldId id="370" r:id="rId41"/>
    <p:sldId id="380" r:id="rId42"/>
    <p:sldId id="371" r:id="rId43"/>
    <p:sldId id="327" r:id="rId44"/>
    <p:sldId id="263" r:id="rId45"/>
    <p:sldId id="265" r:id="rId4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020000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24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53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16/10/2023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10/16/2023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2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39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14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393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01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ECFO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37627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4913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DE COMPUTAÇÃO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3" r:id="rId10"/>
    <p:sldLayoutId id="2147483754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1" y="3222882"/>
            <a:ext cx="6954555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2023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1.wmf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9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2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4.bin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37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15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38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40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42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46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53.wmf"/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32.bin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51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image" Target="../media/image54.wmf"/><Relationship Id="rId7" Type="http://schemas.openxmlformats.org/officeDocument/2006/relationships/image" Target="../media/image56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55.wmf"/><Relationship Id="rId4" Type="http://schemas.openxmlformats.org/officeDocument/2006/relationships/oleObject" Target="../embeddings/oleObject34.bin"/><Relationship Id="rId9" Type="http://schemas.openxmlformats.org/officeDocument/2006/relationships/image" Target="../media/image57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61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png"/><Relationship Id="rId5" Type="http://schemas.openxmlformats.org/officeDocument/2006/relationships/image" Target="../media/image62.wmf"/><Relationship Id="rId4" Type="http://schemas.openxmlformats.org/officeDocument/2006/relationships/oleObject" Target="../embeddings/oleObject40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phet.colorado.edu/sims/html/energy-skate-park-basics/latest/energy-skate-park-basics_pt_BR.html" TargetMode="Externa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1"/>
          <p:cNvSpPr txBox="1"/>
          <p:nvPr/>
        </p:nvSpPr>
        <p:spPr>
          <a:xfrm>
            <a:off x="1042704" y="4485205"/>
            <a:ext cx="498979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JUNIOR</a:t>
            </a: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59DE286C-8C28-41D2-AE6E-1E1D6EA53C8C}"/>
              </a:ext>
            </a:extLst>
          </p:cNvPr>
          <p:cNvSpPr txBox="1"/>
          <p:nvPr/>
        </p:nvSpPr>
        <p:spPr>
          <a:xfrm>
            <a:off x="1042704" y="3898936"/>
            <a:ext cx="3183688" cy="402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ECFO</a:t>
            </a:r>
          </a:p>
        </p:txBody>
      </p:sp>
    </p:spTree>
    <p:extLst>
      <p:ext uri="{BB962C8B-B14F-4D97-AF65-F5344CB8AC3E}">
        <p14:creationId xmlns:p14="http://schemas.microsoft.com/office/powerpoint/2010/main" val="1418144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dirty="0"/>
              <a:t>	Graduação em Tecnologia em Saúde (FATEC-SO), em Física (IFGW), mestrado e doutorado em Engenharia Elétrica (FEEC - UNICAMP). Atualmente é professor da FIAP. Atuação em Biofísica, propagação elétrica em membranas celulares, estimulação elétrica, desenvolvimento de projetos baseados em microcontroladores e eletrônica para sistemas embarcados.</a:t>
            </a:r>
          </a:p>
        </p:txBody>
      </p:sp>
      <p:sp>
        <p:nvSpPr>
          <p:cNvPr id="19" name="TextBox 10"/>
          <p:cNvSpPr txBox="1"/>
          <p:nvPr/>
        </p:nvSpPr>
        <p:spPr>
          <a:xfrm>
            <a:off x="4163412" y="4867582"/>
            <a:ext cx="4097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Jr.</a:t>
            </a:r>
          </a:p>
        </p:txBody>
      </p:sp>
      <p:sp>
        <p:nvSpPr>
          <p:cNvPr id="22" name="TextBox 15"/>
          <p:cNvSpPr txBox="1"/>
          <p:nvPr/>
        </p:nvSpPr>
        <p:spPr>
          <a:xfrm>
            <a:off x="4177606" y="5262363"/>
            <a:ext cx="2380780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nivaldex@gmail.com</a:t>
            </a:r>
          </a:p>
        </p:txBody>
      </p:sp>
      <p:pic>
        <p:nvPicPr>
          <p:cNvPr id="6" name="Espaço Reservado para Imagem 5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17" t="4139" r="13421" b="4139"/>
          <a:stretch/>
        </p:blipFill>
        <p:spPr>
          <a:xfrm>
            <a:off x="355600" y="685800"/>
            <a:ext cx="3403600" cy="5164138"/>
          </a:xfrm>
        </p:spPr>
      </p:pic>
      <p:sp>
        <p:nvSpPr>
          <p:cNvPr id="10" name="Isosceles Triangle 2"/>
          <p:cNvSpPr/>
          <p:nvPr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182776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ço Reservado para Texto 2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altLang="pt-BR" sz="2400" dirty="0">
                <a:solidFill>
                  <a:srgbClr val="FF0000"/>
                </a:solidFill>
              </a:rPr>
              <a:t>Trabalho e Energia – Parte I.</a:t>
            </a:r>
          </a:p>
        </p:txBody>
      </p:sp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4"/>
          <p:cNvSpPr>
            <a:spLocks noChangeArrowheads="1"/>
          </p:cNvSpPr>
          <p:nvPr/>
        </p:nvSpPr>
        <p:spPr bwMode="auto">
          <a:xfrm>
            <a:off x="0" y="754063"/>
            <a:ext cx="9144000" cy="2970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1" hangingPunct="1"/>
            <a:r>
              <a:rPr lang="pt-BR" altLang="pt-BR" sz="2800" dirty="0"/>
              <a:t>	</a:t>
            </a:r>
            <a:r>
              <a:rPr lang="pt-BR" altLang="pt-BR" sz="2800" b="1" dirty="0"/>
              <a:t>As Leis de Newton podem falhar!</a:t>
            </a:r>
          </a:p>
          <a:p>
            <a:pPr algn="just" eaLnBrk="1" hangingPunct="1">
              <a:lnSpc>
                <a:spcPct val="150000"/>
              </a:lnSpc>
            </a:pPr>
            <a:endParaRPr lang="pt-BR" altLang="pt-BR" sz="1000" b="0" dirty="0"/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600" b="0" dirty="0"/>
              <a:t>	A Mecânica Newtoniana, apesar de grandiosa, falha quando aplicada a partículas que se movem com velocidades comparadas a da luz, dando origem à Teoria da Relatividade Especial de Einstein. Ela também falha quando aplicada ao movimento dos elétrons nos átomos, dando origem a Física Quântica. Embora a Mecânica Newtoniana falhe nestas fronteiras ele dá origem a conceitos que ainda sim se aplicam em todas as situações físicas, estes conceitos são ditos universais e envolvem as Leis de Conservação de Energia e Momento.</a:t>
            </a:r>
          </a:p>
        </p:txBody>
      </p:sp>
      <p:pic>
        <p:nvPicPr>
          <p:cNvPr id="8" name="Picture 39" descr="x-ray-atom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400" y="3361038"/>
            <a:ext cx="2303462" cy="147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0" descr="1196239142Y6no3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3870530"/>
            <a:ext cx="2524125" cy="280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1" descr="colunista_adilsonelectr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300" y="4481513"/>
            <a:ext cx="2298700" cy="229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2" descr="fisica_quantic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6619" y="4991306"/>
            <a:ext cx="2087562" cy="1687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217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>
            <a:spLocks noChangeArrowheads="1"/>
          </p:cNvSpPr>
          <p:nvPr/>
        </p:nvSpPr>
        <p:spPr bwMode="auto">
          <a:xfrm>
            <a:off x="0" y="866746"/>
            <a:ext cx="9144000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pt-BR" b="1" dirty="0"/>
              <a:t>	</a:t>
            </a:r>
            <a:r>
              <a:rPr lang="pt-BR" sz="2200" b="1" dirty="0"/>
              <a:t>Trabalho de uma força ao longo de um deslocamento: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	A imagem seguinte apresenta três situações onde corpos de massas diferentes são elevados até a mesma altura h.</a:t>
            </a:r>
          </a:p>
        </p:txBody>
      </p:sp>
      <p:pic>
        <p:nvPicPr>
          <p:cNvPr id="5" name="Imagem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71063"/>
            <a:ext cx="9144000" cy="3693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8012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51399"/>
            <a:ext cx="9144000" cy="3693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aixaDeTexto 2"/>
          <p:cNvSpPr txBox="1">
            <a:spLocks noChangeArrowheads="1"/>
          </p:cNvSpPr>
          <p:nvPr/>
        </p:nvSpPr>
        <p:spPr bwMode="auto">
          <a:xfrm>
            <a:off x="0" y="847080"/>
            <a:ext cx="9144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pt-BR" dirty="0"/>
              <a:t>	Qual das pedras dará mais </a:t>
            </a:r>
            <a:r>
              <a:rPr lang="pt-BR" b="1" dirty="0">
                <a:solidFill>
                  <a:srgbClr val="FF0000"/>
                </a:solidFill>
              </a:rPr>
              <a:t>TRABALHO</a:t>
            </a:r>
            <a:r>
              <a:rPr lang="pt-BR" dirty="0"/>
              <a:t> para o neandertal levantá-la?</a:t>
            </a:r>
          </a:p>
          <a:p>
            <a:pPr algn="just"/>
            <a:r>
              <a:rPr lang="pt-BR" dirty="0"/>
              <a:t>Qual a característica das pedras e que faz com que elas exijam diferentes quantidades de trabalho para serem levantadas? A massa ou o peso?</a:t>
            </a:r>
          </a:p>
        </p:txBody>
      </p:sp>
    </p:spTree>
    <p:extLst>
      <p:ext uri="{BB962C8B-B14F-4D97-AF65-F5344CB8AC3E}">
        <p14:creationId xmlns:p14="http://schemas.microsoft.com/office/powerpoint/2010/main" val="88798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51399"/>
            <a:ext cx="9144000" cy="3693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/>
          <p:cNvSpPr txBox="1">
            <a:spLocks noChangeArrowheads="1"/>
          </p:cNvSpPr>
          <p:nvPr/>
        </p:nvSpPr>
        <p:spPr bwMode="auto">
          <a:xfrm>
            <a:off x="0" y="847080"/>
            <a:ext cx="9144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pt-BR" dirty="0"/>
              <a:t>	Qual das pedras dará mais </a:t>
            </a:r>
            <a:r>
              <a:rPr lang="pt-BR" b="1" dirty="0">
                <a:solidFill>
                  <a:srgbClr val="FF0000"/>
                </a:solidFill>
              </a:rPr>
              <a:t>TRABALHO</a:t>
            </a:r>
            <a:r>
              <a:rPr lang="pt-BR" dirty="0"/>
              <a:t> para o neandertal levantá-la?</a:t>
            </a:r>
          </a:p>
          <a:p>
            <a:pPr algn="just"/>
            <a:r>
              <a:rPr lang="pt-BR" dirty="0"/>
              <a:t>Qual a característica das pedras e que faz com que elas exijam diferentes quantidades de trabalho para serem levantadas? A massa ou o </a:t>
            </a:r>
            <a:r>
              <a:rPr lang="pt-BR" b="1" dirty="0">
                <a:solidFill>
                  <a:srgbClr val="FF0000"/>
                </a:solidFill>
              </a:rPr>
              <a:t>peso</a:t>
            </a:r>
            <a:r>
              <a:rPr lang="pt-B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06749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23" y="2175798"/>
            <a:ext cx="3662362" cy="374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aixaDeTexto 2"/>
          <p:cNvSpPr txBox="1">
            <a:spLocks noChangeArrowheads="1"/>
          </p:cNvSpPr>
          <p:nvPr/>
        </p:nvSpPr>
        <p:spPr bwMode="auto">
          <a:xfrm>
            <a:off x="0" y="858211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pt-BR" dirty="0"/>
              <a:t>	Depois que as pedras foram levantadas até a altura h será que elas guardam alguma quantidade relacionada a quantidade de trabalho que foi necessária para levantá-las?</a:t>
            </a:r>
          </a:p>
        </p:txBody>
      </p:sp>
    </p:spTree>
    <p:extLst>
      <p:ext uri="{BB962C8B-B14F-4D97-AF65-F5344CB8AC3E}">
        <p14:creationId xmlns:p14="http://schemas.microsoft.com/office/powerpoint/2010/main" val="55809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>
            <a:spLocks noChangeArrowheads="1"/>
          </p:cNvSpPr>
          <p:nvPr/>
        </p:nvSpPr>
        <p:spPr bwMode="auto">
          <a:xfrm>
            <a:off x="0" y="856913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pt-BR" dirty="0"/>
              <a:t>	Depois que as pedras foram levantadas até a altura h será que elas guardam alguma quantidade relacionada a quantidade de trabalho que foi necessária para levantá-las? </a:t>
            </a:r>
            <a:r>
              <a:rPr lang="pt-BR" b="1" dirty="0">
                <a:solidFill>
                  <a:srgbClr val="FF0000"/>
                </a:solidFill>
              </a:rPr>
              <a:t>Sim.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23" y="2175798"/>
            <a:ext cx="3662362" cy="374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6290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336" y="2372186"/>
            <a:ext cx="3662362" cy="374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aixaDeTexto 2"/>
          <p:cNvSpPr txBox="1">
            <a:spLocks noChangeArrowheads="1"/>
          </p:cNvSpPr>
          <p:nvPr/>
        </p:nvSpPr>
        <p:spPr bwMode="auto">
          <a:xfrm>
            <a:off x="0" y="866745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pt-BR" dirty="0"/>
              <a:t>	Como podemos testar a quantidade de trabalho acumulada pelas pedras?</a:t>
            </a:r>
          </a:p>
        </p:txBody>
      </p:sp>
    </p:spTree>
    <p:extLst>
      <p:ext uri="{BB962C8B-B14F-4D97-AF65-F5344CB8AC3E}">
        <p14:creationId xmlns:p14="http://schemas.microsoft.com/office/powerpoint/2010/main" val="258623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>
            <a:spLocks noChangeArrowheads="1"/>
          </p:cNvSpPr>
          <p:nvPr/>
        </p:nvSpPr>
        <p:spPr bwMode="auto">
          <a:xfrm>
            <a:off x="0" y="866745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pt-BR" dirty="0"/>
              <a:t>	Como podemos testar a quantidade de trabalho acumulada pelas pedras?</a:t>
            </a:r>
          </a:p>
          <a:p>
            <a:pPr algn="just"/>
            <a:r>
              <a:rPr lang="pt-BR" dirty="0"/>
              <a:t>	</a:t>
            </a:r>
            <a:r>
              <a:rPr lang="pt-BR" b="1" dirty="0">
                <a:solidFill>
                  <a:srgbClr val="FF0000"/>
                </a:solidFill>
              </a:rPr>
              <a:t> R: </a:t>
            </a:r>
            <a:r>
              <a:rPr lang="pt-BR" dirty="0"/>
              <a:t>Colocando o pé embaixo da pedra e deixando ela cair.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336" y="2372186"/>
            <a:ext cx="3662362" cy="374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384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0179" y="2844135"/>
            <a:ext cx="3662362" cy="374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aixaDeTexto 2"/>
          <p:cNvSpPr txBox="1">
            <a:spLocks noChangeArrowheads="1"/>
          </p:cNvSpPr>
          <p:nvPr/>
        </p:nvSpPr>
        <p:spPr bwMode="auto">
          <a:xfrm>
            <a:off x="0" y="777875"/>
            <a:ext cx="9143999" cy="1711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	</a:t>
            </a:r>
            <a:r>
              <a:rPr lang="pt-BR" b="0" dirty="0">
                <a:solidFill>
                  <a:schemeClr val="tx1"/>
                </a:solidFill>
                <a:latin typeface="Calibri" panose="020F0502020204030204" pitchFamily="34" charset="0"/>
              </a:rPr>
              <a:t>A estas quantidades de energias acumuladas pelas pedras damos o nome de </a:t>
            </a:r>
            <a:r>
              <a:rPr lang="pt-BR" dirty="0">
                <a:solidFill>
                  <a:srgbClr val="FF0000"/>
                </a:solidFill>
                <a:latin typeface="Calibri" panose="020F0502020204030204" pitchFamily="34" charset="0"/>
              </a:rPr>
              <a:t>energia potencial gravitacional</a:t>
            </a:r>
            <a:r>
              <a:rPr lang="pt-BR" b="0" dirty="0">
                <a:solidFill>
                  <a:schemeClr val="tx1"/>
                </a:solidFill>
                <a:latin typeface="Calibri" panose="020F0502020204030204" pitchFamily="34" charset="0"/>
              </a:rPr>
              <a:t>. </a:t>
            </a:r>
            <a:r>
              <a:rPr lang="pt-BR" dirty="0">
                <a:solidFill>
                  <a:srgbClr val="FF0000"/>
                </a:solidFill>
                <a:latin typeface="Calibri" panose="020F0502020204030204" pitchFamily="34" charset="0"/>
              </a:rPr>
              <a:t>Potencial</a:t>
            </a:r>
            <a:r>
              <a:rPr lang="pt-BR" b="0" dirty="0">
                <a:solidFill>
                  <a:schemeClr val="tx1"/>
                </a:solidFill>
                <a:latin typeface="Calibri" panose="020F0502020204030204" pitchFamily="34" charset="0"/>
              </a:rPr>
              <a:t> porque ela tem o potencial de executar trabalho (sob seu pé por exemplo!) e </a:t>
            </a:r>
            <a:r>
              <a:rPr lang="pt-BR" dirty="0">
                <a:solidFill>
                  <a:srgbClr val="FF0000"/>
                </a:solidFill>
                <a:latin typeface="Calibri" panose="020F0502020204030204" pitchFamily="34" charset="0"/>
              </a:rPr>
              <a:t>gravitacional</a:t>
            </a:r>
            <a:r>
              <a:rPr lang="pt-BR" b="0" dirty="0">
                <a:solidFill>
                  <a:schemeClr val="tx1"/>
                </a:solidFill>
                <a:latin typeface="Calibri" panose="020F0502020204030204" pitchFamily="34" charset="0"/>
              </a:rPr>
              <a:t> porque ela foi conseguida através de um esforço para vencer o peso (força da gravidade).</a:t>
            </a:r>
          </a:p>
        </p:txBody>
      </p:sp>
    </p:spTree>
    <p:extLst>
      <p:ext uri="{BB962C8B-B14F-4D97-AF65-F5344CB8AC3E}">
        <p14:creationId xmlns:p14="http://schemas.microsoft.com/office/powerpoint/2010/main" val="3992880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>
            <a:spLocks noChangeArrowheads="1"/>
          </p:cNvSpPr>
          <p:nvPr/>
        </p:nvSpPr>
        <p:spPr bwMode="auto">
          <a:xfrm>
            <a:off x="0" y="0"/>
            <a:ext cx="896461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	</a:t>
            </a:r>
            <a:r>
              <a:rPr lang="pt-BR" dirty="0">
                <a:solidFill>
                  <a:schemeClr val="tx1"/>
                </a:solidFill>
                <a:latin typeface="Calibri" panose="020F0502020204030204" pitchFamily="34" charset="0"/>
              </a:rPr>
              <a:t>Descobrindo uma fórmula para o trabalho.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3973"/>
            <a:ext cx="6351639" cy="3691527"/>
          </a:xfrm>
          <a:prstGeom prst="rect">
            <a:avLst/>
          </a:prstGeom>
        </p:spPr>
      </p:pic>
      <p:cxnSp>
        <p:nvCxnSpPr>
          <p:cNvPr id="4" name="Conector de Seta Reta 3"/>
          <p:cNvCxnSpPr/>
          <p:nvPr/>
        </p:nvCxnSpPr>
        <p:spPr>
          <a:xfrm flipV="1">
            <a:off x="2011680" y="967740"/>
            <a:ext cx="0" cy="224790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551692"/>
              </p:ext>
            </p:extLst>
          </p:nvPr>
        </p:nvGraphicFramePr>
        <p:xfrm>
          <a:off x="-9525" y="4649013"/>
          <a:ext cx="6056313" cy="169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3809880" imgH="1041120" progId="Equation.3">
                  <p:embed/>
                </p:oleObj>
              </mc:Choice>
              <mc:Fallback>
                <p:oleObj name="Equação" r:id="rId3" imgW="3809880" imgH="1041120" progId="Equation.3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9525" y="4649013"/>
                        <a:ext cx="6056313" cy="16906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CaixaDeTexto 20"/>
          <p:cNvSpPr txBox="1"/>
          <p:nvPr/>
        </p:nvSpPr>
        <p:spPr>
          <a:xfrm>
            <a:off x="1626638" y="191845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0B0F0"/>
                </a:solidFill>
              </a:rPr>
              <a:t>d</a:t>
            </a:r>
            <a:r>
              <a:rPr lang="pt-BR" b="1" baseline="-25000" dirty="0">
                <a:solidFill>
                  <a:srgbClr val="00B0F0"/>
                </a:solidFill>
              </a:rPr>
              <a:t>1</a:t>
            </a:r>
          </a:p>
        </p:txBody>
      </p:sp>
      <p:cxnSp>
        <p:nvCxnSpPr>
          <p:cNvPr id="22" name="Conector de Seta Reta 21"/>
          <p:cNvCxnSpPr/>
          <p:nvPr/>
        </p:nvCxnSpPr>
        <p:spPr>
          <a:xfrm flipV="1">
            <a:off x="2011680" y="914400"/>
            <a:ext cx="3905473" cy="230124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490183"/>
              </p:ext>
            </p:extLst>
          </p:nvPr>
        </p:nvGraphicFramePr>
        <p:xfrm>
          <a:off x="6550025" y="914400"/>
          <a:ext cx="2114550" cy="211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1790640" imgH="1752480" progId="Equation.3">
                  <p:embed/>
                </p:oleObj>
              </mc:Choice>
              <mc:Fallback>
                <p:oleObj name="Equação" r:id="rId5" imgW="1790640" imgH="1752480" progId="Equation.3">
                  <p:embed/>
                  <p:pic>
                    <p:nvPicPr>
                      <p:cNvPr id="1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0025" y="914400"/>
                        <a:ext cx="2114550" cy="211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643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>
            <a:spLocks noChangeArrowheads="1"/>
          </p:cNvSpPr>
          <p:nvPr/>
        </p:nvSpPr>
        <p:spPr bwMode="auto">
          <a:xfrm>
            <a:off x="0" y="772350"/>
            <a:ext cx="9144000" cy="464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  <a:latin typeface="Calibri" panose="020F0502020204030204" pitchFamily="34" charset="0"/>
              </a:rPr>
              <a:t>	Trabalho: Definição</a:t>
            </a:r>
          </a:p>
        </p:txBody>
      </p:sp>
      <p:pic>
        <p:nvPicPr>
          <p:cNvPr id="3" name="Picture 8" descr="novo-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565400"/>
            <a:ext cx="3744912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9" descr="novo-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063" y="2359025"/>
            <a:ext cx="4452937" cy="367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87313" y="5151438"/>
            <a:ext cx="33909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1600">
                <a:solidFill>
                  <a:schemeClr val="tx1"/>
                </a:solidFill>
              </a:rPr>
              <a:t>1 Joule = 1 J = 1 N.m = 1 kg.m</a:t>
            </a:r>
            <a:r>
              <a:rPr lang="pt-BR" sz="1600" baseline="30000">
                <a:solidFill>
                  <a:schemeClr val="tx1"/>
                </a:solidFill>
              </a:rPr>
              <a:t>2</a:t>
            </a:r>
            <a:r>
              <a:rPr lang="pt-BR" sz="1600">
                <a:solidFill>
                  <a:schemeClr val="tx1"/>
                </a:solidFill>
              </a:rPr>
              <a:t>/s</a:t>
            </a:r>
            <a:r>
              <a:rPr lang="pt-BR" sz="1600" baseline="30000">
                <a:solidFill>
                  <a:schemeClr val="tx1"/>
                </a:solidFill>
              </a:rPr>
              <a:t>2</a:t>
            </a: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71039"/>
              </p:ext>
            </p:extLst>
          </p:nvPr>
        </p:nvGraphicFramePr>
        <p:xfrm>
          <a:off x="1007278" y="1440639"/>
          <a:ext cx="1267097" cy="711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507960" imgH="279360" progId="Equation.3">
                  <p:embed/>
                </p:oleObj>
              </mc:Choice>
              <mc:Fallback>
                <p:oleObj name="Equação" r:id="rId4" imgW="507960" imgH="279360" progId="Equation.3">
                  <p:embed/>
                  <p:pic>
                    <p:nvPicPr>
                      <p:cNvPr id="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7278" y="1440639"/>
                        <a:ext cx="1267097" cy="711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316575"/>
              </p:ext>
            </p:extLst>
          </p:nvPr>
        </p:nvGraphicFramePr>
        <p:xfrm>
          <a:off x="2822062" y="1678821"/>
          <a:ext cx="20288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812520" imgH="177480" progId="Equation.3">
                  <p:embed/>
                </p:oleObj>
              </mc:Choice>
              <mc:Fallback>
                <p:oleObj name="Equação" r:id="rId6" imgW="812520" imgH="177480" progId="Equation.3">
                  <p:embed/>
                  <p:pic>
                    <p:nvPicPr>
                      <p:cNvPr id="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062" y="1678821"/>
                        <a:ext cx="20288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95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>
            <a:spLocks noChangeArrowheads="1"/>
          </p:cNvSpPr>
          <p:nvPr/>
        </p:nvSpPr>
        <p:spPr bwMode="auto">
          <a:xfrm>
            <a:off x="0" y="823461"/>
            <a:ext cx="9144000" cy="209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pt-BR" sz="2200" b="1" dirty="0"/>
              <a:t>	Forças conservativas:</a:t>
            </a:r>
          </a:p>
          <a:p>
            <a:pPr algn="just">
              <a:lnSpc>
                <a:spcPct val="150000"/>
              </a:lnSpc>
            </a:pPr>
            <a:r>
              <a:rPr lang="pt-BR" dirty="0"/>
              <a:t>	As forças conservativas podem ser entendidas como aquelas forças cujo trabalho entre dois pontos (separados por uma distância d)  não depende da trajetória escolhida. A figura (a) mostra três trajetórias possíveis, se as forças envolvidas são conservativas, o trabalho realizado por elas ao logo de uma trajetória fechada, que volta ao mesmo local, é nulo.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795" y="3688867"/>
            <a:ext cx="5017205" cy="2915964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665522"/>
            <a:ext cx="3667432" cy="1818645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1508195" y="3227202"/>
            <a:ext cx="529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(a)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7218957" y="3227202"/>
            <a:ext cx="5421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(b)</a:t>
            </a: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482763"/>
              </p:ext>
            </p:extLst>
          </p:nvPr>
        </p:nvGraphicFramePr>
        <p:xfrm>
          <a:off x="158440" y="5502342"/>
          <a:ext cx="3184528" cy="578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358640" imgH="241200" progId="Equation.3">
                  <p:embed/>
                </p:oleObj>
              </mc:Choice>
              <mc:Fallback>
                <p:oleObj name="Equação" r:id="rId4" imgW="1358640" imgH="241200" progId="Equation.3">
                  <p:embed/>
                  <p:pic>
                    <p:nvPicPr>
                      <p:cNvPr id="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40" y="5502342"/>
                        <a:ext cx="3184528" cy="578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5171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>
            <a:spLocks noChangeArrowheads="1"/>
          </p:cNvSpPr>
          <p:nvPr/>
        </p:nvSpPr>
        <p:spPr bwMode="auto">
          <a:xfrm>
            <a:off x="0" y="823461"/>
            <a:ext cx="9147190" cy="1677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pt-BR" sz="2200" b="1" dirty="0"/>
              <a:t>	Trabalho da força peso:</a:t>
            </a:r>
          </a:p>
          <a:p>
            <a:pPr algn="just">
              <a:lnSpc>
                <a:spcPct val="150000"/>
              </a:lnSpc>
            </a:pPr>
            <a:r>
              <a:rPr lang="pt-BR" dirty="0"/>
              <a:t>	A força peso é uma força conservativa, na figura seguinte o trabalho realizado pela força peso ao se deslocar um objeto de massa m não depende do caminho escolhido, más, apenas das alturas inicial e final.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0" t="10900" r="20942" b="12286"/>
          <a:stretch/>
        </p:blipFill>
        <p:spPr>
          <a:xfrm>
            <a:off x="115889" y="2775252"/>
            <a:ext cx="4842194" cy="3669475"/>
          </a:xfrm>
          <a:prstGeom prst="rect">
            <a:avLst/>
          </a:prstGeom>
        </p:spPr>
      </p:pic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1183058"/>
              </p:ext>
            </p:extLst>
          </p:nvPr>
        </p:nvGraphicFramePr>
        <p:xfrm>
          <a:off x="5025836" y="2774937"/>
          <a:ext cx="4121354" cy="445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2158920" imgH="228600" progId="Equation.3">
                  <p:embed/>
                </p:oleObj>
              </mc:Choice>
              <mc:Fallback>
                <p:oleObj name="Equação" r:id="rId3" imgW="2158920" imgH="228600" progId="Equation.3">
                  <p:embed/>
                  <p:pic>
                    <p:nvPicPr>
                      <p:cNvPr id="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5836" y="2774937"/>
                        <a:ext cx="4121354" cy="4455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386030"/>
              </p:ext>
            </p:extLst>
          </p:nvPr>
        </p:nvGraphicFramePr>
        <p:xfrm>
          <a:off x="5041034" y="3221739"/>
          <a:ext cx="3685547" cy="47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1930320" imgH="241200" progId="Equation.3">
                  <p:embed/>
                </p:oleObj>
              </mc:Choice>
              <mc:Fallback>
                <p:oleObj name="Equação" r:id="rId5" imgW="1930320" imgH="241200" progId="Equation.3">
                  <p:embed/>
                  <p:pic>
                    <p:nvPicPr>
                      <p:cNvPr id="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034" y="3221739"/>
                        <a:ext cx="3685547" cy="47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Conector de Seta Reta 6"/>
          <p:cNvCxnSpPr/>
          <p:nvPr/>
        </p:nvCxnSpPr>
        <p:spPr>
          <a:xfrm>
            <a:off x="1717964" y="5992251"/>
            <a:ext cx="0" cy="5014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5247227"/>
              </p:ext>
            </p:extLst>
          </p:nvPr>
        </p:nvGraphicFramePr>
        <p:xfrm>
          <a:off x="1740866" y="5992251"/>
          <a:ext cx="3810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7" imgW="152280" imgH="266400" progId="Equation.3">
                  <p:embed/>
                </p:oleObj>
              </mc:Choice>
              <mc:Fallback>
                <p:oleObj name="Equação" r:id="rId7" imgW="152280" imgH="26640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0866" y="5992251"/>
                        <a:ext cx="38100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Conector de Seta Reta 7"/>
          <p:cNvCxnSpPr/>
          <p:nvPr/>
        </p:nvCxnSpPr>
        <p:spPr>
          <a:xfrm flipV="1">
            <a:off x="1717964" y="3369690"/>
            <a:ext cx="1" cy="264318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794060" y="4535055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rgbClr val="00B0F0"/>
                </a:solidFill>
              </a:rPr>
              <a:t>d</a:t>
            </a:r>
          </a:p>
        </p:txBody>
      </p:sp>
      <p:cxnSp>
        <p:nvCxnSpPr>
          <p:cNvPr id="17" name="Conector de Seta Reta 16"/>
          <p:cNvCxnSpPr/>
          <p:nvPr/>
        </p:nvCxnSpPr>
        <p:spPr>
          <a:xfrm>
            <a:off x="1870260" y="4609989"/>
            <a:ext cx="263340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33467"/>
              </p:ext>
            </p:extLst>
          </p:nvPr>
        </p:nvGraphicFramePr>
        <p:xfrm>
          <a:off x="5044224" y="3851804"/>
          <a:ext cx="4102966" cy="2981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9" imgW="2705040" imgH="1930320" progId="Equation.3">
                  <p:embed/>
                </p:oleObj>
              </mc:Choice>
              <mc:Fallback>
                <p:oleObj name="Equação" r:id="rId9" imgW="2705040" imgH="193032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4224" y="3851804"/>
                        <a:ext cx="4102966" cy="298168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CaixaDeTexto 18"/>
          <p:cNvSpPr txBox="1"/>
          <p:nvPr/>
        </p:nvSpPr>
        <p:spPr>
          <a:xfrm>
            <a:off x="4087384" y="2836054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10m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091518" y="6058307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5m</a:t>
            </a:r>
          </a:p>
        </p:txBody>
      </p:sp>
      <p:cxnSp>
        <p:nvCxnSpPr>
          <p:cNvPr id="21" name="Conector de Seta Reta 20"/>
          <p:cNvCxnSpPr/>
          <p:nvPr/>
        </p:nvCxnSpPr>
        <p:spPr>
          <a:xfrm>
            <a:off x="2800468" y="3381557"/>
            <a:ext cx="0" cy="5014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874361"/>
              </p:ext>
            </p:extLst>
          </p:nvPr>
        </p:nvGraphicFramePr>
        <p:xfrm>
          <a:off x="2823370" y="3381557"/>
          <a:ext cx="3810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7" imgW="152280" imgH="266400" progId="Equation.3">
                  <p:embed/>
                </p:oleObj>
              </mc:Choice>
              <mc:Fallback>
                <p:oleObj name="Equação" r:id="rId7" imgW="152280" imgH="266400" progId="Equation.3">
                  <p:embed/>
                  <p:pic>
                    <p:nvPicPr>
                      <p:cNvPr id="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3370" y="3381557"/>
                        <a:ext cx="38100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Conector de Seta Reta 22"/>
          <p:cNvCxnSpPr/>
          <p:nvPr/>
        </p:nvCxnSpPr>
        <p:spPr>
          <a:xfrm>
            <a:off x="2840724" y="3381557"/>
            <a:ext cx="0" cy="250108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2858079" y="4575730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rgbClr val="00B0F0"/>
                </a:solidFill>
              </a:rPr>
              <a:t>d</a:t>
            </a:r>
          </a:p>
        </p:txBody>
      </p:sp>
      <p:cxnSp>
        <p:nvCxnSpPr>
          <p:cNvPr id="27" name="Conector de Seta Reta 26"/>
          <p:cNvCxnSpPr/>
          <p:nvPr/>
        </p:nvCxnSpPr>
        <p:spPr>
          <a:xfrm>
            <a:off x="2941030" y="4632098"/>
            <a:ext cx="263340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105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>
            <a:spLocks noChangeArrowheads="1"/>
          </p:cNvSpPr>
          <p:nvPr/>
        </p:nvSpPr>
        <p:spPr bwMode="auto">
          <a:xfrm>
            <a:off x="0" y="823461"/>
            <a:ext cx="9144000" cy="1677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pt-BR" sz="2200" b="1" dirty="0"/>
              <a:t>	Energia potencial gravitacional:</a:t>
            </a:r>
          </a:p>
          <a:p>
            <a:pPr algn="just">
              <a:lnSpc>
                <a:spcPct val="150000"/>
              </a:lnSpc>
            </a:pPr>
            <a:r>
              <a:rPr lang="pt-BR" dirty="0"/>
              <a:t>	Quando um objeto de massa m encontra-se a uma altura h ele possui uma energia gravitacional armazenada e que pode ser usada para executar trabalho, por exemplo, sobre seu pé! Esta energia é dada pela fórmula: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4" y="3068044"/>
            <a:ext cx="3100794" cy="3391493"/>
          </a:xfrm>
          <a:prstGeom prst="rect">
            <a:avLst/>
          </a:prstGeom>
        </p:spPr>
      </p:pic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595697"/>
              </p:ext>
            </p:extLst>
          </p:nvPr>
        </p:nvGraphicFramePr>
        <p:xfrm>
          <a:off x="3481388" y="3068638"/>
          <a:ext cx="3932237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574640" imgH="241200" progId="Equation.3">
                  <p:embed/>
                </p:oleObj>
              </mc:Choice>
              <mc:Fallback>
                <p:oleObj name="Equação" r:id="rId3" imgW="1574640" imgH="241200" progId="Equation.3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388" y="3068638"/>
                        <a:ext cx="3932237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4475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5BE9351-A3C0-4A07-A549-5A76A7510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23461"/>
            <a:ext cx="9144000" cy="3754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pt-BR" sz="2200" b="1" dirty="0"/>
              <a:t>	Energia Cinética:</a:t>
            </a:r>
          </a:p>
          <a:p>
            <a:pPr algn="just">
              <a:lnSpc>
                <a:spcPct val="150000"/>
              </a:lnSpc>
            </a:pPr>
            <a:r>
              <a:rPr lang="pt-BR" dirty="0"/>
              <a:t>	Um corpo de massa m, quando se deslocando a uma velocidade v possui uma energia cinética de:</a:t>
            </a:r>
          </a:p>
          <a:p>
            <a:pPr algn="just">
              <a:lnSpc>
                <a:spcPct val="150000"/>
              </a:lnSpc>
            </a:pPr>
            <a:endParaRPr lang="pt-BR" dirty="0"/>
          </a:p>
          <a:p>
            <a:pPr algn="just">
              <a:lnSpc>
                <a:spcPct val="150000"/>
              </a:lnSpc>
            </a:pPr>
            <a:endParaRPr lang="pt-BR" dirty="0"/>
          </a:p>
          <a:p>
            <a:pPr algn="just">
              <a:lnSpc>
                <a:spcPct val="150000"/>
              </a:lnSpc>
            </a:pPr>
            <a:endParaRPr lang="pt-BR" dirty="0"/>
          </a:p>
          <a:p>
            <a:pPr algn="just">
              <a:lnSpc>
                <a:spcPct val="150000"/>
              </a:lnSpc>
            </a:pPr>
            <a:endParaRPr lang="pt-BR" dirty="0"/>
          </a:p>
          <a:p>
            <a:pPr algn="just">
              <a:lnSpc>
                <a:spcPct val="150000"/>
              </a:lnSpc>
            </a:pPr>
            <a:endParaRPr lang="pt-BR" dirty="0"/>
          </a:p>
          <a:p>
            <a:pPr algn="just">
              <a:lnSpc>
                <a:spcPct val="150000"/>
              </a:lnSpc>
            </a:pPr>
            <a:r>
              <a:rPr lang="pt-BR" dirty="0"/>
              <a:t>Energia mecânica: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453230"/>
              </p:ext>
            </p:extLst>
          </p:nvPr>
        </p:nvGraphicFramePr>
        <p:xfrm>
          <a:off x="3461543" y="5218010"/>
          <a:ext cx="22209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888840" imgH="228600" progId="Equation.3">
                  <p:embed/>
                </p:oleObj>
              </mc:Choice>
              <mc:Fallback>
                <p:oleObj name="Equação" r:id="rId2" imgW="888840" imgH="228600" progId="Equation.3">
                  <p:embed/>
                  <p:pic>
                    <p:nvPicPr>
                      <p:cNvPr id="7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1543" y="5218010"/>
                        <a:ext cx="222091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A18B98A-09D4-4103-8193-BA584E6BB4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394666"/>
              </p:ext>
            </p:extLst>
          </p:nvPr>
        </p:nvGraphicFramePr>
        <p:xfrm>
          <a:off x="3652044" y="2676428"/>
          <a:ext cx="1839912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736560" imgH="393480" progId="Equation.3">
                  <p:embed/>
                </p:oleObj>
              </mc:Choice>
              <mc:Fallback>
                <p:oleObj name="Equação" r:id="rId4" imgW="736560" imgH="393480" progId="Equation.3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8A18B98A-09D4-4103-8193-BA584E6BB4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2044" y="2676428"/>
                        <a:ext cx="1839912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2411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1" y="0"/>
            <a:ext cx="9144000" cy="190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/>
          <a:p>
            <a:pPr algn="just" eaLnBrk="1" hangingPunct="1"/>
            <a:r>
              <a:rPr lang="pt-BR" altLang="pt-BR" sz="2200" b="1" dirty="0">
                <a:solidFill>
                  <a:srgbClr val="FF0000"/>
                </a:solidFill>
              </a:rPr>
              <a:t>	Exercício:</a:t>
            </a:r>
          </a:p>
          <a:p>
            <a:pPr algn="just" eaLnBrk="1" hangingPunct="1"/>
            <a:endParaRPr lang="pt-BR" altLang="pt-BR" b="1" dirty="0">
              <a:solidFill>
                <a:srgbClr val="FF0000"/>
              </a:solidFill>
            </a:endParaRPr>
          </a:p>
          <a:p>
            <a:pPr algn="just" eaLnBrk="1" hangingPunct="1"/>
            <a:endParaRPr lang="pt-BR" altLang="pt-BR" sz="1500" b="1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pt-BR" altLang="pt-BR" dirty="0"/>
              <a:t>	</a:t>
            </a:r>
            <a:r>
              <a:rPr lang="pt-BR" altLang="pt-BR" b="1" dirty="0"/>
              <a:t>1)</a:t>
            </a:r>
            <a:r>
              <a:rPr lang="pt-BR" altLang="pt-BR" b="0" dirty="0"/>
              <a:t>	Um estudante em um laboratório levanta do assoalho uma rocha de massa m igual a 12 kg, e eleva-a com aceleração desprezível até uma altura de 1,8m para colocá-la em um armário.</a:t>
            </a:r>
          </a:p>
        </p:txBody>
      </p:sp>
      <p:pic>
        <p:nvPicPr>
          <p:cNvPr id="12" name="Picture 17" descr="novo-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2852738"/>
            <a:ext cx="2986087" cy="316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8"/>
          <p:cNvSpPr>
            <a:spLocks noChangeArrowheads="1"/>
          </p:cNvSpPr>
          <p:nvPr/>
        </p:nvSpPr>
        <p:spPr bwMode="auto">
          <a:xfrm>
            <a:off x="0" y="2004219"/>
            <a:ext cx="6263147" cy="137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/>
          <a:p>
            <a:pPr algn="just" eaLnBrk="1" hangingPunct="1">
              <a:lnSpc>
                <a:spcPct val="120000"/>
              </a:lnSpc>
            </a:pPr>
            <a:r>
              <a:rPr lang="pt-BR" altLang="pt-BR" b="1" dirty="0"/>
              <a:t>a)</a:t>
            </a:r>
            <a:r>
              <a:rPr lang="pt-BR" altLang="pt-BR" b="0" dirty="0"/>
              <a:t> Identifique as forças que agem sobre a rocha e ache seus módulos. </a:t>
            </a:r>
            <a:r>
              <a:rPr lang="pt-BR" altLang="pt-BR" b="1" dirty="0"/>
              <a:t>b)</a:t>
            </a:r>
            <a:r>
              <a:rPr lang="pt-BR" altLang="pt-BR" b="0" dirty="0"/>
              <a:t> Qual o trabalho realizado pelo estudante sobre a rocha? </a:t>
            </a:r>
            <a:r>
              <a:rPr lang="pt-BR" altLang="pt-BR" b="1" dirty="0"/>
              <a:t>c)</a:t>
            </a:r>
            <a:r>
              <a:rPr lang="pt-BR" altLang="pt-BR" b="0" dirty="0"/>
              <a:t> Qual o trabalho realizado pela atração gravitacional sobre a rocha? </a:t>
            </a:r>
            <a:r>
              <a:rPr lang="pt-BR" altLang="pt-BR" b="1" dirty="0"/>
              <a:t>d)</a:t>
            </a:r>
            <a:r>
              <a:rPr lang="pt-BR" altLang="pt-BR" b="0" dirty="0"/>
              <a:t> Qual o trabalho total realizado sobre a rocha?</a:t>
            </a:r>
          </a:p>
        </p:txBody>
      </p:sp>
    </p:spTree>
    <p:extLst>
      <p:ext uri="{BB962C8B-B14F-4D97-AF65-F5344CB8AC3E}">
        <p14:creationId xmlns:p14="http://schemas.microsoft.com/office/powerpoint/2010/main" val="1214730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1" y="0"/>
            <a:ext cx="9144000" cy="8771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/>
          <a:p>
            <a:pPr algn="just" eaLnBrk="1" hangingPunct="1"/>
            <a:r>
              <a:rPr lang="pt-BR" altLang="pt-BR" b="1" dirty="0"/>
              <a:t>1)</a:t>
            </a:r>
            <a:r>
              <a:rPr lang="pt-BR" altLang="pt-BR" b="0" dirty="0"/>
              <a:t>	Um estudante em um laboratório levanta do assoalho uma rocha de massa m igual a 12 kg, e eleva-a com aceleração desprezível até uma altura de 1,8m para colocá-la em um armário.</a:t>
            </a:r>
          </a:p>
        </p:txBody>
      </p:sp>
      <p:pic>
        <p:nvPicPr>
          <p:cNvPr id="5" name="Picture 17" descr="novo-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1642774"/>
            <a:ext cx="2986087" cy="316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0" y="877091"/>
            <a:ext cx="6263147" cy="137576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/>
          <a:p>
            <a:pPr algn="just" eaLnBrk="1" hangingPunct="1">
              <a:lnSpc>
                <a:spcPct val="120000"/>
              </a:lnSpc>
            </a:pPr>
            <a:r>
              <a:rPr lang="pt-BR" altLang="pt-BR" b="1" dirty="0"/>
              <a:t>a)</a:t>
            </a:r>
            <a:r>
              <a:rPr lang="pt-BR" altLang="pt-BR" b="0" dirty="0"/>
              <a:t> Identifique as forças que agem sobre a rocha e ache seus módulos. </a:t>
            </a:r>
            <a:r>
              <a:rPr lang="pt-BR" altLang="pt-BR" b="1" dirty="0"/>
              <a:t>b)</a:t>
            </a:r>
            <a:r>
              <a:rPr lang="pt-BR" altLang="pt-BR" b="0" dirty="0"/>
              <a:t> Qual o trabalho realizado pelo estudante sobre a rocha? </a:t>
            </a:r>
            <a:r>
              <a:rPr lang="pt-BR" altLang="pt-BR" b="1" dirty="0"/>
              <a:t>c)</a:t>
            </a:r>
            <a:r>
              <a:rPr lang="pt-BR" altLang="pt-BR" b="0" dirty="0"/>
              <a:t> Qual o trabalho realizado pela atração gravitacional sobre a rocha? </a:t>
            </a:r>
            <a:r>
              <a:rPr lang="pt-BR" altLang="pt-BR" b="1" dirty="0"/>
              <a:t>d)</a:t>
            </a:r>
            <a:r>
              <a:rPr lang="pt-BR" altLang="pt-BR" b="0" dirty="0"/>
              <a:t> Qual o trabalho total realizado sobre a rocha?</a:t>
            </a:r>
          </a:p>
        </p:txBody>
      </p:sp>
    </p:spTree>
    <p:extLst>
      <p:ext uri="{BB962C8B-B14F-4D97-AF65-F5344CB8AC3E}">
        <p14:creationId xmlns:p14="http://schemas.microsoft.com/office/powerpoint/2010/main" val="3848377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1" y="0"/>
            <a:ext cx="9144000" cy="8771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/>
          <a:p>
            <a:pPr algn="just" eaLnBrk="1" hangingPunct="1"/>
            <a:r>
              <a:rPr lang="pt-BR" altLang="pt-BR" b="1" dirty="0"/>
              <a:t>1)</a:t>
            </a:r>
            <a:r>
              <a:rPr lang="pt-BR" altLang="pt-BR" b="0" dirty="0"/>
              <a:t>	Um estudante em um laboratório levanta do assoalho uma rocha de massa m igual a 12 kg, e eleva-a com aceleração desprezível até uma altura de 1,8m para colocá-la em um armário.</a:t>
            </a:r>
          </a:p>
        </p:txBody>
      </p:sp>
      <p:pic>
        <p:nvPicPr>
          <p:cNvPr id="5" name="Picture 17" descr="novo-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1642774"/>
            <a:ext cx="2986087" cy="316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0" y="877091"/>
            <a:ext cx="6263147" cy="137576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/>
          <a:p>
            <a:pPr algn="just" eaLnBrk="1" hangingPunct="1">
              <a:lnSpc>
                <a:spcPct val="120000"/>
              </a:lnSpc>
            </a:pPr>
            <a:r>
              <a:rPr lang="pt-BR" altLang="pt-BR" b="1" dirty="0"/>
              <a:t>a)</a:t>
            </a:r>
            <a:r>
              <a:rPr lang="pt-BR" altLang="pt-BR" b="0" dirty="0"/>
              <a:t> Identifique as forças que agem sobre a rocha e ache seus módulos. </a:t>
            </a:r>
            <a:r>
              <a:rPr lang="pt-BR" altLang="pt-BR" b="1" dirty="0"/>
              <a:t>b)</a:t>
            </a:r>
            <a:r>
              <a:rPr lang="pt-BR" altLang="pt-BR" b="0" dirty="0"/>
              <a:t> Qual o trabalho realizado pelo estudante sobre a rocha? </a:t>
            </a:r>
            <a:r>
              <a:rPr lang="pt-BR" altLang="pt-BR" b="1" dirty="0"/>
              <a:t>c)</a:t>
            </a:r>
            <a:r>
              <a:rPr lang="pt-BR" altLang="pt-BR" b="0" dirty="0"/>
              <a:t> Qual o trabalho realizado pela atração gravitacional sobre a rocha? </a:t>
            </a:r>
            <a:r>
              <a:rPr lang="pt-BR" altLang="pt-BR" b="1" dirty="0"/>
              <a:t>d)</a:t>
            </a:r>
            <a:r>
              <a:rPr lang="pt-BR" altLang="pt-BR" b="0" dirty="0"/>
              <a:t> Qual o trabalho total realizado sobre a rocha?</a:t>
            </a:r>
          </a:p>
        </p:txBody>
      </p:sp>
    </p:spTree>
    <p:extLst>
      <p:ext uri="{BB962C8B-B14F-4D97-AF65-F5344CB8AC3E}">
        <p14:creationId xmlns:p14="http://schemas.microsoft.com/office/powerpoint/2010/main" val="3169915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1" y="0"/>
            <a:ext cx="9144000" cy="8771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/>
          <a:p>
            <a:pPr algn="just" eaLnBrk="1" hangingPunct="1"/>
            <a:r>
              <a:rPr lang="pt-BR" altLang="pt-BR" b="1" dirty="0"/>
              <a:t>1)</a:t>
            </a:r>
            <a:r>
              <a:rPr lang="pt-BR" altLang="pt-BR" b="0" dirty="0"/>
              <a:t>	Um estudante em um laboratório levanta do assoalho uma rocha de massa m igual a 12 kg, e eleva-a com aceleração desprezível até uma altura de 1,8m para colocá-la em um armário.</a:t>
            </a:r>
          </a:p>
        </p:txBody>
      </p:sp>
      <p:pic>
        <p:nvPicPr>
          <p:cNvPr id="5" name="Picture 17" descr="novo-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1642774"/>
            <a:ext cx="2986087" cy="316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0" y="877091"/>
            <a:ext cx="6263147" cy="137576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/>
          <a:p>
            <a:pPr algn="just" eaLnBrk="1" hangingPunct="1">
              <a:lnSpc>
                <a:spcPct val="120000"/>
              </a:lnSpc>
            </a:pPr>
            <a:r>
              <a:rPr lang="pt-BR" altLang="pt-BR" b="1" dirty="0"/>
              <a:t>a)</a:t>
            </a:r>
            <a:r>
              <a:rPr lang="pt-BR" altLang="pt-BR" b="0" dirty="0"/>
              <a:t> Identifique as forças que agem sobre a rocha e ache seus módulos. </a:t>
            </a:r>
            <a:r>
              <a:rPr lang="pt-BR" altLang="pt-BR" b="1" dirty="0"/>
              <a:t>b)</a:t>
            </a:r>
            <a:r>
              <a:rPr lang="pt-BR" altLang="pt-BR" b="0" dirty="0"/>
              <a:t> Qual o trabalho realizado pelo estudante sobre a rocha? </a:t>
            </a:r>
            <a:r>
              <a:rPr lang="pt-BR" altLang="pt-BR" b="1" dirty="0"/>
              <a:t>c)</a:t>
            </a:r>
            <a:r>
              <a:rPr lang="pt-BR" altLang="pt-BR" b="0" dirty="0"/>
              <a:t> Qual o trabalho realizado pela atração gravitacional sobre a rocha? </a:t>
            </a:r>
            <a:r>
              <a:rPr lang="pt-BR" altLang="pt-BR" b="1" dirty="0"/>
              <a:t>d)</a:t>
            </a:r>
            <a:r>
              <a:rPr lang="pt-BR" altLang="pt-BR" b="0" dirty="0"/>
              <a:t> Qual o trabalho total realizado sobre a rocha?</a:t>
            </a:r>
          </a:p>
        </p:txBody>
      </p:sp>
    </p:spTree>
    <p:extLst>
      <p:ext uri="{BB962C8B-B14F-4D97-AF65-F5344CB8AC3E}">
        <p14:creationId xmlns:p14="http://schemas.microsoft.com/office/powerpoint/2010/main" val="3173696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1" y="0"/>
            <a:ext cx="9144000" cy="8771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/>
          <a:p>
            <a:pPr algn="just" eaLnBrk="1" hangingPunct="1"/>
            <a:r>
              <a:rPr lang="pt-BR" altLang="pt-BR" b="1" dirty="0"/>
              <a:t>1)</a:t>
            </a:r>
            <a:r>
              <a:rPr lang="pt-BR" altLang="pt-BR" b="0" dirty="0"/>
              <a:t>	Um estudante em um laboratório levanta do assoalho uma rocha de massa m igual a 12 kg, e eleva-a com aceleração desprezível até uma altura de 1,8m para colocá-la em um armário.</a:t>
            </a:r>
          </a:p>
        </p:txBody>
      </p:sp>
      <p:pic>
        <p:nvPicPr>
          <p:cNvPr id="5" name="Picture 17" descr="novo-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1642774"/>
            <a:ext cx="2986087" cy="316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0" y="877091"/>
            <a:ext cx="6263147" cy="137576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/>
          <a:p>
            <a:pPr algn="just" eaLnBrk="1" hangingPunct="1">
              <a:lnSpc>
                <a:spcPct val="120000"/>
              </a:lnSpc>
            </a:pPr>
            <a:r>
              <a:rPr lang="pt-BR" altLang="pt-BR" b="1" dirty="0"/>
              <a:t>a)</a:t>
            </a:r>
            <a:r>
              <a:rPr lang="pt-BR" altLang="pt-BR" b="0" dirty="0"/>
              <a:t> Identifique as forças que agem sobre a rocha e ache seus módulos. </a:t>
            </a:r>
            <a:r>
              <a:rPr lang="pt-BR" altLang="pt-BR" b="1" dirty="0"/>
              <a:t>b)</a:t>
            </a:r>
            <a:r>
              <a:rPr lang="pt-BR" altLang="pt-BR" b="0" dirty="0"/>
              <a:t> Qual o trabalho realizado pelo estudante sobre a rocha? </a:t>
            </a:r>
            <a:r>
              <a:rPr lang="pt-BR" altLang="pt-BR" b="1" dirty="0"/>
              <a:t>c)</a:t>
            </a:r>
            <a:r>
              <a:rPr lang="pt-BR" altLang="pt-BR" b="0" dirty="0"/>
              <a:t> Qual o trabalho realizado pela atração gravitacional sobre a rocha? </a:t>
            </a:r>
            <a:r>
              <a:rPr lang="pt-BR" altLang="pt-BR" b="1" dirty="0"/>
              <a:t>d)</a:t>
            </a:r>
            <a:r>
              <a:rPr lang="pt-BR" altLang="pt-BR" b="0" dirty="0"/>
              <a:t> Qual o trabalho total realizado sobre a rocha?</a:t>
            </a:r>
          </a:p>
        </p:txBody>
      </p:sp>
    </p:spTree>
    <p:extLst>
      <p:ext uri="{BB962C8B-B14F-4D97-AF65-F5344CB8AC3E}">
        <p14:creationId xmlns:p14="http://schemas.microsoft.com/office/powerpoint/2010/main" val="5017171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1" y="0"/>
            <a:ext cx="9144000" cy="190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/>
          <a:p>
            <a:pPr algn="just" eaLnBrk="1" hangingPunct="1"/>
            <a:r>
              <a:rPr lang="pt-BR" altLang="pt-BR" sz="2200" b="1" dirty="0">
                <a:solidFill>
                  <a:srgbClr val="FF0000"/>
                </a:solidFill>
              </a:rPr>
              <a:t>	Exercício:</a:t>
            </a:r>
          </a:p>
          <a:p>
            <a:pPr algn="just" eaLnBrk="1" hangingPunct="1"/>
            <a:endParaRPr lang="pt-BR" altLang="pt-BR" b="1" dirty="0">
              <a:solidFill>
                <a:srgbClr val="FF0000"/>
              </a:solidFill>
            </a:endParaRPr>
          </a:p>
          <a:p>
            <a:pPr algn="just" eaLnBrk="1" hangingPunct="1"/>
            <a:endParaRPr lang="pt-BR" altLang="pt-BR" sz="1500" b="1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pt-BR" altLang="pt-BR" dirty="0"/>
              <a:t>	</a:t>
            </a:r>
            <a:r>
              <a:rPr lang="pt-BR" altLang="pt-BR" b="1" dirty="0"/>
              <a:t>1)</a:t>
            </a:r>
            <a:r>
              <a:rPr lang="pt-BR" altLang="pt-BR" b="0" dirty="0"/>
              <a:t>	Um estudante em um laboratório levanta do assoalho uma rocha de massa m igual a 12 kg, e eleva-a com aceleração desprezível até uma altura de 1,8m para colocá-la em um armário.</a:t>
            </a:r>
          </a:p>
        </p:txBody>
      </p:sp>
      <p:pic>
        <p:nvPicPr>
          <p:cNvPr id="12" name="Picture 17" descr="novo-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2852738"/>
            <a:ext cx="2986087" cy="316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8"/>
          <p:cNvSpPr>
            <a:spLocks noChangeArrowheads="1"/>
          </p:cNvSpPr>
          <p:nvPr/>
        </p:nvSpPr>
        <p:spPr bwMode="auto">
          <a:xfrm>
            <a:off x="0" y="2004219"/>
            <a:ext cx="6263147" cy="137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/>
          <a:p>
            <a:pPr algn="just" eaLnBrk="1" hangingPunct="1">
              <a:lnSpc>
                <a:spcPct val="120000"/>
              </a:lnSpc>
            </a:pPr>
            <a:r>
              <a:rPr lang="pt-BR" altLang="pt-BR" b="1" dirty="0"/>
              <a:t>a)</a:t>
            </a:r>
            <a:r>
              <a:rPr lang="pt-BR" altLang="pt-BR" b="0" dirty="0"/>
              <a:t> Identifique as forças que agem sobre a rocha e ache seus módulos. </a:t>
            </a:r>
            <a:r>
              <a:rPr lang="pt-BR" altLang="pt-BR" b="1" dirty="0"/>
              <a:t>b)</a:t>
            </a:r>
            <a:r>
              <a:rPr lang="pt-BR" altLang="pt-BR" b="0" dirty="0"/>
              <a:t> Qual o trabalho realizado pelo estudante sobre a rocha? </a:t>
            </a:r>
            <a:r>
              <a:rPr lang="pt-BR" altLang="pt-BR" b="1" dirty="0"/>
              <a:t>c)</a:t>
            </a:r>
            <a:r>
              <a:rPr lang="pt-BR" altLang="pt-BR" b="0" dirty="0"/>
              <a:t> Qual o trabalho realizado pela atração gravitacional sobre a rocha? </a:t>
            </a:r>
            <a:r>
              <a:rPr lang="pt-BR" altLang="pt-BR" b="1" dirty="0"/>
              <a:t>d)</a:t>
            </a:r>
            <a:r>
              <a:rPr lang="pt-BR" altLang="pt-BR" b="0" dirty="0"/>
              <a:t> Qual o trabalho total realizado sobre a rocha?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0598" y="3910006"/>
          <a:ext cx="22209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888840" imgH="228600" progId="Equation.3">
                  <p:embed/>
                </p:oleObj>
              </mc:Choice>
              <mc:Fallback>
                <p:oleObj name="Equação" r:id="rId3" imgW="888840" imgH="228600" progId="Equation.3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598" y="3910006"/>
                        <a:ext cx="222091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lipse 5"/>
          <p:cNvSpPr/>
          <p:nvPr/>
        </p:nvSpPr>
        <p:spPr>
          <a:xfrm>
            <a:off x="136696" y="4036291"/>
            <a:ext cx="581891" cy="57265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de Seta Reta 9"/>
          <p:cNvCxnSpPr/>
          <p:nvPr/>
        </p:nvCxnSpPr>
        <p:spPr>
          <a:xfrm>
            <a:off x="427641" y="4322618"/>
            <a:ext cx="0" cy="674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087" y="4555115"/>
          <a:ext cx="381000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152280" imgH="266400" progId="Equation.3">
                  <p:embed/>
                </p:oleObj>
              </mc:Choice>
              <mc:Fallback>
                <p:oleObj name="Equação" r:id="rId5" imgW="152280" imgH="266400" progId="Equation.3">
                  <p:embed/>
                  <p:pic>
                    <p:nvPicPr>
                      <p:cNvPr id="14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087" y="4555115"/>
                        <a:ext cx="381000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Conector de Seta Reta 14"/>
          <p:cNvCxnSpPr/>
          <p:nvPr/>
        </p:nvCxnSpPr>
        <p:spPr>
          <a:xfrm flipV="1">
            <a:off x="509614" y="3604202"/>
            <a:ext cx="0" cy="7184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395" y="3305752"/>
          <a:ext cx="47625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7" imgW="190440" imgH="317160" progId="Equation.3">
                  <p:embed/>
                </p:oleObj>
              </mc:Choice>
              <mc:Fallback>
                <p:oleObj name="Equação" r:id="rId7" imgW="190440" imgH="317160" progId="Equation.3">
                  <p:embed/>
                  <p:pic>
                    <p:nvPicPr>
                      <p:cNvPr id="17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395" y="3305752"/>
                        <a:ext cx="47625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8846" y="4177716"/>
          <a:ext cx="2524286" cy="2426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9" imgW="1511280" imgH="1422360" progId="Equation.3">
                  <p:embed/>
                </p:oleObj>
              </mc:Choice>
              <mc:Fallback>
                <p:oleObj name="Equação" r:id="rId9" imgW="1511280" imgH="1422360" progId="Equation.3">
                  <p:embed/>
                  <p:pic>
                    <p:nvPicPr>
                      <p:cNvPr id="19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846" y="4177716"/>
                        <a:ext cx="2524286" cy="2426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CaixaDeTexto 19"/>
          <p:cNvSpPr txBox="1"/>
          <p:nvPr/>
        </p:nvSpPr>
        <p:spPr>
          <a:xfrm>
            <a:off x="1198922" y="359418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2205190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1" y="0"/>
            <a:ext cx="9144000" cy="8771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/>
          <a:p>
            <a:pPr algn="just" eaLnBrk="1" hangingPunct="1"/>
            <a:r>
              <a:rPr lang="pt-BR" altLang="pt-BR" b="1" dirty="0"/>
              <a:t>1)</a:t>
            </a:r>
            <a:r>
              <a:rPr lang="pt-BR" altLang="pt-BR" b="0" dirty="0"/>
              <a:t>	Um estudante em um laboratório levanta do assoalho uma rocha de massa m igual a 12 kg, e eleva-a com aceleração desprezível até uma altura de 1,8m para colocá-la em um armário.</a:t>
            </a:r>
          </a:p>
        </p:txBody>
      </p:sp>
      <p:pic>
        <p:nvPicPr>
          <p:cNvPr id="5" name="Picture 17" descr="novo-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1642774"/>
            <a:ext cx="2986087" cy="316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0" y="877091"/>
            <a:ext cx="6263147" cy="137576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/>
          <a:p>
            <a:pPr algn="just" eaLnBrk="1" hangingPunct="1">
              <a:lnSpc>
                <a:spcPct val="120000"/>
              </a:lnSpc>
            </a:pPr>
            <a:r>
              <a:rPr lang="pt-BR" altLang="pt-BR" b="1" dirty="0"/>
              <a:t>a)</a:t>
            </a:r>
            <a:r>
              <a:rPr lang="pt-BR" altLang="pt-BR" b="0" dirty="0"/>
              <a:t> Identifique as forças que agem sobre a rocha e ache seus módulos. </a:t>
            </a:r>
            <a:r>
              <a:rPr lang="pt-BR" altLang="pt-BR" b="1" dirty="0"/>
              <a:t>b)</a:t>
            </a:r>
            <a:r>
              <a:rPr lang="pt-BR" altLang="pt-BR" b="0" dirty="0"/>
              <a:t> Qual o trabalho realizado pelo estudante sobre a rocha? </a:t>
            </a:r>
            <a:r>
              <a:rPr lang="pt-BR" altLang="pt-BR" b="1" dirty="0"/>
              <a:t>c)</a:t>
            </a:r>
            <a:r>
              <a:rPr lang="pt-BR" altLang="pt-BR" b="0" dirty="0"/>
              <a:t> Qual o trabalho realizado pela atração gravitacional sobre a rocha? </a:t>
            </a:r>
            <a:r>
              <a:rPr lang="pt-BR" altLang="pt-BR" b="1" dirty="0"/>
              <a:t>d)</a:t>
            </a:r>
            <a:r>
              <a:rPr lang="pt-BR" altLang="pt-BR" b="0" dirty="0"/>
              <a:t> Qual o trabalho total realizado sobre a rocha?</a:t>
            </a:r>
          </a:p>
        </p:txBody>
      </p:sp>
      <p:sp>
        <p:nvSpPr>
          <p:cNvPr id="7" name="Elipse 6"/>
          <p:cNvSpPr/>
          <p:nvPr/>
        </p:nvSpPr>
        <p:spPr>
          <a:xfrm>
            <a:off x="298114" y="6035383"/>
            <a:ext cx="581891" cy="57265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0382" y="3144663"/>
          <a:ext cx="2524125" cy="173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511280" imgH="1015920" progId="Equation.3">
                  <p:embed/>
                </p:oleObj>
              </mc:Choice>
              <mc:Fallback>
                <p:oleObj name="Equação" r:id="rId3" imgW="1511280" imgH="1015920" progId="Equation.3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0382" y="3144663"/>
                        <a:ext cx="2524125" cy="173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aixaDeTexto 12"/>
          <p:cNvSpPr txBox="1"/>
          <p:nvPr/>
        </p:nvSpPr>
        <p:spPr>
          <a:xfrm>
            <a:off x="1928594" y="2252852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(b)</a:t>
            </a:r>
          </a:p>
        </p:txBody>
      </p:sp>
      <p:cxnSp>
        <p:nvCxnSpPr>
          <p:cNvPr id="14" name="Conector de Seta Reta 13"/>
          <p:cNvCxnSpPr/>
          <p:nvPr/>
        </p:nvCxnSpPr>
        <p:spPr>
          <a:xfrm flipV="1">
            <a:off x="593774" y="2429866"/>
            <a:ext cx="0" cy="388419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380" y="2684941"/>
          <a:ext cx="34925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139680" imgH="279360" progId="Equation.3">
                  <p:embed/>
                </p:oleObj>
              </mc:Choice>
              <mc:Fallback>
                <p:oleObj name="Equação" r:id="rId5" imgW="139680" imgH="279360" progId="Equation.3">
                  <p:embed/>
                  <p:pic>
                    <p:nvPicPr>
                      <p:cNvPr id="16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380" y="2684941"/>
                        <a:ext cx="34925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Conector de Seta Reta 9"/>
          <p:cNvCxnSpPr/>
          <p:nvPr/>
        </p:nvCxnSpPr>
        <p:spPr>
          <a:xfrm flipV="1">
            <a:off x="591222" y="5603294"/>
            <a:ext cx="0" cy="7184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718" y="5297192"/>
          <a:ext cx="47625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7" imgW="190440" imgH="317160" progId="Equation.3">
                  <p:embed/>
                </p:oleObj>
              </mc:Choice>
              <mc:Fallback>
                <p:oleObj name="Equação" r:id="rId7" imgW="190440" imgH="317160" progId="Equation.3">
                  <p:embed/>
                  <p:pic>
                    <p:nvPicPr>
                      <p:cNvPr id="11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718" y="5297192"/>
                        <a:ext cx="47625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97986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1" y="0"/>
            <a:ext cx="9144000" cy="8771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/>
          <a:p>
            <a:pPr algn="just" eaLnBrk="1" hangingPunct="1"/>
            <a:r>
              <a:rPr lang="pt-BR" altLang="pt-BR" b="1" dirty="0"/>
              <a:t>1)</a:t>
            </a:r>
            <a:r>
              <a:rPr lang="pt-BR" altLang="pt-BR" b="0" dirty="0"/>
              <a:t>	Um estudante em um laboratório levanta do assoalho uma rocha de massa m igual a 12 kg, e eleva-a com aceleração desprezível até uma altura de 1,8m para colocá-la em um armário.</a:t>
            </a:r>
          </a:p>
        </p:txBody>
      </p:sp>
      <p:pic>
        <p:nvPicPr>
          <p:cNvPr id="5" name="Picture 17" descr="novo-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1642774"/>
            <a:ext cx="2986087" cy="316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0" y="877091"/>
            <a:ext cx="6263147" cy="137576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/>
          <a:p>
            <a:pPr algn="just" eaLnBrk="1" hangingPunct="1">
              <a:lnSpc>
                <a:spcPct val="120000"/>
              </a:lnSpc>
            </a:pPr>
            <a:r>
              <a:rPr lang="pt-BR" altLang="pt-BR" b="1" dirty="0"/>
              <a:t>a)</a:t>
            </a:r>
            <a:r>
              <a:rPr lang="pt-BR" altLang="pt-BR" b="0" dirty="0"/>
              <a:t> Identifique as forças que agem sobre a rocha e ache seus módulos. </a:t>
            </a:r>
            <a:r>
              <a:rPr lang="pt-BR" altLang="pt-BR" b="1" dirty="0"/>
              <a:t>b)</a:t>
            </a:r>
            <a:r>
              <a:rPr lang="pt-BR" altLang="pt-BR" b="0" dirty="0"/>
              <a:t> Qual o trabalho realizado pelo estudante sobre a rocha? </a:t>
            </a:r>
            <a:r>
              <a:rPr lang="pt-BR" altLang="pt-BR" b="1" dirty="0"/>
              <a:t>c)</a:t>
            </a:r>
            <a:r>
              <a:rPr lang="pt-BR" altLang="pt-BR" b="0" dirty="0"/>
              <a:t> Qual o trabalho realizado pela atração gravitacional sobre a rocha? </a:t>
            </a:r>
            <a:r>
              <a:rPr lang="pt-BR" altLang="pt-BR" b="1" dirty="0"/>
              <a:t>d)</a:t>
            </a:r>
            <a:r>
              <a:rPr lang="pt-BR" altLang="pt-BR" b="0" dirty="0"/>
              <a:t> Qual o trabalho total realizado sobre a rocha?</a:t>
            </a:r>
          </a:p>
        </p:txBody>
      </p:sp>
      <p:sp>
        <p:nvSpPr>
          <p:cNvPr id="7" name="Elipse 6"/>
          <p:cNvSpPr/>
          <p:nvPr/>
        </p:nvSpPr>
        <p:spPr>
          <a:xfrm>
            <a:off x="298114" y="4879800"/>
            <a:ext cx="581891" cy="57265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855234"/>
              </p:ext>
            </p:extLst>
          </p:nvPr>
        </p:nvGraphicFramePr>
        <p:xfrm>
          <a:off x="1908175" y="3165475"/>
          <a:ext cx="2270125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358640" imgH="990360" progId="Equation.3">
                  <p:embed/>
                </p:oleObj>
              </mc:Choice>
              <mc:Fallback>
                <p:oleObj name="Equação" r:id="rId3" imgW="1358640" imgH="990360" progId="Equation.3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165475"/>
                        <a:ext cx="2270125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aixaDeTexto 8"/>
          <p:cNvSpPr txBox="1"/>
          <p:nvPr/>
        </p:nvSpPr>
        <p:spPr>
          <a:xfrm>
            <a:off x="1928594" y="2252852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(c)</a:t>
            </a:r>
          </a:p>
        </p:txBody>
      </p:sp>
      <p:cxnSp>
        <p:nvCxnSpPr>
          <p:cNvPr id="10" name="Conector de Seta Reta 9"/>
          <p:cNvCxnSpPr/>
          <p:nvPr/>
        </p:nvCxnSpPr>
        <p:spPr>
          <a:xfrm flipV="1">
            <a:off x="593774" y="2363472"/>
            <a:ext cx="0" cy="279500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201837"/>
              </p:ext>
            </p:extLst>
          </p:nvPr>
        </p:nvGraphicFramePr>
        <p:xfrm>
          <a:off x="655651" y="2363472"/>
          <a:ext cx="34925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139680" imgH="279360" progId="Equation.3">
                  <p:embed/>
                </p:oleObj>
              </mc:Choice>
              <mc:Fallback>
                <p:oleObj name="Equação" r:id="rId5" imgW="139680" imgH="279360" progId="Equation.3">
                  <p:embed/>
                  <p:pic>
                    <p:nvPicPr>
                      <p:cNvPr id="16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51" y="2363472"/>
                        <a:ext cx="34925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854251"/>
              </p:ext>
            </p:extLst>
          </p:nvPr>
        </p:nvGraphicFramePr>
        <p:xfrm>
          <a:off x="694412" y="5158477"/>
          <a:ext cx="38100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7" imgW="152280" imgH="266400" progId="Equation.3">
                  <p:embed/>
                </p:oleObj>
              </mc:Choice>
              <mc:Fallback>
                <p:oleObj name="Equação" r:id="rId7" imgW="152280" imgH="266400" progId="Equation.3">
                  <p:embed/>
                  <p:pic>
                    <p:nvPicPr>
                      <p:cNvPr id="11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412" y="5158477"/>
                        <a:ext cx="381000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Conector de Seta Reta 13"/>
          <p:cNvCxnSpPr/>
          <p:nvPr/>
        </p:nvCxnSpPr>
        <p:spPr>
          <a:xfrm>
            <a:off x="589251" y="5166128"/>
            <a:ext cx="0" cy="6758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9991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1" y="0"/>
            <a:ext cx="9144000" cy="8771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/>
          <a:p>
            <a:pPr algn="just" eaLnBrk="1" hangingPunct="1"/>
            <a:r>
              <a:rPr lang="pt-BR" altLang="pt-BR" b="1" dirty="0"/>
              <a:t>1)</a:t>
            </a:r>
            <a:r>
              <a:rPr lang="pt-BR" altLang="pt-BR" b="0" dirty="0"/>
              <a:t>	Um estudante em um laboratório levanta do assoalho uma rocha de massa m igual a 12 kg, e eleva-a com aceleração desprezível até uma altura de 1,8m para colocá-la em um armário.</a:t>
            </a:r>
          </a:p>
        </p:txBody>
      </p:sp>
      <p:pic>
        <p:nvPicPr>
          <p:cNvPr id="5" name="Picture 17" descr="novo-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1642774"/>
            <a:ext cx="2986087" cy="316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0" y="877091"/>
            <a:ext cx="6263147" cy="137576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/>
          <a:p>
            <a:pPr algn="just" eaLnBrk="1" hangingPunct="1">
              <a:lnSpc>
                <a:spcPct val="120000"/>
              </a:lnSpc>
            </a:pPr>
            <a:r>
              <a:rPr lang="pt-BR" altLang="pt-BR" b="1" dirty="0"/>
              <a:t>a)</a:t>
            </a:r>
            <a:r>
              <a:rPr lang="pt-BR" altLang="pt-BR" b="0" dirty="0"/>
              <a:t> Identifique as forças que agem sobre a rocha e ache seus módulos. </a:t>
            </a:r>
            <a:r>
              <a:rPr lang="pt-BR" altLang="pt-BR" b="1" dirty="0"/>
              <a:t>b)</a:t>
            </a:r>
            <a:r>
              <a:rPr lang="pt-BR" altLang="pt-BR" b="0" dirty="0"/>
              <a:t> Qual o trabalho realizado pelo estudante sobre a rocha? </a:t>
            </a:r>
            <a:r>
              <a:rPr lang="pt-BR" altLang="pt-BR" b="1" dirty="0"/>
              <a:t>c)</a:t>
            </a:r>
            <a:r>
              <a:rPr lang="pt-BR" altLang="pt-BR" b="0" dirty="0"/>
              <a:t> Qual o trabalho realizado pela atração gravitacional sobre a rocha? </a:t>
            </a:r>
            <a:r>
              <a:rPr lang="pt-BR" altLang="pt-BR" b="1" dirty="0"/>
              <a:t>d)</a:t>
            </a:r>
            <a:r>
              <a:rPr lang="pt-BR" altLang="pt-BR" b="0" dirty="0"/>
              <a:t> Qual o trabalho total realizado sobre a rocha?</a:t>
            </a:r>
          </a:p>
        </p:txBody>
      </p:sp>
      <p:sp>
        <p:nvSpPr>
          <p:cNvPr id="7" name="Elipse 6"/>
          <p:cNvSpPr/>
          <p:nvPr/>
        </p:nvSpPr>
        <p:spPr>
          <a:xfrm>
            <a:off x="298114" y="4879800"/>
            <a:ext cx="581891" cy="57265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341677"/>
              </p:ext>
            </p:extLst>
          </p:nvPr>
        </p:nvGraphicFramePr>
        <p:xfrm>
          <a:off x="2046395" y="2840037"/>
          <a:ext cx="2227262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333440" imgH="685800" progId="Equation.3">
                  <p:embed/>
                </p:oleObj>
              </mc:Choice>
              <mc:Fallback>
                <p:oleObj name="Equação" r:id="rId3" imgW="1333440" imgH="685800" progId="Equation.3">
                  <p:embed/>
                  <p:pic>
                    <p:nvPicPr>
                      <p:cNvPr id="8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395" y="2840037"/>
                        <a:ext cx="2227262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aixaDeTexto 8"/>
          <p:cNvSpPr txBox="1"/>
          <p:nvPr/>
        </p:nvSpPr>
        <p:spPr>
          <a:xfrm>
            <a:off x="1928594" y="2252852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(d)</a:t>
            </a:r>
          </a:p>
        </p:txBody>
      </p:sp>
      <p:cxnSp>
        <p:nvCxnSpPr>
          <p:cNvPr id="10" name="Conector de Seta Reta 9"/>
          <p:cNvCxnSpPr/>
          <p:nvPr/>
        </p:nvCxnSpPr>
        <p:spPr>
          <a:xfrm flipV="1">
            <a:off x="593774" y="2363472"/>
            <a:ext cx="0" cy="279500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9418727"/>
              </p:ext>
            </p:extLst>
          </p:nvPr>
        </p:nvGraphicFramePr>
        <p:xfrm>
          <a:off x="655651" y="2363472"/>
          <a:ext cx="34925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139680" imgH="279360" progId="Equation.3">
                  <p:embed/>
                </p:oleObj>
              </mc:Choice>
              <mc:Fallback>
                <p:oleObj name="Equação" r:id="rId5" imgW="139680" imgH="279360" progId="Equation.3">
                  <p:embed/>
                  <p:pic>
                    <p:nvPicPr>
                      <p:cNvPr id="11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51" y="2363472"/>
                        <a:ext cx="34925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153323"/>
              </p:ext>
            </p:extLst>
          </p:nvPr>
        </p:nvGraphicFramePr>
        <p:xfrm>
          <a:off x="694412" y="5158477"/>
          <a:ext cx="38100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7" imgW="152280" imgH="266400" progId="Equation.3">
                  <p:embed/>
                </p:oleObj>
              </mc:Choice>
              <mc:Fallback>
                <p:oleObj name="Equação" r:id="rId7" imgW="152280" imgH="266400" progId="Equation.3">
                  <p:embed/>
                  <p:pic>
                    <p:nvPicPr>
                      <p:cNvPr id="13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412" y="5158477"/>
                        <a:ext cx="381000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Conector de Seta Reta 12"/>
          <p:cNvCxnSpPr/>
          <p:nvPr/>
        </p:nvCxnSpPr>
        <p:spPr>
          <a:xfrm>
            <a:off x="589251" y="5166128"/>
            <a:ext cx="0" cy="6758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824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ChangeArrowheads="1"/>
          </p:cNvSpPr>
          <p:nvPr/>
        </p:nvSpPr>
        <p:spPr bwMode="auto">
          <a:xfrm>
            <a:off x="1" y="814335"/>
            <a:ext cx="9144000" cy="2040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pt-BR" altLang="pt-BR" dirty="0"/>
              <a:t>	</a:t>
            </a:r>
            <a:r>
              <a:rPr lang="pt-BR" altLang="pt-BR" b="1" dirty="0"/>
              <a:t>2)</a:t>
            </a:r>
            <a:r>
              <a:rPr lang="pt-BR" altLang="pt-BR" b="0" dirty="0"/>
              <a:t>	Um engradado de massa m igual a 15 kg é puxado numa distância d igual a 5,7 m, numa rampa sem atrito, até uma altura h igual a 2,5 m acima do ponto de partida.</a:t>
            </a:r>
            <a:r>
              <a:rPr lang="pt-BR" altLang="ja-JP" b="0" dirty="0">
                <a:ea typeface="ＭＳ Ｐゴシック" panose="020B0600070205080204" pitchFamily="34" charset="-128"/>
              </a:rPr>
              <a:t> </a:t>
            </a:r>
            <a:r>
              <a:rPr lang="pt-BR" altLang="ja-JP" b="1" dirty="0">
                <a:ea typeface="ＭＳ Ｐゴシック" panose="020B0600070205080204" pitchFamily="34" charset="-128"/>
              </a:rPr>
              <a:t>(</a:t>
            </a:r>
            <a:r>
              <a:rPr lang="pt-BR" altLang="pt-BR" b="1" dirty="0"/>
              <a:t>a)</a:t>
            </a:r>
            <a:r>
              <a:rPr lang="pt-BR" altLang="pt-BR" b="0" dirty="0"/>
              <a:t> Qual a força F exercida pelo cabo do guincho. </a:t>
            </a:r>
            <a:r>
              <a:rPr lang="pt-BR" altLang="pt-BR" b="1" dirty="0"/>
              <a:t>(b)</a:t>
            </a:r>
            <a:r>
              <a:rPr lang="pt-BR" altLang="pt-BR" b="0" dirty="0"/>
              <a:t> Qual o trabalho realizado pela força F? </a:t>
            </a:r>
            <a:r>
              <a:rPr lang="pt-BR" altLang="pt-BR" b="1" dirty="0"/>
              <a:t>(c)</a:t>
            </a:r>
            <a:r>
              <a:rPr lang="pt-BR" altLang="pt-BR" b="0" dirty="0"/>
              <a:t> Qual trabalho seria necessário para elevar o engradado verticalmente para cima?</a:t>
            </a:r>
            <a:r>
              <a:rPr lang="pt-BR" altLang="pt-BR" dirty="0"/>
              <a:t> </a:t>
            </a:r>
            <a:r>
              <a:rPr lang="pt-BR" altLang="pt-BR" b="1" dirty="0"/>
              <a:t>(d)</a:t>
            </a:r>
            <a:r>
              <a:rPr lang="pt-BR" altLang="pt-BR" dirty="0"/>
              <a:t> Qual a Energia potencial gravitacional do corpo quando ele chaga no alto da rampa? </a:t>
            </a:r>
            <a:r>
              <a:rPr lang="pt-BR" altLang="pt-BR" b="1" dirty="0"/>
              <a:t>(e)</a:t>
            </a:r>
            <a:r>
              <a:rPr lang="pt-BR" altLang="pt-BR" dirty="0"/>
              <a:t> Se o cabo quebrar com qual velocidade ele chagará a base da rampa?</a:t>
            </a:r>
            <a:endParaRPr lang="pt-BR" altLang="pt-BR" b="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185" y="3121593"/>
            <a:ext cx="5567737" cy="312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983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0559"/>
            <a:ext cx="5209871" cy="2925692"/>
          </a:xfrm>
          <a:prstGeom prst="rect">
            <a:avLst/>
          </a:prstGeom>
        </p:spPr>
      </p:pic>
      <p:sp>
        <p:nvSpPr>
          <p:cNvPr id="2" name="Rectangle 14"/>
          <p:cNvSpPr>
            <a:spLocks noChangeArrowheads="1"/>
          </p:cNvSpPr>
          <p:nvPr/>
        </p:nvSpPr>
        <p:spPr bwMode="auto">
          <a:xfrm>
            <a:off x="1" y="0"/>
            <a:ext cx="9144000" cy="20405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pt-BR" altLang="pt-BR" dirty="0"/>
              <a:t>	</a:t>
            </a:r>
            <a:r>
              <a:rPr lang="pt-BR" altLang="pt-BR" b="1" dirty="0"/>
              <a:t>2)</a:t>
            </a:r>
            <a:r>
              <a:rPr lang="pt-BR" altLang="pt-BR" b="0" dirty="0"/>
              <a:t>	Um engradado de massa m igual a 15 kg é puxado numa distância d igual a 5,7 m, numa rampa sem atrito, até uma altura h igual a 2,5 m acima do ponto de partida.</a:t>
            </a:r>
            <a:r>
              <a:rPr lang="pt-BR" altLang="ja-JP" b="0" dirty="0">
                <a:ea typeface="ＭＳ Ｐゴシック" panose="020B0600070205080204" pitchFamily="34" charset="-128"/>
              </a:rPr>
              <a:t> </a:t>
            </a:r>
            <a:r>
              <a:rPr lang="pt-BR" altLang="ja-JP" b="1" dirty="0">
                <a:ea typeface="ＭＳ Ｐゴシック" panose="020B0600070205080204" pitchFamily="34" charset="-128"/>
              </a:rPr>
              <a:t>(</a:t>
            </a:r>
            <a:r>
              <a:rPr lang="pt-BR" altLang="pt-BR" b="1" dirty="0"/>
              <a:t>a)</a:t>
            </a:r>
            <a:r>
              <a:rPr lang="pt-BR" altLang="pt-BR" b="0" dirty="0"/>
              <a:t> Qual a força F exercida pelo cabo do guincho. </a:t>
            </a:r>
            <a:r>
              <a:rPr lang="pt-BR" altLang="pt-BR" b="1" dirty="0"/>
              <a:t>(b)</a:t>
            </a:r>
            <a:r>
              <a:rPr lang="pt-BR" altLang="pt-BR" b="0" dirty="0"/>
              <a:t> Qual o trabalho realizado pela força F? </a:t>
            </a:r>
            <a:r>
              <a:rPr lang="pt-BR" altLang="pt-BR" b="1" dirty="0"/>
              <a:t>(c)</a:t>
            </a:r>
            <a:r>
              <a:rPr lang="pt-BR" altLang="pt-BR" b="0" dirty="0"/>
              <a:t> Qual trabalho seria necessário para elevar o engradado verticalmente para cima?</a:t>
            </a:r>
            <a:r>
              <a:rPr lang="pt-BR" altLang="pt-BR" dirty="0"/>
              <a:t> </a:t>
            </a:r>
            <a:r>
              <a:rPr lang="pt-BR" altLang="pt-BR" b="1" dirty="0"/>
              <a:t>(d)</a:t>
            </a:r>
            <a:r>
              <a:rPr lang="pt-BR" altLang="pt-BR" dirty="0"/>
              <a:t> Qual a Energia potencial gravitacional do corpo quando ele chaga no alto da rampa? </a:t>
            </a:r>
            <a:r>
              <a:rPr lang="pt-BR" altLang="pt-BR" b="1" dirty="0"/>
              <a:t>(e)</a:t>
            </a:r>
            <a:r>
              <a:rPr lang="pt-BR" altLang="pt-BR" dirty="0"/>
              <a:t> Se o cabo quebrar com qual velocidade ele chagará a base da rampa?</a:t>
            </a:r>
            <a:endParaRPr lang="pt-BR" altLang="pt-BR" b="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729" y="3506364"/>
            <a:ext cx="5142272" cy="3276665"/>
          </a:xfrm>
          <a:prstGeom prst="rect">
            <a:avLst/>
          </a:prstGeom>
        </p:spPr>
      </p:pic>
      <p:cxnSp>
        <p:nvCxnSpPr>
          <p:cNvPr id="5" name="Conector de Seta Reta 4"/>
          <p:cNvCxnSpPr/>
          <p:nvPr/>
        </p:nvCxnSpPr>
        <p:spPr>
          <a:xfrm flipH="1">
            <a:off x="3589020" y="2235200"/>
            <a:ext cx="3559926" cy="6908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0955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1404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24" y="657754"/>
            <a:ext cx="5142272" cy="3276665"/>
          </a:xfrm>
          <a:prstGeom prst="rect">
            <a:avLst/>
          </a:prstGeom>
        </p:spPr>
      </p:pic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05466"/>
              </p:ext>
            </p:extLst>
          </p:nvPr>
        </p:nvGraphicFramePr>
        <p:xfrm>
          <a:off x="5239274" y="2329392"/>
          <a:ext cx="3289300" cy="223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968480" imgH="1307880" progId="Equation.3">
                  <p:embed/>
                </p:oleObj>
              </mc:Choice>
              <mc:Fallback>
                <p:oleObj name="Equação" r:id="rId3" imgW="1968480" imgH="1307880" progId="Equation.3">
                  <p:embed/>
                  <p:pic>
                    <p:nvPicPr>
                      <p:cNvPr id="8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9274" y="2329392"/>
                        <a:ext cx="3289300" cy="223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aixaDeTexto 3"/>
          <p:cNvSpPr txBox="1"/>
          <p:nvPr/>
        </p:nvSpPr>
        <p:spPr>
          <a:xfrm>
            <a:off x="4201684" y="30561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2,5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1875922" y="131295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5,7</a:t>
            </a: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7222803"/>
              </p:ext>
            </p:extLst>
          </p:nvPr>
        </p:nvGraphicFramePr>
        <p:xfrm>
          <a:off x="122761" y="4632854"/>
          <a:ext cx="4286251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2565360" imgH="419040" progId="Equation.3">
                  <p:embed/>
                </p:oleObj>
              </mc:Choice>
              <mc:Fallback>
                <p:oleObj name="Equação" r:id="rId5" imgW="2565360" imgH="419040" progId="Equation.3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61" y="4632854"/>
                        <a:ext cx="4286251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850482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777601"/>
              </p:ext>
            </p:extLst>
          </p:nvPr>
        </p:nvGraphicFramePr>
        <p:xfrm>
          <a:off x="2293461" y="1379717"/>
          <a:ext cx="2335213" cy="132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396800" imgH="774360" progId="Equation.3">
                  <p:embed/>
                </p:oleObj>
              </mc:Choice>
              <mc:Fallback>
                <p:oleObj name="Equação" r:id="rId2" imgW="1396800" imgH="774360" progId="Equation.3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3461" y="1379717"/>
                        <a:ext cx="2335213" cy="1322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Conector de Seta Reta 4"/>
          <p:cNvCxnSpPr/>
          <p:nvPr/>
        </p:nvCxnSpPr>
        <p:spPr>
          <a:xfrm flipV="1">
            <a:off x="410973" y="777570"/>
            <a:ext cx="2667000" cy="173736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2485307" y="5929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d</a:t>
            </a:r>
          </a:p>
        </p:txBody>
      </p:sp>
      <p:cxnSp>
        <p:nvCxnSpPr>
          <p:cNvPr id="8" name="Conector de Seta Reta 7"/>
          <p:cNvCxnSpPr/>
          <p:nvPr/>
        </p:nvCxnSpPr>
        <p:spPr>
          <a:xfrm>
            <a:off x="2589786" y="586808"/>
            <a:ext cx="170688" cy="609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 flipV="1">
            <a:off x="410973" y="2173554"/>
            <a:ext cx="521208" cy="3444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897225"/>
              </p:ext>
            </p:extLst>
          </p:nvPr>
        </p:nvGraphicFramePr>
        <p:xfrm>
          <a:off x="794068" y="2243983"/>
          <a:ext cx="27622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64880" imgH="266400" progId="Equation.3">
                  <p:embed/>
                </p:oleObj>
              </mc:Choice>
              <mc:Fallback>
                <p:oleObj name="Equação" r:id="rId4" imgW="164880" imgH="266400" progId="Equation.3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068" y="2243983"/>
                        <a:ext cx="276225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Conector de Seta Reta 12"/>
          <p:cNvCxnSpPr/>
          <p:nvPr/>
        </p:nvCxnSpPr>
        <p:spPr>
          <a:xfrm flipV="1">
            <a:off x="5304399" y="2296890"/>
            <a:ext cx="0" cy="211803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311436" y="2583279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d’ -&gt; 2,5 m</a:t>
            </a:r>
          </a:p>
        </p:txBody>
      </p:sp>
      <p:cxnSp>
        <p:nvCxnSpPr>
          <p:cNvPr id="16" name="Conector de Seta Reta 15"/>
          <p:cNvCxnSpPr/>
          <p:nvPr/>
        </p:nvCxnSpPr>
        <p:spPr>
          <a:xfrm>
            <a:off x="5400675" y="2592423"/>
            <a:ext cx="170688" cy="609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/>
          <p:nvPr/>
        </p:nvCxnSpPr>
        <p:spPr>
          <a:xfrm flipV="1">
            <a:off x="5297363" y="3500751"/>
            <a:ext cx="0" cy="9141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633894"/>
              </p:ext>
            </p:extLst>
          </p:nvPr>
        </p:nvGraphicFramePr>
        <p:xfrm>
          <a:off x="5311436" y="3687166"/>
          <a:ext cx="3017838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1803240" imgH="317160" progId="Equation.3">
                  <p:embed/>
                </p:oleObj>
              </mc:Choice>
              <mc:Fallback>
                <p:oleObj name="Equação" r:id="rId6" imgW="1803240" imgH="317160" progId="Equation.3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1436" y="3687166"/>
                        <a:ext cx="3017838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tângulo 19"/>
          <p:cNvSpPr/>
          <p:nvPr/>
        </p:nvSpPr>
        <p:spPr>
          <a:xfrm>
            <a:off x="3695700" y="4640580"/>
            <a:ext cx="502920" cy="4648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Conector de Seta Reta 20"/>
          <p:cNvCxnSpPr/>
          <p:nvPr/>
        </p:nvCxnSpPr>
        <p:spPr>
          <a:xfrm flipV="1">
            <a:off x="3948623" y="3973191"/>
            <a:ext cx="0" cy="9141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501847"/>
              </p:ext>
            </p:extLst>
          </p:nvPr>
        </p:nvGraphicFramePr>
        <p:xfrm>
          <a:off x="4028757" y="3954025"/>
          <a:ext cx="3397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203040" imgH="279360" progId="Equation.3">
                  <p:embed/>
                </p:oleObj>
              </mc:Choice>
              <mc:Fallback>
                <p:oleObj name="Equação" r:id="rId8" imgW="203040" imgH="279360" progId="Equation.3">
                  <p:embed/>
                  <p:pic>
                    <p:nvPicPr>
                      <p:cNvPr id="19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8757" y="3954025"/>
                        <a:ext cx="3397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Conector de Seta Reta 22"/>
          <p:cNvCxnSpPr/>
          <p:nvPr/>
        </p:nvCxnSpPr>
        <p:spPr>
          <a:xfrm>
            <a:off x="3948623" y="4887360"/>
            <a:ext cx="0" cy="78953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5202872"/>
              </p:ext>
            </p:extLst>
          </p:nvPr>
        </p:nvGraphicFramePr>
        <p:xfrm>
          <a:off x="4071938" y="5146675"/>
          <a:ext cx="2540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0" imgW="152280" imgH="266400" progId="Equation.3">
                  <p:embed/>
                </p:oleObj>
              </mc:Choice>
              <mc:Fallback>
                <p:oleObj name="Equação" r:id="rId10" imgW="152280" imgH="266400" progId="Equation.3">
                  <p:embed/>
                  <p:pic>
                    <p:nvPicPr>
                      <p:cNvPr id="22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38" y="5146675"/>
                        <a:ext cx="2540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Conector de Seta Reta 26"/>
          <p:cNvCxnSpPr/>
          <p:nvPr/>
        </p:nvCxnSpPr>
        <p:spPr>
          <a:xfrm flipH="1">
            <a:off x="3238500" y="777570"/>
            <a:ext cx="2072936" cy="115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>
            <a:off x="5297364" y="798251"/>
            <a:ext cx="14072" cy="14400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/>
          <p:cNvSpPr txBox="1"/>
          <p:nvPr/>
        </p:nvSpPr>
        <p:spPr>
          <a:xfrm>
            <a:off x="5400675" y="604441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2,5 m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9525" y="2523742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 m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216554" y="4390536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 m</a:t>
            </a:r>
          </a:p>
        </p:txBody>
      </p:sp>
      <p:graphicFrame>
        <p:nvGraphicFramePr>
          <p:cNvPr id="34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3215008"/>
              </p:ext>
            </p:extLst>
          </p:nvPr>
        </p:nvGraphicFramePr>
        <p:xfrm>
          <a:off x="585788" y="4200525"/>
          <a:ext cx="2546350" cy="134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2" imgW="1523880" imgH="787320" progId="Equation.3">
                  <p:embed/>
                </p:oleObj>
              </mc:Choice>
              <mc:Fallback>
                <p:oleObj name="Equação" r:id="rId12" imgW="1523880" imgH="787320" progId="Equation.3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8" y="4200525"/>
                        <a:ext cx="2546350" cy="1344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6" name="Conector de Seta Reta 35"/>
          <p:cNvCxnSpPr/>
          <p:nvPr/>
        </p:nvCxnSpPr>
        <p:spPr>
          <a:xfrm flipV="1">
            <a:off x="2293461" y="2767946"/>
            <a:ext cx="838678" cy="4781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785873" y="3105540"/>
            <a:ext cx="2659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Valores iguais</a:t>
            </a:r>
          </a:p>
          <a:p>
            <a:r>
              <a:rPr lang="pt-BR" dirty="0"/>
              <a:t>(erro de arredondamento)</a:t>
            </a:r>
          </a:p>
        </p:txBody>
      </p:sp>
    </p:spTree>
    <p:extLst>
      <p:ext uri="{BB962C8B-B14F-4D97-AF65-F5344CB8AC3E}">
        <p14:creationId xmlns:p14="http://schemas.microsoft.com/office/powerpoint/2010/main" val="29293438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907846"/>
              </p:ext>
            </p:extLst>
          </p:nvPr>
        </p:nvGraphicFramePr>
        <p:xfrm>
          <a:off x="2935605" y="412750"/>
          <a:ext cx="365283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184120" imgH="241200" progId="Equation.3">
                  <p:embed/>
                </p:oleObj>
              </mc:Choice>
              <mc:Fallback>
                <p:oleObj name="Equação" r:id="rId2" imgW="2184120" imgH="241200" progId="Equation.3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5605" y="412750"/>
                        <a:ext cx="3652838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/>
        </p:nvSpPr>
        <p:spPr>
          <a:xfrm>
            <a:off x="355758" y="2171700"/>
            <a:ext cx="502920" cy="4648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535577"/>
              </p:ext>
            </p:extLst>
          </p:nvPr>
        </p:nvGraphicFramePr>
        <p:xfrm>
          <a:off x="1629886" y="1389063"/>
          <a:ext cx="3567112" cy="227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2133360" imgH="1333440" progId="Equation.3">
                  <p:embed/>
                </p:oleObj>
              </mc:Choice>
              <mc:Fallback>
                <p:oleObj name="Equação" r:id="rId4" imgW="2133360" imgH="1333440" progId="Equation.3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9886" y="1389063"/>
                        <a:ext cx="3567112" cy="227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tângulo 9"/>
          <p:cNvSpPr/>
          <p:nvPr/>
        </p:nvSpPr>
        <p:spPr>
          <a:xfrm>
            <a:off x="355758" y="5008562"/>
            <a:ext cx="502920" cy="4648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079749"/>
              </p:ext>
            </p:extLst>
          </p:nvPr>
        </p:nvGraphicFramePr>
        <p:xfrm>
          <a:off x="1629886" y="4603750"/>
          <a:ext cx="2611437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1562040" imgH="888840" progId="Equation.3">
                  <p:embed/>
                </p:oleObj>
              </mc:Choice>
              <mc:Fallback>
                <p:oleObj name="Equação" r:id="rId6" imgW="1562040" imgH="888840" progId="Equation.3">
                  <p:embed/>
                  <p:pic>
                    <p:nvPicPr>
                      <p:cNvPr id="9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9886" y="4603750"/>
                        <a:ext cx="2611437" cy="151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2254367"/>
              </p:ext>
            </p:extLst>
          </p:nvPr>
        </p:nvGraphicFramePr>
        <p:xfrm>
          <a:off x="5531803" y="3144203"/>
          <a:ext cx="3586162" cy="307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2145960" imgH="1803240" progId="Equation.3">
                  <p:embed/>
                </p:oleObj>
              </mc:Choice>
              <mc:Fallback>
                <p:oleObj name="Equação" r:id="rId8" imgW="2145960" imgH="1803240" progId="Equation.3">
                  <p:embed/>
                  <p:pic>
                    <p:nvPicPr>
                      <p:cNvPr id="11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1803" y="3144203"/>
                        <a:ext cx="3586162" cy="307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90700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ChangeArrowheads="1"/>
          </p:cNvSpPr>
          <p:nvPr/>
        </p:nvSpPr>
        <p:spPr bwMode="auto">
          <a:xfrm>
            <a:off x="1" y="0"/>
            <a:ext cx="9144000" cy="20405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bIns="0">
            <a:spAutoFit/>
          </a:bodyPr>
          <a:lstStyle/>
          <a:p>
            <a:pPr algn="just" eaLnBrk="1" hangingPunct="1">
              <a:lnSpc>
                <a:spcPct val="120000"/>
              </a:lnSpc>
            </a:pPr>
            <a:r>
              <a:rPr lang="pt-BR" altLang="pt-BR" dirty="0"/>
              <a:t>	</a:t>
            </a:r>
            <a:r>
              <a:rPr lang="pt-BR" altLang="pt-BR" b="1" dirty="0"/>
              <a:t>2)</a:t>
            </a:r>
            <a:r>
              <a:rPr lang="pt-BR" altLang="pt-BR" b="0" dirty="0"/>
              <a:t>	Um engradado de massa m igual a 15 kg é puxado numa distância d igual a 5,7 m, numa rampa sem atrito, até uma altura h igual a 2,5 m acima do ponto de partida.</a:t>
            </a:r>
            <a:r>
              <a:rPr lang="pt-BR" altLang="ja-JP" b="0" dirty="0">
                <a:ea typeface="ＭＳ Ｐゴシック" panose="020B0600070205080204" pitchFamily="34" charset="-128"/>
              </a:rPr>
              <a:t> </a:t>
            </a:r>
            <a:r>
              <a:rPr lang="pt-BR" altLang="ja-JP" b="1" dirty="0">
                <a:ea typeface="ＭＳ Ｐゴシック" panose="020B0600070205080204" pitchFamily="34" charset="-128"/>
              </a:rPr>
              <a:t>(</a:t>
            </a:r>
            <a:r>
              <a:rPr lang="pt-BR" altLang="pt-BR" b="1" dirty="0"/>
              <a:t>a)</a:t>
            </a:r>
            <a:r>
              <a:rPr lang="pt-BR" altLang="pt-BR" b="0" dirty="0"/>
              <a:t> Qual a força F exercida pelo cabo do guincho. </a:t>
            </a:r>
            <a:r>
              <a:rPr lang="pt-BR" altLang="pt-BR" b="1" dirty="0"/>
              <a:t>(b)</a:t>
            </a:r>
            <a:r>
              <a:rPr lang="pt-BR" altLang="pt-BR" b="0" dirty="0"/>
              <a:t> Qual o trabalho realizado pela força F? </a:t>
            </a:r>
            <a:r>
              <a:rPr lang="pt-BR" altLang="pt-BR" b="1" dirty="0"/>
              <a:t>(c)</a:t>
            </a:r>
            <a:r>
              <a:rPr lang="pt-BR" altLang="pt-BR" b="0" dirty="0"/>
              <a:t> Qual trabalho seria necessário para elevar o engradado verticalmente para cima? </a:t>
            </a:r>
            <a:r>
              <a:rPr lang="pt-BR" altLang="pt-BR" b="1" dirty="0"/>
              <a:t>(d)</a:t>
            </a:r>
            <a:r>
              <a:rPr lang="pt-BR" altLang="pt-BR" b="0" dirty="0"/>
              <a:t> Qual a Energia potencial gravitacional do corpo quando ele chaga no alto da rampa? </a:t>
            </a:r>
            <a:r>
              <a:rPr lang="pt-BR" altLang="pt-BR" b="1" dirty="0"/>
              <a:t>(e)</a:t>
            </a:r>
            <a:r>
              <a:rPr lang="pt-BR" altLang="pt-BR" b="0" dirty="0"/>
              <a:t> Se o cabo quebrar com qual velocidade ele chagará a base da rampa?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17"/>
          <a:stretch/>
        </p:blipFill>
        <p:spPr>
          <a:xfrm>
            <a:off x="6302477" y="2067220"/>
            <a:ext cx="2841524" cy="479078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0559"/>
            <a:ext cx="6046839" cy="339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954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988"/>
            <a:ext cx="9144000" cy="4523288"/>
          </a:xfrm>
          <a:prstGeom prst="rect">
            <a:avLst/>
          </a:prstGeom>
        </p:spPr>
      </p:pic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221513"/>
              </p:ext>
            </p:extLst>
          </p:nvPr>
        </p:nvGraphicFramePr>
        <p:xfrm>
          <a:off x="0" y="5604477"/>
          <a:ext cx="2409825" cy="1253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765080" imgH="901440" progId="Equation.3">
                  <p:embed/>
                </p:oleObj>
              </mc:Choice>
              <mc:Fallback>
                <p:oleObj name="Equação" r:id="rId3" imgW="1765080" imgH="901440" progId="Equation.3">
                  <p:embed/>
                  <p:pic>
                    <p:nvPicPr>
                      <p:cNvPr id="11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604477"/>
                        <a:ext cx="2409825" cy="12535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Conector de Seta Reta 5"/>
          <p:cNvCxnSpPr/>
          <p:nvPr/>
        </p:nvCxnSpPr>
        <p:spPr>
          <a:xfrm flipH="1" flipV="1">
            <a:off x="4655820" y="5232400"/>
            <a:ext cx="637540" cy="3149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1267432"/>
              </p:ext>
            </p:extLst>
          </p:nvPr>
        </p:nvGraphicFramePr>
        <p:xfrm>
          <a:off x="5538788" y="5133975"/>
          <a:ext cx="2201862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1612800" imgH="1269720" progId="Equation.3">
                  <p:embed/>
                </p:oleObj>
              </mc:Choice>
              <mc:Fallback>
                <p:oleObj name="Equação" r:id="rId5" imgW="1612800" imgH="1269720" progId="Equation.3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8788" y="5133975"/>
                        <a:ext cx="2201862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37592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343080"/>
              </p:ext>
            </p:extLst>
          </p:nvPr>
        </p:nvGraphicFramePr>
        <p:xfrm>
          <a:off x="0" y="5604477"/>
          <a:ext cx="2409825" cy="1253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765080" imgH="901440" progId="Equation.3">
                  <p:embed/>
                </p:oleObj>
              </mc:Choice>
              <mc:Fallback>
                <p:oleObj name="Equação" r:id="rId2" imgW="1765080" imgH="901440" progId="Equation.3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604477"/>
                        <a:ext cx="2409825" cy="12535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7019A75E-D1F0-4D33-9111-5B06C46D1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41810"/>
              </p:ext>
            </p:extLst>
          </p:nvPr>
        </p:nvGraphicFramePr>
        <p:xfrm>
          <a:off x="5538788" y="5133975"/>
          <a:ext cx="2201862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612800" imgH="1269720" progId="Equation.3">
                  <p:embed/>
                </p:oleObj>
              </mc:Choice>
              <mc:Fallback>
                <p:oleObj name="Equação" r:id="rId4" imgW="1612800" imgH="1269720" progId="Equation.3">
                  <p:embed/>
                  <p:pic>
                    <p:nvPicPr>
                      <p:cNvPr id="13" name="Object 3">
                        <a:extLst>
                          <a:ext uri="{FF2B5EF4-FFF2-40B4-BE49-F238E27FC236}">
                            <a16:creationId xmlns:a16="http://schemas.microsoft.com/office/drawing/2014/main" id="{7019A75E-D1F0-4D33-9111-5B06C46D15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8788" y="5133975"/>
                        <a:ext cx="2201862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Imagem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10160"/>
            <a:ext cx="9099173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1263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905"/>
            <a:ext cx="9144000" cy="5140694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0" y="5222599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u="sng" dirty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https://phet.colorado.edu/sims/html/energy-skate-park-basics/latest/energy-skate-park-basics_pt_BR.html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51577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ChangeArrowheads="1"/>
          </p:cNvSpPr>
          <p:nvPr/>
        </p:nvSpPr>
        <p:spPr bwMode="auto">
          <a:xfrm>
            <a:off x="3922713" y="2852738"/>
            <a:ext cx="2449512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>
            <a:lvl1pPr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4000">
                <a:solidFill>
                  <a:srgbClr val="FF0000"/>
                </a:solidFill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27439868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pt-BR" altLang="pt-BR" dirty="0"/>
              <a:t>HALLIDAY, David; RESNICK, Robert;  WALKER, Jearl. Fundamentos de Física: gravitação, ondas e termodinâmica. Vol 2. Rio de Janeiro: LTC, 2006. </a:t>
            </a:r>
            <a:r>
              <a:rPr lang="pt-BR" altLang="pt-BR" dirty="0">
                <a:solidFill>
                  <a:srgbClr val="FF0000"/>
                </a:solidFill>
              </a:rPr>
              <a:t>CAP. 5</a:t>
            </a:r>
          </a:p>
        </p:txBody>
      </p:sp>
    </p:spTree>
    <p:extLst>
      <p:ext uri="{BB962C8B-B14F-4D97-AF65-F5344CB8AC3E}">
        <p14:creationId xmlns:p14="http://schemas.microsoft.com/office/powerpoint/2010/main" val="222726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1" y="3387982"/>
            <a:ext cx="6999247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2023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1238</TotalTime>
  <Words>1953</Words>
  <Application>Microsoft Office PowerPoint</Application>
  <PresentationFormat>Apresentação na tela (4:3)</PresentationFormat>
  <Paragraphs>97</Paragraphs>
  <Slides>41</Slides>
  <Notes>6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5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54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Equação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Nivaldo Zafalon Junior</cp:lastModifiedBy>
  <cp:revision>237</cp:revision>
  <dcterms:created xsi:type="dcterms:W3CDTF">2015-02-07T21:24:47Z</dcterms:created>
  <dcterms:modified xsi:type="dcterms:W3CDTF">2023-10-17T00:30:49Z</dcterms:modified>
</cp:coreProperties>
</file>