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38"/>
  </p:notesMasterIdLst>
  <p:sldIdLst>
    <p:sldId id="367" r:id="rId5"/>
    <p:sldId id="380" r:id="rId6"/>
    <p:sldId id="376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399" r:id="rId18"/>
    <p:sldId id="400" r:id="rId19"/>
    <p:sldId id="401" r:id="rId20"/>
    <p:sldId id="402" r:id="rId21"/>
    <p:sldId id="403" r:id="rId22"/>
    <p:sldId id="404" r:id="rId23"/>
    <p:sldId id="405" r:id="rId24"/>
    <p:sldId id="406" r:id="rId25"/>
    <p:sldId id="407" r:id="rId26"/>
    <p:sldId id="408" r:id="rId27"/>
    <p:sldId id="412" r:id="rId28"/>
    <p:sldId id="413" r:id="rId29"/>
    <p:sldId id="414" r:id="rId30"/>
    <p:sldId id="415" r:id="rId31"/>
    <p:sldId id="416" r:id="rId32"/>
    <p:sldId id="417" r:id="rId33"/>
    <p:sldId id="418" r:id="rId34"/>
    <p:sldId id="359" r:id="rId35"/>
    <p:sldId id="360" r:id="rId36"/>
    <p:sldId id="364" r:id="rId3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EBAFB5"/>
    <a:srgbClr val="F34B77"/>
    <a:srgbClr val="020000"/>
    <a:srgbClr val="303030"/>
    <a:srgbClr val="F4D3D6"/>
    <a:srgbClr val="F9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2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926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72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9" y="44627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1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7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3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9D725-AF79-4FB6-8D02-83EAC61E3211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25E-4A15-4D39-8176-1F07E904CB30}" type="datetimeFigureOut">
              <a:rPr lang="en-US" smtClean="0"/>
              <a:pPr/>
              <a:t>2/26/2024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udo_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1" y="908720"/>
            <a:ext cx="7632848" cy="5328592"/>
          </a:xfrm>
        </p:spPr>
        <p:txBody>
          <a:bodyPr/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fld id="{8A4DB464-D8D8-41F6-9F38-5EDC4563F372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251521" y="44626"/>
            <a:ext cx="7704534" cy="575791"/>
          </a:xfrm>
        </p:spPr>
        <p:txBody>
          <a:bodyPr/>
          <a:lstStyle>
            <a:lvl1pPr marL="0" indent="0">
              <a:buNone/>
              <a:defRPr b="1">
                <a:effectLst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817665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uads Escuro MBA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9717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2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F66E0A-C854-4299-A8D3-265B33E61F69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5FC2F-4F59-4DA4-9C31-80974F5350D2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C2E43-1104-4361-9C00-4DD9ABBC5D8F}" type="datetimeFigureOut">
              <a:rPr lang="pt-BR" smtClean="0"/>
              <a:pPr/>
              <a:t>26/02/2024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4" r:id="rId13"/>
    <p:sldLayoutId id="2147483755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12.xml"/><Relationship Id="rId1" Type="http://schemas.openxmlformats.org/officeDocument/2006/relationships/video" Target="file:///C:\Users\cl0743\Desktop\videos-completo\video_final.mp4" TargetMode="External"/><Relationship Id="rId4" Type="http://schemas.openxmlformats.org/officeDocument/2006/relationships/image" Target="../media/image5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spaço Reservado para Imagem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765378" y="1306009"/>
            <a:ext cx="3024301" cy="463184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789680" y="4741768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953507" y="1704199"/>
            <a:ext cx="42355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303030"/>
                </a:solidFill>
                <a:latin typeface="Gotham-Bold"/>
                <a:cs typeface="Gotham-Bold"/>
              </a:rPr>
              <a:t>SHORT </a:t>
            </a:r>
            <a:r>
              <a:rPr lang="en-US" sz="2800" dirty="0">
                <a:solidFill>
                  <a:srgbClr val="303030"/>
                </a:solidFill>
                <a:latin typeface="Gotham-Book"/>
                <a:cs typeface="Gotham-Book"/>
              </a:rPr>
              <a:t>BIO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/>
          <p:cNvSpPr/>
          <p:nvPr/>
        </p:nvSpPr>
        <p:spPr>
          <a:xfrm rot="16200000">
            <a:off x="3489444" y="4913820"/>
            <a:ext cx="336316" cy="264160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5" name="AutoShape 2" descr="Resultado de imagem para SUA FOTO AQU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4" descr="Resultado de imagem para SUA FOTO AQUI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22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3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</p:spTree>
    <p:extLst>
      <p:ext uri="{BB962C8B-B14F-4D97-AF65-F5344CB8AC3E}">
        <p14:creationId xmlns:p14="http://schemas.microsoft.com/office/powerpoint/2010/main" val="223645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33"/>
          <p:cNvSpPr txBox="1">
            <a:spLocks noChangeArrowheads="1"/>
          </p:cNvSpPr>
          <p:nvPr/>
        </p:nvSpPr>
        <p:spPr bwMode="auto">
          <a:xfrm>
            <a:off x="34924" y="858838"/>
            <a:ext cx="9109075" cy="522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sz="1800" b="1" dirty="0">
                <a:solidFill>
                  <a:srgbClr val="FF0000"/>
                </a:solidFill>
              </a:rPr>
              <a:t>	Professor:</a:t>
            </a:r>
            <a:r>
              <a:rPr lang="pt-BR" sz="1800" b="1" dirty="0"/>
              <a:t>	</a:t>
            </a:r>
            <a:r>
              <a:rPr lang="pt-BR" sz="1800" b="1" dirty="0">
                <a:solidFill>
                  <a:schemeClr val="tx1"/>
                </a:solidFill>
              </a:rPr>
              <a:t>Dr. Nivaldo Zafalon Junior </a:t>
            </a:r>
            <a:r>
              <a:rPr lang="pt-BR" sz="1600" b="1" dirty="0">
                <a:solidFill>
                  <a:schemeClr val="tx1"/>
                </a:solidFill>
              </a:rPr>
              <a:t>(nivaldex@gmail.com)</a:t>
            </a:r>
            <a:endParaRPr lang="pt-BR" sz="1800" b="1" dirty="0">
              <a:solidFill>
                <a:schemeClr val="tx1"/>
              </a:solidFill>
            </a:endParaRPr>
          </a:p>
          <a:p>
            <a:pPr eaLnBrk="1" hangingPunct="1"/>
            <a:endParaRPr lang="pt-BR" sz="1800" b="1" dirty="0"/>
          </a:p>
          <a:p>
            <a:pPr eaLnBrk="1" hangingPunct="1"/>
            <a:endParaRPr lang="pt-BR" sz="1800" b="1" dirty="0"/>
          </a:p>
          <a:p>
            <a:pPr eaLnBrk="1" hangingPunct="1"/>
            <a:r>
              <a:rPr lang="pt-BR" sz="1800" b="1" dirty="0">
                <a:solidFill>
                  <a:srgbClr val="FF0000"/>
                </a:solidFill>
              </a:rPr>
              <a:t>Formação:</a:t>
            </a:r>
          </a:p>
          <a:p>
            <a:pPr eaLnBrk="1" hangingPunct="1"/>
            <a:endParaRPr lang="pt-BR" sz="1800" b="1" dirty="0">
              <a:solidFill>
                <a:srgbClr val="FF0000"/>
              </a:solidFill>
            </a:endParaRPr>
          </a:p>
          <a:p>
            <a:pPr eaLnBrk="1" hangingPunct="1"/>
            <a:r>
              <a:rPr lang="pt-BR" sz="1800" b="1" dirty="0">
                <a:solidFill>
                  <a:srgbClr val="FF0000"/>
                </a:solidFill>
              </a:rPr>
              <a:t>Graduação:</a:t>
            </a:r>
            <a:r>
              <a:rPr lang="pt-BR" sz="1800" b="1" dirty="0"/>
              <a:t>	</a:t>
            </a:r>
            <a:r>
              <a:rPr lang="pt-BR" sz="1600" b="1" dirty="0">
                <a:solidFill>
                  <a:schemeClr val="tx1"/>
                </a:solidFill>
              </a:rPr>
              <a:t>Tecnólogo em Saúde (FATEC-SO)</a:t>
            </a:r>
          </a:p>
          <a:p>
            <a:pPr eaLnBrk="1" hangingPunct="1"/>
            <a:endParaRPr lang="pt-BR" sz="1600" b="1" dirty="0">
              <a:solidFill>
                <a:schemeClr val="tx1"/>
              </a:solidFill>
            </a:endParaRPr>
          </a:p>
          <a:p>
            <a:pPr eaLnBrk="1" hangingPunct="1"/>
            <a:r>
              <a:rPr lang="pt-BR" sz="1600" b="1" dirty="0">
                <a:solidFill>
                  <a:schemeClr val="tx1"/>
                </a:solidFill>
              </a:rPr>
              <a:t>		Bacharelado em Física (IFGW – UNICAMP)</a:t>
            </a:r>
          </a:p>
          <a:p>
            <a:pPr eaLnBrk="1" hangingPunct="1"/>
            <a:endParaRPr lang="pt-BR" sz="1600" b="1" dirty="0">
              <a:solidFill>
                <a:schemeClr val="tx1"/>
              </a:solidFill>
            </a:endParaRPr>
          </a:p>
          <a:p>
            <a:pPr eaLnBrk="1" hangingPunct="1"/>
            <a:endParaRPr lang="pt-BR" sz="1600" b="1" dirty="0">
              <a:solidFill>
                <a:schemeClr val="tx1"/>
              </a:solidFill>
            </a:endParaRPr>
          </a:p>
          <a:p>
            <a:pPr eaLnBrk="1" hangingPunct="1"/>
            <a:r>
              <a:rPr lang="pt-BR" sz="1800" b="1" dirty="0">
                <a:solidFill>
                  <a:srgbClr val="FF0000"/>
                </a:solidFill>
              </a:rPr>
              <a:t>Mestrado:</a:t>
            </a:r>
            <a:r>
              <a:rPr lang="pt-BR" sz="1600" b="1" dirty="0"/>
              <a:t>	</a:t>
            </a:r>
            <a:r>
              <a:rPr lang="pt-BR" sz="1600" b="1" dirty="0">
                <a:solidFill>
                  <a:schemeClr val="tx1"/>
                </a:solidFill>
              </a:rPr>
              <a:t>DEB (FEEC / UNICAMP)</a:t>
            </a:r>
          </a:p>
          <a:p>
            <a:pPr eaLnBrk="1" hangingPunct="1"/>
            <a:r>
              <a:rPr lang="pt-BR" sz="1600" b="1" dirty="0">
                <a:solidFill>
                  <a:schemeClr val="tx1"/>
                </a:solidFill>
              </a:rPr>
              <a:t>	</a:t>
            </a:r>
          </a:p>
          <a:p>
            <a:pPr eaLnBrk="1" hangingPunct="1"/>
            <a:r>
              <a:rPr lang="pt-BR" sz="1600" b="1" dirty="0">
                <a:solidFill>
                  <a:schemeClr val="tx1"/>
                </a:solidFill>
              </a:rPr>
              <a:t>	Dissertação:	</a:t>
            </a:r>
            <a:r>
              <a:rPr lang="pt-BR" sz="1600" i="1" dirty="0">
                <a:solidFill>
                  <a:schemeClr val="tx1"/>
                </a:solidFill>
              </a:rPr>
              <a:t>Taquiarritmia Induzida por Estimulação Elétrica em Átrios 				Isolados de Ratos: Estudo de Protocolos Estimulatórios e 				Mecanismos Celulares.</a:t>
            </a:r>
          </a:p>
          <a:p>
            <a:pPr eaLnBrk="1" hangingPunct="1"/>
            <a:endParaRPr lang="pt-BR" sz="1600" b="1" dirty="0"/>
          </a:p>
          <a:p>
            <a:pPr eaLnBrk="1" hangingPunct="1"/>
            <a:r>
              <a:rPr lang="pt-BR" sz="1800" b="1" dirty="0">
                <a:solidFill>
                  <a:srgbClr val="FF0000"/>
                </a:solidFill>
              </a:rPr>
              <a:t>Doutorado:</a:t>
            </a:r>
            <a:r>
              <a:rPr lang="pt-BR" sz="1600" b="1" dirty="0"/>
              <a:t>	</a:t>
            </a:r>
            <a:r>
              <a:rPr lang="pt-BR" sz="1600" b="1" dirty="0">
                <a:solidFill>
                  <a:schemeClr val="tx1"/>
                </a:solidFill>
              </a:rPr>
              <a:t>DEB (FEEC / UNICAMP)</a:t>
            </a:r>
          </a:p>
          <a:p>
            <a:pPr eaLnBrk="1" hangingPunct="1"/>
            <a:r>
              <a:rPr lang="pt-BR" sz="1600" b="1" dirty="0">
                <a:solidFill>
                  <a:schemeClr val="tx1"/>
                </a:solidFill>
              </a:rPr>
              <a:t>	</a:t>
            </a:r>
          </a:p>
          <a:p>
            <a:pPr eaLnBrk="1" hangingPunct="1"/>
            <a:r>
              <a:rPr lang="pt-BR" sz="1600" b="1" dirty="0">
                <a:solidFill>
                  <a:schemeClr val="tx1"/>
                </a:solidFill>
              </a:rPr>
              <a:t>	Dissertação:	</a:t>
            </a:r>
            <a:r>
              <a:rPr lang="pt-BR" sz="1600" i="1" dirty="0">
                <a:solidFill>
                  <a:schemeClr val="tx1"/>
                </a:solidFill>
              </a:rPr>
              <a:t>Estudo dos mecanismos envolvidos na taquiarritmia atrial 				induzida por estimulação elétrica de alta frequência.</a:t>
            </a:r>
          </a:p>
        </p:txBody>
      </p:sp>
    </p:spTree>
    <p:extLst>
      <p:ext uri="{BB962C8B-B14F-4D97-AF65-F5344CB8AC3E}">
        <p14:creationId xmlns:p14="http://schemas.microsoft.com/office/powerpoint/2010/main" val="1436874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0898" r="22582"/>
          <a:stretch/>
        </p:blipFill>
        <p:spPr>
          <a:xfrm>
            <a:off x="0" y="3376031"/>
            <a:ext cx="9155651" cy="27898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8249" y="4047077"/>
            <a:ext cx="7999382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Energia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Cinemática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Força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 e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Ondas</a:t>
            </a:r>
            <a:endParaRPr lang="en-US" sz="2200" dirty="0">
              <a:solidFill>
                <a:srgbClr val="FFFFFF"/>
              </a:solidFill>
              <a:latin typeface="Gotham-Book"/>
              <a:cs typeface="Gotham-Boo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8249" y="5061038"/>
            <a:ext cx="708498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2" name="Retângulo 1"/>
          <p:cNvSpPr/>
          <p:nvPr/>
        </p:nvSpPr>
        <p:spPr>
          <a:xfrm>
            <a:off x="0" y="274785"/>
            <a:ext cx="91440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Estudo dos conceitos básicos da mecânica, com especial ênfase em dinâmica. Aplicações desses conceitos em problemas relativos à área de engenharia. Os alunos estudarão tópicos como sistemas de medidas, movimento em uma e duas dimensões, equações do movimento, movimento dos projéteis, leis de Newton, trabalho e energia, energia potencial e energia cinética, conservação da energia, potência, momento linear: conservação do momento, colisões. Além disso serão estudados tópicos que tratam dos fenômenos ondulatórios em sistemas mecânicos.</a:t>
            </a:r>
          </a:p>
        </p:txBody>
      </p:sp>
    </p:spTree>
    <p:extLst>
      <p:ext uri="{BB962C8B-B14F-4D97-AF65-F5344CB8AC3E}">
        <p14:creationId xmlns:p14="http://schemas.microsoft.com/office/powerpoint/2010/main" val="276957170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regua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549275"/>
            <a:ext cx="287972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 descr="micrômetr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3" y="4951412"/>
            <a:ext cx="3201987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 descr="paquimetro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906" y="2060575"/>
            <a:ext cx="3433762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132138" y="404813"/>
            <a:ext cx="99695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1600" b="1">
                <a:solidFill>
                  <a:schemeClr val="tx1"/>
                </a:solidFill>
              </a:rPr>
              <a:t>Régua</a:t>
            </a:r>
          </a:p>
          <a:p>
            <a:pPr algn="ctr"/>
            <a:r>
              <a:rPr lang="en-US" sz="1600" b="1">
                <a:solidFill>
                  <a:schemeClr val="tx1"/>
                </a:solidFill>
                <a:cs typeface="Arial" panose="020B0604020202020204" pitchFamily="34" charset="0"/>
              </a:rPr>
              <a:t>± 0,5mm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5014006" y="2060575"/>
            <a:ext cx="130175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1600" b="1">
                <a:solidFill>
                  <a:schemeClr val="tx1"/>
                </a:solidFill>
              </a:rPr>
              <a:t>Paquímetro</a:t>
            </a:r>
          </a:p>
          <a:p>
            <a:pPr algn="ctr"/>
            <a:r>
              <a:rPr lang="en-US" sz="1600" b="1">
                <a:solidFill>
                  <a:schemeClr val="tx1"/>
                </a:solidFill>
              </a:rPr>
              <a:t>± 0,05mm</a:t>
            </a:r>
            <a:endParaRPr lang="pt-BR" sz="1600" b="1">
              <a:solidFill>
                <a:schemeClr val="tx1"/>
              </a:solidFill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7812088" y="4344987"/>
            <a:ext cx="1292225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 b="1">
                <a:solidFill>
                  <a:schemeClr val="tx1"/>
                </a:solidFill>
              </a:rPr>
              <a:t>Micrômetro</a:t>
            </a:r>
          </a:p>
          <a:p>
            <a:r>
              <a:rPr lang="en-US" sz="1600" b="1">
                <a:solidFill>
                  <a:schemeClr val="tx1"/>
                </a:solidFill>
              </a:rPr>
              <a:t>±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b="1">
                <a:solidFill>
                  <a:schemeClr val="tx1"/>
                </a:solidFill>
              </a:rPr>
              <a:t>0,005mm</a:t>
            </a:r>
          </a:p>
        </p:txBody>
      </p:sp>
    </p:spTree>
    <p:extLst>
      <p:ext uri="{BB962C8B-B14F-4D97-AF65-F5344CB8AC3E}">
        <p14:creationId xmlns:p14="http://schemas.microsoft.com/office/powerpoint/2010/main" val="353201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omo ver o passado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5" y="3646488"/>
            <a:ext cx="3810000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839788" y="882650"/>
            <a:ext cx="40640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 dirty="0">
                <a:solidFill>
                  <a:schemeClr val="tx1"/>
                </a:solidFill>
              </a:rPr>
              <a:t>Velocidade da luz = (299.792.458 </a:t>
            </a:r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± 1) </a:t>
            </a:r>
            <a:r>
              <a:rPr lang="pt-BR" sz="1600" dirty="0">
                <a:solidFill>
                  <a:schemeClr val="tx1"/>
                </a:solidFill>
              </a:rPr>
              <a:t>m/s </a:t>
            </a:r>
          </a:p>
        </p:txBody>
      </p:sp>
      <p:pic>
        <p:nvPicPr>
          <p:cNvPr id="18436" name="Picture 4" descr="Do sol ate a ter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412875"/>
            <a:ext cx="28575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 Box 6"/>
          <p:cNvSpPr txBox="1">
            <a:spLocks noChangeArrowheads="1"/>
          </p:cNvSpPr>
          <p:nvPr/>
        </p:nvSpPr>
        <p:spPr bwMode="auto">
          <a:xfrm>
            <a:off x="5487988" y="1406525"/>
            <a:ext cx="2108200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 dirty="0">
                <a:solidFill>
                  <a:schemeClr val="tx1"/>
                </a:solidFill>
              </a:rPr>
              <a:t>A luz do sol leva aproximadamente 00:08:19 para chegar até a terra.</a:t>
            </a:r>
          </a:p>
        </p:txBody>
      </p:sp>
    </p:spTree>
    <p:extLst>
      <p:ext uri="{BB962C8B-B14F-4D97-AF65-F5344CB8AC3E}">
        <p14:creationId xmlns:p14="http://schemas.microsoft.com/office/powerpoint/2010/main" val="8416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144434"/>
            <a:ext cx="91440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b="1" dirty="0">
                <a:solidFill>
                  <a:schemeClr val="tx1"/>
                </a:solidFill>
              </a:rPr>
              <a:t>	Será que a precisão de uma medida influencia na interpretação do resultado?</a:t>
            </a:r>
          </a:p>
        </p:txBody>
      </p:sp>
      <p:pic>
        <p:nvPicPr>
          <p:cNvPr id="9" name="Picture 2" descr="regua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755775"/>
            <a:ext cx="2879725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 descr="micrômetro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2013" y="5248275"/>
            <a:ext cx="3201987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paquimetro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906" y="2496004"/>
            <a:ext cx="3433762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132138" y="1611313"/>
            <a:ext cx="996950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1600" b="1">
                <a:solidFill>
                  <a:schemeClr val="tx1"/>
                </a:solidFill>
              </a:rPr>
              <a:t>Régua</a:t>
            </a:r>
          </a:p>
          <a:p>
            <a:pPr algn="ctr"/>
            <a:r>
              <a:rPr lang="en-US" sz="1600" b="1">
                <a:solidFill>
                  <a:schemeClr val="tx1"/>
                </a:solidFill>
                <a:cs typeface="Arial" panose="020B0604020202020204" pitchFamily="34" charset="0"/>
              </a:rPr>
              <a:t>± 0,5mm</a:t>
            </a: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5014006" y="2496004"/>
            <a:ext cx="130175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1600" b="1">
                <a:solidFill>
                  <a:schemeClr val="tx1"/>
                </a:solidFill>
              </a:rPr>
              <a:t>Paquímetro</a:t>
            </a:r>
          </a:p>
          <a:p>
            <a:pPr algn="ctr"/>
            <a:r>
              <a:rPr lang="en-US" sz="1600" b="1">
                <a:solidFill>
                  <a:schemeClr val="tx1"/>
                </a:solidFill>
              </a:rPr>
              <a:t>± 0,05mm</a:t>
            </a:r>
            <a:endParaRPr lang="pt-BR" sz="1600" b="1">
              <a:solidFill>
                <a:schemeClr val="tx1"/>
              </a:solidFill>
            </a:endParaRPr>
          </a:p>
        </p:txBody>
      </p:sp>
      <p:sp>
        <p:nvSpPr>
          <p:cNvPr id="20" name="Text Box 7"/>
          <p:cNvSpPr txBox="1">
            <a:spLocks noChangeArrowheads="1"/>
          </p:cNvSpPr>
          <p:nvPr/>
        </p:nvSpPr>
        <p:spPr bwMode="auto">
          <a:xfrm>
            <a:off x="7812088" y="4641850"/>
            <a:ext cx="1292225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600" b="1">
                <a:solidFill>
                  <a:schemeClr val="tx1"/>
                </a:solidFill>
              </a:rPr>
              <a:t>Micrômetro</a:t>
            </a:r>
          </a:p>
          <a:p>
            <a:r>
              <a:rPr lang="en-US" sz="1600" b="1">
                <a:solidFill>
                  <a:schemeClr val="tx1"/>
                </a:solidFill>
              </a:rPr>
              <a:t>±</a:t>
            </a:r>
            <a:r>
              <a:rPr lang="pt-BR" sz="1600">
                <a:solidFill>
                  <a:schemeClr val="tx1"/>
                </a:solidFill>
              </a:rPr>
              <a:t> </a:t>
            </a:r>
            <a:r>
              <a:rPr lang="pt-BR" sz="1600" b="1">
                <a:solidFill>
                  <a:schemeClr val="tx1"/>
                </a:solidFill>
              </a:rPr>
              <a:t>0,005mm</a:t>
            </a:r>
          </a:p>
        </p:txBody>
      </p:sp>
    </p:spTree>
    <p:extLst>
      <p:ext uri="{BB962C8B-B14F-4D97-AF65-F5344CB8AC3E}">
        <p14:creationId xmlns:p14="http://schemas.microsoft.com/office/powerpoint/2010/main" val="2300761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73125" y="879475"/>
            <a:ext cx="8280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1600" b="1" dirty="0">
                <a:solidFill>
                  <a:schemeClr val="tx1"/>
                </a:solidFill>
              </a:rPr>
              <a:t>Será que, a precisão de uma medida influencia na interpretação do resultado?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611438"/>
            <a:ext cx="1944687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6" name="Picture 4" descr="bloco de ferr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819275"/>
            <a:ext cx="1684337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50825" y="3084513"/>
            <a:ext cx="1603375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1400">
                <a:solidFill>
                  <a:schemeClr val="tx1"/>
                </a:solidFill>
              </a:rPr>
              <a:t>Bloco de ferro visto a olho nu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2124075" y="3921125"/>
            <a:ext cx="2087563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1400">
                <a:solidFill>
                  <a:schemeClr val="tx1"/>
                </a:solidFill>
              </a:rPr>
              <a:t>Amostra de ferro vista ao microscópio ótico</a:t>
            </a:r>
          </a:p>
        </p:txBody>
      </p:sp>
      <p:pic>
        <p:nvPicPr>
          <p:cNvPr id="9" name="Picture 7" descr="microscopia de varredura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775" y="3800475"/>
            <a:ext cx="1728788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859338" y="5132388"/>
            <a:ext cx="1800225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1400">
                <a:solidFill>
                  <a:schemeClr val="tx1"/>
                </a:solidFill>
              </a:rPr>
              <a:t>Amostra vista com o microscópio eletrônico</a:t>
            </a:r>
          </a:p>
        </p:txBody>
      </p:sp>
      <p:pic>
        <p:nvPicPr>
          <p:cNvPr id="11" name="Picture 9" descr="fig73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4772025"/>
            <a:ext cx="1979612" cy="154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" descr="Microscópio eletronico1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316038"/>
            <a:ext cx="1835150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1" descr="foto STM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263" y="3932238"/>
            <a:ext cx="1512887" cy="1487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162800" y="5445125"/>
            <a:ext cx="1873250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1400">
                <a:solidFill>
                  <a:schemeClr val="tx1"/>
                </a:solidFill>
              </a:rPr>
              <a:t>Amostra observada com microscópio de força atômica</a:t>
            </a:r>
          </a:p>
        </p:txBody>
      </p:sp>
      <p:pic>
        <p:nvPicPr>
          <p:cNvPr id="15" name="Picture 13" descr="tunneling_atoms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2409825"/>
            <a:ext cx="1871663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40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4" descr="Pentium Processor infrared sc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916113"/>
            <a:ext cx="4064000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2698750" y="4392777"/>
            <a:ext cx="339708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400">
                <a:solidFill>
                  <a:schemeClr val="tx1"/>
                </a:solidFill>
              </a:rPr>
              <a:t>Imagem térmica de um Pentium Celeron</a:t>
            </a:r>
          </a:p>
        </p:txBody>
      </p:sp>
    </p:spTree>
    <p:extLst>
      <p:ext uri="{BB962C8B-B14F-4D97-AF65-F5344CB8AC3E}">
        <p14:creationId xmlns:p14="http://schemas.microsoft.com/office/powerpoint/2010/main" val="652653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/>
          <p:cNvSpPr>
            <a:spLocks noChangeArrowheads="1"/>
          </p:cNvSpPr>
          <p:nvPr/>
        </p:nvSpPr>
        <p:spPr bwMode="auto">
          <a:xfrm>
            <a:off x="34925" y="765175"/>
            <a:ext cx="896620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rgbClr val="FF0000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I	Medidas físicas: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1.1	O sistema internacional de medidas;</a:t>
            </a:r>
          </a:p>
          <a:p>
            <a:endParaRPr lang="pt-BR" sz="1800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1.2	Comprimento, tempo e massa;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1.3	Notações;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1.4	Algarismos significativos;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1.5	Erros de medidas.</a:t>
            </a:r>
          </a:p>
        </p:txBody>
      </p:sp>
    </p:spTree>
    <p:extLst>
      <p:ext uri="{BB962C8B-B14F-4D97-AF65-F5344CB8AC3E}">
        <p14:creationId xmlns:p14="http://schemas.microsoft.com/office/powerpoint/2010/main" val="850526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6"/>
          <p:cNvSpPr>
            <a:spLocks noChangeArrowheads="1"/>
          </p:cNvSpPr>
          <p:nvPr/>
        </p:nvSpPr>
        <p:spPr bwMode="auto">
          <a:xfrm>
            <a:off x="34925" y="765175"/>
            <a:ext cx="89662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II	Laboratório I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2.1	Analise de dados – Experimento I;</a:t>
            </a:r>
          </a:p>
          <a:p>
            <a:endParaRPr lang="pt-BR" sz="1800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2.2	Medidas e propagação de erros – Experimento II.</a:t>
            </a:r>
          </a:p>
        </p:txBody>
      </p:sp>
    </p:spTree>
    <p:extLst>
      <p:ext uri="{BB962C8B-B14F-4D97-AF65-F5344CB8AC3E}">
        <p14:creationId xmlns:p14="http://schemas.microsoft.com/office/powerpoint/2010/main" val="3270622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 descr="Movimento retilineo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408113"/>
            <a:ext cx="2730500" cy="233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 descr="Movimento retilineo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2560638"/>
            <a:ext cx="2822575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 descr="Movimento retilineo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4186238"/>
            <a:ext cx="2938462" cy="193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144434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chemeClr val="tx1"/>
                </a:solidFill>
              </a:rPr>
              <a:t>	</a:t>
            </a:r>
            <a:r>
              <a:rPr lang="pt-BR" b="1" dirty="0">
                <a:solidFill>
                  <a:srgbClr val="FF0000"/>
                </a:solidFill>
              </a:rPr>
              <a:t>Física do movimento</a:t>
            </a:r>
          </a:p>
        </p:txBody>
      </p:sp>
    </p:spTree>
    <p:extLst>
      <p:ext uri="{BB962C8B-B14F-4D97-AF65-F5344CB8AC3E}">
        <p14:creationId xmlns:p14="http://schemas.microsoft.com/office/powerpoint/2010/main" val="318808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REL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836613"/>
            <a:ext cx="4537075" cy="452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268538" y="5465763"/>
            <a:ext cx="438293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400">
                <a:solidFill>
                  <a:schemeClr val="tx1"/>
                </a:solidFill>
              </a:rPr>
              <a:t>Desvio da trajetória da luz por campos gravitacionais</a:t>
            </a:r>
          </a:p>
        </p:txBody>
      </p:sp>
    </p:spTree>
    <p:extLst>
      <p:ext uri="{BB962C8B-B14F-4D97-AF65-F5344CB8AC3E}">
        <p14:creationId xmlns:p14="http://schemas.microsoft.com/office/powerpoint/2010/main" val="1184305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/>
          <p:cNvSpPr>
            <a:spLocks noChangeArrowheads="1"/>
          </p:cNvSpPr>
          <p:nvPr/>
        </p:nvSpPr>
        <p:spPr bwMode="auto">
          <a:xfrm>
            <a:off x="0" y="1"/>
            <a:ext cx="914400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III	Movimento retilíneo: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3.1	Posição;</a:t>
            </a:r>
          </a:p>
          <a:p>
            <a:endParaRPr lang="pt-BR" sz="1800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3.2	Velocidade média;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3.3	Velocidade instantânea;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3.4	Aceleração;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3.5	Queda livre.</a:t>
            </a:r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0" y="4524375"/>
            <a:ext cx="9144000" cy="180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IV	Laboratório II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4.1	Queda livre – Experimento III.</a:t>
            </a:r>
          </a:p>
        </p:txBody>
      </p:sp>
    </p:spTree>
    <p:extLst>
      <p:ext uri="{BB962C8B-B14F-4D97-AF65-F5344CB8AC3E}">
        <p14:creationId xmlns:p14="http://schemas.microsoft.com/office/powerpoint/2010/main" val="2867240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Lancamento inclinado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850" y="2593975"/>
            <a:ext cx="278765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7" name="Picture 3" descr="Lançamento inclinad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20725"/>
            <a:ext cx="3309938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4" descr="projétil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571875"/>
            <a:ext cx="3303588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232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dipolo3"/>
          <p:cNvPicPr>
            <a:picLocks noChangeAspect="1" noChangeArrowheads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446338"/>
            <a:ext cx="2663825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682625" y="4543425"/>
            <a:ext cx="3313113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1400">
                <a:solidFill>
                  <a:schemeClr val="tx1"/>
                </a:solidFill>
              </a:rPr>
              <a:t>Vetor campo elétrico gerado por duas cargas opostas de mesma intensidade.</a:t>
            </a:r>
          </a:p>
        </p:txBody>
      </p:sp>
      <p:pic>
        <p:nvPicPr>
          <p:cNvPr id="27652" name="Picture 4" descr="img3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420938"/>
            <a:ext cx="2951163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5527675" y="4592802"/>
            <a:ext cx="199554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1400">
                <a:solidFill>
                  <a:schemeClr val="tx1"/>
                </a:solidFill>
              </a:rPr>
              <a:t>Vetores fluxo de calor. </a:t>
            </a:r>
          </a:p>
        </p:txBody>
      </p:sp>
      <p:pic>
        <p:nvPicPr>
          <p:cNvPr id="27654" name="Picture 6" descr="$ \mb{h}$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2708275"/>
            <a:ext cx="152400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4630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/>
          <p:cNvSpPr>
            <a:spLocks noChangeArrowheads="1"/>
          </p:cNvSpPr>
          <p:nvPr/>
        </p:nvSpPr>
        <p:spPr bwMode="auto">
          <a:xfrm>
            <a:off x="34925" y="752475"/>
            <a:ext cx="8966200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V	Cálculo vetorial e movimento no plano: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5.1	Vetores;</a:t>
            </a:r>
          </a:p>
          <a:p>
            <a:endParaRPr lang="pt-BR" sz="1800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5.2	Operações com vetores;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5.3	Lançamento inclinado;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5.4	Movimento relativo.</a:t>
            </a:r>
          </a:p>
        </p:txBody>
      </p:sp>
    </p:spTree>
    <p:extLst>
      <p:ext uri="{BB962C8B-B14F-4D97-AF65-F5344CB8AC3E}">
        <p14:creationId xmlns:p14="http://schemas.microsoft.com/office/powerpoint/2010/main" val="2614060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Issac-Newton-e-sua-maçã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768350"/>
            <a:ext cx="2736850" cy="212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9" name="Picture 3" descr="segundalei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2497138"/>
            <a:ext cx="2692400" cy="185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 descr="Leis de Newton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4752975"/>
            <a:ext cx="4819650" cy="133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6" descr="inercia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0788" y="696913"/>
            <a:ext cx="4113212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0178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8" descr="força de atrito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0" y="549275"/>
            <a:ext cx="2481263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4" descr="Plano inclinad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338" y="4008438"/>
            <a:ext cx="1871662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6" descr="força de atrito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620713"/>
            <a:ext cx="2281238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7" descr="Lei de hook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924175"/>
            <a:ext cx="2592387" cy="195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9" descr="art26_fig01_forca_plano_inclinado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75" r="7921"/>
          <a:stretch>
            <a:fillRect/>
          </a:stretch>
        </p:blipFill>
        <p:spPr bwMode="auto">
          <a:xfrm>
            <a:off x="5003800" y="3827463"/>
            <a:ext cx="223202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5" descr="Balança de mola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0" y="2924175"/>
            <a:ext cx="1406525" cy="147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8184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/>
          <p:cNvSpPr>
            <a:spLocks noChangeArrowheads="1"/>
          </p:cNvSpPr>
          <p:nvPr/>
        </p:nvSpPr>
        <p:spPr bwMode="auto">
          <a:xfrm>
            <a:off x="34925" y="752475"/>
            <a:ext cx="8966200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VI	Leis de Newton, força e movimento e estática: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6.1	As três Leis de Newton;</a:t>
            </a:r>
          </a:p>
          <a:p>
            <a:endParaRPr lang="pt-BR" sz="1800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6.2	Massa e peso;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6.3	Forças de atrito;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6.4	Lei de Hooke.</a:t>
            </a:r>
          </a:p>
        </p:txBody>
      </p:sp>
    </p:spTree>
    <p:extLst>
      <p:ext uri="{BB962C8B-B14F-4D97-AF65-F5344CB8AC3E}">
        <p14:creationId xmlns:p14="http://schemas.microsoft.com/office/powerpoint/2010/main" val="1466210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/>
          <p:cNvSpPr>
            <a:spLocks noChangeArrowheads="1"/>
          </p:cNvSpPr>
          <p:nvPr/>
        </p:nvSpPr>
        <p:spPr bwMode="auto">
          <a:xfrm>
            <a:off x="34925" y="765175"/>
            <a:ext cx="8966200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VII	Laboratório III: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7.1	Forças de atrito – Experimento IV;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endParaRPr lang="pt-BR" sz="1800" b="1" dirty="0">
              <a:solidFill>
                <a:schemeClr val="tx1"/>
              </a:solidFill>
            </a:endParaRP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VIII	Laboratório IV: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8.1	Lei de Hook – Experimento V.</a:t>
            </a:r>
          </a:p>
        </p:txBody>
      </p:sp>
    </p:spTree>
    <p:extLst>
      <p:ext uri="{BB962C8B-B14F-4D97-AF65-F5344CB8AC3E}">
        <p14:creationId xmlns:p14="http://schemas.microsoft.com/office/powerpoint/2010/main" val="365283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barragem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3789363"/>
            <a:ext cx="3167062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3" descr="energia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713"/>
            <a:ext cx="21399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Picture 4" descr="imag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276475"/>
            <a:ext cx="3024188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5" descr="skate_tampa-vertam-02_130310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1125538"/>
            <a:ext cx="2090737" cy="175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800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rampa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557338"/>
            <a:ext cx="63500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88534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/>
          <p:cNvSpPr>
            <a:spLocks noChangeArrowheads="1"/>
          </p:cNvSpPr>
          <p:nvPr/>
        </p:nvSpPr>
        <p:spPr bwMode="auto">
          <a:xfrm>
            <a:off x="34925" y="752475"/>
            <a:ext cx="896620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IX	Trabalho, Energia e Leis de conservação: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9.1	Definição de trabalho;</a:t>
            </a:r>
          </a:p>
          <a:p>
            <a:endParaRPr lang="pt-BR" sz="1800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9.2	Energia potencial gravitacional;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9.3	Energia cinética;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9.4	Conservação de energia;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9.5	Potência.</a:t>
            </a:r>
          </a:p>
        </p:txBody>
      </p:sp>
    </p:spTree>
    <p:extLst>
      <p:ext uri="{BB962C8B-B14F-4D97-AF65-F5344CB8AC3E}">
        <p14:creationId xmlns:p14="http://schemas.microsoft.com/office/powerpoint/2010/main" val="245623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549275"/>
            <a:ext cx="532447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39" name="Picture 2" descr="Satélite artificial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2997200"/>
            <a:ext cx="4102100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4636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 descr="Harddisk-full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341438"/>
            <a:ext cx="5999162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5455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ChangeArrowheads="1"/>
          </p:cNvSpPr>
          <p:nvPr/>
        </p:nvSpPr>
        <p:spPr bwMode="auto">
          <a:xfrm>
            <a:off x="34925" y="752475"/>
            <a:ext cx="896620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X	Movimento de rotação: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10.1	As grandezas do movimento de rotação;</a:t>
            </a:r>
          </a:p>
          <a:p>
            <a:endParaRPr lang="pt-BR" sz="1800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10.2	Velocidade e aceleração angular;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10.3	Energia cinética na rotação.</a:t>
            </a:r>
          </a:p>
        </p:txBody>
      </p:sp>
    </p:spTree>
    <p:extLst>
      <p:ext uri="{BB962C8B-B14F-4D97-AF65-F5344CB8AC3E}">
        <p14:creationId xmlns:p14="http://schemas.microsoft.com/office/powerpoint/2010/main" val="4217732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Penduleo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50" y="1412875"/>
            <a:ext cx="2865438" cy="340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1" name="Picture 3" descr="2591458664_173b511b1e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836613"/>
            <a:ext cx="266382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2" name="Picture 4" descr="1167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588" y="2636838"/>
            <a:ext cx="2185987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1193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ChangeArrowheads="1"/>
          </p:cNvSpPr>
          <p:nvPr/>
        </p:nvSpPr>
        <p:spPr bwMode="auto">
          <a:xfrm>
            <a:off x="34925" y="752475"/>
            <a:ext cx="896620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XI	Oscilações: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11.1	Movimento harmônico simples;</a:t>
            </a:r>
          </a:p>
          <a:p>
            <a:endParaRPr lang="pt-BR" sz="1800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11.2	Tipos de pêndulos;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11.3	Movimento circular uniforme.</a:t>
            </a:r>
          </a:p>
        </p:txBody>
      </p:sp>
    </p:spTree>
    <p:extLst>
      <p:ext uri="{BB962C8B-B14F-4D97-AF65-F5344CB8AC3E}">
        <p14:creationId xmlns:p14="http://schemas.microsoft.com/office/powerpoint/2010/main" val="2962519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/>
          <p:cNvSpPr>
            <a:spLocks noChangeArrowheads="1"/>
          </p:cNvSpPr>
          <p:nvPr/>
        </p:nvSpPr>
        <p:spPr bwMode="auto">
          <a:xfrm>
            <a:off x="34925" y="752475"/>
            <a:ext cx="896620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b="1" dirty="0">
                <a:solidFill>
                  <a:srgbClr val="FF0000"/>
                </a:solidFill>
              </a:rPr>
              <a:t>	Conteúdo programático</a:t>
            </a:r>
          </a:p>
          <a:p>
            <a:endParaRPr lang="pt-BR" b="1" dirty="0">
              <a:solidFill>
                <a:schemeClr val="tx1"/>
              </a:solidFill>
            </a:endParaRPr>
          </a:p>
          <a:p>
            <a:r>
              <a:rPr lang="pt-BR" sz="2200" b="1" dirty="0">
                <a:solidFill>
                  <a:schemeClr val="tx1"/>
                </a:solidFill>
              </a:rPr>
              <a:t>XII	Laboratório V:</a:t>
            </a:r>
          </a:p>
          <a:p>
            <a:endParaRPr lang="pt-BR" sz="1800" b="1" dirty="0">
              <a:solidFill>
                <a:schemeClr val="tx1"/>
              </a:solidFill>
            </a:endParaRPr>
          </a:p>
          <a:p>
            <a:r>
              <a:rPr lang="pt-BR" sz="1800" b="1" dirty="0">
                <a:solidFill>
                  <a:schemeClr val="tx1"/>
                </a:solidFill>
              </a:rPr>
              <a:t>12.1	Determinação de aceleração da gravidade -  Experimento VI;</a:t>
            </a:r>
          </a:p>
        </p:txBody>
      </p:sp>
    </p:spTree>
    <p:extLst>
      <p:ext uri="{BB962C8B-B14F-4D97-AF65-F5344CB8AC3E}">
        <p14:creationId xmlns:p14="http://schemas.microsoft.com/office/powerpoint/2010/main" val="2022289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 noChangeArrowheads="1"/>
          </p:cNvSpPr>
          <p:nvPr/>
        </p:nvSpPr>
        <p:spPr bwMode="auto">
          <a:xfrm>
            <a:off x="34925" y="752475"/>
            <a:ext cx="8569325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b="1" dirty="0">
                <a:solidFill>
                  <a:srgbClr val="FF0000"/>
                </a:solidFill>
              </a:rPr>
              <a:t>		Metodologia de ensino</a:t>
            </a:r>
          </a:p>
        </p:txBody>
      </p:sp>
      <p:sp>
        <p:nvSpPr>
          <p:cNvPr id="51203" name="Rectangle 5"/>
          <p:cNvSpPr>
            <a:spLocks noChangeArrowheads="1"/>
          </p:cNvSpPr>
          <p:nvPr/>
        </p:nvSpPr>
        <p:spPr bwMode="auto">
          <a:xfrm>
            <a:off x="34925" y="1550988"/>
            <a:ext cx="8424863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1800" dirty="0"/>
              <a:t>	</a:t>
            </a:r>
            <a:r>
              <a:rPr lang="pt-BR" sz="1800" dirty="0">
                <a:solidFill>
                  <a:schemeClr val="tx1"/>
                </a:solidFill>
              </a:rPr>
              <a:t>A metodologia se baseia em aulas expositivas teóricas mescladas com exercícios em cada unidade do conteúdo programático. Algumas aulas em laboratório estão programadas para auxiliar na fixação do conteúdo. </a:t>
            </a:r>
          </a:p>
        </p:txBody>
      </p:sp>
    </p:spTree>
    <p:extLst>
      <p:ext uri="{BB962C8B-B14F-4D97-AF65-F5344CB8AC3E}">
        <p14:creationId xmlns:p14="http://schemas.microsoft.com/office/powerpoint/2010/main" val="1102750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"/>
            <a:ext cx="9144000" cy="2957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2"/>
          <p:cNvSpPr txBox="1">
            <a:spLocks/>
          </p:cNvSpPr>
          <p:nvPr/>
        </p:nvSpPr>
        <p:spPr>
          <a:xfrm>
            <a:off x="1" y="2485530"/>
            <a:ext cx="9158288" cy="471487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 fontScale="825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BR" sz="3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Bilbliografia</a:t>
            </a:r>
            <a:endParaRPr kumimoji="0" lang="pt-BR" altLang="pt-BR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" y="2977759"/>
            <a:ext cx="9144000" cy="386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 anchor="ctr">
            <a:spAutoFit/>
          </a:bodyPr>
          <a:lstStyle>
            <a:lvl1pPr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sz="2200" b="1" dirty="0">
                <a:solidFill>
                  <a:schemeClr val="tx1"/>
                </a:solidFill>
              </a:rPr>
              <a:t>BÁSICA</a:t>
            </a:r>
          </a:p>
          <a:p>
            <a:pPr algn="just"/>
            <a:endParaRPr lang="en-US" sz="2200" b="1" dirty="0">
              <a:solidFill>
                <a:schemeClr val="tx1"/>
              </a:solidFill>
            </a:endParaRP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HALLIDAY, David; RESNICK, Robert;  WALKER, Jearl. Fundamentos de Física: mecânica. Vol 1. Rio de </a:t>
            </a: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Janeiro: LTC, 2006.</a:t>
            </a:r>
          </a:p>
          <a:p>
            <a:pPr algn="just"/>
            <a:endParaRPr lang="en-US" sz="1400" b="1" dirty="0">
              <a:solidFill>
                <a:schemeClr val="tx1"/>
              </a:solidFill>
            </a:endParaRP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HALLIDAY, David; RESNICK, Robert;  WALKER, Jearl. Fundamentos de Física: gravitação, ondas e </a:t>
            </a: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termodinâmica. Vol 2. Rio de Janeiro: LTC, 2006.</a:t>
            </a: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 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</a:rPr>
              <a:t>COMPLEMENTAR</a:t>
            </a:r>
          </a:p>
          <a:p>
            <a:pPr algn="just"/>
            <a:endParaRPr lang="en-US" sz="1800" b="1" dirty="0">
              <a:solidFill>
                <a:schemeClr val="tx1"/>
              </a:solidFill>
            </a:endParaRP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TIPLER, Paul. Física-</a:t>
            </a:r>
            <a:r>
              <a:rPr lang="en-US" sz="1400" b="1" dirty="0" err="1">
                <a:solidFill>
                  <a:schemeClr val="tx1"/>
                </a:solidFill>
              </a:rPr>
              <a:t>mecânica</a:t>
            </a:r>
            <a:r>
              <a:rPr lang="en-US" sz="1400" b="1" dirty="0">
                <a:solidFill>
                  <a:schemeClr val="tx1"/>
                </a:solidFill>
              </a:rPr>
              <a:t>, oscilações e ondas,  termodinâmica. 10ª </a:t>
            </a:r>
            <a:r>
              <a:rPr lang="en-US" sz="1400" b="1" dirty="0" err="1">
                <a:solidFill>
                  <a:schemeClr val="tx1"/>
                </a:solidFill>
              </a:rPr>
              <a:t>edição</a:t>
            </a:r>
            <a:r>
              <a:rPr lang="en-US" sz="1400" b="1" dirty="0">
                <a:solidFill>
                  <a:schemeClr val="tx1"/>
                </a:solidFill>
              </a:rPr>
              <a:t>. Vol. 1. Rio de Janeiro: LTC, 2006.</a:t>
            </a:r>
          </a:p>
          <a:p>
            <a:pPr algn="just"/>
            <a:endParaRPr lang="en-US" sz="1400" b="1" dirty="0">
              <a:solidFill>
                <a:schemeClr val="tx1"/>
              </a:solidFill>
            </a:endParaRP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YOUNG, Hugh D.; FREEDMAN, Robert A.; SEARS, Francis. Física: mecânica. Vol. 1.  São Paulo: Addison </a:t>
            </a: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Wesley, 2002.</a:t>
            </a:r>
          </a:p>
          <a:p>
            <a:pPr algn="just"/>
            <a:r>
              <a:rPr lang="en-US" sz="1400" b="1" dirty="0">
                <a:solidFill>
                  <a:schemeClr val="tx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https://www.fiap.com.br/wp-content/themes/fiap/2015/img/pronatec/1/cursos/header/informatica/mobil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0024" y="-422276"/>
            <a:ext cx="5715000" cy="3600451"/>
          </a:xfrm>
          <a:prstGeom prst="rect">
            <a:avLst/>
          </a:prstGeom>
          <a:noFill/>
        </p:spPr>
      </p:pic>
      <p:sp>
        <p:nvSpPr>
          <p:cNvPr id="3" name="Retângulo 2"/>
          <p:cNvSpPr/>
          <p:nvPr/>
        </p:nvSpPr>
        <p:spPr>
          <a:xfrm>
            <a:off x="0" y="2631043"/>
            <a:ext cx="9144000" cy="52322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pt-BR" sz="2800" dirty="0" err="1"/>
              <a:t>Metodologia</a:t>
            </a:r>
            <a:endParaRPr lang="pt-BR" sz="2800" dirty="0"/>
          </a:p>
        </p:txBody>
      </p:sp>
      <p:sp>
        <p:nvSpPr>
          <p:cNvPr id="2" name="Retângulo 1"/>
          <p:cNvSpPr/>
          <p:nvPr/>
        </p:nvSpPr>
        <p:spPr>
          <a:xfrm>
            <a:off x="0" y="3592036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>
                <a:solidFill>
                  <a:schemeClr val="bg1"/>
                </a:solidFill>
              </a:rPr>
              <a:t>	A metodologia se baseia em aulas expositivas teóricas mescladas com exercícios em cada unidade do conteúdo programático. Algumas aulas em laboratório estão programadas para auxiliar na fixação do conteúdo.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_final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Espaço Reservado para Imagem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" r="14"/>
          <a:stretch>
            <a:fillRect/>
          </a:stretch>
        </p:blipFill>
        <p:spPr>
          <a:xfrm>
            <a:off x="215412" y="642938"/>
            <a:ext cx="8440615" cy="571658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6073</TotalTime>
  <Words>948</Words>
  <Application>Microsoft Office PowerPoint</Application>
  <PresentationFormat>Apresentação na tela (4:3)</PresentationFormat>
  <Paragraphs>177</Paragraphs>
  <Slides>33</Slides>
  <Notes>2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33</vt:i4>
      </vt:variant>
    </vt:vector>
  </HeadingPairs>
  <TitlesOfParts>
    <vt:vector size="41" baseType="lpstr">
      <vt:lpstr>Arial</vt:lpstr>
      <vt:lpstr>Calibri</vt:lpstr>
      <vt:lpstr>Gotham-Bold</vt:lpstr>
      <vt:lpstr>Gotham-Book</vt:lpstr>
      <vt:lpstr>Default Theme</vt:lpstr>
      <vt:lpstr>1_Personalizar design</vt:lpstr>
      <vt:lpstr>2_Personalizar design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</cp:lastModifiedBy>
  <cp:revision>277</cp:revision>
  <dcterms:created xsi:type="dcterms:W3CDTF">2015-01-30T10:46:50Z</dcterms:created>
  <dcterms:modified xsi:type="dcterms:W3CDTF">2024-02-26T21:18:02Z</dcterms:modified>
</cp:coreProperties>
</file>