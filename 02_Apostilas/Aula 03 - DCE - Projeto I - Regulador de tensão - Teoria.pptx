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 id="2147483739" r:id="rId3"/>
    <p:sldMasterId id="2147483751" r:id="rId4"/>
    <p:sldMasterId id="2147483749" r:id="rId5"/>
  </p:sldMasterIdLst>
  <p:notesMasterIdLst>
    <p:notesMasterId r:id="rId42"/>
  </p:notesMasterIdLst>
  <p:handoutMasterIdLst>
    <p:handoutMasterId r:id="rId43"/>
  </p:handoutMasterIdLst>
  <p:sldIdLst>
    <p:sldId id="256" r:id="rId6"/>
    <p:sldId id="266" r:id="rId7"/>
    <p:sldId id="258" r:id="rId8"/>
    <p:sldId id="607" r:id="rId9"/>
    <p:sldId id="683" r:id="rId10"/>
    <p:sldId id="684" r:id="rId11"/>
    <p:sldId id="715" r:id="rId12"/>
    <p:sldId id="733" r:id="rId13"/>
    <p:sldId id="744" r:id="rId14"/>
    <p:sldId id="732" r:id="rId15"/>
    <p:sldId id="716" r:id="rId16"/>
    <p:sldId id="738" r:id="rId17"/>
    <p:sldId id="717" r:id="rId18"/>
    <p:sldId id="718" r:id="rId19"/>
    <p:sldId id="739" r:id="rId20"/>
    <p:sldId id="719" r:id="rId21"/>
    <p:sldId id="740" r:id="rId22"/>
    <p:sldId id="720" r:id="rId23"/>
    <p:sldId id="743" r:id="rId24"/>
    <p:sldId id="721" r:id="rId25"/>
    <p:sldId id="722" r:id="rId26"/>
    <p:sldId id="724" r:id="rId27"/>
    <p:sldId id="745" r:id="rId28"/>
    <p:sldId id="725" r:id="rId29"/>
    <p:sldId id="726" r:id="rId30"/>
    <p:sldId id="727" r:id="rId31"/>
    <p:sldId id="728" r:id="rId32"/>
    <p:sldId id="729" r:id="rId33"/>
    <p:sldId id="730" r:id="rId34"/>
    <p:sldId id="731" r:id="rId35"/>
    <p:sldId id="734" r:id="rId36"/>
    <p:sldId id="735" r:id="rId37"/>
    <p:sldId id="685" r:id="rId38"/>
    <p:sldId id="736" r:id="rId39"/>
    <p:sldId id="682" r:id="rId40"/>
    <p:sldId id="265" r:id="rId4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265D"/>
    <a:srgbClr val="F6F6F6"/>
    <a:srgbClr val="020000"/>
    <a:srgbClr val="EBAFB5"/>
    <a:srgbClr val="F4D3D6"/>
    <a:srgbClr val="F9E8EA"/>
    <a:srgbClr val="30303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3" autoAdjust="0"/>
    <p:restoredTop sz="94660"/>
  </p:normalViewPr>
  <p:slideViewPr>
    <p:cSldViewPr snapToGrid="0" snapToObjects="1">
      <p:cViewPr varScale="1">
        <p:scale>
          <a:sx n="52" d="100"/>
          <a:sy n="52" d="100"/>
        </p:scale>
        <p:origin x="1684" y="264"/>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75" d="100"/>
          <a:sy n="75" d="100"/>
        </p:scale>
        <p:origin x="2094"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handoutMaster" Target="handoutMasters/handoutMaster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01A63A9-F13B-46F1-A93F-27AA737FD7E7}" type="datetimeFigureOut">
              <a:rPr lang="pt-BR" smtClean="0"/>
              <a:pPr/>
              <a:t>01/03/2026</a:t>
            </a:fld>
            <a:endParaRPr lang="pt-BR"/>
          </a:p>
        </p:txBody>
      </p:sp>
      <p:sp>
        <p:nvSpPr>
          <p:cNvPr id="4" name="Espaço Reservado para Rodapé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2F50FE-E718-42E3-9D8A-946F780C799B}" type="slidenum">
              <a:rPr lang="pt-BR" smtClean="0"/>
              <a:pPr/>
              <a:t>‹nº›</a:t>
            </a:fld>
            <a:endParaRPr lang="pt-BR"/>
          </a:p>
        </p:txBody>
      </p:sp>
    </p:spTree>
    <p:extLst>
      <p:ext uri="{BB962C8B-B14F-4D97-AF65-F5344CB8AC3E}">
        <p14:creationId xmlns:p14="http://schemas.microsoft.com/office/powerpoint/2010/main" val="31571391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498697-E7EB-B84D-9726-13965ED94444}" type="datetimeFigureOut">
              <a:rPr lang="en-US" smtClean="0"/>
              <a:pPr/>
              <a:t>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C6CD5E-26BD-9B45-BB2F-78648736C277}" type="slidenum">
              <a:rPr lang="en-US" smtClean="0"/>
              <a:pPr/>
              <a:t>‹nº›</a:t>
            </a:fld>
            <a:endParaRPr lang="en-US"/>
          </a:p>
        </p:txBody>
      </p:sp>
    </p:spTree>
    <p:extLst>
      <p:ext uri="{BB962C8B-B14F-4D97-AF65-F5344CB8AC3E}">
        <p14:creationId xmlns:p14="http://schemas.microsoft.com/office/powerpoint/2010/main" val="79928826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2</a:t>
            </a:fld>
            <a:endParaRPr lang="en-US" dirty="0"/>
          </a:p>
        </p:txBody>
      </p:sp>
    </p:spTree>
    <p:extLst>
      <p:ext uri="{BB962C8B-B14F-4D97-AF65-F5344CB8AC3E}">
        <p14:creationId xmlns:p14="http://schemas.microsoft.com/office/powerpoint/2010/main" val="250942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txBody>
          <a:bodyPr/>
          <a:lstStyle/>
          <a:p>
            <a:endParaRPr lang="pt-BR"/>
          </a:p>
        </p:txBody>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DC6CD5E-26BD-9B45-BB2F-78648736C277}" type="slidenum">
              <a:rPr lang="en-US" smtClean="0"/>
              <a:pPr/>
              <a:t>3</a:t>
            </a:fld>
            <a:endParaRPr lang="en-US" dirty="0"/>
          </a:p>
        </p:txBody>
      </p:sp>
    </p:spTree>
    <p:extLst>
      <p:ext uri="{BB962C8B-B14F-4D97-AF65-F5344CB8AC3E}">
        <p14:creationId xmlns:p14="http://schemas.microsoft.com/office/powerpoint/2010/main" val="1384739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pt-B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6CD5E-26BD-9B45-BB2F-78648736C277}" type="slidenum">
              <a:rPr lang="en-US" smtClean="0"/>
              <a:pPr/>
              <a:t>36</a:t>
            </a:fld>
            <a:endParaRPr lang="en-US"/>
          </a:p>
        </p:txBody>
      </p:sp>
    </p:spTree>
    <p:extLst>
      <p:ext uri="{BB962C8B-B14F-4D97-AF65-F5344CB8AC3E}">
        <p14:creationId xmlns:p14="http://schemas.microsoft.com/office/powerpoint/2010/main" val="31447271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pic>
        <p:nvPicPr>
          <p:cNvPr id="2" name="Picture 2"/>
          <p:cNvPicPr>
            <a:picLocks noChangeAspect="1"/>
          </p:cNvPicPr>
          <p:nvPr userDrawn="1"/>
        </p:nvPicPr>
        <p:blipFill>
          <a:blip r:embed="rId2"/>
          <a:stretch>
            <a:fillRect/>
          </a:stretch>
        </p:blipFill>
        <p:spPr>
          <a:xfrm>
            <a:off x="1674039" y="3081534"/>
            <a:ext cx="5783223" cy="682232"/>
          </a:xfrm>
          <a:prstGeom prst="rect">
            <a:avLst/>
          </a:prstGeom>
        </p:spPr>
      </p:pic>
    </p:spTree>
    <p:extLst>
      <p:ext uri="{BB962C8B-B14F-4D97-AF65-F5344CB8AC3E}">
        <p14:creationId xmlns:p14="http://schemas.microsoft.com/office/powerpoint/2010/main" val="3489581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9" name="Title 1"/>
          <p:cNvSpPr>
            <a:spLocks noGrp="1"/>
          </p:cNvSpPr>
          <p:nvPr>
            <p:ph type="title" hasCustomPrompt="1"/>
          </p:nvPr>
        </p:nvSpPr>
        <p:spPr>
          <a:xfrm>
            <a:off x="914400" y="749902"/>
            <a:ext cx="7392202"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10"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785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Espaço Reservado para Imagem 10"/>
          <p:cNvSpPr>
            <a:spLocks noGrp="1"/>
          </p:cNvSpPr>
          <p:nvPr>
            <p:ph type="pic" sz="quarter" idx="13"/>
          </p:nvPr>
        </p:nvSpPr>
        <p:spPr>
          <a:xfrm>
            <a:off x="914400" y="1600199"/>
            <a:ext cx="2875280" cy="4249172"/>
          </a:xfrm>
        </p:spPr>
        <p:txBody>
          <a:bodyPr/>
          <a:lstStyle/>
          <a:p>
            <a:endParaRPr lang="pt-BR"/>
          </a:p>
        </p:txBody>
      </p:sp>
      <p:sp>
        <p:nvSpPr>
          <p:cNvPr id="3" name="Content Placeholder 2"/>
          <p:cNvSpPr>
            <a:spLocks noGrp="1"/>
          </p:cNvSpPr>
          <p:nvPr>
            <p:ph idx="1"/>
          </p:nvPr>
        </p:nvSpPr>
        <p:spPr>
          <a:xfrm>
            <a:off x="4158114" y="1600200"/>
            <a:ext cx="4207871" cy="2933299"/>
          </a:xfrm>
        </p:spPr>
        <p:txBody>
          <a:bodyPr>
            <a:normAutofit/>
          </a:bodyPr>
          <a:lstStyle>
            <a:lvl1pPr>
              <a:defRPr sz="1600">
                <a:latin typeface="Gotham-Book"/>
              </a:defRPr>
            </a:lvl1pPr>
            <a:lvl2pPr>
              <a:defRPr sz="1600">
                <a:latin typeface="Gotham-Book"/>
              </a:defRPr>
            </a:lvl2pPr>
            <a:lvl3pPr>
              <a:defRPr sz="1600">
                <a:latin typeface="Gotham-Book"/>
              </a:defRPr>
            </a:lvl3pPr>
            <a:lvl4pPr>
              <a:defRPr sz="1600">
                <a:latin typeface="Gotham-Book"/>
              </a:defRPr>
            </a:lvl4pPr>
            <a:lvl5pPr>
              <a:defRPr sz="1600">
                <a:latin typeface="Gotham-Book"/>
              </a:defRPr>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9"/>
          <p:cNvSpPr txBox="1"/>
          <p:nvPr userDrawn="1"/>
        </p:nvSpPr>
        <p:spPr>
          <a:xfrm>
            <a:off x="947124" y="748343"/>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SHORT </a:t>
            </a:r>
            <a:r>
              <a:rPr lang="en-US" sz="2800" b="1" dirty="0">
                <a:solidFill>
                  <a:srgbClr val="303030"/>
                </a:solidFill>
                <a:latin typeface="Gotham HTF" pitchFamily="2" charset="0"/>
                <a:cs typeface="Gotham-Book"/>
              </a:rPr>
              <a:t>BIO</a:t>
            </a:r>
          </a:p>
        </p:txBody>
      </p:sp>
      <p:sp>
        <p:nvSpPr>
          <p:cNvPr id="8" name="Rectangle 19"/>
          <p:cNvSpPr/>
          <p:nvPr userDrawn="1"/>
        </p:nvSpPr>
        <p:spPr>
          <a:xfrm>
            <a:off x="3789680" y="4672530"/>
            <a:ext cx="4576305" cy="119609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
        <p:nvSpPr>
          <p:cNvPr id="10" name="Espaço Reservado para Texto 9"/>
          <p:cNvSpPr>
            <a:spLocks noGrp="1"/>
          </p:cNvSpPr>
          <p:nvPr userDrawn="1">
            <p:ph type="body" sz="quarter" idx="14" hasCustomPrompt="1"/>
          </p:nvPr>
        </p:nvSpPr>
        <p:spPr>
          <a:xfrm>
            <a:off x="4090988" y="4792663"/>
            <a:ext cx="3868737" cy="828675"/>
          </a:xfrm>
        </p:spPr>
        <p:txBody>
          <a:bodyPr/>
          <a:lstStyle>
            <a:lvl1pPr marL="0" indent="0">
              <a:buNone/>
              <a:defRPr sz="2000" baseline="0">
                <a:solidFill>
                  <a:schemeClr val="bg1"/>
                </a:solidFill>
                <a:latin typeface="Gotham-Bold"/>
              </a:defRPr>
            </a:lvl1pPr>
            <a:lvl2pPr>
              <a:defRPr sz="1800">
                <a:solidFill>
                  <a:schemeClr val="bg1"/>
                </a:solidFill>
                <a:latin typeface="Gotham-Bold"/>
              </a:defRPr>
            </a:lvl2pPr>
          </a:lstStyle>
          <a:p>
            <a:pPr lvl="0"/>
            <a:r>
              <a:rPr lang="pt-BR" dirty="0"/>
              <a:t>Prof. nome</a:t>
            </a:r>
          </a:p>
          <a:p>
            <a:pPr lvl="0"/>
            <a:r>
              <a:rPr lang="pt-BR" dirty="0" err="1"/>
              <a:t>Email</a:t>
            </a:r>
            <a:endParaRPr lang="pt-BR" dirty="0"/>
          </a:p>
        </p:txBody>
      </p:sp>
      <p:sp>
        <p:nvSpPr>
          <p:cNvPr id="13" name="Isosceles Triangle 2"/>
          <p:cNvSpPr/>
          <p:nvPr userDrawn="1"/>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a:p>
        </p:txBody>
      </p:sp>
    </p:spTree>
    <p:extLst>
      <p:ext uri="{BB962C8B-B14F-4D97-AF65-F5344CB8AC3E}">
        <p14:creationId xmlns:p14="http://schemas.microsoft.com/office/powerpoint/2010/main" val="2458548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 name="Espaço Reservado para Texto 9"/>
          <p:cNvSpPr>
            <a:spLocks noGrp="1"/>
          </p:cNvSpPr>
          <p:nvPr>
            <p:ph type="body" sz="quarter" idx="13" hasCustomPrompt="1"/>
          </p:nvPr>
        </p:nvSpPr>
        <p:spPr>
          <a:xfrm>
            <a:off x="914400" y="1750228"/>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2" name="Espaço Reservado para Texto 11"/>
          <p:cNvSpPr>
            <a:spLocks noGrp="1"/>
          </p:cNvSpPr>
          <p:nvPr>
            <p:ph type="body" sz="quarter" idx="14"/>
          </p:nvPr>
        </p:nvSpPr>
        <p:spPr>
          <a:xfrm>
            <a:off x="914400" y="2319338"/>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15" name="Espaço Reservado para Texto 9"/>
          <p:cNvSpPr>
            <a:spLocks noGrp="1"/>
          </p:cNvSpPr>
          <p:nvPr>
            <p:ph type="body" sz="quarter" idx="15" hasCustomPrompt="1"/>
          </p:nvPr>
        </p:nvSpPr>
        <p:spPr>
          <a:xfrm>
            <a:off x="914400" y="4215012"/>
            <a:ext cx="7238198" cy="260350"/>
          </a:xfrm>
        </p:spPr>
        <p:txBody>
          <a:bodyPr>
            <a:noAutofit/>
          </a:bodyPr>
          <a:lstStyle>
            <a:lvl1pPr marL="0" indent="0">
              <a:buNone/>
              <a:defRPr sz="2000" b="1">
                <a:latin typeface="Gotham HTF" pitchFamily="2" charset="0"/>
              </a:defRPr>
            </a:lvl1pPr>
            <a:lvl2pPr>
              <a:defRPr sz="2000">
                <a:latin typeface="Gotham-Bold"/>
              </a:defRPr>
            </a:lvl2pPr>
            <a:lvl3pPr>
              <a:defRPr sz="2000">
                <a:latin typeface="Gotham-Bold"/>
              </a:defRPr>
            </a:lvl3pPr>
            <a:lvl4pPr>
              <a:defRPr sz="2000">
                <a:latin typeface="Gotham-Bold"/>
              </a:defRPr>
            </a:lvl4pPr>
            <a:lvl5pPr>
              <a:defRPr sz="2000">
                <a:latin typeface="Gotham-Bold"/>
              </a:defRPr>
            </a:lvl5pPr>
          </a:lstStyle>
          <a:p>
            <a:pPr lvl="0"/>
            <a:r>
              <a:rPr lang="pt-BR" dirty="0"/>
              <a:t>CLIQUE PARA EDITAR O TEXTO MESTRE</a:t>
            </a:r>
          </a:p>
        </p:txBody>
      </p:sp>
      <p:sp>
        <p:nvSpPr>
          <p:cNvPr id="16" name="Espaço Reservado para Texto 11"/>
          <p:cNvSpPr>
            <a:spLocks noGrp="1"/>
          </p:cNvSpPr>
          <p:nvPr>
            <p:ph type="body" sz="quarter" idx="16"/>
          </p:nvPr>
        </p:nvSpPr>
        <p:spPr>
          <a:xfrm>
            <a:off x="914400" y="4784122"/>
            <a:ext cx="7238198" cy="1607769"/>
          </a:xfrm>
        </p:spPr>
        <p:txBody>
          <a:bodyPr>
            <a:normAutofit/>
          </a:bodyPr>
          <a:lstStyle>
            <a:lvl1pPr marL="342900" indent="-342900">
              <a:buFont typeface="Wingdings" panose="05000000000000000000" pitchFamily="2" charset="2"/>
              <a:buChar char="§"/>
              <a:defRPr sz="1600">
                <a:latin typeface="Gotham-Book"/>
              </a:defRPr>
            </a:lvl1pPr>
            <a:lvl2pPr marL="742950" indent="-285750">
              <a:buFont typeface="Wingdings" panose="05000000000000000000" pitchFamily="2" charset="2"/>
              <a:buChar char="§"/>
              <a:defRPr sz="1600">
                <a:latin typeface="Gotham-Book"/>
              </a:defRPr>
            </a:lvl2pPr>
            <a:lvl3pPr marL="1143000" indent="-228600">
              <a:buFont typeface="Wingdings" panose="05000000000000000000" pitchFamily="2" charset="2"/>
              <a:buChar char="§"/>
              <a:defRPr sz="1600">
                <a:latin typeface="Gotham-Book"/>
              </a:defRPr>
            </a:lvl3pPr>
            <a:lvl4pPr marL="1600200" indent="-228600">
              <a:buFont typeface="Wingdings" panose="05000000000000000000" pitchFamily="2" charset="2"/>
              <a:buChar char="§"/>
              <a:defRPr sz="1600">
                <a:latin typeface="Gotham-Book"/>
              </a:defRPr>
            </a:lvl4pPr>
            <a:lvl5pPr marL="2057400" indent="-228600">
              <a:buFont typeface="Wingdings" panose="05000000000000000000" pitchFamily="2" charset="2"/>
              <a:buChar char="§"/>
              <a:defRPr sz="1600">
                <a:latin typeface="Gotham-Book"/>
              </a:defRPr>
            </a:lvl5p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9" name="TextBox 15"/>
          <p:cNvSpPr txBox="1"/>
          <p:nvPr userDrawn="1"/>
        </p:nvSpPr>
        <p:spPr>
          <a:xfrm>
            <a:off x="947124" y="745668"/>
            <a:ext cx="4870522"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Eletrônica Digital</a:t>
            </a:r>
            <a:endParaRPr lang="en-US" sz="2800" b="1" dirty="0">
              <a:solidFill>
                <a:srgbClr val="303030"/>
              </a:solidFill>
              <a:latin typeface="Gotham HTF" pitchFamily="2" charset="0"/>
              <a:cs typeface="Gotham-Book"/>
            </a:endParaRPr>
          </a:p>
        </p:txBody>
      </p:sp>
      <p:sp>
        <p:nvSpPr>
          <p:cNvPr id="11"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3828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424539" y="2857500"/>
            <a:ext cx="6294922" cy="1143000"/>
          </a:xfrm>
        </p:spPr>
        <p:txBody>
          <a:bodyPr>
            <a:noAutofit/>
          </a:bodyPr>
          <a:lstStyle>
            <a:lvl1pPr>
              <a:defRPr sz="3600" b="1">
                <a:solidFill>
                  <a:schemeClr val="tx1"/>
                </a:solidFill>
                <a:latin typeface="Gotham HTF" pitchFamily="2" charset="0"/>
              </a:defRPr>
            </a:lvl1pPr>
          </a:lstStyle>
          <a:p>
            <a:r>
              <a:rPr lang="x-none" dirty="0"/>
              <a:t>CLICK TO EDIT MASTER TITLE STYLE</a:t>
            </a:r>
            <a:endParaRPr lang="en-US" dirty="0"/>
          </a:p>
        </p:txBody>
      </p:sp>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8292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3654" y="749165"/>
            <a:ext cx="7315197" cy="397308"/>
          </a:xfrm>
        </p:spPr>
        <p:txBody>
          <a:bodyPr>
            <a:noAutofit/>
          </a:bodyPr>
          <a:lstStyle>
            <a:lvl1pPr algn="l">
              <a:defRPr sz="2800" b="1">
                <a:latin typeface="Gotham HTF" pitchFamily="2" charset="0"/>
              </a:defRPr>
            </a:lvl1pPr>
          </a:lstStyle>
          <a:p>
            <a:r>
              <a:rPr lang="x-none" dirty="0"/>
              <a:t>CLICK TO EDIT MASTER TITLE STYLE</a:t>
            </a:r>
            <a:endParaRPr lang="en-US" dirty="0"/>
          </a:p>
        </p:txBody>
      </p:sp>
      <p:sp>
        <p:nvSpPr>
          <p:cNvPr id="3" name="Text Placeholder 2"/>
          <p:cNvSpPr>
            <a:spLocks noGrp="1"/>
          </p:cNvSpPr>
          <p:nvPr>
            <p:ph type="body" idx="1" hasCustomPrompt="1"/>
          </p:nvPr>
        </p:nvSpPr>
        <p:spPr>
          <a:xfrm>
            <a:off x="765379" y="1316730"/>
            <a:ext cx="7483472" cy="639762"/>
          </a:xfrm>
        </p:spPr>
        <p:txBody>
          <a:bodyPr anchor="b">
            <a:normAutofit/>
          </a:bodyPr>
          <a:lstStyle>
            <a:lvl1pPr marL="0" indent="0">
              <a:buNone/>
              <a:defRPr sz="2000" b="1">
                <a:latin typeface="Gotham HTF"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765379" y="2174875"/>
            <a:ext cx="7618230" cy="3951288"/>
          </a:xfrm>
        </p:spPr>
        <p:txBody>
          <a:bodyPr>
            <a:normAutofit/>
          </a:bodyPr>
          <a:lstStyle>
            <a:lvl1pPr marL="342900" indent="-342900">
              <a:buFont typeface="Wingdings" panose="05000000000000000000" pitchFamily="2" charset="2"/>
              <a:buChar char="§"/>
              <a:defRPr sz="1600">
                <a:latin typeface="Gotham-Book"/>
              </a:defRPr>
            </a:lvl1pPr>
            <a:lvl2pPr>
              <a:defRPr sz="1600">
                <a:latin typeface="Gotham-Book"/>
              </a:defRPr>
            </a:lvl2pPr>
            <a:lvl3pPr marL="1143000" indent="-228600">
              <a:buFont typeface="Wingdings" panose="05000000000000000000" pitchFamily="2" charset="2"/>
              <a:buChar char="§"/>
              <a:defRPr sz="1600">
                <a:latin typeface="Gotham-Book"/>
              </a:defRPr>
            </a:lvl3pPr>
            <a:lvl4pPr>
              <a:defRPr sz="1600">
                <a:latin typeface="Gotham-Book"/>
              </a:defRPr>
            </a:lvl4pPr>
            <a:lvl5pPr>
              <a:defRPr sz="1600">
                <a:latin typeface="Gotham-Book"/>
              </a:defRPr>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6"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82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Espaço Reservado para Texto 8"/>
          <p:cNvSpPr>
            <a:spLocks noGrp="1"/>
          </p:cNvSpPr>
          <p:nvPr>
            <p:ph type="body" sz="quarter" idx="13"/>
          </p:nvPr>
        </p:nvSpPr>
        <p:spPr>
          <a:xfrm>
            <a:off x="3868103" y="1421810"/>
            <a:ext cx="4380748" cy="4873112"/>
          </a:xfrm>
        </p:spPr>
        <p:txBody>
          <a:bodyPr>
            <a:normAutofit/>
          </a:bodyPr>
          <a:lstStyle>
            <a:lvl1pPr marL="342900" indent="-342900">
              <a:buFont typeface="Wingdings" panose="05000000000000000000" pitchFamily="2" charset="2"/>
              <a:buChar char="§"/>
              <a:defRPr sz="1600">
                <a:latin typeface="Gotham-Book"/>
              </a:defRPr>
            </a:lvl1pPr>
            <a:lvl2pPr marL="800100" indent="-342900">
              <a:buFont typeface="Wingdings" panose="05000000000000000000" pitchFamily="2" charset="2"/>
              <a:buChar char="§"/>
              <a:defRPr sz="1600">
                <a:latin typeface="Gotham-Book"/>
              </a:defRPr>
            </a:lvl2pPr>
            <a:lvl3pPr marL="1257300" indent="-342900">
              <a:buFont typeface="Wingdings" panose="05000000000000000000" pitchFamily="2" charset="2"/>
              <a:buChar char="§"/>
              <a:defRPr sz="1600">
                <a:latin typeface="Gotham-Book"/>
              </a:defRPr>
            </a:lvl3pPr>
            <a:lvl4pPr marL="1714500" indent="-342900">
              <a:buFont typeface="Wingdings" panose="05000000000000000000" pitchFamily="2" charset="2"/>
              <a:buChar char="§"/>
              <a:defRPr sz="1600">
                <a:latin typeface="Gotham-Book"/>
              </a:defRPr>
            </a:lvl4pPr>
            <a:lvl5pPr marL="2171700" indent="-342900">
              <a:buFont typeface="Wingdings" panose="05000000000000000000" pitchFamily="2" charset="2"/>
              <a:buChar char="§"/>
              <a:defRPr sz="1600">
                <a:latin typeface="Gotham-Book"/>
              </a:defRPr>
            </a:lvl5pPr>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pic>
        <p:nvPicPr>
          <p:cNvPr id="10" name="Picture 3" descr="caomputador.png"/>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297734" y="1421810"/>
            <a:ext cx="3062891" cy="2733630"/>
          </a:xfrm>
          <a:prstGeom prst="rect">
            <a:avLst/>
          </a:prstGeom>
        </p:spPr>
      </p:pic>
      <p:pic>
        <p:nvPicPr>
          <p:cNvPr id="11" name="Picture 4" descr="chicara.png"/>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rot="20276259">
            <a:off x="2055756" y="3444240"/>
            <a:ext cx="1559560" cy="1650015"/>
          </a:xfrm>
          <a:prstGeom prst="rect">
            <a:avLst/>
          </a:prstGeom>
        </p:spPr>
      </p:pic>
      <p:pic>
        <p:nvPicPr>
          <p:cNvPr id="12" name="Picture 6" descr="livros.png"/>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rot="1687626">
            <a:off x="648591" y="4397170"/>
            <a:ext cx="2064240" cy="1700934"/>
          </a:xfrm>
          <a:prstGeom prst="rect">
            <a:avLst/>
          </a:prstGeom>
        </p:spPr>
      </p:pic>
      <p:sp>
        <p:nvSpPr>
          <p:cNvPr id="13" name="TextBox 12"/>
          <p:cNvSpPr txBox="1"/>
          <p:nvPr userDrawn="1"/>
        </p:nvSpPr>
        <p:spPr>
          <a:xfrm>
            <a:off x="947123" y="736043"/>
            <a:ext cx="6801557" cy="487313"/>
          </a:xfrm>
          <a:prstGeom prst="rect">
            <a:avLst/>
          </a:prstGeom>
          <a:noFill/>
        </p:spPr>
        <p:txBody>
          <a:bodyPr wrap="square" rtlCol="0">
            <a:spAutoFit/>
          </a:bodyPr>
          <a:lstStyle/>
          <a:p>
            <a:pPr>
              <a:lnSpc>
                <a:spcPct val="90000"/>
              </a:lnSpc>
            </a:pPr>
            <a:r>
              <a:rPr lang="en-US" sz="2800" b="1" dirty="0">
                <a:solidFill>
                  <a:srgbClr val="303030"/>
                </a:solidFill>
                <a:latin typeface="Gotham HTF" pitchFamily="2" charset="0"/>
                <a:cs typeface="Gotham-Bold"/>
              </a:rPr>
              <a:t>REFERÊNCIAS</a:t>
            </a:r>
            <a:endParaRPr lang="en-US" sz="2800" b="1" dirty="0">
              <a:solidFill>
                <a:srgbClr val="303030"/>
              </a:solidFill>
              <a:latin typeface="Gotham HTF" pitchFamily="2" charset="0"/>
              <a:cs typeface="Gotham-Book"/>
            </a:endParaRPr>
          </a:p>
        </p:txBody>
      </p:sp>
      <p:sp>
        <p:nvSpPr>
          <p:cNvPr id="8"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395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914400" y="740277"/>
            <a:ext cx="7469188"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8" name="Content Placeholder 3"/>
          <p:cNvSpPr>
            <a:spLocks noGrp="1"/>
          </p:cNvSpPr>
          <p:nvPr>
            <p:ph sz="half" idx="2"/>
          </p:nvPr>
        </p:nvSpPr>
        <p:spPr>
          <a:xfrm>
            <a:off x="914400" y="4677443"/>
            <a:ext cx="7469188" cy="1251719"/>
          </a:xfrm>
        </p:spPr>
        <p:txBody>
          <a:bodyPr>
            <a:normAutofit/>
          </a:bodyPr>
          <a:lstStyle>
            <a:lvl1pPr>
              <a:buFont typeface="Wingdings" panose="05000000000000000000" pitchFamily="2" charset="2"/>
              <a:buChar char="§"/>
              <a:defRPr sz="1200">
                <a:latin typeface="Gotham-Book"/>
              </a:defRPr>
            </a:lvl1pPr>
            <a:lvl2pPr>
              <a:buFont typeface="Wingdings" panose="05000000000000000000" pitchFamily="2" charset="2"/>
              <a:buChar char="§"/>
              <a:defRPr sz="1200">
                <a:latin typeface="Gotham-Book"/>
              </a:defRPr>
            </a:lvl2pPr>
            <a:lvl3pPr>
              <a:buFont typeface="Wingdings" panose="05000000000000000000" pitchFamily="2" charset="2"/>
              <a:buChar char="§"/>
              <a:defRPr sz="1200">
                <a:latin typeface="Gotham-Book"/>
              </a:defRPr>
            </a:lvl3pPr>
            <a:lvl4pPr>
              <a:buFont typeface="Wingdings" panose="05000000000000000000" pitchFamily="2" charset="2"/>
              <a:buChar char="§"/>
              <a:defRPr sz="1200">
                <a:latin typeface="Gotham-Book"/>
              </a:defRPr>
            </a:lvl4pPr>
            <a:lvl5pPr>
              <a:buFont typeface="Wingdings" panose="05000000000000000000" pitchFamily="2" charset="2"/>
              <a:buChar char="§"/>
              <a:defRPr sz="1200">
                <a:latin typeface="Gotham-Book"/>
              </a:defRPr>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10" name="Espaço Reservado para Tabela 9"/>
          <p:cNvSpPr>
            <a:spLocks noGrp="1"/>
          </p:cNvSpPr>
          <p:nvPr>
            <p:ph type="tbl" sz="quarter" idx="13"/>
          </p:nvPr>
        </p:nvSpPr>
        <p:spPr>
          <a:xfrm>
            <a:off x="914400" y="1568450"/>
            <a:ext cx="7469188" cy="2589213"/>
          </a:xfrm>
        </p:spPr>
        <p:txBody>
          <a:bodyPr>
            <a:normAutofit/>
          </a:bodyPr>
          <a:lstStyle>
            <a:lvl1pPr>
              <a:defRPr sz="1200">
                <a:latin typeface="Gotham HTF Book" pitchFamily="2" charset="0"/>
              </a:defRPr>
            </a:lvl1pPr>
          </a:lstStyle>
          <a:p>
            <a:endParaRPr lang="pt-BR" dirty="0"/>
          </a:p>
        </p:txBody>
      </p:sp>
      <p:sp>
        <p:nvSpPr>
          <p:cNvPr id="7"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629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914399" y="721027"/>
            <a:ext cx="7305575" cy="471234"/>
          </a:xfrm>
        </p:spPr>
        <p:txBody>
          <a:bodyPr>
            <a:normAutofit/>
          </a:bodyPr>
          <a:lstStyle>
            <a:lvl1pPr algn="l">
              <a:defRPr sz="2800" b="1">
                <a:latin typeface="Gotham HTF" pitchFamily="2" charset="0"/>
              </a:defRPr>
            </a:lvl1pPr>
          </a:lstStyle>
          <a:p>
            <a:r>
              <a:rPr lang="x-none" dirty="0"/>
              <a:t>CLICK TO EDIT MASTER TITLE STYLE</a:t>
            </a:r>
            <a:endParaRPr lang="en-US" dirty="0"/>
          </a:p>
        </p:txBody>
      </p:sp>
      <p:sp>
        <p:nvSpPr>
          <p:cNvPr id="4" name="Rectangle 20"/>
          <p:cNvSpPr/>
          <p:nvPr userDrawn="1"/>
        </p:nvSpPr>
        <p:spPr>
          <a:xfrm>
            <a:off x="765379" y="8047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733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503752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628650" y="365125"/>
            <a:ext cx="7886700" cy="1325563"/>
          </a:xfrm>
          <a:prstGeom prst="rect">
            <a:avLst/>
          </a:prstGeom>
        </p:spPr>
        <p:txBody>
          <a:bodyPr/>
          <a:lstStyle/>
          <a:p>
            <a:r>
              <a:rPr lang="pt-BR"/>
              <a:t>Clique para editar o título mestre</a:t>
            </a:r>
          </a:p>
        </p:txBody>
      </p:sp>
      <p:sp>
        <p:nvSpPr>
          <p:cNvPr id="3" name="Espaço Reservado para Conteúdo 2"/>
          <p:cNvSpPr>
            <a:spLocks noGrp="1"/>
          </p:cNvSpPr>
          <p:nvPr>
            <p:ph idx="1"/>
          </p:nvPr>
        </p:nvSpPr>
        <p:spPr>
          <a:xfrm>
            <a:off x="628650" y="1825625"/>
            <a:ext cx="7886700" cy="43513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837627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údo">
    <p:spTree>
      <p:nvGrpSpPr>
        <p:cNvPr id="1" name=""/>
        <p:cNvGrpSpPr/>
        <p:nvPr/>
      </p:nvGrpSpPr>
      <p:grpSpPr>
        <a:xfrm>
          <a:off x="0" y="0"/>
          <a:ext cx="0" cy="0"/>
          <a:chOff x="0" y="0"/>
          <a:chExt cx="0" cy="0"/>
        </a:xfrm>
      </p:grpSpPr>
      <p:sp>
        <p:nvSpPr>
          <p:cNvPr id="2" name="Espaço Reservado para Conteúdo 1"/>
          <p:cNvSpPr>
            <a:spLocks noGrp="1"/>
          </p:cNvSpPr>
          <p:nvPr>
            <p:ph/>
          </p:nvPr>
        </p:nvSpPr>
        <p:spPr>
          <a:xfrm>
            <a:off x="628650" y="365125"/>
            <a:ext cx="7886700" cy="5811838"/>
          </a:xfrm>
          <a:prstGeom prst="rect">
            <a:avLst/>
          </a:prstGeom>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34521740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9" name="Espaço Reservado para Título 11"/>
          <p:cNvSpPr>
            <a:spLocks noGrp="1"/>
          </p:cNvSpPr>
          <p:nvPr>
            <p:ph type="title" hasCustomPrompt="1"/>
          </p:nvPr>
        </p:nvSpPr>
        <p:spPr>
          <a:xfrm>
            <a:off x="628650" y="2766219"/>
            <a:ext cx="7886700" cy="1325563"/>
          </a:xfrm>
          <a:prstGeom prst="rect">
            <a:avLst/>
          </a:prstGeom>
        </p:spPr>
        <p:txBody>
          <a:bodyPr vert="horz" lIns="91440" tIns="45720" rIns="91440" bIns="45720" rtlCol="0" anchor="ctr">
            <a:normAutofit/>
          </a:bodyPr>
          <a:lstStyle>
            <a:lvl1pPr marL="0" indent="0">
              <a:buFont typeface="+mj-lt"/>
              <a:buNone/>
              <a:defRPr>
                <a:latin typeface="Gotham HTF" pitchFamily="2" charset="0"/>
              </a:defRPr>
            </a:lvl1pPr>
          </a:lstStyle>
          <a:p>
            <a:r>
              <a:rPr lang="pt-BR" dirty="0"/>
              <a:t>CLIQUE PARA EDITAR O TÍTULO MESTRE</a:t>
            </a:r>
          </a:p>
        </p:txBody>
      </p:sp>
    </p:spTree>
    <p:extLst>
      <p:ext uri="{BB962C8B-B14F-4D97-AF65-F5344CB8AC3E}">
        <p14:creationId xmlns:p14="http://schemas.microsoft.com/office/powerpoint/2010/main" val="111529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377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3.emf"/><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7" name="Picture 2"/>
          <p:cNvPicPr>
            <a:picLocks noChangeAspect="1"/>
          </p:cNvPicPr>
          <p:nvPr userDrawn="1"/>
        </p:nvPicPr>
        <p:blipFill>
          <a:blip r:embed="rId3"/>
          <a:stretch>
            <a:fillRect/>
          </a:stretch>
        </p:blipFill>
        <p:spPr>
          <a:xfrm>
            <a:off x="1674039" y="3081534"/>
            <a:ext cx="5783223" cy="682232"/>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5" name="Picture 4"/>
          <p:cNvPicPr>
            <a:picLocks noChangeAspect="1"/>
          </p:cNvPicPr>
          <p:nvPr userDrawn="1"/>
        </p:nvPicPr>
        <p:blipFill rotWithShape="1">
          <a:blip r:embed="rId3"/>
          <a:srcRect l="21776" r="21704"/>
          <a:stretch/>
        </p:blipFill>
        <p:spPr>
          <a:xfrm>
            <a:off x="1" y="2615134"/>
            <a:ext cx="9155650" cy="2789855"/>
          </a:xfrm>
          <a:prstGeom prst="rect">
            <a:avLst/>
          </a:prstGeom>
        </p:spPr>
      </p:pic>
      <p:sp>
        <p:nvSpPr>
          <p:cNvPr id="13" name="Rectangle 3"/>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8" name="Rectangle 1"/>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18"/>
          <p:cNvPicPr>
            <a:picLocks noChangeAspect="1"/>
          </p:cNvPicPr>
          <p:nvPr userDrawn="1"/>
        </p:nvPicPr>
        <p:blipFill>
          <a:blip r:embed="rId4"/>
          <a:stretch>
            <a:fillRect/>
          </a:stretch>
        </p:blipFill>
        <p:spPr>
          <a:xfrm>
            <a:off x="7829017" y="329329"/>
            <a:ext cx="997107" cy="272893"/>
          </a:xfrm>
          <a:prstGeom prst="rect">
            <a:avLst/>
          </a:prstGeom>
        </p:spPr>
      </p:pic>
      <p:sp>
        <p:nvSpPr>
          <p:cNvPr id="11" name="Rectangle 22"/>
          <p:cNvSpPr/>
          <p:nvPr userDrawn="1"/>
        </p:nvSpPr>
        <p:spPr>
          <a:xfrm flipH="1">
            <a:off x="759004" y="3423920"/>
            <a:ext cx="45719" cy="12903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Box 15"/>
          <p:cNvSpPr txBox="1"/>
          <p:nvPr userDrawn="1"/>
        </p:nvSpPr>
        <p:spPr>
          <a:xfrm>
            <a:off x="1011882" y="3341906"/>
            <a:ext cx="7166918" cy="543739"/>
          </a:xfrm>
          <a:prstGeom prst="rect">
            <a:avLst/>
          </a:prstGeom>
          <a:noFill/>
        </p:spPr>
        <p:txBody>
          <a:bodyPr wrap="square" rtlCol="0">
            <a:spAutoFit/>
          </a:bodyPr>
          <a:lstStyle/>
          <a:p>
            <a:pPr>
              <a:lnSpc>
                <a:spcPct val="90000"/>
              </a:lnSpc>
            </a:pPr>
            <a:r>
              <a:rPr lang="en-US" sz="3200" b="1" dirty="0">
                <a:solidFill>
                  <a:srgbClr val="FFFFFF"/>
                </a:solidFill>
                <a:latin typeface="Gotham HTF" pitchFamily="2" charset="0"/>
                <a:cs typeface="Gotham-Bold"/>
              </a:rPr>
              <a:t>ENGENHARIA</a:t>
            </a:r>
            <a:r>
              <a:rPr lang="en-US" sz="3200" b="1" baseline="0" dirty="0">
                <a:solidFill>
                  <a:srgbClr val="FFFFFF"/>
                </a:solidFill>
                <a:latin typeface="Gotham HTF" pitchFamily="2" charset="0"/>
                <a:cs typeface="Gotham-Bold"/>
              </a:rPr>
              <a:t> DE COMPUTAÇÃO</a:t>
            </a:r>
            <a:endParaRPr lang="en-US" sz="3200" b="1" dirty="0">
              <a:solidFill>
                <a:srgbClr val="FFFFFF"/>
              </a:solidFill>
              <a:latin typeface="Gotham HTF" pitchFamily="2" charset="0"/>
              <a:cs typeface="Gotham-Bold"/>
            </a:endParaRPr>
          </a:p>
        </p:txBody>
      </p:sp>
      <p:sp>
        <p:nvSpPr>
          <p:cNvPr id="17"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Tree>
  </p:cSld>
  <p:clrMap bg1="lt1" tx1="dk1" bg2="lt2" tx2="dk2" accent1="accent1" accent2="accent2" accent3="accent3" accent4="accent4" accent5="accent5" accent6="accent6" hlink="hlink" folHlink="folHlink"/>
  <p:sldLayoutIdLst>
    <p:sldLayoutId id="214748366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 typeface="Arial" pitchFamily="34" charset="0"/>
        <a:buNone/>
        <a:defRPr sz="3200" kern="1200">
          <a:solidFill>
            <a:schemeClr val="bg1"/>
          </a:solidFill>
          <a:latin typeface="Gotham-Bold"/>
          <a:ea typeface="+mn-ea"/>
          <a:cs typeface="+mn-cs"/>
        </a:defRPr>
      </a:lvl1pPr>
      <a:lvl2pPr marL="4572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2pPr>
      <a:lvl3pPr marL="914400" indent="0" algn="l" defTabSz="914400" rtl="0" eaLnBrk="1" latinLnBrk="0" hangingPunct="1">
        <a:spcBef>
          <a:spcPct val="20000"/>
        </a:spcBef>
        <a:buFont typeface="Arial" pitchFamily="34" charset="0"/>
        <a:buNone/>
        <a:defRPr sz="2200" kern="1200">
          <a:solidFill>
            <a:schemeClr val="bg1"/>
          </a:solidFill>
          <a:latin typeface="Gotham-Book"/>
          <a:ea typeface="+mn-ea"/>
          <a:cs typeface="+mn-cs"/>
        </a:defRPr>
      </a:lvl3pPr>
      <a:lvl4pPr marL="16002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4pPr>
      <a:lvl5pPr marL="2057400" indent="-228600" algn="l" defTabSz="914400" rtl="0" eaLnBrk="1" latinLnBrk="0" hangingPunct="1">
        <a:spcBef>
          <a:spcPct val="20000"/>
        </a:spcBef>
        <a:buFont typeface="Arial" pitchFamily="34" charset="0"/>
        <a:buChar char="»"/>
        <a:defRPr sz="2200" kern="1200">
          <a:solidFill>
            <a:schemeClr val="bg1"/>
          </a:solidFill>
          <a:latin typeface="Gotham-Book"/>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33652" y="697656"/>
            <a:ext cx="7443468" cy="585229"/>
          </a:xfrm>
          <a:prstGeom prst="rect">
            <a:avLst/>
          </a:prstGeom>
        </p:spPr>
        <p:txBody>
          <a:bodyPr vert="horz" lIns="91440" tIns="45720" rIns="91440" bIns="45720" rtlCol="0" anchor="ctr">
            <a:normAutofit/>
          </a:bodyPr>
          <a:lstStyle/>
          <a:p>
            <a:r>
              <a:rPr lang="x-none" dirty="0"/>
              <a:t>CLICK TO EDIT MASTER TITLE STYLE</a:t>
            </a:r>
            <a:endParaRPr lang="en-US" dirty="0"/>
          </a:p>
        </p:txBody>
      </p:sp>
      <p:sp>
        <p:nvSpPr>
          <p:cNvPr id="3" name="Text Placeholder 2"/>
          <p:cNvSpPr>
            <a:spLocks noGrp="1"/>
          </p:cNvSpPr>
          <p:nvPr>
            <p:ph type="body" idx="1"/>
          </p:nvPr>
        </p:nvSpPr>
        <p:spPr>
          <a:xfrm>
            <a:off x="933651" y="1600200"/>
            <a:ext cx="7443468" cy="4525963"/>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15" name="Rectangle 14"/>
          <p:cNvSpPr/>
          <p:nvPr userDrawn="1"/>
        </p:nvSpPr>
        <p:spPr>
          <a:xfrm>
            <a:off x="0" y="0"/>
            <a:ext cx="9144000" cy="78757"/>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7"/>
          <p:cNvPicPr>
            <a:picLocks noChangeAspect="1"/>
          </p:cNvPicPr>
          <p:nvPr userDrawn="1"/>
        </p:nvPicPr>
        <p:blipFill>
          <a:blip r:embed="rId13"/>
          <a:stretch>
            <a:fillRect/>
          </a:stretch>
        </p:blipFill>
        <p:spPr>
          <a:xfrm>
            <a:off x="7829017" y="329329"/>
            <a:ext cx="997107" cy="272893"/>
          </a:xfrm>
          <a:prstGeom prst="rect">
            <a:avLst/>
          </a:prstGeom>
        </p:spPr>
      </p:pic>
      <p:sp>
        <p:nvSpPr>
          <p:cNvPr id="19"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1" name="Rectangle 20"/>
          <p:cNvSpPr/>
          <p:nvPr userDrawn="1"/>
        </p:nvSpPr>
        <p:spPr>
          <a:xfrm>
            <a:off x="765379" y="843279"/>
            <a:ext cx="72000" cy="284481"/>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1062211"/>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53" r:id="rId10"/>
    <p:sldLayoutId id="2147483755" r:id="rId11"/>
  </p:sldLayoutIdLst>
  <p:hf hdr="0" ftr="0" dt="0"/>
  <p:txStyles>
    <p:titleStyle>
      <a:lvl1pPr algn="l" defTabSz="457200" rtl="0" eaLnBrk="1" latinLnBrk="0" hangingPunct="1">
        <a:spcBef>
          <a:spcPct val="0"/>
        </a:spcBef>
        <a:buNone/>
        <a:defRPr sz="2800" b="1" kern="1200">
          <a:solidFill>
            <a:schemeClr val="tx1"/>
          </a:solidFill>
          <a:latin typeface="Gotham HTF" pitchFamily="2" charset="0"/>
          <a:ea typeface="+mj-ea"/>
          <a:cs typeface="+mj-cs"/>
        </a:defRPr>
      </a:lvl1pPr>
    </p:titleStyle>
    <p:bodyStyle>
      <a:lvl1pPr marL="342900" indent="-342900" algn="l" defTabSz="457200" rtl="0" eaLnBrk="1" latinLnBrk="0" hangingPunct="1">
        <a:spcBef>
          <a:spcPct val="20000"/>
        </a:spcBef>
        <a:buFont typeface="Wingdings" panose="05000000000000000000" pitchFamily="2" charset="2"/>
        <a:buChar char="§"/>
        <a:defRPr sz="2800" kern="1200">
          <a:solidFill>
            <a:schemeClr val="tx1"/>
          </a:solidFill>
          <a:latin typeface="Gotham HTF Book" pitchFamily="2" charset="0"/>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Gotham HTF Book" pitchFamily="2" charset="0"/>
          <a:ea typeface="+mn-ea"/>
          <a:cs typeface="+mn-cs"/>
        </a:defRPr>
      </a:lvl2pPr>
      <a:lvl3pPr marL="1257300" indent="-342900" algn="l" defTabSz="457200" rtl="0" eaLnBrk="1" latinLnBrk="0" hangingPunct="1">
        <a:spcBef>
          <a:spcPct val="20000"/>
        </a:spcBef>
        <a:buFont typeface="Wingdings" panose="05000000000000000000" pitchFamily="2" charset="2"/>
        <a:buChar char="§"/>
        <a:defRPr sz="2000" kern="1200">
          <a:solidFill>
            <a:schemeClr val="tx1"/>
          </a:solidFill>
          <a:latin typeface="Gotham HTF Book" pitchFamily="2" charset="0"/>
          <a:ea typeface="+mn-ea"/>
          <a:cs typeface="+mn-cs"/>
        </a:defRPr>
      </a:lvl3pPr>
      <a:lvl4pPr marL="16002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Gotham HTF Book" pitchFamily="2" charset="0"/>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pic>
        <p:nvPicPr>
          <p:cNvPr id="8" name="Picture 15"/>
          <p:cNvPicPr>
            <a:picLocks noChangeAspect="1"/>
          </p:cNvPicPr>
          <p:nvPr userDrawn="1"/>
        </p:nvPicPr>
        <p:blipFill>
          <a:blip r:embed="rId3"/>
          <a:stretch>
            <a:fillRect/>
          </a:stretch>
        </p:blipFill>
        <p:spPr>
          <a:xfrm>
            <a:off x="7837508" y="333716"/>
            <a:ext cx="975616" cy="267011"/>
          </a:xfrm>
          <a:prstGeom prst="rect">
            <a:avLst/>
          </a:prstGeom>
        </p:spPr>
      </p:pic>
      <p:sp>
        <p:nvSpPr>
          <p:cNvPr id="9" name="Rectangle 5"/>
          <p:cNvSpPr/>
          <p:nvPr userDrawn="1"/>
        </p:nvSpPr>
        <p:spPr>
          <a:xfrm>
            <a:off x="0" y="0"/>
            <a:ext cx="9144000" cy="78757"/>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11"/>
          <p:cNvSpPr/>
          <p:nvPr userDrawn="1"/>
        </p:nvSpPr>
        <p:spPr>
          <a:xfrm>
            <a:off x="8365985" y="6141017"/>
            <a:ext cx="789666" cy="410186"/>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28"/>
          <p:cNvSpPr>
            <a:spLocks noChangeArrowheads="1"/>
          </p:cNvSpPr>
          <p:nvPr userDrawn="1"/>
        </p:nvSpPr>
        <p:spPr bwMode="auto">
          <a:xfrm>
            <a:off x="8377119" y="6199266"/>
            <a:ext cx="439223" cy="277641"/>
          </a:xfrm>
          <a:prstGeom prst="rect">
            <a:avLst/>
          </a:prstGeom>
          <a:noFill/>
          <a:ln w="9525">
            <a:noFill/>
            <a:miter lim="800000"/>
            <a:headEnd/>
            <a:tailEnd/>
          </a:ln>
          <a:effectLst/>
        </p:spPr>
        <p:txBody>
          <a:bodyPr wrap="none" lIns="92075" tIns="46038" rIns="92075" bIns="46038">
            <a:spAutoFit/>
          </a:bodyPr>
          <a:lstStyle/>
          <a:p>
            <a:pPr algn="ctr">
              <a:defRPr/>
            </a:pPr>
            <a:fld id="{8F7506AB-1D79-4CD0-8D2E-1AD89BACC529}" type="slidenum">
              <a:rPr lang="en-US" sz="1200" b="1" i="0">
                <a:solidFill>
                  <a:schemeClr val="bg1"/>
                </a:solidFill>
                <a:latin typeface="Gotham-Bold"/>
              </a:rPr>
              <a:pPr algn="ctr">
                <a:defRPr/>
              </a:pPr>
              <a:t>‹nº›</a:t>
            </a:fld>
            <a:endParaRPr lang="en-US" sz="1200" b="1" i="0" dirty="0">
              <a:solidFill>
                <a:schemeClr val="bg1"/>
              </a:solidFill>
              <a:latin typeface="Gotham-Bold"/>
            </a:endParaRPr>
          </a:p>
        </p:txBody>
      </p:sp>
      <p:sp>
        <p:nvSpPr>
          <p:cNvPr id="12" name="Espaço Reservado para Título 11"/>
          <p:cNvSpPr>
            <a:spLocks noGrp="1"/>
          </p:cNvSpPr>
          <p:nvPr>
            <p:ph type="title"/>
          </p:nvPr>
        </p:nvSpPr>
        <p:spPr>
          <a:xfrm>
            <a:off x="628650" y="2766219"/>
            <a:ext cx="7886700" cy="1325563"/>
          </a:xfrm>
          <a:prstGeom prst="rect">
            <a:avLst/>
          </a:prstGeom>
        </p:spPr>
        <p:txBody>
          <a:bodyPr vert="horz" lIns="91440" tIns="45720" rIns="91440" bIns="45720" rtlCol="0" anchor="ctr">
            <a:normAutofit/>
          </a:bodyPr>
          <a:lstStyle/>
          <a:p>
            <a:r>
              <a:rPr lang="pt-BR"/>
              <a:t>Clique para editar o título mestre</a:t>
            </a:r>
          </a:p>
        </p:txBody>
      </p:sp>
    </p:spTree>
    <p:extLst>
      <p:ext uri="{BB962C8B-B14F-4D97-AF65-F5344CB8AC3E}">
        <p14:creationId xmlns:p14="http://schemas.microsoft.com/office/powerpoint/2010/main" val="540331082"/>
      </p:ext>
    </p:extLst>
  </p:cSld>
  <p:clrMap bg1="lt1" tx1="dk1" bg2="lt2" tx2="dk2" accent1="accent1" accent2="accent2" accent3="accent3" accent4="accent4" accent5="accent5" accent6="accent6" hlink="hlink" folHlink="folHlink"/>
  <p:sldLayoutIdLst>
    <p:sldLayoutId id="2147483752" r:id="rId1"/>
  </p:sldLayoutIdLst>
  <p:txStyles>
    <p:titleStyle>
      <a:lvl1pPr algn="ctr" defTabSz="914400" rtl="0" eaLnBrk="1" latinLnBrk="0" hangingPunct="1">
        <a:lnSpc>
          <a:spcPct val="90000"/>
        </a:lnSpc>
        <a:spcBef>
          <a:spcPct val="0"/>
        </a:spcBef>
        <a:buNone/>
        <a:defRPr sz="4400" b="1" kern="1200">
          <a:solidFill>
            <a:schemeClr val="bg1"/>
          </a:solidFill>
          <a:latin typeface="Gotham HTF"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0265D"/>
        </a:solidFill>
        <a:effectLst/>
      </p:bgPr>
    </p:bg>
    <p:spTree>
      <p:nvGrpSpPr>
        <p:cNvPr id="1" name=""/>
        <p:cNvGrpSpPr/>
        <p:nvPr/>
      </p:nvGrpSpPr>
      <p:grpSpPr>
        <a:xfrm>
          <a:off x="0" y="0"/>
          <a:ext cx="0" cy="0"/>
          <a:chOff x="0" y="0"/>
          <a:chExt cx="0" cy="0"/>
        </a:xfrm>
      </p:grpSpPr>
      <p:sp>
        <p:nvSpPr>
          <p:cNvPr id="9" name="Rectangle 2"/>
          <p:cNvSpPr/>
          <p:nvPr userDrawn="1"/>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4"/>
          <p:cNvSpPr/>
          <p:nvPr userDrawn="1"/>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5"/>
          <p:cNvPicPr>
            <a:picLocks noChangeAspect="1"/>
          </p:cNvPicPr>
          <p:nvPr userDrawn="1"/>
        </p:nvPicPr>
        <p:blipFill>
          <a:blip r:embed="rId3"/>
          <a:stretch>
            <a:fillRect/>
          </a:stretch>
        </p:blipFill>
        <p:spPr>
          <a:xfrm>
            <a:off x="7837508" y="333716"/>
            <a:ext cx="975616" cy="267011"/>
          </a:xfrm>
          <a:prstGeom prst="rect">
            <a:avLst/>
          </a:prstGeom>
        </p:spPr>
      </p:pic>
      <p:sp>
        <p:nvSpPr>
          <p:cNvPr id="12" name="Rectangle 1026"/>
          <p:cNvSpPr>
            <a:spLocks noChangeArrowheads="1"/>
          </p:cNvSpPr>
          <p:nvPr userDrawn="1"/>
        </p:nvSpPr>
        <p:spPr bwMode="auto">
          <a:xfrm>
            <a:off x="1053372" y="3222882"/>
            <a:ext cx="6784136" cy="1459503"/>
          </a:xfrm>
          <a:prstGeom prst="rect">
            <a:avLst/>
          </a:prstGeom>
          <a:noFill/>
          <a:ln w="9525">
            <a:noFill/>
            <a:miter lim="800000"/>
            <a:headEnd/>
            <a:tailEnd/>
          </a:ln>
        </p:spPr>
        <p:txBody>
          <a:bodyPr wrap="square" lIns="92075" tIns="46038" rIns="92075" bIns="46038">
            <a:spAutoFit/>
          </a:bodyPr>
          <a:lstStyle/>
          <a:p>
            <a:pPr>
              <a:defRPr/>
            </a:pPr>
            <a:r>
              <a:rPr kumimoji="1" lang="en-US" sz="2000" b="1" dirty="0">
                <a:solidFill>
                  <a:schemeClr val="bg1"/>
                </a:solidFill>
                <a:latin typeface="Gotham HTF" pitchFamily="2" charset="0"/>
                <a:cs typeface="Gotham-Bold"/>
              </a:rPr>
              <a:t>Copyright © 2026  Prof. Dr.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Book"/>
                <a:cs typeface="Gotham-Book"/>
              </a:rPr>
              <a:t>Todos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direitos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reservados</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Reprodução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divulgação</a:t>
            </a:r>
            <a:r>
              <a:rPr kumimoji="1" lang="en-US" sz="1600" dirty="0">
                <a:solidFill>
                  <a:schemeClr val="bg1"/>
                </a:solidFill>
                <a:latin typeface="Gotham-Book"/>
                <a:cs typeface="Gotham-Book"/>
              </a:rPr>
              <a:t> total </a:t>
            </a:r>
            <a:r>
              <a:rPr kumimoji="1" lang="en-US" sz="1600" dirty="0" err="1">
                <a:solidFill>
                  <a:schemeClr val="bg1"/>
                </a:solidFill>
                <a:latin typeface="Gotham-Book"/>
                <a:cs typeface="Gotham-Book"/>
              </a:rPr>
              <a:t>ou</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parcial</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deste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documento</a:t>
            </a:r>
            <a:r>
              <a:rPr kumimoji="1" lang="en-US" sz="1600" dirty="0">
                <a:solidFill>
                  <a:schemeClr val="bg1"/>
                </a:solidFill>
                <a:latin typeface="Gotham-Book"/>
                <a:cs typeface="Gotham-Book"/>
              </a:rPr>
              <a:t> é </a:t>
            </a:r>
            <a:r>
              <a:rPr kumimoji="1" lang="en-US" sz="1600" dirty="0" err="1">
                <a:solidFill>
                  <a:schemeClr val="bg1"/>
                </a:solidFill>
                <a:latin typeface="Gotham-Book"/>
                <a:cs typeface="Gotham-Book"/>
              </a:rPr>
              <a:t>expressamente</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proíbido</a:t>
            </a:r>
            <a:r>
              <a:rPr kumimoji="1" lang="en-US" sz="1600" dirty="0">
                <a:solidFill>
                  <a:schemeClr val="bg1"/>
                </a:solidFill>
                <a:latin typeface="Gotham-Book"/>
                <a:cs typeface="Gotham-Book"/>
              </a:rPr>
              <a:t> </a:t>
            </a:r>
            <a:r>
              <a:rPr kumimoji="1" lang="en-US" sz="1600" dirty="0" err="1">
                <a:solidFill>
                  <a:schemeClr val="bg1"/>
                </a:solidFill>
                <a:latin typeface="Gotham-Book"/>
                <a:cs typeface="Gotham-Book"/>
              </a:rPr>
              <a:t>sem</a:t>
            </a:r>
            <a:r>
              <a:rPr kumimoji="1" lang="en-US" sz="1600" dirty="0">
                <a:solidFill>
                  <a:schemeClr val="bg1"/>
                </a:solidFill>
                <a:latin typeface="Gotham-Book"/>
                <a:cs typeface="Gotham-Book"/>
              </a:rPr>
              <a:t> o </a:t>
            </a:r>
            <a:r>
              <a:rPr kumimoji="1" lang="pt-BR" sz="1600" dirty="0">
                <a:solidFill>
                  <a:schemeClr val="bg1"/>
                </a:solidFill>
                <a:latin typeface="Gotham-Book"/>
                <a:cs typeface="Gotham-Book"/>
              </a:rPr>
              <a:t>consentimento formal, por escrito,</a:t>
            </a:r>
            <a:r>
              <a:rPr kumimoji="1" lang="en-US" sz="1600" dirty="0">
                <a:solidFill>
                  <a:schemeClr val="bg1"/>
                </a:solidFill>
                <a:latin typeface="Gotham-Book"/>
                <a:cs typeface="Gotham-Book"/>
              </a:rPr>
              <a:t> do Professor (</a:t>
            </a:r>
            <a:r>
              <a:rPr kumimoji="1" lang="en-US" sz="1600" dirty="0" err="1">
                <a:solidFill>
                  <a:schemeClr val="bg1"/>
                </a:solidFill>
                <a:latin typeface="Gotham-Book"/>
                <a:cs typeface="Gotham-Book"/>
              </a:rPr>
              <a:t>autor</a:t>
            </a:r>
            <a:r>
              <a:rPr kumimoji="1" lang="en-US" sz="1600" dirty="0">
                <a:solidFill>
                  <a:schemeClr val="bg1"/>
                </a:solidFill>
                <a:latin typeface="Gotham-Book"/>
                <a:cs typeface="Gotham-Book"/>
              </a:rPr>
              <a:t>).</a:t>
            </a:r>
          </a:p>
        </p:txBody>
      </p:sp>
    </p:spTree>
    <p:extLst>
      <p:ext uri="{BB962C8B-B14F-4D97-AF65-F5344CB8AC3E}">
        <p14:creationId xmlns:p14="http://schemas.microsoft.com/office/powerpoint/2010/main" val="384478339"/>
      </p:ext>
    </p:extLst>
  </p:cSld>
  <p:clrMap bg1="lt1" tx1="dk1" bg2="lt2" tx2="dk2" accent1="accent1" accent2="accent2" accent3="accent3" accent4="accent4" accent5="accent5" accent6="accent6" hlink="hlink" folHlink="folHlink"/>
  <p:sldLayoutIdLst>
    <p:sldLayoutId id="2147483750"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jpe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5" Type="http://schemas.openxmlformats.org/officeDocument/2006/relationships/image" Target="../media/image46.jpe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5" Type="http://schemas.openxmlformats.org/officeDocument/2006/relationships/image" Target="../media/image50.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2.png"/><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51982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mv="urn:schemas-microsoft-com:mac:vml" xmlns="">
      <mp:transition xmlns:mp="http://schemas.microsoft.com/office/mac/powerpoint/2008/mai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21"/>
          <p:cNvSpPr txBox="1"/>
          <p:nvPr/>
        </p:nvSpPr>
        <p:spPr>
          <a:xfrm>
            <a:off x="1042704" y="4485205"/>
            <a:ext cx="4989796" cy="341632"/>
          </a:xfrm>
          <a:prstGeom prst="rect">
            <a:avLst/>
          </a:prstGeom>
          <a:noFill/>
        </p:spPr>
        <p:txBody>
          <a:bodyPr wrap="square" rtlCol="0">
            <a:spAutoFit/>
          </a:bodyPr>
          <a:lstStyle/>
          <a:p>
            <a:pPr>
              <a:lnSpc>
                <a:spcPct val="90000"/>
              </a:lnSpc>
            </a:pPr>
            <a:r>
              <a:rPr lang="en-US" dirty="0">
                <a:solidFill>
                  <a:srgbClr val="FFFFFF"/>
                </a:solidFill>
                <a:latin typeface="Gotham-Bold"/>
                <a:cs typeface="Gotham-Bold"/>
              </a:rPr>
              <a:t>PROF. Dr. NIVALDO ZAFALON JUNIOR</a:t>
            </a:r>
          </a:p>
        </p:txBody>
      </p:sp>
      <p:sp>
        <p:nvSpPr>
          <p:cNvPr id="6" name="TextBox 20"/>
          <p:cNvSpPr txBox="1"/>
          <p:nvPr/>
        </p:nvSpPr>
        <p:spPr>
          <a:xfrm>
            <a:off x="1042703" y="3898936"/>
            <a:ext cx="5105548" cy="397032"/>
          </a:xfrm>
          <a:prstGeom prst="rect">
            <a:avLst/>
          </a:prstGeom>
          <a:noFill/>
        </p:spPr>
        <p:txBody>
          <a:bodyPr wrap="square" rtlCol="0">
            <a:spAutoFit/>
          </a:bodyPr>
          <a:lstStyle/>
          <a:p>
            <a:pPr>
              <a:lnSpc>
                <a:spcPct val="90000"/>
              </a:lnSpc>
            </a:pPr>
            <a:r>
              <a:rPr lang="pt-BR" sz="2200" dirty="0">
                <a:solidFill>
                  <a:srgbClr val="FFFFFF"/>
                </a:solidFill>
                <a:latin typeface="Gotham-Book"/>
                <a:cs typeface="Gotham-Book"/>
              </a:rPr>
              <a:t>Design de Circuitos Eletrônicos - DCE</a:t>
            </a:r>
          </a:p>
        </p:txBody>
      </p:sp>
    </p:spTree>
    <p:extLst>
      <p:ext uri="{BB962C8B-B14F-4D97-AF65-F5344CB8AC3E}">
        <p14:creationId xmlns:p14="http://schemas.microsoft.com/office/powerpoint/2010/main" val="1418144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ço Reservado para Conteúdo 4"/>
          <p:cNvSpPr>
            <a:spLocks noGrp="1"/>
          </p:cNvSpPr>
          <p:nvPr>
            <p:ph idx="1"/>
          </p:nvPr>
        </p:nvSpPr>
        <p:spPr/>
        <p:txBody>
          <a:bodyPr/>
          <a:lstStyle/>
          <a:p>
            <a:pPr marL="0" indent="0" algn="just">
              <a:buNone/>
            </a:pPr>
            <a:r>
              <a:rPr lang="pt-BR" dirty="0"/>
              <a:t>	Graduação em Tecnologia em Saúde (FATEC-SO), em Física (IFGW), mestrado e doutorado em Engenharia Elétrica (FEEC - UNICAMP). Atualmente é professor da FIAP. Atuação em Biofísica, propagação elétrica em membranas celulares, estimulação elétrica, desenvolvimento de projetos baseados em microcontroladores e eletrônica para sistemas embarcados.</a:t>
            </a:r>
          </a:p>
        </p:txBody>
      </p:sp>
      <p:sp>
        <p:nvSpPr>
          <p:cNvPr id="19" name="TextBox 10"/>
          <p:cNvSpPr txBox="1"/>
          <p:nvPr/>
        </p:nvSpPr>
        <p:spPr>
          <a:xfrm>
            <a:off x="4163412" y="4867582"/>
            <a:ext cx="4097404" cy="369332"/>
          </a:xfrm>
          <a:prstGeom prst="rect">
            <a:avLst/>
          </a:prstGeom>
          <a:noFill/>
        </p:spPr>
        <p:txBody>
          <a:bodyPr wrap="none" rtlCol="0">
            <a:spAutoFit/>
          </a:bodyPr>
          <a:lstStyle/>
          <a:p>
            <a:pPr>
              <a:lnSpc>
                <a:spcPct val="90000"/>
              </a:lnSpc>
            </a:pPr>
            <a:r>
              <a:rPr lang="en-US" sz="2000" dirty="0">
                <a:solidFill>
                  <a:srgbClr val="FFFFFF"/>
                </a:solidFill>
                <a:latin typeface="Gotham-Bold"/>
                <a:cs typeface="Gotham-Bold"/>
              </a:rPr>
              <a:t>PROF. Dr. NIVALDO ZAFALON Jr.</a:t>
            </a:r>
          </a:p>
        </p:txBody>
      </p:sp>
      <p:sp>
        <p:nvSpPr>
          <p:cNvPr id="22" name="TextBox 15"/>
          <p:cNvSpPr txBox="1"/>
          <p:nvPr/>
        </p:nvSpPr>
        <p:spPr>
          <a:xfrm>
            <a:off x="4177606" y="5262363"/>
            <a:ext cx="2380780" cy="341632"/>
          </a:xfrm>
          <a:prstGeom prst="rect">
            <a:avLst/>
          </a:prstGeom>
          <a:noFill/>
        </p:spPr>
        <p:txBody>
          <a:bodyPr wrap="none" rtlCol="0">
            <a:spAutoFit/>
          </a:bodyPr>
          <a:lstStyle/>
          <a:p>
            <a:pPr>
              <a:lnSpc>
                <a:spcPct val="90000"/>
              </a:lnSpc>
            </a:pPr>
            <a:r>
              <a:rPr lang="en-US" dirty="0">
                <a:solidFill>
                  <a:srgbClr val="FFFFFF"/>
                </a:solidFill>
                <a:latin typeface="Gotham-Bold"/>
                <a:cs typeface="Gotham-Bold"/>
              </a:rPr>
              <a:t>nivaldex@gmail.com</a:t>
            </a:r>
          </a:p>
        </p:txBody>
      </p:sp>
      <p:pic>
        <p:nvPicPr>
          <p:cNvPr id="6" name="Espaço Reservado para Imagem 5"/>
          <p:cNvPicPr>
            <a:picLocks noGrp="1" noChangeAspect="1"/>
          </p:cNvPicPr>
          <p:nvPr>
            <p:ph type="pic" sz="quarter" idx="13"/>
          </p:nvPr>
        </p:nvPicPr>
        <p:blipFill rotWithShape="1">
          <a:blip r:embed="rId3" cstate="email">
            <a:extLst>
              <a:ext uri="{28A0092B-C50C-407E-A947-70E740481C1C}">
                <a14:useLocalDpi xmlns:a14="http://schemas.microsoft.com/office/drawing/2010/main" val="0"/>
              </a:ext>
            </a:extLst>
          </a:blip>
          <a:srcRect l="42717" t="4139" r="13421" b="4139"/>
          <a:stretch/>
        </p:blipFill>
        <p:spPr>
          <a:xfrm>
            <a:off x="355600" y="685800"/>
            <a:ext cx="3403600" cy="5164138"/>
          </a:xfrm>
        </p:spPr>
      </p:pic>
      <p:sp>
        <p:nvSpPr>
          <p:cNvPr id="10" name="Isosceles Triangle 2"/>
          <p:cNvSpPr/>
          <p:nvPr/>
        </p:nvSpPr>
        <p:spPr>
          <a:xfrm rot="16200000">
            <a:off x="3493922" y="4970503"/>
            <a:ext cx="358752" cy="241676"/>
          </a:xfrm>
          <a:prstGeom prst="triangle">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aseline="-25000" dirty="0"/>
          </a:p>
        </p:txBody>
      </p:sp>
    </p:spTree>
    <p:extLst>
      <p:ext uri="{BB962C8B-B14F-4D97-AF65-F5344CB8AC3E}">
        <p14:creationId xmlns:p14="http://schemas.microsoft.com/office/powerpoint/2010/main" val="182776476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0" y="619348"/>
            <a:ext cx="9143999" cy="6045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bIns="0">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nSpc>
                <a:spcPct val="150000"/>
              </a:lnSpc>
            </a:pPr>
            <a:r>
              <a:rPr lang="pt-BR" sz="2800" b="1" dirty="0">
                <a:solidFill>
                  <a:srgbClr val="FF0000"/>
                </a:solidFill>
              </a:rPr>
              <a:t>	 Projeto I - Regulador de tensão - Índice</a:t>
            </a:r>
          </a:p>
          <a:p>
            <a:pPr>
              <a:lnSpc>
                <a:spcPct val="150000"/>
              </a:lnSpc>
            </a:pPr>
            <a:r>
              <a:rPr lang="pt-BR" sz="2400" b="1" dirty="0">
                <a:solidFill>
                  <a:srgbClr val="FF0000"/>
                </a:solidFill>
              </a:rPr>
              <a:t>I	Introdução</a:t>
            </a:r>
          </a:p>
          <a:p>
            <a:pPr>
              <a:lnSpc>
                <a:spcPct val="150000"/>
              </a:lnSpc>
            </a:pPr>
            <a:r>
              <a:rPr lang="pt-BR" sz="2400" b="1" dirty="0">
                <a:solidFill>
                  <a:srgbClr val="FF0000"/>
                </a:solidFill>
              </a:rPr>
              <a:t>II	Classificação</a:t>
            </a:r>
          </a:p>
          <a:p>
            <a:pPr>
              <a:lnSpc>
                <a:spcPct val="150000"/>
              </a:lnSpc>
            </a:pPr>
            <a:r>
              <a:rPr lang="pt-BR" sz="2000" dirty="0">
                <a:solidFill>
                  <a:srgbClr val="FF0000"/>
                </a:solidFill>
              </a:rPr>
              <a:t>	</a:t>
            </a:r>
            <a:r>
              <a:rPr lang="pt-BR" sz="2000" b="1" dirty="0">
                <a:solidFill>
                  <a:srgbClr val="FF0000"/>
                </a:solidFill>
              </a:rPr>
              <a:t>2.1	</a:t>
            </a:r>
            <a:r>
              <a:rPr lang="pt-BR" sz="2000" dirty="0">
                <a:solidFill>
                  <a:srgbClr val="FF0000"/>
                </a:solidFill>
              </a:rPr>
              <a:t>Reguladores de tensão tipo Step down e Step up;</a:t>
            </a:r>
          </a:p>
          <a:p>
            <a:pPr>
              <a:lnSpc>
                <a:spcPct val="150000"/>
              </a:lnSpc>
            </a:pPr>
            <a:r>
              <a:rPr lang="pt-BR" sz="2000" dirty="0">
                <a:solidFill>
                  <a:srgbClr val="FF0000"/>
                </a:solidFill>
              </a:rPr>
              <a:t>	</a:t>
            </a:r>
            <a:r>
              <a:rPr lang="pt-BR" sz="2000" b="1" dirty="0">
                <a:solidFill>
                  <a:srgbClr val="FF0000"/>
                </a:solidFill>
              </a:rPr>
              <a:t>2.2	</a:t>
            </a:r>
            <a:r>
              <a:rPr lang="pt-BR" sz="2000" dirty="0">
                <a:solidFill>
                  <a:srgbClr val="FF0000"/>
                </a:solidFill>
              </a:rPr>
              <a:t>Reguladores de tensão lineares e chaveados;</a:t>
            </a:r>
          </a:p>
          <a:p>
            <a:pPr>
              <a:lnSpc>
                <a:spcPct val="150000"/>
              </a:lnSpc>
            </a:pPr>
            <a:r>
              <a:rPr lang="pt-BR" sz="2000" dirty="0">
                <a:solidFill>
                  <a:srgbClr val="FF0000"/>
                </a:solidFill>
              </a:rPr>
              <a:t>	</a:t>
            </a:r>
            <a:r>
              <a:rPr lang="pt-BR" sz="2000" b="1" dirty="0">
                <a:solidFill>
                  <a:srgbClr val="FF0000"/>
                </a:solidFill>
              </a:rPr>
              <a:t>2.3	</a:t>
            </a:r>
            <a:r>
              <a:rPr lang="pt-BR" sz="2000" dirty="0">
                <a:solidFill>
                  <a:srgbClr val="FF0000"/>
                </a:solidFill>
              </a:rPr>
              <a:t>Reguladores de tensão fixos e ajustáveis (variáveis);</a:t>
            </a:r>
            <a:endParaRPr lang="pt-BR" sz="800" dirty="0">
              <a:solidFill>
                <a:srgbClr val="FF0000"/>
              </a:solidFill>
            </a:endParaRPr>
          </a:p>
          <a:p>
            <a:pPr>
              <a:lnSpc>
                <a:spcPct val="150000"/>
              </a:lnSpc>
            </a:pPr>
            <a:r>
              <a:rPr lang="pt-BR" sz="2400" b="1" dirty="0">
                <a:solidFill>
                  <a:srgbClr val="FF0000"/>
                </a:solidFill>
              </a:rPr>
              <a:t>III	Especificação</a:t>
            </a:r>
            <a:endParaRPr lang="pt-BR" sz="2400" dirty="0">
              <a:solidFill>
                <a:srgbClr val="FF0000"/>
              </a:solidFill>
            </a:endParaRPr>
          </a:p>
          <a:p>
            <a:pPr>
              <a:lnSpc>
                <a:spcPct val="150000"/>
              </a:lnSpc>
            </a:pPr>
            <a:r>
              <a:rPr lang="pt-BR" sz="2400" b="1" dirty="0">
                <a:solidFill>
                  <a:srgbClr val="FF0000"/>
                </a:solidFill>
              </a:rPr>
              <a:t>IV	Reguladores Especiais</a:t>
            </a:r>
            <a:endParaRPr lang="pt-BR" sz="2400" dirty="0">
              <a:solidFill>
                <a:srgbClr val="FF0000"/>
              </a:solidFill>
            </a:endParaRPr>
          </a:p>
          <a:p>
            <a:pPr>
              <a:lnSpc>
                <a:spcPct val="150000"/>
              </a:lnSpc>
            </a:pPr>
            <a:r>
              <a:rPr lang="pt-BR" sz="2400" b="1" dirty="0">
                <a:solidFill>
                  <a:srgbClr val="FF0000"/>
                </a:solidFill>
              </a:rPr>
              <a:t>V	Circuitos Aprimorados</a:t>
            </a:r>
          </a:p>
          <a:p>
            <a:pPr>
              <a:lnSpc>
                <a:spcPct val="150000"/>
              </a:lnSpc>
            </a:pPr>
            <a:r>
              <a:rPr lang="pt-BR" sz="2400" b="1" dirty="0">
                <a:solidFill>
                  <a:srgbClr val="FF0000"/>
                </a:solidFill>
              </a:rPr>
              <a:t>VI	Regulador de Tensão Chaveado: XL4015</a:t>
            </a:r>
          </a:p>
          <a:p>
            <a:pPr>
              <a:lnSpc>
                <a:spcPct val="150000"/>
              </a:lnSpc>
            </a:pPr>
            <a:r>
              <a:rPr lang="pt-BR" sz="2400" b="1" dirty="0">
                <a:solidFill>
                  <a:srgbClr val="FF0000"/>
                </a:solidFill>
              </a:rPr>
              <a:t>VII	Atividade</a:t>
            </a:r>
          </a:p>
        </p:txBody>
      </p:sp>
    </p:spTree>
    <p:extLst>
      <p:ext uri="{BB962C8B-B14F-4D97-AF65-F5344CB8AC3E}">
        <p14:creationId xmlns:p14="http://schemas.microsoft.com/office/powerpoint/2010/main" val="1949540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85"/>
          <p:cNvSpPr>
            <a:spLocks noChangeArrowheads="1"/>
          </p:cNvSpPr>
          <p:nvPr/>
        </p:nvSpPr>
        <p:spPr bwMode="auto">
          <a:xfrm>
            <a:off x="0" y="739775"/>
            <a:ext cx="9143999"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eaLnBrk="1" hangingPunct="1"/>
            <a:r>
              <a:rPr lang="pt-BR" sz="2800" b="1" dirty="0">
                <a:solidFill>
                  <a:schemeClr val="tx1"/>
                </a:solidFill>
              </a:rPr>
              <a:t>	I	Introdução</a:t>
            </a:r>
          </a:p>
          <a:p>
            <a:pPr algn="just" eaLnBrk="1" hangingPunct="1">
              <a:lnSpc>
                <a:spcPct val="150000"/>
              </a:lnSpc>
            </a:pPr>
            <a:endParaRPr lang="pt-BR" sz="1000" dirty="0">
              <a:solidFill>
                <a:schemeClr val="tx1"/>
              </a:solidFill>
            </a:endParaRPr>
          </a:p>
          <a:p>
            <a:pPr algn="just"/>
            <a:r>
              <a:rPr lang="pt-BR" sz="1800" dirty="0">
                <a:solidFill>
                  <a:schemeClr val="tx1"/>
                </a:solidFill>
              </a:rPr>
              <a:t>	Nesta aula começaremos nossa aventura pelo projeto de placas de circuitos impressas. Em particular trataremos do projeto de uma placa reguladora de tensão devido à sua simplicidade e grande aplicação. Para este projeto usaremos o software </a:t>
            </a:r>
            <a:r>
              <a:rPr lang="pt-BR" sz="1800" dirty="0" err="1">
                <a:solidFill>
                  <a:schemeClr val="tx1"/>
                </a:solidFill>
              </a:rPr>
              <a:t>KiCad</a:t>
            </a:r>
            <a:r>
              <a:rPr lang="pt-BR" sz="1800" dirty="0">
                <a:solidFill>
                  <a:schemeClr val="tx1"/>
                </a:solidFill>
              </a:rPr>
              <a:t>, cuja apresentação será feita mais adiante.</a:t>
            </a:r>
          </a:p>
        </p:txBody>
      </p:sp>
      <p:pic>
        <p:nvPicPr>
          <p:cNvPr id="2" name="Picture 2" descr="Assistência Oficial da Linksys - Conectando dispositivos a um roteador  Linksys usando um cabo Ethernet">
            <a:extLst>
              <a:ext uri="{FF2B5EF4-FFF2-40B4-BE49-F238E27FC236}">
                <a16:creationId xmlns:a16="http://schemas.microsoft.com/office/drawing/2014/main" id="{145A44D9-48EF-AFF4-67DC-3C8DF1DCAF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0188" y="2981325"/>
            <a:ext cx="6143625" cy="3876675"/>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DDB2F984-4782-C15F-3FDB-F5310629DF7B}"/>
              </a:ext>
            </a:extLst>
          </p:cNvPr>
          <p:cNvSpPr txBox="1"/>
          <p:nvPr/>
        </p:nvSpPr>
        <p:spPr>
          <a:xfrm>
            <a:off x="6793939" y="4519246"/>
            <a:ext cx="550151" cy="369332"/>
          </a:xfrm>
          <a:prstGeom prst="rect">
            <a:avLst/>
          </a:prstGeom>
          <a:noFill/>
        </p:spPr>
        <p:txBody>
          <a:bodyPr wrap="none" rtlCol="0">
            <a:spAutoFit/>
          </a:bodyPr>
          <a:lstStyle/>
          <a:p>
            <a:r>
              <a:rPr lang="pt-BR" dirty="0"/>
              <a:t>12V</a:t>
            </a:r>
          </a:p>
        </p:txBody>
      </p:sp>
    </p:spTree>
    <p:extLst>
      <p:ext uri="{BB962C8B-B14F-4D97-AF65-F5344CB8AC3E}">
        <p14:creationId xmlns:p14="http://schemas.microsoft.com/office/powerpoint/2010/main" val="436873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85"/>
          <p:cNvSpPr>
            <a:spLocks noChangeArrowheads="1"/>
          </p:cNvSpPr>
          <p:nvPr/>
        </p:nvSpPr>
        <p:spPr bwMode="auto">
          <a:xfrm>
            <a:off x="0" y="739775"/>
            <a:ext cx="9143999" cy="2908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eaLnBrk="1" hangingPunct="1"/>
            <a:r>
              <a:rPr lang="pt-BR" sz="2800" b="1" dirty="0">
                <a:solidFill>
                  <a:schemeClr val="tx1"/>
                </a:solidFill>
              </a:rPr>
              <a:t>	II	Classificação</a:t>
            </a:r>
          </a:p>
          <a:p>
            <a:pPr algn="just" eaLnBrk="1" hangingPunct="1"/>
            <a:endParaRPr lang="pt-BR" sz="800" b="1" dirty="0">
              <a:solidFill>
                <a:schemeClr val="tx1"/>
              </a:solidFill>
            </a:endParaRPr>
          </a:p>
          <a:p>
            <a:pPr algn="just" eaLnBrk="1" hangingPunct="1"/>
            <a:r>
              <a:rPr lang="pt-BR" sz="2400" b="1" dirty="0">
                <a:solidFill>
                  <a:schemeClr val="tx1"/>
                </a:solidFill>
              </a:rPr>
              <a:t>	2.1	Reguladores de tensão tipo Step down e Step up</a:t>
            </a:r>
          </a:p>
          <a:p>
            <a:pPr algn="just" eaLnBrk="1" hangingPunct="1">
              <a:lnSpc>
                <a:spcPct val="150000"/>
              </a:lnSpc>
            </a:pPr>
            <a:endParaRPr lang="pt-BR" sz="1000" dirty="0">
              <a:solidFill>
                <a:schemeClr val="tx1"/>
              </a:solidFill>
            </a:endParaRPr>
          </a:p>
          <a:p>
            <a:pPr algn="just"/>
            <a:r>
              <a:rPr lang="pt-BR" sz="1800" dirty="0">
                <a:solidFill>
                  <a:schemeClr val="tx1"/>
                </a:solidFill>
              </a:rPr>
              <a:t>	A função de um regulador de tensão é manter a tensão constante em um valor desejado. Para fazer isto, em sua entrada deve-se aplicar um valor de tensão maior, caso eles regulem a tensão para valores menores, neste caso o circuito pode ser chamado de step down, ou deve-se aplicar um valor de tensão menor, caso eles regulem a tensão para valores maiores e, neste caso, o circuito pode ser chamado de step up.</a:t>
            </a:r>
          </a:p>
        </p:txBody>
      </p:sp>
      <p:pic>
        <p:nvPicPr>
          <p:cNvPr id="2" name="Imagem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507677" y="4188522"/>
            <a:ext cx="4163568" cy="2313432"/>
          </a:xfrm>
          <a:prstGeom prst="rect">
            <a:avLst/>
          </a:prstGeom>
        </p:spPr>
      </p:pic>
    </p:spTree>
    <p:extLst>
      <p:ext uri="{BB962C8B-B14F-4D97-AF65-F5344CB8AC3E}">
        <p14:creationId xmlns:p14="http://schemas.microsoft.com/office/powerpoint/2010/main" val="33700869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5"/>
          <p:cNvSpPr>
            <a:spLocks noChangeArrowheads="1"/>
          </p:cNvSpPr>
          <p:nvPr/>
        </p:nvSpPr>
        <p:spPr bwMode="auto">
          <a:xfrm>
            <a:off x="0" y="789203"/>
            <a:ext cx="9143999"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400" b="1" dirty="0">
                <a:solidFill>
                  <a:schemeClr val="tx1"/>
                </a:solidFill>
              </a:rPr>
              <a:t>	2.2	Reguladores de tensão lineares e chaveados</a:t>
            </a:r>
          </a:p>
          <a:p>
            <a:pPr algn="just">
              <a:lnSpc>
                <a:spcPct val="150000"/>
              </a:lnSpc>
            </a:pPr>
            <a:endParaRPr lang="pt-BR" dirty="0">
              <a:solidFill>
                <a:schemeClr val="tx1"/>
              </a:solidFill>
            </a:endParaRPr>
          </a:p>
          <a:p>
            <a:pPr algn="just"/>
            <a:r>
              <a:rPr lang="pt-BR" dirty="0">
                <a:solidFill>
                  <a:schemeClr val="tx1"/>
                </a:solidFill>
              </a:rPr>
              <a:t>	Os reguladores de tensão podem operar de duas maneiras, a linear e a chaveada.</a:t>
            </a:r>
          </a:p>
          <a:p>
            <a:pPr algn="just"/>
            <a:endParaRPr lang="pt-BR" dirty="0">
              <a:solidFill>
                <a:schemeClr val="tx1"/>
              </a:solidFill>
            </a:endParaRPr>
          </a:p>
          <a:p>
            <a:pPr algn="just"/>
            <a:r>
              <a:rPr lang="pt-BR" sz="2000" b="1" dirty="0">
                <a:solidFill>
                  <a:schemeClr val="tx1"/>
                </a:solidFill>
              </a:rPr>
              <a:t>Reguladores lineares - Definição:</a:t>
            </a:r>
          </a:p>
          <a:p>
            <a:pPr algn="just"/>
            <a:endParaRPr lang="pt-BR" dirty="0">
              <a:solidFill>
                <a:schemeClr val="tx1"/>
              </a:solidFill>
            </a:endParaRPr>
          </a:p>
          <a:p>
            <a:pPr algn="just"/>
            <a:r>
              <a:rPr lang="pt-BR" dirty="0">
                <a:solidFill>
                  <a:schemeClr val="tx1"/>
                </a:solidFill>
              </a:rPr>
              <a:t>	Os reguladores de tensão lineares operam de forma contínua e baseiam-se e um amplificador operacional configurado no modo comprador para fixar o valor da tensão de saída.</a:t>
            </a:r>
          </a:p>
        </p:txBody>
      </p:sp>
      <p:pic>
        <p:nvPicPr>
          <p:cNvPr id="2" name="Imagem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48533"/>
            <a:ext cx="5029200" cy="2714625"/>
          </a:xfrm>
          <a:prstGeom prst="rect">
            <a:avLst/>
          </a:prstGeom>
        </p:spPr>
      </p:pic>
    </p:spTree>
    <p:extLst>
      <p:ext uri="{BB962C8B-B14F-4D97-AF65-F5344CB8AC3E}">
        <p14:creationId xmlns:p14="http://schemas.microsoft.com/office/powerpoint/2010/main" val="249445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5"/>
          <p:cNvSpPr>
            <a:spLocks noChangeArrowheads="1"/>
          </p:cNvSpPr>
          <p:nvPr/>
        </p:nvSpPr>
        <p:spPr bwMode="auto">
          <a:xfrm>
            <a:off x="0" y="827905"/>
            <a:ext cx="9143999" cy="2123658"/>
          </a:xfrm>
          <a:prstGeom prst="rect">
            <a:avLst/>
          </a:prstGeom>
          <a:noFill/>
          <a:ln>
            <a:noFill/>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Reguladores chaveados - Definição:</a:t>
            </a:r>
          </a:p>
          <a:p>
            <a:pPr algn="just"/>
            <a:endParaRPr lang="pt-BR" dirty="0">
              <a:solidFill>
                <a:schemeClr val="tx1"/>
              </a:solidFill>
            </a:endParaRPr>
          </a:p>
          <a:p>
            <a:pPr algn="just"/>
            <a:r>
              <a:rPr lang="pt-BR" dirty="0">
                <a:solidFill>
                  <a:schemeClr val="tx1"/>
                </a:solidFill>
              </a:rPr>
              <a:t>	Também conhecidos como </a:t>
            </a:r>
            <a:r>
              <a:rPr lang="pt-BR" i="1" dirty="0">
                <a:solidFill>
                  <a:schemeClr val="tx1"/>
                </a:solidFill>
              </a:rPr>
              <a:t>Switching Voltage Regulator</a:t>
            </a:r>
            <a:r>
              <a:rPr lang="pt-BR" dirty="0">
                <a:solidFill>
                  <a:schemeClr val="tx1"/>
                </a:solidFill>
              </a:rPr>
              <a:t> baseiam-se em um circuito muito mais complexo, que incluem amplificadores operacionais na configuração comparador, integrador e outros arranjos. Eles operam segundo a técnica de controle PID (Proporcional, Integral e Diferencial). Este arranjo possui uma melhor relação preço/corrente de saída além de apresentar um melhor rendimento energético, porém, sua tensão de saída pode apresentar alta contaminação pelo ruído de chaveamento.</a:t>
            </a:r>
          </a:p>
        </p:txBody>
      </p:sp>
      <p:pic>
        <p:nvPicPr>
          <p:cNvPr id="4" name="Imagem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 y="3517616"/>
            <a:ext cx="5468983" cy="3340384"/>
          </a:xfrm>
          <a:prstGeom prst="rect">
            <a:avLst/>
          </a:prstGeom>
        </p:spPr>
      </p:pic>
    </p:spTree>
    <p:extLst>
      <p:ext uri="{BB962C8B-B14F-4D97-AF65-F5344CB8AC3E}">
        <p14:creationId xmlns:p14="http://schemas.microsoft.com/office/powerpoint/2010/main" val="2572578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5">
            <a:extLst>
              <a:ext uri="{FF2B5EF4-FFF2-40B4-BE49-F238E27FC236}">
                <a16:creationId xmlns:a16="http://schemas.microsoft.com/office/drawing/2014/main" id="{5CEBF0AF-165D-1A37-7376-FCB985E7BA1D}"/>
              </a:ext>
            </a:extLst>
          </p:cNvPr>
          <p:cNvSpPr>
            <a:spLocks noChangeArrowheads="1"/>
          </p:cNvSpPr>
          <p:nvPr/>
        </p:nvSpPr>
        <p:spPr bwMode="auto">
          <a:xfrm>
            <a:off x="0" y="739775"/>
            <a:ext cx="9143999" cy="4508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eaLnBrk="1" hangingPunct="1"/>
            <a:r>
              <a:rPr lang="pt-BR" sz="2800" b="1" dirty="0">
                <a:solidFill>
                  <a:schemeClr val="tx1"/>
                </a:solidFill>
              </a:rPr>
              <a:t>	</a:t>
            </a:r>
            <a:r>
              <a:rPr lang="pt-BR" sz="2400" b="1" dirty="0">
                <a:solidFill>
                  <a:schemeClr val="tx1"/>
                </a:solidFill>
              </a:rPr>
              <a:t>2.3	Reguladores de tensão fixos e ajustáveis (variáveis)</a:t>
            </a:r>
          </a:p>
          <a:p>
            <a:pPr algn="just" eaLnBrk="1" hangingPunct="1">
              <a:lnSpc>
                <a:spcPct val="150000"/>
              </a:lnSpc>
            </a:pPr>
            <a:endParaRPr lang="pt-BR" sz="1000" dirty="0">
              <a:solidFill>
                <a:schemeClr val="tx1"/>
              </a:solidFill>
            </a:endParaRPr>
          </a:p>
          <a:p>
            <a:pPr algn="just"/>
            <a:r>
              <a:rPr lang="pt-BR" sz="1800" dirty="0">
                <a:solidFill>
                  <a:schemeClr val="tx1"/>
                </a:solidFill>
              </a:rPr>
              <a:t>	A função de um regulador de tensão é manter a tensão constante em um valor desejado</a:t>
            </a:r>
          </a:p>
          <a:p>
            <a:pPr algn="just"/>
            <a:r>
              <a:rPr lang="pt-BR" sz="1800" b="1" dirty="0">
                <a:solidFill>
                  <a:schemeClr val="tx1"/>
                </a:solidFill>
              </a:rPr>
              <a:t>	</a:t>
            </a:r>
          </a:p>
          <a:p>
            <a:pPr algn="just"/>
            <a:r>
              <a:rPr lang="pt-BR" sz="2000" b="1" dirty="0">
                <a:solidFill>
                  <a:schemeClr val="tx1"/>
                </a:solidFill>
              </a:rPr>
              <a:t>Reguladores de tensão fixos - Definição:</a:t>
            </a:r>
          </a:p>
          <a:p>
            <a:pPr algn="just"/>
            <a:endParaRPr lang="pt-BR" sz="2000" dirty="0">
              <a:solidFill>
                <a:schemeClr val="tx1"/>
              </a:solidFill>
            </a:endParaRPr>
          </a:p>
          <a:p>
            <a:pPr algn="just"/>
            <a:r>
              <a:rPr lang="pt-BR" sz="1800" dirty="0">
                <a:solidFill>
                  <a:schemeClr val="tx1"/>
                </a:solidFill>
              </a:rPr>
              <a:t>	Reguladores de tensão fixos são dispositivos eletrônicos que mantêm uma tensão de saída constante, independentemente de variações na tensão de entrada ou na carga.</a:t>
            </a:r>
          </a:p>
          <a:p>
            <a:pPr algn="just"/>
            <a:r>
              <a:rPr lang="pt-BR" sz="1800" dirty="0">
                <a:solidFill>
                  <a:schemeClr val="tx1"/>
                </a:solidFill>
              </a:rPr>
              <a:t>	Eles são amplamente utilizados para alimentar circuitos que exigem níveis estáveis de tensão, como 5 V ou 3,3 V.</a:t>
            </a:r>
          </a:p>
          <a:p>
            <a:pPr algn="just"/>
            <a:r>
              <a:rPr lang="pt-BR" sz="1800" dirty="0">
                <a:solidFill>
                  <a:schemeClr val="tx1"/>
                </a:solidFill>
              </a:rPr>
              <a:t>	São simples de aplicar, oferecem proteção básica e garantem estabilidade no funcionamento dos sistemas eletrônicos.</a:t>
            </a:r>
          </a:p>
        </p:txBody>
      </p:sp>
    </p:spTree>
    <p:extLst>
      <p:ext uri="{BB962C8B-B14F-4D97-AF65-F5344CB8AC3E}">
        <p14:creationId xmlns:p14="http://schemas.microsoft.com/office/powerpoint/2010/main" val="1740286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5"/>
          <p:cNvSpPr>
            <a:spLocks noChangeArrowheads="1"/>
          </p:cNvSpPr>
          <p:nvPr/>
        </p:nvSpPr>
        <p:spPr bwMode="auto">
          <a:xfrm>
            <a:off x="0" y="826274"/>
            <a:ext cx="9143999"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Reguladores lineares fixos – Famílias 78 e 79</a:t>
            </a:r>
          </a:p>
          <a:p>
            <a:pPr algn="just">
              <a:lnSpc>
                <a:spcPct val="150000"/>
              </a:lnSpc>
            </a:pPr>
            <a:endParaRPr lang="pt-BR" dirty="0">
              <a:solidFill>
                <a:schemeClr val="tx1"/>
              </a:solidFill>
            </a:endParaRPr>
          </a:p>
          <a:p>
            <a:pPr algn="just"/>
            <a:r>
              <a:rPr lang="pt-BR" dirty="0">
                <a:solidFill>
                  <a:schemeClr val="tx1"/>
                </a:solidFill>
              </a:rPr>
              <a:t>	Os reguladores de tensão podem ser fixo, quando são projetados para regular a tensão em um valor pré-definido pelo seu circuito interno, ou variáveis, quando permitem o ajuste de sua tensão de saída, normalmente por meio de um potenciômetro ou trimpot. Pioneiras no segmento de reguladores de tensão fixos, presentes até os dias de hoje, temos as famílias LM78XX e LM79XX introduzidas pela Texas Instruments, hoje elas são oferecidas por diversos outros fabricantes de semicondutores, todas com características semelhantes, ou seja, todas compatíveis. Os reguladores da família LM78XX incluem os reguladores LM7805, LM7806, LM7808, LM7809, LM7810, LM7812, LM7815, LM7818 e LM7824, os quais, regulam a tensão para 5 V, 6 V, 8 V, 9 V, 10 V, 12 V,15 V e 24 V. Os reguladores da família LM79XX incluem os reguladores LM7905, LM7906, LM7908, LM7909, LM7910, LM7912, LM7915, LM7918 e LM7924, os quais, regulam a tensão para -5 V, -6 V, -8 V, -9 V , -10 V, -12 V, -15 V e -24 V.</a:t>
            </a:r>
          </a:p>
        </p:txBody>
      </p:sp>
      <p:pic>
        <p:nvPicPr>
          <p:cNvPr id="4" name="Imagem 3">
            <a:extLst>
              <a:ext uri="{FF2B5EF4-FFF2-40B4-BE49-F238E27FC236}">
                <a16:creationId xmlns:a16="http://schemas.microsoft.com/office/drawing/2014/main" id="{5F394784-D367-26A8-1288-1C6AA7EFF300}"/>
              </a:ext>
            </a:extLst>
          </p:cNvPr>
          <p:cNvPicPr>
            <a:picLocks noChangeAspect="1"/>
          </p:cNvPicPr>
          <p:nvPr/>
        </p:nvPicPr>
        <p:blipFill>
          <a:blip r:embed="rId2"/>
          <a:stretch>
            <a:fillRect/>
          </a:stretch>
        </p:blipFill>
        <p:spPr>
          <a:xfrm>
            <a:off x="1393365" y="4596714"/>
            <a:ext cx="1149870" cy="2209370"/>
          </a:xfrm>
          <a:prstGeom prst="rect">
            <a:avLst/>
          </a:prstGeom>
        </p:spPr>
      </p:pic>
      <p:pic>
        <p:nvPicPr>
          <p:cNvPr id="6" name="Imagem 5">
            <a:extLst>
              <a:ext uri="{FF2B5EF4-FFF2-40B4-BE49-F238E27FC236}">
                <a16:creationId xmlns:a16="http://schemas.microsoft.com/office/drawing/2014/main" id="{95348838-1F8E-6C68-B6A9-DD4C6714CE5C}"/>
              </a:ext>
            </a:extLst>
          </p:cNvPr>
          <p:cNvPicPr>
            <a:picLocks noChangeAspect="1"/>
          </p:cNvPicPr>
          <p:nvPr/>
        </p:nvPicPr>
        <p:blipFill>
          <a:blip r:embed="rId3" cstate="email">
            <a:extLst>
              <a:ext uri="{28A0092B-C50C-407E-A947-70E740481C1C}">
                <a14:useLocalDpi xmlns:a14="http://schemas.microsoft.com/office/drawing/2010/main" val="0"/>
              </a:ext>
            </a:extLst>
          </a:blip>
          <a:srcRect l="4855" t="21330" r="3297" b="18475"/>
          <a:stretch>
            <a:fillRect/>
          </a:stretch>
        </p:blipFill>
        <p:spPr>
          <a:xfrm>
            <a:off x="3150973" y="4433306"/>
            <a:ext cx="3620530" cy="2372777"/>
          </a:xfrm>
          <a:prstGeom prst="rect">
            <a:avLst/>
          </a:prstGeom>
        </p:spPr>
      </p:pic>
    </p:spTree>
    <p:extLst>
      <p:ext uri="{BB962C8B-B14F-4D97-AF65-F5344CB8AC3E}">
        <p14:creationId xmlns:p14="http://schemas.microsoft.com/office/powerpoint/2010/main" val="688555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p:cNvPicPr>
            <a:picLocks noChangeAspect="1"/>
          </p:cNvPicPr>
          <p:nvPr/>
        </p:nvPicPr>
        <p:blipFill rotWithShape="1">
          <a:blip r:embed="rId2"/>
          <a:srcRect l="41942" t="43506" r="23446" b="27598"/>
          <a:stretch/>
        </p:blipFill>
        <p:spPr>
          <a:xfrm>
            <a:off x="0" y="1437167"/>
            <a:ext cx="6304302" cy="2960662"/>
          </a:xfrm>
          <a:prstGeom prst="rect">
            <a:avLst/>
          </a:prstGeom>
        </p:spPr>
      </p:pic>
      <p:pic>
        <p:nvPicPr>
          <p:cNvPr id="4" name="Imagem 3"/>
          <p:cNvPicPr>
            <a:picLocks noChangeAspect="1"/>
          </p:cNvPicPr>
          <p:nvPr/>
        </p:nvPicPr>
        <p:blipFill rotWithShape="1">
          <a:blip r:embed="rId3"/>
          <a:srcRect l="44078" t="49288" r="27815" b="33797"/>
          <a:stretch/>
        </p:blipFill>
        <p:spPr>
          <a:xfrm>
            <a:off x="5120640" y="5301358"/>
            <a:ext cx="4023360" cy="1361968"/>
          </a:xfrm>
          <a:prstGeom prst="rect">
            <a:avLst/>
          </a:prstGeom>
        </p:spPr>
      </p:pic>
      <p:sp>
        <p:nvSpPr>
          <p:cNvPr id="5" name="CaixaDeTexto 4"/>
          <p:cNvSpPr txBox="1"/>
          <p:nvPr/>
        </p:nvSpPr>
        <p:spPr>
          <a:xfrm>
            <a:off x="2481942" y="5669280"/>
            <a:ext cx="1968137" cy="707886"/>
          </a:xfrm>
          <a:prstGeom prst="rect">
            <a:avLst/>
          </a:prstGeom>
          <a:noFill/>
        </p:spPr>
        <p:txBody>
          <a:bodyPr wrap="square" rtlCol="0">
            <a:spAutoFit/>
          </a:bodyPr>
          <a:lstStyle/>
          <a:p>
            <a:pPr algn="ctr"/>
            <a:r>
              <a:rPr lang="pt-BR" sz="2000" b="1" dirty="0">
                <a:solidFill>
                  <a:srgbClr val="FF0000"/>
                </a:solidFill>
              </a:rPr>
              <a:t>Entrada de tensão negativa</a:t>
            </a:r>
          </a:p>
        </p:txBody>
      </p:sp>
      <p:cxnSp>
        <p:nvCxnSpPr>
          <p:cNvPr id="7" name="Conector de Seta Reta 6"/>
          <p:cNvCxnSpPr>
            <a:stCxn id="5" idx="3"/>
          </p:cNvCxnSpPr>
          <p:nvPr/>
        </p:nvCxnSpPr>
        <p:spPr>
          <a:xfrm>
            <a:off x="4450079" y="6023223"/>
            <a:ext cx="783772" cy="229531"/>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pic>
        <p:nvPicPr>
          <p:cNvPr id="6" name="Imagem 5"/>
          <p:cNvPicPr>
            <a:picLocks noChangeAspect="1"/>
          </p:cNvPicPr>
          <p:nvPr/>
        </p:nvPicPr>
        <p:blipFill>
          <a:blip r:embed="rId4"/>
          <a:stretch>
            <a:fillRect/>
          </a:stretch>
        </p:blipFill>
        <p:spPr>
          <a:xfrm>
            <a:off x="5268618" y="2257634"/>
            <a:ext cx="3727404" cy="2227281"/>
          </a:xfrm>
          <a:prstGeom prst="rect">
            <a:avLst/>
          </a:prstGeom>
        </p:spPr>
      </p:pic>
      <p:sp>
        <p:nvSpPr>
          <p:cNvPr id="17" name="CaixaDeTexto 16"/>
          <p:cNvSpPr txBox="1"/>
          <p:nvPr/>
        </p:nvSpPr>
        <p:spPr>
          <a:xfrm>
            <a:off x="4923754" y="5206780"/>
            <a:ext cx="433132" cy="369332"/>
          </a:xfrm>
          <a:prstGeom prst="rect">
            <a:avLst/>
          </a:prstGeom>
          <a:noFill/>
        </p:spPr>
        <p:txBody>
          <a:bodyPr wrap="none" rtlCol="0">
            <a:spAutoFit/>
          </a:bodyPr>
          <a:lstStyle/>
          <a:p>
            <a:r>
              <a:rPr lang="pt-BR" dirty="0"/>
              <a:t>0V</a:t>
            </a:r>
          </a:p>
        </p:txBody>
      </p:sp>
      <p:sp>
        <p:nvSpPr>
          <p:cNvPr id="18" name="CaixaDeTexto 17"/>
          <p:cNvSpPr txBox="1"/>
          <p:nvPr/>
        </p:nvSpPr>
        <p:spPr>
          <a:xfrm>
            <a:off x="4613168" y="6336133"/>
            <a:ext cx="620683" cy="369332"/>
          </a:xfrm>
          <a:prstGeom prst="rect">
            <a:avLst/>
          </a:prstGeom>
          <a:noFill/>
        </p:spPr>
        <p:txBody>
          <a:bodyPr wrap="none" rtlCol="0">
            <a:spAutoFit/>
          </a:bodyPr>
          <a:lstStyle/>
          <a:p>
            <a:r>
              <a:rPr lang="pt-BR" dirty="0"/>
              <a:t>-12V</a:t>
            </a:r>
          </a:p>
        </p:txBody>
      </p:sp>
      <p:sp>
        <p:nvSpPr>
          <p:cNvPr id="8" name="Rectangle 85">
            <a:extLst>
              <a:ext uri="{FF2B5EF4-FFF2-40B4-BE49-F238E27FC236}">
                <a16:creationId xmlns:a16="http://schemas.microsoft.com/office/drawing/2014/main" id="{DFA4674B-6C84-A6E3-DC7B-CBE57E6EA0AC}"/>
              </a:ext>
            </a:extLst>
          </p:cNvPr>
          <p:cNvSpPr>
            <a:spLocks noChangeArrowheads="1"/>
          </p:cNvSpPr>
          <p:nvPr/>
        </p:nvSpPr>
        <p:spPr bwMode="auto">
          <a:xfrm>
            <a:off x="34924" y="838631"/>
            <a:ext cx="4987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Circuitos típicos de aplicação:</a:t>
            </a:r>
          </a:p>
        </p:txBody>
      </p:sp>
      <p:sp>
        <p:nvSpPr>
          <p:cNvPr id="9" name="Retângulo 8">
            <a:extLst>
              <a:ext uri="{FF2B5EF4-FFF2-40B4-BE49-F238E27FC236}">
                <a16:creationId xmlns:a16="http://schemas.microsoft.com/office/drawing/2014/main" id="{AA8CAE43-1882-DCE3-1279-D0D11B40CAF4}"/>
              </a:ext>
            </a:extLst>
          </p:cNvPr>
          <p:cNvSpPr/>
          <p:nvPr/>
        </p:nvSpPr>
        <p:spPr>
          <a:xfrm>
            <a:off x="5356886" y="841244"/>
            <a:ext cx="3280758" cy="369332"/>
          </a:xfrm>
          <a:prstGeom prst="rect">
            <a:avLst/>
          </a:prstGeom>
          <a:solidFill>
            <a:schemeClr val="bg1"/>
          </a:solidFill>
        </p:spPr>
        <p:txBody>
          <a:bodyPr wrap="square">
            <a:spAutoFit/>
          </a:bodyPr>
          <a:lstStyle/>
          <a:p>
            <a:r>
              <a:rPr lang="pt-BR" dirty="0"/>
              <a:t>https://www.alldatasheet.com</a:t>
            </a:r>
          </a:p>
        </p:txBody>
      </p:sp>
    </p:spTree>
    <p:extLst>
      <p:ext uri="{BB962C8B-B14F-4D97-AF65-F5344CB8AC3E}">
        <p14:creationId xmlns:p14="http://schemas.microsoft.com/office/powerpoint/2010/main" val="3868971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34924" y="838631"/>
            <a:ext cx="49879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Circuitos típicos de aplicação:</a:t>
            </a:r>
          </a:p>
        </p:txBody>
      </p:sp>
      <p:pic>
        <p:nvPicPr>
          <p:cNvPr id="3" name="Imagem 2"/>
          <p:cNvPicPr>
            <a:picLocks noChangeAspect="1"/>
          </p:cNvPicPr>
          <p:nvPr/>
        </p:nvPicPr>
        <p:blipFill rotWithShape="1">
          <a:blip r:embed="rId2"/>
          <a:srcRect l="41942" t="43506" r="23446" b="27598"/>
          <a:stretch/>
        </p:blipFill>
        <p:spPr>
          <a:xfrm>
            <a:off x="0" y="1437167"/>
            <a:ext cx="6304302" cy="2960662"/>
          </a:xfrm>
          <a:prstGeom prst="rect">
            <a:avLst/>
          </a:prstGeom>
        </p:spPr>
      </p:pic>
      <p:pic>
        <p:nvPicPr>
          <p:cNvPr id="4" name="Imagem 3"/>
          <p:cNvPicPr>
            <a:picLocks noChangeAspect="1"/>
          </p:cNvPicPr>
          <p:nvPr/>
        </p:nvPicPr>
        <p:blipFill rotWithShape="1">
          <a:blip r:embed="rId3"/>
          <a:srcRect l="44078" t="49288" r="27815" b="33797"/>
          <a:stretch/>
        </p:blipFill>
        <p:spPr>
          <a:xfrm>
            <a:off x="5120640" y="5301358"/>
            <a:ext cx="4023360" cy="1361968"/>
          </a:xfrm>
          <a:prstGeom prst="rect">
            <a:avLst/>
          </a:prstGeom>
        </p:spPr>
      </p:pic>
      <p:sp>
        <p:nvSpPr>
          <p:cNvPr id="5" name="CaixaDeTexto 4"/>
          <p:cNvSpPr txBox="1"/>
          <p:nvPr/>
        </p:nvSpPr>
        <p:spPr>
          <a:xfrm>
            <a:off x="2481942" y="5669280"/>
            <a:ext cx="1968137" cy="707886"/>
          </a:xfrm>
          <a:prstGeom prst="rect">
            <a:avLst/>
          </a:prstGeom>
          <a:noFill/>
        </p:spPr>
        <p:txBody>
          <a:bodyPr wrap="square" rtlCol="0">
            <a:spAutoFit/>
          </a:bodyPr>
          <a:lstStyle/>
          <a:p>
            <a:pPr algn="ctr"/>
            <a:r>
              <a:rPr lang="pt-BR" sz="2000" b="1" dirty="0">
                <a:solidFill>
                  <a:srgbClr val="FF0000"/>
                </a:solidFill>
              </a:rPr>
              <a:t>Entrada de tensão negativa</a:t>
            </a:r>
          </a:p>
        </p:txBody>
      </p:sp>
      <p:cxnSp>
        <p:nvCxnSpPr>
          <p:cNvPr id="7" name="Conector de Seta Reta 6"/>
          <p:cNvCxnSpPr>
            <a:cxnSpLocks/>
            <a:endCxn id="43" idx="3"/>
          </p:cNvCxnSpPr>
          <p:nvPr/>
        </p:nvCxnSpPr>
        <p:spPr>
          <a:xfrm flipH="1" flipV="1">
            <a:off x="4504100" y="5423195"/>
            <a:ext cx="775898" cy="803138"/>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tângulo 9"/>
          <p:cNvSpPr/>
          <p:nvPr/>
        </p:nvSpPr>
        <p:spPr>
          <a:xfrm>
            <a:off x="5356886" y="841244"/>
            <a:ext cx="3280758" cy="369332"/>
          </a:xfrm>
          <a:prstGeom prst="rect">
            <a:avLst/>
          </a:prstGeom>
          <a:solidFill>
            <a:schemeClr val="bg1"/>
          </a:solidFill>
        </p:spPr>
        <p:txBody>
          <a:bodyPr wrap="square">
            <a:spAutoFit/>
          </a:bodyPr>
          <a:lstStyle/>
          <a:p>
            <a:r>
              <a:rPr lang="pt-BR" dirty="0"/>
              <a:t>https://www.alldatasheet.com</a:t>
            </a:r>
          </a:p>
        </p:txBody>
      </p:sp>
      <p:pic>
        <p:nvPicPr>
          <p:cNvPr id="6" name="Imagem 5"/>
          <p:cNvPicPr>
            <a:picLocks noChangeAspect="1"/>
          </p:cNvPicPr>
          <p:nvPr/>
        </p:nvPicPr>
        <p:blipFill>
          <a:blip r:embed="rId4"/>
          <a:stretch>
            <a:fillRect/>
          </a:stretch>
        </p:blipFill>
        <p:spPr>
          <a:xfrm>
            <a:off x="5268618" y="2257634"/>
            <a:ext cx="3727404" cy="2227281"/>
          </a:xfrm>
          <a:prstGeom prst="rect">
            <a:avLst/>
          </a:prstGeom>
        </p:spPr>
      </p:pic>
      <p:sp>
        <p:nvSpPr>
          <p:cNvPr id="17" name="CaixaDeTexto 16"/>
          <p:cNvSpPr txBox="1"/>
          <p:nvPr/>
        </p:nvSpPr>
        <p:spPr>
          <a:xfrm>
            <a:off x="4923754" y="5206780"/>
            <a:ext cx="433132" cy="369332"/>
          </a:xfrm>
          <a:prstGeom prst="rect">
            <a:avLst/>
          </a:prstGeom>
          <a:noFill/>
        </p:spPr>
        <p:txBody>
          <a:bodyPr wrap="none" rtlCol="0">
            <a:spAutoFit/>
          </a:bodyPr>
          <a:lstStyle/>
          <a:p>
            <a:r>
              <a:rPr lang="pt-BR" dirty="0"/>
              <a:t>0V</a:t>
            </a:r>
          </a:p>
        </p:txBody>
      </p:sp>
      <p:sp>
        <p:nvSpPr>
          <p:cNvPr id="18" name="CaixaDeTexto 17"/>
          <p:cNvSpPr txBox="1"/>
          <p:nvPr/>
        </p:nvSpPr>
        <p:spPr>
          <a:xfrm>
            <a:off x="4613168" y="6336133"/>
            <a:ext cx="620683" cy="369332"/>
          </a:xfrm>
          <a:prstGeom prst="rect">
            <a:avLst/>
          </a:prstGeom>
          <a:noFill/>
        </p:spPr>
        <p:txBody>
          <a:bodyPr wrap="none" rtlCol="0">
            <a:spAutoFit/>
          </a:bodyPr>
          <a:lstStyle/>
          <a:p>
            <a:r>
              <a:rPr lang="pt-BR" dirty="0"/>
              <a:t>-12V</a:t>
            </a:r>
          </a:p>
        </p:txBody>
      </p:sp>
      <p:pic>
        <p:nvPicPr>
          <p:cNvPr id="22" name="Imagem 21">
            <a:extLst>
              <a:ext uri="{FF2B5EF4-FFF2-40B4-BE49-F238E27FC236}">
                <a16:creationId xmlns:a16="http://schemas.microsoft.com/office/drawing/2014/main" id="{B3ACEDC2-5664-4255-A80A-103AFDA76B02}"/>
              </a:ext>
            </a:extLst>
          </p:cNvPr>
          <p:cNvPicPr>
            <a:picLocks noChangeAspect="1"/>
          </p:cNvPicPr>
          <p:nvPr/>
        </p:nvPicPr>
        <p:blipFill>
          <a:blip r:embed="rId5"/>
          <a:stretch>
            <a:fillRect/>
          </a:stretch>
        </p:blipFill>
        <p:spPr>
          <a:xfrm>
            <a:off x="1919536" y="2635465"/>
            <a:ext cx="955869" cy="968635"/>
          </a:xfrm>
          <a:prstGeom prst="rect">
            <a:avLst/>
          </a:prstGeom>
        </p:spPr>
      </p:pic>
      <p:pic>
        <p:nvPicPr>
          <p:cNvPr id="24" name="Imagem 23">
            <a:extLst>
              <a:ext uri="{FF2B5EF4-FFF2-40B4-BE49-F238E27FC236}">
                <a16:creationId xmlns:a16="http://schemas.microsoft.com/office/drawing/2014/main" id="{12DC4C91-ED2D-4AF8-BEFA-855D99057A66}"/>
              </a:ext>
            </a:extLst>
          </p:cNvPr>
          <p:cNvPicPr>
            <a:picLocks noChangeAspect="1"/>
          </p:cNvPicPr>
          <p:nvPr/>
        </p:nvPicPr>
        <p:blipFill>
          <a:blip r:embed="rId6"/>
          <a:stretch>
            <a:fillRect/>
          </a:stretch>
        </p:blipFill>
        <p:spPr>
          <a:xfrm>
            <a:off x="3394790" y="2635465"/>
            <a:ext cx="961186" cy="1055194"/>
          </a:xfrm>
          <a:prstGeom prst="rect">
            <a:avLst/>
          </a:prstGeom>
        </p:spPr>
      </p:pic>
      <p:cxnSp>
        <p:nvCxnSpPr>
          <p:cNvPr id="32" name="Conector de Seta Reta 31">
            <a:extLst>
              <a:ext uri="{FF2B5EF4-FFF2-40B4-BE49-F238E27FC236}">
                <a16:creationId xmlns:a16="http://schemas.microsoft.com/office/drawing/2014/main" id="{C6C36ADB-87D5-4C34-B372-681FE6AC812C}"/>
              </a:ext>
            </a:extLst>
          </p:cNvPr>
          <p:cNvCxnSpPr/>
          <p:nvPr/>
        </p:nvCxnSpPr>
        <p:spPr>
          <a:xfrm flipV="1">
            <a:off x="2294792" y="4000500"/>
            <a:ext cx="694593" cy="20222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CaixaDeTexto 32">
            <a:extLst>
              <a:ext uri="{FF2B5EF4-FFF2-40B4-BE49-F238E27FC236}">
                <a16:creationId xmlns:a16="http://schemas.microsoft.com/office/drawing/2014/main" id="{79CA91B6-9A27-4BBC-8F6E-D1B839D68C7E}"/>
              </a:ext>
            </a:extLst>
          </p:cNvPr>
          <p:cNvSpPr txBox="1"/>
          <p:nvPr/>
        </p:nvSpPr>
        <p:spPr>
          <a:xfrm>
            <a:off x="1861660" y="4101611"/>
            <a:ext cx="433132" cy="369332"/>
          </a:xfrm>
          <a:prstGeom prst="rect">
            <a:avLst/>
          </a:prstGeom>
          <a:noFill/>
        </p:spPr>
        <p:txBody>
          <a:bodyPr wrap="none" rtlCol="0">
            <a:spAutoFit/>
          </a:bodyPr>
          <a:lstStyle/>
          <a:p>
            <a:r>
              <a:rPr lang="pt-BR" dirty="0"/>
              <a:t>0V</a:t>
            </a:r>
          </a:p>
        </p:txBody>
      </p:sp>
      <p:sp>
        <p:nvSpPr>
          <p:cNvPr id="34" name="CaixaDeTexto 33">
            <a:extLst>
              <a:ext uri="{FF2B5EF4-FFF2-40B4-BE49-F238E27FC236}">
                <a16:creationId xmlns:a16="http://schemas.microsoft.com/office/drawing/2014/main" id="{D8F5F9A0-30EB-477E-996F-994C553A560E}"/>
              </a:ext>
            </a:extLst>
          </p:cNvPr>
          <p:cNvSpPr txBox="1"/>
          <p:nvPr/>
        </p:nvSpPr>
        <p:spPr>
          <a:xfrm>
            <a:off x="34924" y="1513793"/>
            <a:ext cx="550151" cy="369332"/>
          </a:xfrm>
          <a:prstGeom prst="rect">
            <a:avLst/>
          </a:prstGeom>
          <a:noFill/>
        </p:spPr>
        <p:txBody>
          <a:bodyPr wrap="none" rtlCol="0">
            <a:spAutoFit/>
          </a:bodyPr>
          <a:lstStyle/>
          <a:p>
            <a:r>
              <a:rPr lang="pt-BR" dirty="0"/>
              <a:t>12V</a:t>
            </a:r>
          </a:p>
        </p:txBody>
      </p:sp>
      <p:sp>
        <p:nvSpPr>
          <p:cNvPr id="35" name="CaixaDeTexto 34">
            <a:extLst>
              <a:ext uri="{FF2B5EF4-FFF2-40B4-BE49-F238E27FC236}">
                <a16:creationId xmlns:a16="http://schemas.microsoft.com/office/drawing/2014/main" id="{44E71C26-95B5-4F3A-ABE8-4271C2D9394A}"/>
              </a:ext>
            </a:extLst>
          </p:cNvPr>
          <p:cNvSpPr txBox="1"/>
          <p:nvPr/>
        </p:nvSpPr>
        <p:spPr>
          <a:xfrm>
            <a:off x="5647347" y="1507850"/>
            <a:ext cx="607859" cy="369332"/>
          </a:xfrm>
          <a:prstGeom prst="rect">
            <a:avLst/>
          </a:prstGeom>
          <a:noFill/>
        </p:spPr>
        <p:txBody>
          <a:bodyPr wrap="none" rtlCol="0">
            <a:spAutoFit/>
          </a:bodyPr>
          <a:lstStyle/>
          <a:p>
            <a:r>
              <a:rPr lang="pt-BR" dirty="0"/>
              <a:t>5,0V</a:t>
            </a:r>
          </a:p>
        </p:txBody>
      </p:sp>
      <p:sp>
        <p:nvSpPr>
          <p:cNvPr id="27" name="CaixaDeTexto 26">
            <a:extLst>
              <a:ext uri="{FF2B5EF4-FFF2-40B4-BE49-F238E27FC236}">
                <a16:creationId xmlns:a16="http://schemas.microsoft.com/office/drawing/2014/main" id="{28F8D8CE-C93C-4EE9-A3B8-C33EF2E32A22}"/>
              </a:ext>
            </a:extLst>
          </p:cNvPr>
          <p:cNvSpPr txBox="1"/>
          <p:nvPr/>
        </p:nvSpPr>
        <p:spPr>
          <a:xfrm>
            <a:off x="6857244" y="4808850"/>
            <a:ext cx="652743" cy="369332"/>
          </a:xfrm>
          <a:prstGeom prst="rect">
            <a:avLst/>
          </a:prstGeom>
          <a:noFill/>
        </p:spPr>
        <p:txBody>
          <a:bodyPr wrap="none" rtlCol="0">
            <a:spAutoFit/>
          </a:bodyPr>
          <a:lstStyle/>
          <a:p>
            <a:r>
              <a:rPr lang="pt-BR" dirty="0"/>
              <a:t>7905</a:t>
            </a:r>
          </a:p>
        </p:txBody>
      </p:sp>
      <p:sp>
        <p:nvSpPr>
          <p:cNvPr id="29" name="CaixaDeTexto 28">
            <a:extLst>
              <a:ext uri="{FF2B5EF4-FFF2-40B4-BE49-F238E27FC236}">
                <a16:creationId xmlns:a16="http://schemas.microsoft.com/office/drawing/2014/main" id="{AA719AE2-CFD1-436C-B1FA-8D365735DCE3}"/>
              </a:ext>
            </a:extLst>
          </p:cNvPr>
          <p:cNvSpPr txBox="1"/>
          <p:nvPr/>
        </p:nvSpPr>
        <p:spPr>
          <a:xfrm>
            <a:off x="7844048" y="6370757"/>
            <a:ext cx="503664" cy="369332"/>
          </a:xfrm>
          <a:prstGeom prst="rect">
            <a:avLst/>
          </a:prstGeom>
          <a:noFill/>
        </p:spPr>
        <p:txBody>
          <a:bodyPr wrap="none" rtlCol="0">
            <a:spAutoFit/>
          </a:bodyPr>
          <a:lstStyle/>
          <a:p>
            <a:r>
              <a:rPr lang="pt-BR" dirty="0"/>
              <a:t>-5V</a:t>
            </a:r>
          </a:p>
        </p:txBody>
      </p:sp>
      <p:sp>
        <p:nvSpPr>
          <p:cNvPr id="30" name="CaixaDeTexto 29">
            <a:extLst>
              <a:ext uri="{FF2B5EF4-FFF2-40B4-BE49-F238E27FC236}">
                <a16:creationId xmlns:a16="http://schemas.microsoft.com/office/drawing/2014/main" id="{EE772F51-9872-409A-9DE4-DA659776946F}"/>
              </a:ext>
            </a:extLst>
          </p:cNvPr>
          <p:cNvSpPr txBox="1"/>
          <p:nvPr/>
        </p:nvSpPr>
        <p:spPr>
          <a:xfrm>
            <a:off x="1226857" y="3303108"/>
            <a:ext cx="1489190" cy="523220"/>
          </a:xfrm>
          <a:prstGeom prst="rect">
            <a:avLst/>
          </a:prstGeom>
          <a:noFill/>
        </p:spPr>
        <p:txBody>
          <a:bodyPr wrap="none" rtlCol="0">
            <a:spAutoFit/>
          </a:bodyPr>
          <a:lstStyle/>
          <a:p>
            <a:pPr algn="ctr"/>
            <a:r>
              <a:rPr lang="pt-BR" sz="1400" dirty="0"/>
              <a:t>Ligar ao polo de</a:t>
            </a:r>
          </a:p>
          <a:p>
            <a:pPr algn="ctr"/>
            <a:r>
              <a:rPr lang="pt-BR" sz="1400" b="1" dirty="0">
                <a:solidFill>
                  <a:srgbClr val="FF0000"/>
                </a:solidFill>
              </a:rPr>
              <a:t>MENOR</a:t>
            </a:r>
            <a:r>
              <a:rPr lang="pt-BR" sz="1400" dirty="0"/>
              <a:t> potencial</a:t>
            </a:r>
          </a:p>
        </p:txBody>
      </p:sp>
      <p:cxnSp>
        <p:nvCxnSpPr>
          <p:cNvPr id="36" name="Conector de Seta Reta 35">
            <a:extLst>
              <a:ext uri="{FF2B5EF4-FFF2-40B4-BE49-F238E27FC236}">
                <a16:creationId xmlns:a16="http://schemas.microsoft.com/office/drawing/2014/main" id="{5724BB83-B16E-46AE-90A7-75B4537BA957}"/>
              </a:ext>
            </a:extLst>
          </p:cNvPr>
          <p:cNvCxnSpPr/>
          <p:nvPr/>
        </p:nvCxnSpPr>
        <p:spPr>
          <a:xfrm flipV="1">
            <a:off x="2294792" y="3238817"/>
            <a:ext cx="187150" cy="10277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CaixaDeTexto 36">
            <a:extLst>
              <a:ext uri="{FF2B5EF4-FFF2-40B4-BE49-F238E27FC236}">
                <a16:creationId xmlns:a16="http://schemas.microsoft.com/office/drawing/2014/main" id="{BB63B83A-6784-4061-9FE9-9441AB67C05A}"/>
              </a:ext>
            </a:extLst>
          </p:cNvPr>
          <p:cNvSpPr txBox="1"/>
          <p:nvPr/>
        </p:nvSpPr>
        <p:spPr>
          <a:xfrm>
            <a:off x="1795296" y="2153173"/>
            <a:ext cx="1439498" cy="523220"/>
          </a:xfrm>
          <a:prstGeom prst="rect">
            <a:avLst/>
          </a:prstGeom>
          <a:noFill/>
        </p:spPr>
        <p:txBody>
          <a:bodyPr wrap="none" rtlCol="0">
            <a:spAutoFit/>
          </a:bodyPr>
          <a:lstStyle/>
          <a:p>
            <a:pPr algn="ctr"/>
            <a:r>
              <a:rPr lang="pt-BR" sz="1400" dirty="0"/>
              <a:t>Ligar ao polo de</a:t>
            </a:r>
          </a:p>
          <a:p>
            <a:pPr algn="ctr"/>
            <a:r>
              <a:rPr lang="pt-BR" sz="1400" b="1" dirty="0">
                <a:solidFill>
                  <a:srgbClr val="FF0000"/>
                </a:solidFill>
              </a:rPr>
              <a:t>MAIOR</a:t>
            </a:r>
            <a:r>
              <a:rPr lang="pt-BR" sz="1400" dirty="0"/>
              <a:t> potencial</a:t>
            </a:r>
          </a:p>
        </p:txBody>
      </p:sp>
      <p:cxnSp>
        <p:nvCxnSpPr>
          <p:cNvPr id="38" name="Conector de Seta Reta 37">
            <a:extLst>
              <a:ext uri="{FF2B5EF4-FFF2-40B4-BE49-F238E27FC236}">
                <a16:creationId xmlns:a16="http://schemas.microsoft.com/office/drawing/2014/main" id="{A8FA64DB-9D28-4ED7-BA72-D4B0BC9F11C2}"/>
              </a:ext>
            </a:extLst>
          </p:cNvPr>
          <p:cNvCxnSpPr>
            <a:cxnSpLocks/>
          </p:cNvCxnSpPr>
          <p:nvPr/>
        </p:nvCxnSpPr>
        <p:spPr>
          <a:xfrm flipH="1">
            <a:off x="2576898" y="2645931"/>
            <a:ext cx="185352" cy="57009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42" name="Imagem 41">
            <a:extLst>
              <a:ext uri="{FF2B5EF4-FFF2-40B4-BE49-F238E27FC236}">
                <a16:creationId xmlns:a16="http://schemas.microsoft.com/office/drawing/2014/main" id="{9789D464-3006-49C1-B70A-CBB9CAA42586}"/>
              </a:ext>
            </a:extLst>
          </p:cNvPr>
          <p:cNvPicPr>
            <a:picLocks noChangeAspect="1"/>
          </p:cNvPicPr>
          <p:nvPr/>
        </p:nvPicPr>
        <p:blipFill>
          <a:blip r:embed="rId5"/>
          <a:stretch>
            <a:fillRect/>
          </a:stretch>
        </p:blipFill>
        <p:spPr>
          <a:xfrm>
            <a:off x="3707589" y="4493942"/>
            <a:ext cx="955869" cy="968635"/>
          </a:xfrm>
          <a:prstGeom prst="rect">
            <a:avLst/>
          </a:prstGeom>
        </p:spPr>
      </p:pic>
      <p:sp>
        <p:nvSpPr>
          <p:cNvPr id="43" name="CaixaDeTexto 42">
            <a:extLst>
              <a:ext uri="{FF2B5EF4-FFF2-40B4-BE49-F238E27FC236}">
                <a16:creationId xmlns:a16="http://schemas.microsoft.com/office/drawing/2014/main" id="{51A3B72A-06A3-4FF1-85E7-3C12827BE0BA}"/>
              </a:ext>
            </a:extLst>
          </p:cNvPr>
          <p:cNvSpPr txBox="1"/>
          <p:nvPr/>
        </p:nvSpPr>
        <p:spPr>
          <a:xfrm>
            <a:off x="3014910" y="5161585"/>
            <a:ext cx="1489190" cy="523220"/>
          </a:xfrm>
          <a:prstGeom prst="rect">
            <a:avLst/>
          </a:prstGeom>
          <a:noFill/>
        </p:spPr>
        <p:txBody>
          <a:bodyPr wrap="none" rtlCol="0">
            <a:spAutoFit/>
          </a:bodyPr>
          <a:lstStyle/>
          <a:p>
            <a:pPr algn="ctr"/>
            <a:r>
              <a:rPr lang="pt-BR" sz="1400" dirty="0"/>
              <a:t>Ligar ao polo de</a:t>
            </a:r>
          </a:p>
          <a:p>
            <a:pPr algn="ctr"/>
            <a:r>
              <a:rPr lang="pt-BR" sz="1400" b="1" dirty="0">
                <a:solidFill>
                  <a:srgbClr val="FF0000"/>
                </a:solidFill>
              </a:rPr>
              <a:t>MENOR</a:t>
            </a:r>
            <a:r>
              <a:rPr lang="pt-BR" sz="1400" dirty="0"/>
              <a:t> potencial</a:t>
            </a:r>
          </a:p>
        </p:txBody>
      </p:sp>
      <p:sp>
        <p:nvSpPr>
          <p:cNvPr id="44" name="CaixaDeTexto 43">
            <a:extLst>
              <a:ext uri="{FF2B5EF4-FFF2-40B4-BE49-F238E27FC236}">
                <a16:creationId xmlns:a16="http://schemas.microsoft.com/office/drawing/2014/main" id="{F37DB924-8D2E-4D68-9177-F68BEBA967E0}"/>
              </a:ext>
            </a:extLst>
          </p:cNvPr>
          <p:cNvSpPr txBox="1"/>
          <p:nvPr/>
        </p:nvSpPr>
        <p:spPr>
          <a:xfrm>
            <a:off x="3583349" y="4011650"/>
            <a:ext cx="1439498" cy="523220"/>
          </a:xfrm>
          <a:prstGeom prst="rect">
            <a:avLst/>
          </a:prstGeom>
          <a:noFill/>
        </p:spPr>
        <p:txBody>
          <a:bodyPr wrap="none" rtlCol="0">
            <a:spAutoFit/>
          </a:bodyPr>
          <a:lstStyle/>
          <a:p>
            <a:pPr algn="ctr"/>
            <a:r>
              <a:rPr lang="pt-BR" sz="1400" dirty="0"/>
              <a:t>Ligar ao polo de</a:t>
            </a:r>
          </a:p>
          <a:p>
            <a:pPr algn="ctr"/>
            <a:r>
              <a:rPr lang="pt-BR" sz="1400" b="1" dirty="0">
                <a:solidFill>
                  <a:srgbClr val="FF0000"/>
                </a:solidFill>
              </a:rPr>
              <a:t>MAIOR</a:t>
            </a:r>
            <a:r>
              <a:rPr lang="pt-BR" sz="1400" dirty="0"/>
              <a:t> potencial</a:t>
            </a:r>
          </a:p>
        </p:txBody>
      </p:sp>
      <p:cxnSp>
        <p:nvCxnSpPr>
          <p:cNvPr id="47" name="Conector de Seta Reta 46">
            <a:extLst>
              <a:ext uri="{FF2B5EF4-FFF2-40B4-BE49-F238E27FC236}">
                <a16:creationId xmlns:a16="http://schemas.microsoft.com/office/drawing/2014/main" id="{8AF71985-42B6-4884-97A0-5286C3FCD3A1}"/>
              </a:ext>
            </a:extLst>
          </p:cNvPr>
          <p:cNvCxnSpPr>
            <a:cxnSpLocks/>
          </p:cNvCxnSpPr>
          <p:nvPr/>
        </p:nvCxnSpPr>
        <p:spPr>
          <a:xfrm flipH="1" flipV="1">
            <a:off x="4628340" y="5147043"/>
            <a:ext cx="819230" cy="214052"/>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0" name="CaixaDeTexto 49">
            <a:extLst>
              <a:ext uri="{FF2B5EF4-FFF2-40B4-BE49-F238E27FC236}">
                <a16:creationId xmlns:a16="http://schemas.microsoft.com/office/drawing/2014/main" id="{50532F65-7782-466D-9F8D-B52C0FCDBECF}"/>
              </a:ext>
            </a:extLst>
          </p:cNvPr>
          <p:cNvSpPr txBox="1"/>
          <p:nvPr/>
        </p:nvSpPr>
        <p:spPr>
          <a:xfrm>
            <a:off x="439838" y="2770723"/>
            <a:ext cx="550151" cy="369332"/>
          </a:xfrm>
          <a:prstGeom prst="rect">
            <a:avLst/>
          </a:prstGeom>
          <a:noFill/>
        </p:spPr>
        <p:txBody>
          <a:bodyPr wrap="none" rtlCol="0">
            <a:spAutoFit/>
          </a:bodyPr>
          <a:lstStyle/>
          <a:p>
            <a:r>
              <a:rPr lang="pt-BR" dirty="0"/>
              <a:t>12V</a:t>
            </a:r>
          </a:p>
        </p:txBody>
      </p:sp>
      <p:sp>
        <p:nvSpPr>
          <p:cNvPr id="55" name="CaixaDeTexto 54">
            <a:extLst>
              <a:ext uri="{FF2B5EF4-FFF2-40B4-BE49-F238E27FC236}">
                <a16:creationId xmlns:a16="http://schemas.microsoft.com/office/drawing/2014/main" id="{1E009A57-F1A5-4441-A892-3F595E2A29B7}"/>
              </a:ext>
            </a:extLst>
          </p:cNvPr>
          <p:cNvSpPr txBox="1"/>
          <p:nvPr/>
        </p:nvSpPr>
        <p:spPr>
          <a:xfrm>
            <a:off x="5233851" y="2699425"/>
            <a:ext cx="433132" cy="369332"/>
          </a:xfrm>
          <a:prstGeom prst="rect">
            <a:avLst/>
          </a:prstGeom>
          <a:noFill/>
        </p:spPr>
        <p:txBody>
          <a:bodyPr wrap="none" rtlCol="0">
            <a:spAutoFit/>
          </a:bodyPr>
          <a:lstStyle/>
          <a:p>
            <a:r>
              <a:rPr lang="pt-BR" dirty="0"/>
              <a:t>5V</a:t>
            </a:r>
          </a:p>
        </p:txBody>
      </p:sp>
    </p:spTree>
    <p:extLst>
      <p:ext uri="{BB962C8B-B14F-4D97-AF65-F5344CB8AC3E}">
        <p14:creationId xmlns:p14="http://schemas.microsoft.com/office/powerpoint/2010/main" val="2420075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1" y="93801"/>
            <a:ext cx="4458788" cy="4401205"/>
          </a:xfrm>
          <a:prstGeom prst="rect">
            <a:avLst/>
          </a:prstGeom>
          <a:solidFill>
            <a:schemeClr val="bg1"/>
          </a:solid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Tensões negativas:</a:t>
            </a:r>
          </a:p>
          <a:p>
            <a:pPr algn="just"/>
            <a:endParaRPr lang="pt-BR" sz="800" b="1" dirty="0">
              <a:solidFill>
                <a:schemeClr val="tx1"/>
              </a:solidFill>
            </a:endParaRPr>
          </a:p>
          <a:p>
            <a:pPr algn="just"/>
            <a:r>
              <a:rPr lang="pt-BR" sz="1800" b="1" dirty="0">
                <a:solidFill>
                  <a:schemeClr val="tx1"/>
                </a:solidFill>
              </a:rPr>
              <a:t>	</a:t>
            </a:r>
            <a:r>
              <a:rPr lang="pt-BR" sz="1800" dirty="0">
                <a:solidFill>
                  <a:schemeClr val="tx1"/>
                </a:solidFill>
              </a:rPr>
              <a:t>Valores de tensões negativos são valores de tensão que quando comparados ao terra (GND), apresentam um valor menor. Na verdade simplesmente não sabemos qual é o valor do potencial real do terra, basta que o potencial de 5 V, por exemplo, seja 5 V maior do que aquele apresentado pelo GND para defini-lo como um potencial positivo de 5 V. Como será estudado em física, se já não foi, o potencial zero é aquele de um ponto localizado no infinito, infinitamente longe de todas as cargas do universo!</a:t>
            </a:r>
          </a:p>
        </p:txBody>
      </p:sp>
      <p:pic>
        <p:nvPicPr>
          <p:cNvPr id="4" name="Imagem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016135" y="793775"/>
            <a:ext cx="4042525" cy="3591126"/>
          </a:xfrm>
          <a:prstGeom prst="rect">
            <a:avLst/>
          </a:prstGeom>
        </p:spPr>
      </p:pic>
      <p:sp>
        <p:nvSpPr>
          <p:cNvPr id="5" name="Rectangle 85"/>
          <p:cNvSpPr>
            <a:spLocks noChangeArrowheads="1"/>
          </p:cNvSpPr>
          <p:nvPr/>
        </p:nvSpPr>
        <p:spPr bwMode="auto">
          <a:xfrm>
            <a:off x="0" y="4384901"/>
            <a:ext cx="9144000" cy="2462213"/>
          </a:xfrm>
          <a:prstGeom prst="rect">
            <a:avLst/>
          </a:prstGeom>
          <a:solidFill>
            <a:schemeClr val="bg1"/>
          </a:solidFill>
          <a:ln>
            <a:noFill/>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800" b="1" dirty="0">
                <a:solidFill>
                  <a:schemeClr val="tx1"/>
                </a:solidFill>
              </a:rPr>
              <a:t>	</a:t>
            </a:r>
            <a:r>
              <a:rPr lang="pt-BR" sz="1800" dirty="0">
                <a:solidFill>
                  <a:schemeClr val="tx1"/>
                </a:solidFill>
              </a:rPr>
              <a:t>Quando conectamos dois equipamentos, devemos SEMPRE, conectar (curto-circuitar) os terras, assim, eles passam a apresentar o mesmo potencial e qualquer outro valor de tensão têm o mesmo valor relativo para ambos os equipamentos, logo, 5 V para um também é entendido como 5 V pelo outro.</a:t>
            </a:r>
          </a:p>
          <a:p>
            <a:pPr algn="just"/>
            <a:r>
              <a:rPr lang="pt-BR" sz="1800" dirty="0">
                <a:solidFill>
                  <a:schemeClr val="tx1"/>
                </a:solidFill>
              </a:rPr>
              <a:t>	Outra maneira de entendermos valores de tensão é quando verificamos o sentido da corrente entre dois polos, pois, a corrente sempre deixa o maior potencial e vai para o menor potencial, assim, se uma corrente deixa o GND para ir para outro ponto é porque este outro ponto ou polo possui um potencial menor, por exemplo, -5 V. </a:t>
            </a:r>
          </a:p>
        </p:txBody>
      </p:sp>
    </p:spTree>
    <p:extLst>
      <p:ext uri="{BB962C8B-B14F-4D97-AF65-F5344CB8AC3E}">
        <p14:creationId xmlns:p14="http://schemas.microsoft.com/office/powerpoint/2010/main" val="3592142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15674"/>
            <a:ext cx="3788229" cy="2339102"/>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Tensões negativas:</a:t>
            </a:r>
          </a:p>
          <a:p>
            <a:pPr algn="just"/>
            <a:r>
              <a:rPr lang="pt-BR" sz="1800" b="1" dirty="0">
                <a:solidFill>
                  <a:schemeClr val="tx1"/>
                </a:solidFill>
              </a:rPr>
              <a:t>	</a:t>
            </a:r>
            <a:r>
              <a:rPr lang="pt-BR" sz="1800" dirty="0">
                <a:solidFill>
                  <a:schemeClr val="tx1"/>
                </a:solidFill>
              </a:rPr>
              <a:t>A maneira mais simples de se obter tensões negativas é por meio da associação de pilhas ou baterias, veja na figura seguinte como obter alguns valores de tensões pela associação de pilhas de 1,5 V.</a:t>
            </a:r>
          </a:p>
        </p:txBody>
      </p:sp>
      <p:pic>
        <p:nvPicPr>
          <p:cNvPr id="3" name="Imagem 2"/>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924768" y="1332410"/>
            <a:ext cx="5219231" cy="5525589"/>
          </a:xfrm>
          <a:prstGeom prst="rect">
            <a:avLst/>
          </a:prstGeom>
        </p:spPr>
      </p:pic>
      <p:sp>
        <p:nvSpPr>
          <p:cNvPr id="11" name="Retângulo 10"/>
          <p:cNvSpPr/>
          <p:nvPr/>
        </p:nvSpPr>
        <p:spPr>
          <a:xfrm>
            <a:off x="259081" y="4302859"/>
            <a:ext cx="1552302" cy="5660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Elipse 11"/>
          <p:cNvSpPr/>
          <p:nvPr/>
        </p:nvSpPr>
        <p:spPr>
          <a:xfrm>
            <a:off x="926737" y="4523839"/>
            <a:ext cx="193040" cy="23005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3" name="CaixaDeTexto 12"/>
          <p:cNvSpPr txBox="1"/>
          <p:nvPr/>
        </p:nvSpPr>
        <p:spPr>
          <a:xfrm>
            <a:off x="785051" y="4249519"/>
            <a:ext cx="476412" cy="276999"/>
          </a:xfrm>
          <a:prstGeom prst="rect">
            <a:avLst/>
          </a:prstGeom>
          <a:noFill/>
        </p:spPr>
        <p:txBody>
          <a:bodyPr wrap="none" rtlCol="0">
            <a:spAutoFit/>
          </a:bodyPr>
          <a:lstStyle/>
          <a:p>
            <a:r>
              <a:rPr lang="pt-BR" sz="1200" dirty="0"/>
              <a:t>GND</a:t>
            </a:r>
          </a:p>
        </p:txBody>
      </p:sp>
      <p:sp>
        <p:nvSpPr>
          <p:cNvPr id="14" name="Elipse 13"/>
          <p:cNvSpPr/>
          <p:nvPr/>
        </p:nvSpPr>
        <p:spPr>
          <a:xfrm>
            <a:off x="450325" y="4523839"/>
            <a:ext cx="193040" cy="230051"/>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5" name="CaixaDeTexto 14"/>
          <p:cNvSpPr txBox="1"/>
          <p:nvPr/>
        </p:nvSpPr>
        <p:spPr>
          <a:xfrm>
            <a:off x="308639" y="4249519"/>
            <a:ext cx="471860" cy="276999"/>
          </a:xfrm>
          <a:prstGeom prst="rect">
            <a:avLst/>
          </a:prstGeom>
          <a:noFill/>
        </p:spPr>
        <p:txBody>
          <a:bodyPr wrap="none" rtlCol="0">
            <a:spAutoFit/>
          </a:bodyPr>
          <a:lstStyle/>
          <a:p>
            <a:r>
              <a:rPr lang="pt-BR" sz="1200" dirty="0"/>
              <a:t>+Vcc</a:t>
            </a:r>
          </a:p>
        </p:txBody>
      </p:sp>
      <p:sp>
        <p:nvSpPr>
          <p:cNvPr id="16" name="Elipse 15"/>
          <p:cNvSpPr/>
          <p:nvPr/>
        </p:nvSpPr>
        <p:spPr>
          <a:xfrm>
            <a:off x="1384689" y="4523839"/>
            <a:ext cx="193040" cy="230051"/>
          </a:xfrm>
          <a:prstGeom prst="ellipse">
            <a:avLst/>
          </a:prstGeom>
          <a:solidFill>
            <a:srgbClr val="00B05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7" name="CaixaDeTexto 16"/>
          <p:cNvSpPr txBox="1"/>
          <p:nvPr/>
        </p:nvSpPr>
        <p:spPr>
          <a:xfrm>
            <a:off x="1243003" y="4249519"/>
            <a:ext cx="441403" cy="276999"/>
          </a:xfrm>
          <a:prstGeom prst="rect">
            <a:avLst/>
          </a:prstGeom>
          <a:noFill/>
        </p:spPr>
        <p:txBody>
          <a:bodyPr wrap="none" rtlCol="0">
            <a:spAutoFit/>
          </a:bodyPr>
          <a:lstStyle/>
          <a:p>
            <a:r>
              <a:rPr lang="pt-BR" sz="1200" dirty="0"/>
              <a:t>-Vcc</a:t>
            </a:r>
          </a:p>
        </p:txBody>
      </p:sp>
      <p:sp>
        <p:nvSpPr>
          <p:cNvPr id="18" name="Retângulo 17"/>
          <p:cNvSpPr/>
          <p:nvPr/>
        </p:nvSpPr>
        <p:spPr>
          <a:xfrm>
            <a:off x="259081" y="5478518"/>
            <a:ext cx="1125608" cy="5660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Elipse 18"/>
          <p:cNvSpPr/>
          <p:nvPr/>
        </p:nvSpPr>
        <p:spPr>
          <a:xfrm>
            <a:off x="926737" y="5699498"/>
            <a:ext cx="193040" cy="23005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0" name="CaixaDeTexto 19"/>
          <p:cNvSpPr txBox="1"/>
          <p:nvPr/>
        </p:nvSpPr>
        <p:spPr>
          <a:xfrm>
            <a:off x="785051" y="5425178"/>
            <a:ext cx="476412" cy="276999"/>
          </a:xfrm>
          <a:prstGeom prst="rect">
            <a:avLst/>
          </a:prstGeom>
          <a:noFill/>
        </p:spPr>
        <p:txBody>
          <a:bodyPr wrap="none" rtlCol="0">
            <a:spAutoFit/>
          </a:bodyPr>
          <a:lstStyle/>
          <a:p>
            <a:r>
              <a:rPr lang="pt-BR" sz="1200" dirty="0"/>
              <a:t>GND</a:t>
            </a:r>
          </a:p>
        </p:txBody>
      </p:sp>
      <p:sp>
        <p:nvSpPr>
          <p:cNvPr id="21" name="Elipse 20"/>
          <p:cNvSpPr/>
          <p:nvPr/>
        </p:nvSpPr>
        <p:spPr>
          <a:xfrm>
            <a:off x="450325" y="5699498"/>
            <a:ext cx="193040" cy="230051"/>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2" name="CaixaDeTexto 21"/>
          <p:cNvSpPr txBox="1"/>
          <p:nvPr/>
        </p:nvSpPr>
        <p:spPr>
          <a:xfrm>
            <a:off x="308639" y="5425178"/>
            <a:ext cx="471860" cy="276999"/>
          </a:xfrm>
          <a:prstGeom prst="rect">
            <a:avLst/>
          </a:prstGeom>
          <a:noFill/>
        </p:spPr>
        <p:txBody>
          <a:bodyPr wrap="none" rtlCol="0">
            <a:spAutoFit/>
          </a:bodyPr>
          <a:lstStyle/>
          <a:p>
            <a:r>
              <a:rPr lang="pt-BR" sz="1200" dirty="0"/>
              <a:t>+Vcc</a:t>
            </a:r>
          </a:p>
        </p:txBody>
      </p:sp>
      <p:sp>
        <p:nvSpPr>
          <p:cNvPr id="23" name="Elipse 22"/>
          <p:cNvSpPr/>
          <p:nvPr/>
        </p:nvSpPr>
        <p:spPr>
          <a:xfrm>
            <a:off x="2580006" y="4751912"/>
            <a:ext cx="193040" cy="230051"/>
          </a:xfrm>
          <a:prstGeom prst="ellipse">
            <a:avLst/>
          </a:prstGeom>
          <a:solidFill>
            <a:srgbClr val="00B05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4" name="CaixaDeTexto 23"/>
          <p:cNvSpPr txBox="1"/>
          <p:nvPr/>
        </p:nvSpPr>
        <p:spPr>
          <a:xfrm>
            <a:off x="2438320" y="4477592"/>
            <a:ext cx="441403" cy="276999"/>
          </a:xfrm>
          <a:prstGeom prst="rect">
            <a:avLst/>
          </a:prstGeom>
          <a:noFill/>
        </p:spPr>
        <p:txBody>
          <a:bodyPr wrap="none" rtlCol="0">
            <a:spAutoFit/>
          </a:bodyPr>
          <a:lstStyle/>
          <a:p>
            <a:r>
              <a:rPr lang="pt-BR" sz="1200" dirty="0"/>
              <a:t>-Vcc</a:t>
            </a:r>
          </a:p>
        </p:txBody>
      </p:sp>
      <p:sp>
        <p:nvSpPr>
          <p:cNvPr id="25" name="Retângulo 24"/>
          <p:cNvSpPr/>
          <p:nvPr/>
        </p:nvSpPr>
        <p:spPr>
          <a:xfrm>
            <a:off x="1602018" y="5488289"/>
            <a:ext cx="1125608" cy="566057"/>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6" name="Elipse 25"/>
          <p:cNvSpPr/>
          <p:nvPr/>
        </p:nvSpPr>
        <p:spPr>
          <a:xfrm>
            <a:off x="2269674" y="5709269"/>
            <a:ext cx="193040" cy="23005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7" name="CaixaDeTexto 26"/>
          <p:cNvSpPr txBox="1"/>
          <p:nvPr/>
        </p:nvSpPr>
        <p:spPr>
          <a:xfrm>
            <a:off x="2127988" y="5434949"/>
            <a:ext cx="441403" cy="276999"/>
          </a:xfrm>
          <a:prstGeom prst="rect">
            <a:avLst/>
          </a:prstGeom>
          <a:noFill/>
        </p:spPr>
        <p:txBody>
          <a:bodyPr wrap="none" rtlCol="0">
            <a:spAutoFit/>
          </a:bodyPr>
          <a:lstStyle/>
          <a:p>
            <a:r>
              <a:rPr lang="pt-BR" sz="1200" dirty="0"/>
              <a:t>-Vcc</a:t>
            </a:r>
          </a:p>
        </p:txBody>
      </p:sp>
      <p:sp>
        <p:nvSpPr>
          <p:cNvPr id="29" name="CaixaDeTexto 28"/>
          <p:cNvSpPr txBox="1"/>
          <p:nvPr/>
        </p:nvSpPr>
        <p:spPr>
          <a:xfrm>
            <a:off x="1651576" y="5434949"/>
            <a:ext cx="471860" cy="276999"/>
          </a:xfrm>
          <a:prstGeom prst="rect">
            <a:avLst/>
          </a:prstGeom>
          <a:noFill/>
        </p:spPr>
        <p:txBody>
          <a:bodyPr wrap="none" rtlCol="0">
            <a:spAutoFit/>
          </a:bodyPr>
          <a:lstStyle/>
          <a:p>
            <a:r>
              <a:rPr lang="pt-BR" sz="1200" dirty="0"/>
              <a:t>+Vcc</a:t>
            </a:r>
          </a:p>
        </p:txBody>
      </p:sp>
      <p:cxnSp>
        <p:nvCxnSpPr>
          <p:cNvPr id="31" name="Conector reto 30"/>
          <p:cNvCxnSpPr/>
          <p:nvPr/>
        </p:nvCxnSpPr>
        <p:spPr>
          <a:xfrm>
            <a:off x="1023257" y="5811984"/>
            <a:ext cx="0" cy="46518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2" name="Conector reto 31"/>
          <p:cNvCxnSpPr/>
          <p:nvPr/>
        </p:nvCxnSpPr>
        <p:spPr>
          <a:xfrm>
            <a:off x="1886857" y="5811984"/>
            <a:ext cx="0" cy="46518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8" name="Elipse 27"/>
          <p:cNvSpPr/>
          <p:nvPr/>
        </p:nvSpPr>
        <p:spPr>
          <a:xfrm>
            <a:off x="1793262" y="5709269"/>
            <a:ext cx="193040" cy="230051"/>
          </a:xfrm>
          <a:prstGeom prst="ellipse">
            <a:avLst/>
          </a:prstGeom>
          <a:solidFill>
            <a:srgbClr val="FF00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34" name="Conector reto 33"/>
          <p:cNvCxnSpPr/>
          <p:nvPr/>
        </p:nvCxnSpPr>
        <p:spPr>
          <a:xfrm>
            <a:off x="1023257" y="6277165"/>
            <a:ext cx="8636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5" name="Elipse 34"/>
          <p:cNvSpPr/>
          <p:nvPr/>
        </p:nvSpPr>
        <p:spPr>
          <a:xfrm>
            <a:off x="1358537" y="6162139"/>
            <a:ext cx="193040" cy="230051"/>
          </a:xfrm>
          <a:prstGeom prst="ellipse">
            <a:avLst/>
          </a:prstGeom>
          <a:solidFill>
            <a:schemeClr val="tx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36" name="CaixaDeTexto 35"/>
          <p:cNvSpPr txBox="1"/>
          <p:nvPr/>
        </p:nvSpPr>
        <p:spPr>
          <a:xfrm>
            <a:off x="1222125" y="5939320"/>
            <a:ext cx="476412" cy="276999"/>
          </a:xfrm>
          <a:prstGeom prst="rect">
            <a:avLst/>
          </a:prstGeom>
          <a:noFill/>
        </p:spPr>
        <p:txBody>
          <a:bodyPr wrap="none" rtlCol="0">
            <a:spAutoFit/>
          </a:bodyPr>
          <a:lstStyle/>
          <a:p>
            <a:r>
              <a:rPr lang="pt-BR" sz="1200" dirty="0"/>
              <a:t>GND</a:t>
            </a:r>
          </a:p>
        </p:txBody>
      </p:sp>
      <p:sp>
        <p:nvSpPr>
          <p:cNvPr id="37" name="CaixaDeTexto 36"/>
          <p:cNvSpPr txBox="1"/>
          <p:nvPr/>
        </p:nvSpPr>
        <p:spPr>
          <a:xfrm>
            <a:off x="165602" y="6031653"/>
            <a:ext cx="665567" cy="369332"/>
          </a:xfrm>
          <a:prstGeom prst="rect">
            <a:avLst/>
          </a:prstGeom>
          <a:noFill/>
        </p:spPr>
        <p:txBody>
          <a:bodyPr wrap="none" rtlCol="0">
            <a:spAutoFit/>
          </a:bodyPr>
          <a:lstStyle/>
          <a:p>
            <a:r>
              <a:rPr lang="pt-BR" dirty="0"/>
              <a:t>+12V</a:t>
            </a:r>
          </a:p>
        </p:txBody>
      </p:sp>
      <p:sp>
        <p:nvSpPr>
          <p:cNvPr id="38" name="CaixaDeTexto 37"/>
          <p:cNvSpPr txBox="1"/>
          <p:nvPr/>
        </p:nvSpPr>
        <p:spPr>
          <a:xfrm>
            <a:off x="1998128" y="6044574"/>
            <a:ext cx="620683" cy="369332"/>
          </a:xfrm>
          <a:prstGeom prst="rect">
            <a:avLst/>
          </a:prstGeom>
          <a:noFill/>
        </p:spPr>
        <p:txBody>
          <a:bodyPr wrap="none" rtlCol="0">
            <a:spAutoFit/>
          </a:bodyPr>
          <a:lstStyle/>
          <a:p>
            <a:r>
              <a:rPr lang="pt-BR" dirty="0"/>
              <a:t>-12V</a:t>
            </a:r>
          </a:p>
        </p:txBody>
      </p:sp>
      <p:sp>
        <p:nvSpPr>
          <p:cNvPr id="49" name="Retângulo 48"/>
          <p:cNvSpPr/>
          <p:nvPr/>
        </p:nvSpPr>
        <p:spPr>
          <a:xfrm>
            <a:off x="643365" y="3298761"/>
            <a:ext cx="533163" cy="1584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1" name="Conector de Seta Reta 50"/>
          <p:cNvCxnSpPr/>
          <p:nvPr/>
        </p:nvCxnSpPr>
        <p:spPr>
          <a:xfrm>
            <a:off x="688848" y="3859593"/>
            <a:ext cx="669689" cy="12192"/>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CaixaDeTexto 51"/>
          <p:cNvSpPr txBox="1"/>
          <p:nvPr/>
        </p:nvSpPr>
        <p:spPr>
          <a:xfrm>
            <a:off x="874802" y="3555607"/>
            <a:ext cx="237566" cy="369332"/>
          </a:xfrm>
          <a:prstGeom prst="rect">
            <a:avLst/>
          </a:prstGeom>
          <a:noFill/>
        </p:spPr>
        <p:txBody>
          <a:bodyPr wrap="none" rtlCol="0">
            <a:spAutoFit/>
          </a:bodyPr>
          <a:lstStyle/>
          <a:p>
            <a:r>
              <a:rPr lang="pt-BR" dirty="0"/>
              <a:t>i</a:t>
            </a:r>
          </a:p>
        </p:txBody>
      </p:sp>
      <p:sp>
        <p:nvSpPr>
          <p:cNvPr id="53" name="CaixaDeTexto 52"/>
          <p:cNvSpPr txBox="1"/>
          <p:nvPr/>
        </p:nvSpPr>
        <p:spPr>
          <a:xfrm>
            <a:off x="1358537" y="3503892"/>
            <a:ext cx="1703351" cy="646331"/>
          </a:xfrm>
          <a:prstGeom prst="rect">
            <a:avLst/>
          </a:prstGeom>
          <a:noFill/>
        </p:spPr>
        <p:txBody>
          <a:bodyPr wrap="none" rtlCol="0">
            <a:spAutoFit/>
          </a:bodyPr>
          <a:lstStyle/>
          <a:p>
            <a:pPr algn="ctr"/>
            <a:r>
              <a:rPr lang="pt-BR" dirty="0"/>
              <a:t>Ponto de menor</a:t>
            </a:r>
          </a:p>
          <a:p>
            <a:pPr algn="ctr"/>
            <a:r>
              <a:rPr lang="pt-BR" dirty="0"/>
              <a:t>potencial</a:t>
            </a:r>
          </a:p>
        </p:txBody>
      </p:sp>
      <p:sp>
        <p:nvSpPr>
          <p:cNvPr id="54" name="Retângulo 53"/>
          <p:cNvSpPr/>
          <p:nvPr/>
        </p:nvSpPr>
        <p:spPr>
          <a:xfrm rot="5400000">
            <a:off x="4452208" y="1962912"/>
            <a:ext cx="533163" cy="1584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56" name="Conector reto 55"/>
          <p:cNvCxnSpPr>
            <a:stCxn id="54" idx="1"/>
          </p:cNvCxnSpPr>
          <p:nvPr/>
        </p:nvCxnSpPr>
        <p:spPr>
          <a:xfrm flipH="1" flipV="1">
            <a:off x="4090416" y="1471790"/>
            <a:ext cx="628374" cy="303789"/>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7" name="Conector reto 56"/>
          <p:cNvCxnSpPr>
            <a:stCxn id="54" idx="3"/>
          </p:cNvCxnSpPr>
          <p:nvPr/>
        </p:nvCxnSpPr>
        <p:spPr>
          <a:xfrm flipH="1">
            <a:off x="4126992" y="2308742"/>
            <a:ext cx="591798" cy="34389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1" name="Conector de Seta Reta 60"/>
          <p:cNvCxnSpPr/>
          <p:nvPr/>
        </p:nvCxnSpPr>
        <p:spPr>
          <a:xfrm>
            <a:off x="4937490" y="1945130"/>
            <a:ext cx="0" cy="25552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62" name="Retângulo 61"/>
          <p:cNvSpPr/>
          <p:nvPr/>
        </p:nvSpPr>
        <p:spPr>
          <a:xfrm rot="5400000">
            <a:off x="4430736" y="3236976"/>
            <a:ext cx="533163" cy="1584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63" name="Conector reto 62"/>
          <p:cNvCxnSpPr>
            <a:stCxn id="62" idx="1"/>
          </p:cNvCxnSpPr>
          <p:nvPr/>
        </p:nvCxnSpPr>
        <p:spPr>
          <a:xfrm flipH="1" flipV="1">
            <a:off x="4126992" y="2705752"/>
            <a:ext cx="570326" cy="343891"/>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6" name="Conector reto 65"/>
          <p:cNvCxnSpPr>
            <a:stCxn id="62" idx="3"/>
          </p:cNvCxnSpPr>
          <p:nvPr/>
        </p:nvCxnSpPr>
        <p:spPr>
          <a:xfrm flipH="1">
            <a:off x="4126992" y="3582806"/>
            <a:ext cx="570326" cy="33692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9" name="Conector de Seta Reta 68"/>
          <p:cNvCxnSpPr/>
          <p:nvPr/>
        </p:nvCxnSpPr>
        <p:spPr>
          <a:xfrm>
            <a:off x="4937490" y="3188461"/>
            <a:ext cx="0" cy="25552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Retângulo 70"/>
          <p:cNvSpPr/>
          <p:nvPr/>
        </p:nvSpPr>
        <p:spPr>
          <a:xfrm rot="5400000">
            <a:off x="5214368" y="2626504"/>
            <a:ext cx="533163" cy="158496"/>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cxnSp>
        <p:nvCxnSpPr>
          <p:cNvPr id="72" name="Conector reto 71"/>
          <p:cNvCxnSpPr>
            <a:stCxn id="71" idx="1"/>
          </p:cNvCxnSpPr>
          <p:nvPr/>
        </p:nvCxnSpPr>
        <p:spPr>
          <a:xfrm flipH="1" flipV="1">
            <a:off x="4104946" y="1471789"/>
            <a:ext cx="1376004" cy="967382"/>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5" name="Conector reto 74"/>
          <p:cNvCxnSpPr>
            <a:stCxn id="71" idx="3"/>
          </p:cNvCxnSpPr>
          <p:nvPr/>
        </p:nvCxnSpPr>
        <p:spPr>
          <a:xfrm flipH="1">
            <a:off x="4104946" y="2972334"/>
            <a:ext cx="1376004" cy="947394"/>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Conector de Seta Reta 77"/>
          <p:cNvCxnSpPr/>
          <p:nvPr/>
        </p:nvCxnSpPr>
        <p:spPr>
          <a:xfrm>
            <a:off x="5675106" y="2577989"/>
            <a:ext cx="0" cy="25552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79" name="CaixaDeTexto 78"/>
          <p:cNvSpPr txBox="1"/>
          <p:nvPr/>
        </p:nvSpPr>
        <p:spPr>
          <a:xfrm>
            <a:off x="3195008" y="2738429"/>
            <a:ext cx="784189" cy="369332"/>
          </a:xfrm>
          <a:prstGeom prst="rect">
            <a:avLst/>
          </a:prstGeom>
          <a:noFill/>
        </p:spPr>
        <p:txBody>
          <a:bodyPr wrap="none" rtlCol="0">
            <a:spAutoFit/>
          </a:bodyPr>
          <a:lstStyle/>
          <a:p>
            <a:r>
              <a:rPr lang="pt-BR" dirty="0"/>
              <a:t>9000V</a:t>
            </a:r>
          </a:p>
        </p:txBody>
      </p:sp>
      <p:sp>
        <p:nvSpPr>
          <p:cNvPr id="80" name="CaixaDeTexto 79"/>
          <p:cNvSpPr txBox="1"/>
          <p:nvPr/>
        </p:nvSpPr>
        <p:spPr>
          <a:xfrm>
            <a:off x="4225974" y="979766"/>
            <a:ext cx="958917" cy="369332"/>
          </a:xfrm>
          <a:prstGeom prst="rect">
            <a:avLst/>
          </a:prstGeom>
          <a:noFill/>
        </p:spPr>
        <p:txBody>
          <a:bodyPr wrap="none" rtlCol="0">
            <a:spAutoFit/>
          </a:bodyPr>
          <a:lstStyle/>
          <a:p>
            <a:r>
              <a:rPr lang="pt-BR" dirty="0"/>
              <a:t>9001,5V</a:t>
            </a:r>
          </a:p>
        </p:txBody>
      </p:sp>
      <p:sp>
        <p:nvSpPr>
          <p:cNvPr id="81" name="CaixaDeTexto 80"/>
          <p:cNvSpPr txBox="1"/>
          <p:nvPr/>
        </p:nvSpPr>
        <p:spPr>
          <a:xfrm>
            <a:off x="3032051" y="3859593"/>
            <a:ext cx="958917" cy="369332"/>
          </a:xfrm>
          <a:prstGeom prst="rect">
            <a:avLst/>
          </a:prstGeom>
          <a:noFill/>
        </p:spPr>
        <p:txBody>
          <a:bodyPr wrap="none" rtlCol="0">
            <a:spAutoFit/>
          </a:bodyPr>
          <a:lstStyle/>
          <a:p>
            <a:r>
              <a:rPr lang="pt-BR" dirty="0"/>
              <a:t>8998,5V</a:t>
            </a:r>
          </a:p>
        </p:txBody>
      </p:sp>
    </p:spTree>
    <p:extLst>
      <p:ext uri="{BB962C8B-B14F-4D97-AF65-F5344CB8AC3E}">
        <p14:creationId xmlns:p14="http://schemas.microsoft.com/office/powerpoint/2010/main" val="853946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0DC6A4B8-531B-4C7A-9E5C-059549EAEB0C}"/>
              </a:ext>
            </a:extLst>
          </p:cNvPr>
          <p:cNvPicPr>
            <a:picLocks noChangeAspect="1"/>
          </p:cNvPicPr>
          <p:nvPr/>
        </p:nvPicPr>
        <p:blipFill>
          <a:blip r:embed="rId2"/>
          <a:stretch>
            <a:fillRect/>
          </a:stretch>
        </p:blipFill>
        <p:spPr>
          <a:xfrm>
            <a:off x="1499058" y="2019524"/>
            <a:ext cx="2930402" cy="3592106"/>
          </a:xfrm>
          <a:prstGeom prst="rect">
            <a:avLst/>
          </a:prstGeom>
        </p:spPr>
      </p:pic>
      <p:sp>
        <p:nvSpPr>
          <p:cNvPr id="4" name="CaixaDeTexto 3">
            <a:extLst>
              <a:ext uri="{FF2B5EF4-FFF2-40B4-BE49-F238E27FC236}">
                <a16:creationId xmlns:a16="http://schemas.microsoft.com/office/drawing/2014/main" id="{51E73089-EB14-48AD-9C6E-AE5DCB52F006}"/>
              </a:ext>
            </a:extLst>
          </p:cNvPr>
          <p:cNvSpPr txBox="1"/>
          <p:nvPr/>
        </p:nvSpPr>
        <p:spPr>
          <a:xfrm>
            <a:off x="4900748" y="5836460"/>
            <a:ext cx="530915" cy="523220"/>
          </a:xfrm>
          <a:prstGeom prst="rect">
            <a:avLst/>
          </a:prstGeom>
          <a:noFill/>
        </p:spPr>
        <p:txBody>
          <a:bodyPr wrap="none" rtlCol="0">
            <a:spAutoFit/>
          </a:bodyPr>
          <a:lstStyle/>
          <a:p>
            <a:pPr algn="ctr"/>
            <a:r>
              <a:rPr lang="pt-BR" sz="1400" b="1" dirty="0"/>
              <a:t>GND</a:t>
            </a:r>
          </a:p>
          <a:p>
            <a:pPr algn="ctr"/>
            <a:r>
              <a:rPr lang="pt-BR" sz="1400" b="1" dirty="0"/>
              <a:t>(0V)</a:t>
            </a:r>
          </a:p>
        </p:txBody>
      </p:sp>
      <p:sp>
        <p:nvSpPr>
          <p:cNvPr id="5" name="CaixaDeTexto 4">
            <a:extLst>
              <a:ext uri="{FF2B5EF4-FFF2-40B4-BE49-F238E27FC236}">
                <a16:creationId xmlns:a16="http://schemas.microsoft.com/office/drawing/2014/main" id="{41BA84C8-BAD2-4A5F-AC94-2AEEDFD33B76}"/>
              </a:ext>
            </a:extLst>
          </p:cNvPr>
          <p:cNvSpPr txBox="1"/>
          <p:nvPr/>
        </p:nvSpPr>
        <p:spPr>
          <a:xfrm>
            <a:off x="3671815" y="4935533"/>
            <a:ext cx="274435" cy="307777"/>
          </a:xfrm>
          <a:prstGeom prst="rect">
            <a:avLst/>
          </a:prstGeom>
          <a:noFill/>
        </p:spPr>
        <p:txBody>
          <a:bodyPr wrap="none" rtlCol="0">
            <a:spAutoFit/>
          </a:bodyPr>
          <a:lstStyle/>
          <a:p>
            <a:pPr algn="ctr"/>
            <a:r>
              <a:rPr lang="pt-BR" sz="1400" b="1" dirty="0">
                <a:solidFill>
                  <a:srgbClr val="FF0000"/>
                </a:solidFill>
              </a:rPr>
              <a:t>+</a:t>
            </a:r>
          </a:p>
        </p:txBody>
      </p:sp>
      <p:pic>
        <p:nvPicPr>
          <p:cNvPr id="6" name="Imagem 5">
            <a:extLst>
              <a:ext uri="{FF2B5EF4-FFF2-40B4-BE49-F238E27FC236}">
                <a16:creationId xmlns:a16="http://schemas.microsoft.com/office/drawing/2014/main" id="{A0649859-3AA2-4710-9544-F74080D6F48F}"/>
              </a:ext>
            </a:extLst>
          </p:cNvPr>
          <p:cNvPicPr>
            <a:picLocks noChangeAspect="1"/>
          </p:cNvPicPr>
          <p:nvPr/>
        </p:nvPicPr>
        <p:blipFill>
          <a:blip r:embed="rId2"/>
          <a:stretch>
            <a:fillRect/>
          </a:stretch>
        </p:blipFill>
        <p:spPr>
          <a:xfrm>
            <a:off x="4920438" y="2019524"/>
            <a:ext cx="2930402" cy="3592106"/>
          </a:xfrm>
          <a:prstGeom prst="rect">
            <a:avLst/>
          </a:prstGeom>
        </p:spPr>
      </p:pic>
      <p:cxnSp>
        <p:nvCxnSpPr>
          <p:cNvPr id="7" name="Conector reto 6">
            <a:extLst>
              <a:ext uri="{FF2B5EF4-FFF2-40B4-BE49-F238E27FC236}">
                <a16:creationId xmlns:a16="http://schemas.microsoft.com/office/drawing/2014/main" id="{801182F6-4795-4E50-8EFB-AC63C6360D23}"/>
              </a:ext>
            </a:extLst>
          </p:cNvPr>
          <p:cNvCxnSpPr/>
          <p:nvPr/>
        </p:nvCxnSpPr>
        <p:spPr>
          <a:xfrm>
            <a:off x="3085946" y="5385073"/>
            <a:ext cx="0" cy="43434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 name="Conector reto 7">
            <a:extLst>
              <a:ext uri="{FF2B5EF4-FFF2-40B4-BE49-F238E27FC236}">
                <a16:creationId xmlns:a16="http://schemas.microsoft.com/office/drawing/2014/main" id="{757E7CAC-B3D1-4AB1-97B3-51BE0A9CBAB7}"/>
              </a:ext>
            </a:extLst>
          </p:cNvPr>
          <p:cNvCxnSpPr/>
          <p:nvPr/>
        </p:nvCxnSpPr>
        <p:spPr>
          <a:xfrm>
            <a:off x="7246466" y="5394460"/>
            <a:ext cx="0" cy="43434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Conector reto 8">
            <a:extLst>
              <a:ext uri="{FF2B5EF4-FFF2-40B4-BE49-F238E27FC236}">
                <a16:creationId xmlns:a16="http://schemas.microsoft.com/office/drawing/2014/main" id="{B12B2FBB-6FC5-4883-8714-B7622CFC44DA}"/>
              </a:ext>
            </a:extLst>
          </p:cNvPr>
          <p:cNvCxnSpPr/>
          <p:nvPr/>
        </p:nvCxnSpPr>
        <p:spPr>
          <a:xfrm>
            <a:off x="3085946" y="5819413"/>
            <a:ext cx="416052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CaixaDeTexto 9">
            <a:extLst>
              <a:ext uri="{FF2B5EF4-FFF2-40B4-BE49-F238E27FC236}">
                <a16:creationId xmlns:a16="http://schemas.microsoft.com/office/drawing/2014/main" id="{6FCDC849-A71D-4D69-BB38-9D773DEED594}"/>
              </a:ext>
            </a:extLst>
          </p:cNvPr>
          <p:cNvSpPr txBox="1"/>
          <p:nvPr/>
        </p:nvSpPr>
        <p:spPr>
          <a:xfrm>
            <a:off x="3449799" y="5417577"/>
            <a:ext cx="718466" cy="369332"/>
          </a:xfrm>
          <a:prstGeom prst="rect">
            <a:avLst/>
          </a:prstGeom>
          <a:noFill/>
        </p:spPr>
        <p:txBody>
          <a:bodyPr wrap="none" rtlCol="0">
            <a:spAutoFit/>
          </a:bodyPr>
          <a:lstStyle/>
          <a:p>
            <a:r>
              <a:rPr lang="pt-BR" dirty="0"/>
              <a:t>+10 V</a:t>
            </a:r>
          </a:p>
        </p:txBody>
      </p:sp>
      <p:sp>
        <p:nvSpPr>
          <p:cNvPr id="11" name="CaixaDeTexto 10">
            <a:extLst>
              <a:ext uri="{FF2B5EF4-FFF2-40B4-BE49-F238E27FC236}">
                <a16:creationId xmlns:a16="http://schemas.microsoft.com/office/drawing/2014/main" id="{5204F570-1FB5-4CB6-9CC2-450930E80986}"/>
              </a:ext>
            </a:extLst>
          </p:cNvPr>
          <p:cNvSpPr txBox="1"/>
          <p:nvPr/>
        </p:nvSpPr>
        <p:spPr>
          <a:xfrm>
            <a:off x="6026406" y="5467345"/>
            <a:ext cx="673582" cy="369332"/>
          </a:xfrm>
          <a:prstGeom prst="rect">
            <a:avLst/>
          </a:prstGeom>
          <a:noFill/>
        </p:spPr>
        <p:txBody>
          <a:bodyPr wrap="none" rtlCol="0">
            <a:spAutoFit/>
          </a:bodyPr>
          <a:lstStyle/>
          <a:p>
            <a:r>
              <a:rPr lang="pt-BR" dirty="0"/>
              <a:t>-10 V</a:t>
            </a:r>
          </a:p>
        </p:txBody>
      </p:sp>
    </p:spTree>
    <p:extLst>
      <p:ext uri="{BB962C8B-B14F-4D97-AF65-F5344CB8AC3E}">
        <p14:creationId xmlns:p14="http://schemas.microsoft.com/office/powerpoint/2010/main" val="2403392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43133"/>
            <a:ext cx="9144000" cy="1354217"/>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Tensões negativas:</a:t>
            </a:r>
          </a:p>
          <a:p>
            <a:pPr algn="just"/>
            <a:endParaRPr lang="pt-BR" sz="800" b="1" dirty="0">
              <a:solidFill>
                <a:schemeClr val="tx1"/>
              </a:solidFill>
            </a:endParaRPr>
          </a:p>
          <a:p>
            <a:pPr algn="just"/>
            <a:r>
              <a:rPr lang="pt-BR" sz="1800" b="1" dirty="0">
                <a:solidFill>
                  <a:schemeClr val="tx1"/>
                </a:solidFill>
              </a:rPr>
              <a:t>	</a:t>
            </a:r>
            <a:r>
              <a:rPr lang="pt-BR" sz="1800" dirty="0">
                <a:solidFill>
                  <a:schemeClr val="tx1"/>
                </a:solidFill>
              </a:rPr>
              <a:t>Outra maneira de conseguir tensões negativas é por meio da construção de fontes específicas, feitas com um transformador dotado de TAP central, veja figura. Os valores das saídas </a:t>
            </a:r>
            <a:r>
              <a:rPr lang="pt-BR" sz="1800" dirty="0">
                <a:solidFill>
                  <a:srgbClr val="FF0000"/>
                </a:solidFill>
              </a:rPr>
              <a:t>+V</a:t>
            </a:r>
            <a:r>
              <a:rPr lang="pt-BR" sz="1800" dirty="0">
                <a:solidFill>
                  <a:schemeClr val="tx1"/>
                </a:solidFill>
              </a:rPr>
              <a:t> e </a:t>
            </a:r>
            <a:r>
              <a:rPr lang="pt-BR" sz="1800" dirty="0">
                <a:solidFill>
                  <a:srgbClr val="00B050"/>
                </a:solidFill>
              </a:rPr>
              <a:t>–V</a:t>
            </a:r>
            <a:r>
              <a:rPr lang="pt-BR" sz="1800" dirty="0">
                <a:solidFill>
                  <a:schemeClr val="tx1"/>
                </a:solidFill>
              </a:rPr>
              <a:t> dependem da especificação do transformador.</a:t>
            </a:r>
          </a:p>
        </p:txBody>
      </p:sp>
      <p:pic>
        <p:nvPicPr>
          <p:cNvPr id="4" name="Imagem 3"/>
          <p:cNvPicPr>
            <a:picLocks noChangeAspect="1"/>
          </p:cNvPicPr>
          <p:nvPr/>
        </p:nvPicPr>
        <p:blipFill>
          <a:blip r:embed="rId2" cstate="email">
            <a:extLst>
              <a:ext uri="{28A0092B-C50C-407E-A947-70E740481C1C}">
                <a14:useLocalDpi xmlns:a14="http://schemas.microsoft.com/office/drawing/2010/main" val="0"/>
              </a:ext>
            </a:extLst>
          </a:blip>
          <a:srcRect r="29385"/>
          <a:stretch>
            <a:fillRect/>
          </a:stretch>
        </p:blipFill>
        <p:spPr>
          <a:xfrm>
            <a:off x="176949" y="2623460"/>
            <a:ext cx="5062316" cy="3493008"/>
          </a:xfrm>
          <a:prstGeom prst="rect">
            <a:avLst/>
          </a:prstGeom>
        </p:spPr>
      </p:pic>
    </p:spTree>
    <p:extLst>
      <p:ext uri="{BB962C8B-B14F-4D97-AF65-F5344CB8AC3E}">
        <p14:creationId xmlns:p14="http://schemas.microsoft.com/office/powerpoint/2010/main" val="871019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3F4179BF-10FF-4721-9AC6-D31E1C6F89C0}"/>
              </a:ext>
            </a:extLst>
          </p:cNvPr>
          <p:cNvPicPr>
            <a:picLocks noChangeAspect="1"/>
          </p:cNvPicPr>
          <p:nvPr/>
        </p:nvPicPr>
        <p:blipFill>
          <a:blip r:embed="rId2"/>
          <a:stretch>
            <a:fillRect/>
          </a:stretch>
        </p:blipFill>
        <p:spPr>
          <a:xfrm>
            <a:off x="3143767" y="2450856"/>
            <a:ext cx="3179434" cy="3117969"/>
          </a:xfrm>
          <a:prstGeom prst="rect">
            <a:avLst/>
          </a:prstGeom>
        </p:spPr>
      </p:pic>
      <p:sp>
        <p:nvSpPr>
          <p:cNvPr id="4" name="CaixaDeTexto 3">
            <a:extLst>
              <a:ext uri="{FF2B5EF4-FFF2-40B4-BE49-F238E27FC236}">
                <a16:creationId xmlns:a16="http://schemas.microsoft.com/office/drawing/2014/main" id="{C834F2B7-CC32-4B01-90D6-D0B1BEB60B32}"/>
              </a:ext>
            </a:extLst>
          </p:cNvPr>
          <p:cNvSpPr txBox="1"/>
          <p:nvPr/>
        </p:nvSpPr>
        <p:spPr>
          <a:xfrm>
            <a:off x="4060864" y="5723791"/>
            <a:ext cx="1345240" cy="369332"/>
          </a:xfrm>
          <a:prstGeom prst="rect">
            <a:avLst/>
          </a:prstGeom>
          <a:noFill/>
        </p:spPr>
        <p:txBody>
          <a:bodyPr wrap="none" rtlCol="0">
            <a:spAutoFit/>
          </a:bodyPr>
          <a:lstStyle/>
          <a:p>
            <a:r>
              <a:rPr lang="pt-BR" dirty="0"/>
              <a:t>110V / 220V</a:t>
            </a:r>
          </a:p>
        </p:txBody>
      </p:sp>
    </p:spTree>
    <p:extLst>
      <p:ext uri="{BB962C8B-B14F-4D97-AF65-F5344CB8AC3E}">
        <p14:creationId xmlns:p14="http://schemas.microsoft.com/office/powerpoint/2010/main" val="3194014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43132"/>
            <a:ext cx="9144000" cy="1077218"/>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Tensões negativas:</a:t>
            </a:r>
          </a:p>
          <a:p>
            <a:pPr algn="just"/>
            <a:endParaRPr lang="pt-BR" sz="800" b="1" dirty="0">
              <a:solidFill>
                <a:schemeClr val="tx1"/>
              </a:solidFill>
            </a:endParaRPr>
          </a:p>
          <a:p>
            <a:pPr algn="just"/>
            <a:r>
              <a:rPr lang="pt-BR" sz="1800" b="1" dirty="0">
                <a:solidFill>
                  <a:schemeClr val="tx1"/>
                </a:solidFill>
              </a:rPr>
              <a:t>	</a:t>
            </a:r>
            <a:r>
              <a:rPr lang="pt-BR" sz="1800" dirty="0">
                <a:solidFill>
                  <a:schemeClr val="tx1"/>
                </a:solidFill>
              </a:rPr>
              <a:t>Também podemos conseguir tensão negativa com a utilização de um CI NE555 (Oscilador), veja na figura.</a:t>
            </a:r>
          </a:p>
        </p:txBody>
      </p:sp>
      <p:pic>
        <p:nvPicPr>
          <p:cNvPr id="3" name="Imagem 2"/>
          <p:cNvPicPr>
            <a:picLocks noChangeAspect="1"/>
          </p:cNvPicPr>
          <p:nvPr/>
        </p:nvPicPr>
        <p:blipFill rotWithShape="1">
          <a:blip r:embed="rId2">
            <a:extLst>
              <a:ext uri="{28A0092B-C50C-407E-A947-70E740481C1C}">
                <a14:useLocalDpi xmlns:a14="http://schemas.microsoft.com/office/drawing/2010/main" val="0"/>
              </a:ext>
            </a:extLst>
          </a:blip>
          <a:srcRect b="12852"/>
          <a:stretch/>
        </p:blipFill>
        <p:spPr>
          <a:xfrm>
            <a:off x="-1" y="3710598"/>
            <a:ext cx="5982790" cy="2776225"/>
          </a:xfrm>
          <a:prstGeom prst="rect">
            <a:avLst/>
          </a:prstGeom>
        </p:spPr>
      </p:pic>
      <p:pic>
        <p:nvPicPr>
          <p:cNvPr id="4" name="Imagem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4132" y="1701005"/>
            <a:ext cx="4859867" cy="2391055"/>
          </a:xfrm>
          <a:prstGeom prst="rect">
            <a:avLst/>
          </a:prstGeom>
        </p:spPr>
      </p:pic>
      <p:sp>
        <p:nvSpPr>
          <p:cNvPr id="5" name="CaixaDeTexto 4"/>
          <p:cNvSpPr txBox="1"/>
          <p:nvPr/>
        </p:nvSpPr>
        <p:spPr>
          <a:xfrm>
            <a:off x="864514" y="6486823"/>
            <a:ext cx="622286" cy="369332"/>
          </a:xfrm>
          <a:prstGeom prst="rect">
            <a:avLst/>
          </a:prstGeom>
          <a:noFill/>
        </p:spPr>
        <p:txBody>
          <a:bodyPr wrap="none" rtlCol="0">
            <a:spAutoFit/>
          </a:bodyPr>
          <a:lstStyle/>
          <a:p>
            <a:r>
              <a:rPr lang="pt-BR" dirty="0"/>
              <a:t>GND</a:t>
            </a:r>
          </a:p>
        </p:txBody>
      </p:sp>
      <p:cxnSp>
        <p:nvCxnSpPr>
          <p:cNvPr id="7" name="Conector de Seta Reta 6"/>
          <p:cNvCxnSpPr/>
          <p:nvPr/>
        </p:nvCxnSpPr>
        <p:spPr>
          <a:xfrm flipV="1">
            <a:off x="1458308" y="6469416"/>
            <a:ext cx="265989" cy="10239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1744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5">
            <a:extLst>
              <a:ext uri="{FF2B5EF4-FFF2-40B4-BE49-F238E27FC236}">
                <a16:creationId xmlns:a16="http://schemas.microsoft.com/office/drawing/2014/main" id="{0DB89800-B34B-D8A0-9A55-6F82E4226E14}"/>
              </a:ext>
            </a:extLst>
          </p:cNvPr>
          <p:cNvSpPr>
            <a:spLocks noChangeArrowheads="1"/>
          </p:cNvSpPr>
          <p:nvPr/>
        </p:nvSpPr>
        <p:spPr bwMode="auto">
          <a:xfrm>
            <a:off x="0" y="826274"/>
            <a:ext cx="9143999"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000" b="1" dirty="0">
                <a:solidFill>
                  <a:schemeClr val="tx1"/>
                </a:solidFill>
              </a:rPr>
              <a:t>	Reguladores de tensão ajustáveis:</a:t>
            </a:r>
          </a:p>
          <a:p>
            <a:pPr algn="just"/>
            <a:endParaRPr lang="pt-BR" dirty="0">
              <a:solidFill>
                <a:schemeClr val="tx1"/>
              </a:solidFill>
            </a:endParaRPr>
          </a:p>
          <a:p>
            <a:pPr algn="just"/>
            <a:r>
              <a:rPr lang="pt-BR" dirty="0">
                <a:solidFill>
                  <a:schemeClr val="tx1"/>
                </a:solidFill>
              </a:rPr>
              <a:t>	Reguladores de tensão ajustáveis são dispositivos que permitem definir o valor da tensão de saída por meio de resistores externos ou ajuste interno.</a:t>
            </a:r>
          </a:p>
          <a:p>
            <a:pPr algn="just"/>
            <a:r>
              <a:rPr lang="pt-BR" dirty="0">
                <a:solidFill>
                  <a:schemeClr val="tx1"/>
                </a:solidFill>
              </a:rPr>
              <a:t>	Eles mantêm essa tensão estável mesmo com variações na entrada ou na carga conectada.</a:t>
            </a:r>
          </a:p>
          <a:p>
            <a:pPr algn="just"/>
            <a:r>
              <a:rPr lang="pt-BR" dirty="0">
                <a:solidFill>
                  <a:schemeClr val="tx1"/>
                </a:solidFill>
              </a:rPr>
              <a:t>	São muito utilizados quando é necessário flexibilidade no projeto ou diferentes níveis de tensão em um mesmo circuito.</a:t>
            </a:r>
          </a:p>
        </p:txBody>
      </p:sp>
      <p:pic>
        <p:nvPicPr>
          <p:cNvPr id="2" name="Imagem 1">
            <a:extLst>
              <a:ext uri="{FF2B5EF4-FFF2-40B4-BE49-F238E27FC236}">
                <a16:creationId xmlns:a16="http://schemas.microsoft.com/office/drawing/2014/main" id="{46E2F85E-492E-6193-3447-451242173806}"/>
              </a:ext>
            </a:extLst>
          </p:cNvPr>
          <p:cNvPicPr>
            <a:picLocks noChangeAspect="1"/>
          </p:cNvPicPr>
          <p:nvPr/>
        </p:nvPicPr>
        <p:blipFill rotWithShape="1">
          <a:blip r:embed="rId2"/>
          <a:srcRect l="9916" t="30889" r="57500" b="11778"/>
          <a:stretch/>
        </p:blipFill>
        <p:spPr>
          <a:xfrm>
            <a:off x="4937760" y="2694790"/>
            <a:ext cx="4206240" cy="4163209"/>
          </a:xfrm>
          <a:prstGeom prst="rect">
            <a:avLst/>
          </a:prstGeom>
        </p:spPr>
      </p:pic>
      <p:pic>
        <p:nvPicPr>
          <p:cNvPr id="4" name="Imagem 3">
            <a:extLst>
              <a:ext uri="{FF2B5EF4-FFF2-40B4-BE49-F238E27FC236}">
                <a16:creationId xmlns:a16="http://schemas.microsoft.com/office/drawing/2014/main" id="{48CC4A23-410B-3E71-348F-94375ACAEE5D}"/>
              </a:ext>
            </a:extLst>
          </p:cNvPr>
          <p:cNvPicPr>
            <a:picLocks noChangeAspect="1"/>
          </p:cNvPicPr>
          <p:nvPr/>
        </p:nvPicPr>
        <p:blipFill rotWithShape="1">
          <a:blip r:embed="rId3"/>
          <a:srcRect l="49000" t="32074" r="29833" b="32826"/>
          <a:stretch/>
        </p:blipFill>
        <p:spPr>
          <a:xfrm>
            <a:off x="799885" y="3833644"/>
            <a:ext cx="2861570" cy="2669219"/>
          </a:xfrm>
          <a:prstGeom prst="rect">
            <a:avLst/>
          </a:prstGeom>
        </p:spPr>
      </p:pic>
      <p:sp>
        <p:nvSpPr>
          <p:cNvPr id="5" name="CaixaDeTexto 4">
            <a:extLst>
              <a:ext uri="{FF2B5EF4-FFF2-40B4-BE49-F238E27FC236}">
                <a16:creationId xmlns:a16="http://schemas.microsoft.com/office/drawing/2014/main" id="{7EAB3816-7151-080A-5CBB-CAE4AFB33185}"/>
              </a:ext>
            </a:extLst>
          </p:cNvPr>
          <p:cNvSpPr txBox="1"/>
          <p:nvPr/>
        </p:nvSpPr>
        <p:spPr>
          <a:xfrm>
            <a:off x="1815331" y="3084723"/>
            <a:ext cx="830677" cy="369332"/>
          </a:xfrm>
          <a:prstGeom prst="rect">
            <a:avLst/>
          </a:prstGeom>
          <a:noFill/>
        </p:spPr>
        <p:txBody>
          <a:bodyPr wrap="none" rtlCol="0">
            <a:spAutoFit/>
          </a:bodyPr>
          <a:lstStyle/>
          <a:p>
            <a:r>
              <a:rPr lang="pt-BR" b="1" dirty="0"/>
              <a:t>LM317</a:t>
            </a:r>
          </a:p>
        </p:txBody>
      </p:sp>
    </p:spTree>
    <p:extLst>
      <p:ext uri="{BB962C8B-B14F-4D97-AF65-F5344CB8AC3E}">
        <p14:creationId xmlns:p14="http://schemas.microsoft.com/office/powerpoint/2010/main" val="11411494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33868"/>
            <a:ext cx="9144000" cy="6801862"/>
          </a:xfrm>
          <a:prstGeom prst="rect">
            <a:avLst/>
          </a:prstGeom>
          <a:solidFill>
            <a:schemeClr val="bg1"/>
          </a:solid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800" b="1" dirty="0">
                <a:solidFill>
                  <a:schemeClr val="tx1"/>
                </a:solidFill>
              </a:rPr>
              <a:t>	III	Especificação</a:t>
            </a:r>
          </a:p>
          <a:p>
            <a:pPr algn="just"/>
            <a:endParaRPr lang="pt-BR" b="1" dirty="0">
              <a:solidFill>
                <a:schemeClr val="tx1"/>
              </a:solidFill>
            </a:endParaRPr>
          </a:p>
          <a:p>
            <a:pPr algn="just"/>
            <a:r>
              <a:rPr lang="pt-BR" dirty="0">
                <a:solidFill>
                  <a:schemeClr val="tx1"/>
                </a:solidFill>
              </a:rPr>
              <a:t>	Quando precisamos regular uma tensão precisamos respeitar algumas especificações, dentre elas, as principais são </a:t>
            </a:r>
            <a:r>
              <a:rPr lang="pt-BR" b="1" dirty="0">
                <a:solidFill>
                  <a:schemeClr val="tx1"/>
                </a:solidFill>
              </a:rPr>
              <a:t>(a)</a:t>
            </a:r>
            <a:r>
              <a:rPr lang="pt-BR" dirty="0">
                <a:solidFill>
                  <a:schemeClr val="tx1"/>
                </a:solidFill>
              </a:rPr>
              <a:t> tensão de saída, </a:t>
            </a:r>
            <a:r>
              <a:rPr lang="pt-BR" b="1" dirty="0">
                <a:solidFill>
                  <a:schemeClr val="tx1"/>
                </a:solidFill>
              </a:rPr>
              <a:t>(b)</a:t>
            </a:r>
            <a:r>
              <a:rPr lang="pt-BR" dirty="0">
                <a:solidFill>
                  <a:schemeClr val="tx1"/>
                </a:solidFill>
              </a:rPr>
              <a:t> tensão de entrada, </a:t>
            </a:r>
            <a:r>
              <a:rPr lang="pt-BR" b="1" dirty="0">
                <a:solidFill>
                  <a:schemeClr val="tx1"/>
                </a:solidFill>
              </a:rPr>
              <a:t>(c)</a:t>
            </a:r>
            <a:r>
              <a:rPr lang="pt-BR" dirty="0">
                <a:solidFill>
                  <a:schemeClr val="tx1"/>
                </a:solidFill>
              </a:rPr>
              <a:t> corrente de saída e </a:t>
            </a:r>
            <a:r>
              <a:rPr lang="pt-BR" b="1" dirty="0">
                <a:solidFill>
                  <a:schemeClr val="tx1"/>
                </a:solidFill>
              </a:rPr>
              <a:t>(d)</a:t>
            </a:r>
            <a:r>
              <a:rPr lang="pt-BR" dirty="0">
                <a:solidFill>
                  <a:schemeClr val="tx1"/>
                </a:solidFill>
              </a:rPr>
              <a:t> dissipação de calor.</a:t>
            </a:r>
          </a:p>
          <a:p>
            <a:pPr algn="just"/>
            <a:endParaRPr lang="pt-BR" sz="800" dirty="0">
              <a:solidFill>
                <a:schemeClr val="tx1"/>
              </a:solidFill>
            </a:endParaRPr>
          </a:p>
          <a:p>
            <a:pPr algn="just"/>
            <a:r>
              <a:rPr lang="pt-BR" b="1" dirty="0">
                <a:solidFill>
                  <a:schemeClr val="tx1"/>
                </a:solidFill>
              </a:rPr>
              <a:t>(a) </a:t>
            </a:r>
            <a:r>
              <a:rPr lang="pt-BR" dirty="0">
                <a:solidFill>
                  <a:schemeClr val="tx1"/>
                </a:solidFill>
              </a:rPr>
              <a:t>A tensão de saída refere-se ao valor de tensão que será fornecido pelo regulador, por exemplo, 5 V;</a:t>
            </a:r>
          </a:p>
          <a:p>
            <a:pPr algn="just"/>
            <a:endParaRPr lang="pt-BR" sz="800" dirty="0">
              <a:solidFill>
                <a:schemeClr val="tx1"/>
              </a:solidFill>
            </a:endParaRPr>
          </a:p>
          <a:p>
            <a:pPr algn="just"/>
            <a:r>
              <a:rPr lang="pt-BR" b="1" dirty="0">
                <a:solidFill>
                  <a:schemeClr val="tx1"/>
                </a:solidFill>
              </a:rPr>
              <a:t>(b) </a:t>
            </a:r>
            <a:r>
              <a:rPr lang="pt-BR" dirty="0">
                <a:solidFill>
                  <a:schemeClr val="tx1"/>
                </a:solidFill>
              </a:rPr>
              <a:t>A tensão de entrada, visto que, o regulador irá abaixar a tensão, é aquela aplicada ao regulador e deve ser maior que a tensão de saída. O quanto maior? Depende do regulador utilizado, cada regulador tem em sua especificação o valor mínimo da tensão de entrada, sendo que, reguladores que obtém a tensão de saída a partir de valores apenas ligeiramente maiores do que os de saída são chamados LDO (</a:t>
            </a:r>
            <a:r>
              <a:rPr lang="pt-BR" dirty="0" err="1">
                <a:solidFill>
                  <a:schemeClr val="tx1"/>
                </a:solidFill>
              </a:rPr>
              <a:t>Low</a:t>
            </a:r>
            <a:r>
              <a:rPr lang="pt-BR" dirty="0">
                <a:solidFill>
                  <a:schemeClr val="tx1"/>
                </a:solidFill>
              </a:rPr>
              <a:t> </a:t>
            </a:r>
            <a:r>
              <a:rPr lang="pt-BR" dirty="0" err="1">
                <a:solidFill>
                  <a:schemeClr val="tx1"/>
                </a:solidFill>
              </a:rPr>
              <a:t>Drop</a:t>
            </a:r>
            <a:r>
              <a:rPr lang="pt-BR" dirty="0">
                <a:solidFill>
                  <a:schemeClr val="tx1"/>
                </a:solidFill>
              </a:rPr>
              <a:t> </a:t>
            </a:r>
            <a:r>
              <a:rPr lang="pt-BR" dirty="0" err="1">
                <a:solidFill>
                  <a:schemeClr val="tx1"/>
                </a:solidFill>
              </a:rPr>
              <a:t>voltage</a:t>
            </a:r>
            <a:r>
              <a:rPr lang="pt-BR" dirty="0">
                <a:solidFill>
                  <a:schemeClr val="tx1"/>
                </a:solidFill>
              </a:rPr>
              <a:t> </a:t>
            </a:r>
            <a:r>
              <a:rPr lang="pt-BR" dirty="0" err="1">
                <a:solidFill>
                  <a:schemeClr val="tx1"/>
                </a:solidFill>
              </a:rPr>
              <a:t>regulator</a:t>
            </a:r>
            <a:r>
              <a:rPr lang="pt-BR" dirty="0">
                <a:solidFill>
                  <a:schemeClr val="tx1"/>
                </a:solidFill>
              </a:rPr>
              <a:t>), existem ainda os ULDO (Ultra </a:t>
            </a:r>
            <a:r>
              <a:rPr lang="pt-BR" dirty="0" err="1">
                <a:solidFill>
                  <a:schemeClr val="tx1"/>
                </a:solidFill>
              </a:rPr>
              <a:t>Low</a:t>
            </a:r>
            <a:r>
              <a:rPr lang="pt-BR" dirty="0">
                <a:solidFill>
                  <a:schemeClr val="tx1"/>
                </a:solidFill>
              </a:rPr>
              <a:t> </a:t>
            </a:r>
            <a:r>
              <a:rPr lang="pt-BR" dirty="0" err="1">
                <a:solidFill>
                  <a:schemeClr val="tx1"/>
                </a:solidFill>
              </a:rPr>
              <a:t>Drop</a:t>
            </a:r>
            <a:r>
              <a:rPr lang="pt-BR" dirty="0">
                <a:solidFill>
                  <a:schemeClr val="tx1"/>
                </a:solidFill>
              </a:rPr>
              <a:t> </a:t>
            </a:r>
            <a:r>
              <a:rPr lang="pt-BR" dirty="0" err="1">
                <a:solidFill>
                  <a:schemeClr val="tx1"/>
                </a:solidFill>
              </a:rPr>
              <a:t>voltage</a:t>
            </a:r>
            <a:r>
              <a:rPr lang="pt-BR" dirty="0">
                <a:solidFill>
                  <a:schemeClr val="tx1"/>
                </a:solidFill>
              </a:rPr>
              <a:t> </a:t>
            </a:r>
            <a:r>
              <a:rPr lang="pt-BR" dirty="0" err="1">
                <a:solidFill>
                  <a:schemeClr val="tx1"/>
                </a:solidFill>
              </a:rPr>
              <a:t>regulator</a:t>
            </a:r>
            <a:r>
              <a:rPr lang="pt-BR" dirty="0">
                <a:solidFill>
                  <a:schemeClr val="tx1"/>
                </a:solidFill>
              </a:rPr>
              <a:t>).</a:t>
            </a:r>
          </a:p>
          <a:p>
            <a:pPr algn="just"/>
            <a:endParaRPr lang="pt-BR" dirty="0">
              <a:solidFill>
                <a:schemeClr val="tx1"/>
              </a:solidFill>
            </a:endParaRPr>
          </a:p>
          <a:p>
            <a:pPr algn="just"/>
            <a:r>
              <a:rPr lang="pt-BR" b="1" dirty="0">
                <a:solidFill>
                  <a:schemeClr val="tx1"/>
                </a:solidFill>
              </a:rPr>
              <a:t>(c) </a:t>
            </a:r>
            <a:r>
              <a:rPr lang="pt-BR" dirty="0">
                <a:solidFill>
                  <a:schemeClr val="tx1"/>
                </a:solidFill>
              </a:rPr>
              <a:t>Corrente de saída é a corrente que o regulador é capaz de fornecer sem comprometer o valor da tensão da saída.</a:t>
            </a:r>
          </a:p>
          <a:p>
            <a:pPr algn="just"/>
            <a:endParaRPr lang="pt-BR" sz="800" dirty="0">
              <a:solidFill>
                <a:schemeClr val="tx1"/>
              </a:solidFill>
            </a:endParaRPr>
          </a:p>
          <a:p>
            <a:pPr algn="just"/>
            <a:r>
              <a:rPr lang="pt-BR" dirty="0">
                <a:solidFill>
                  <a:schemeClr val="tx1"/>
                </a:solidFill>
              </a:rPr>
              <a:t>Em conjunto, a tensão de saída e a corrente de saída definem a potência de saída do regulador:</a:t>
            </a:r>
          </a:p>
          <a:p>
            <a:pPr algn="just"/>
            <a:endParaRPr lang="pt-BR" sz="800" dirty="0">
              <a:solidFill>
                <a:schemeClr val="tx1"/>
              </a:solidFill>
            </a:endParaRPr>
          </a:p>
          <a:p>
            <a:pPr algn="just"/>
            <a:r>
              <a:rPr lang="pt-BR" dirty="0">
                <a:solidFill>
                  <a:schemeClr val="tx1"/>
                </a:solidFill>
              </a:rPr>
              <a:t>		P = V.I → P = 5V.1,5A = 7,5 W.</a:t>
            </a:r>
          </a:p>
          <a:p>
            <a:pPr algn="just"/>
            <a:endParaRPr lang="pt-BR" sz="800" dirty="0">
              <a:solidFill>
                <a:schemeClr val="tx1"/>
              </a:solidFill>
            </a:endParaRPr>
          </a:p>
          <a:p>
            <a:pPr algn="just"/>
            <a:r>
              <a:rPr lang="pt-BR" b="1" dirty="0">
                <a:solidFill>
                  <a:schemeClr val="tx1"/>
                </a:solidFill>
              </a:rPr>
              <a:t>(d) </a:t>
            </a:r>
            <a:r>
              <a:rPr lang="pt-BR" dirty="0">
                <a:solidFill>
                  <a:schemeClr val="tx1"/>
                </a:solidFill>
              </a:rPr>
              <a:t>Dissipação de calor: Reguladores são circuitos integrados, dentro deles vários componentes trabalham para a execução de sua função, estes componentes consomem energia, na forma de calor (devido ao efeito Joule) isto, por sua vez, faz com que o componente esquente sendo, muitas vezes necessário a utilização de dissipador de calor no CI.</a:t>
            </a:r>
          </a:p>
          <a:p>
            <a:pPr algn="just"/>
            <a:endParaRPr lang="pt-BR" sz="800" dirty="0">
              <a:solidFill>
                <a:schemeClr val="tx1"/>
              </a:solidFill>
            </a:endParaRPr>
          </a:p>
          <a:p>
            <a:pPr algn="just"/>
            <a:endParaRPr lang="pt-BR" dirty="0">
              <a:solidFill>
                <a:schemeClr val="tx1"/>
              </a:solidFill>
            </a:endParaRPr>
          </a:p>
        </p:txBody>
      </p:sp>
    </p:spTree>
    <p:extLst>
      <p:ext uri="{BB962C8B-B14F-4D97-AF65-F5344CB8AC3E}">
        <p14:creationId xmlns:p14="http://schemas.microsoft.com/office/powerpoint/2010/main" val="11077854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rotWithShape="1">
          <a:blip r:embed="rId2"/>
          <a:srcRect l="15971" t="24348" r="35680" b="5836"/>
          <a:stretch/>
        </p:blipFill>
        <p:spPr>
          <a:xfrm>
            <a:off x="0" y="67301"/>
            <a:ext cx="8351520" cy="6783513"/>
          </a:xfrm>
          <a:prstGeom prst="rect">
            <a:avLst/>
          </a:prstGeom>
        </p:spPr>
      </p:pic>
      <p:sp>
        <p:nvSpPr>
          <p:cNvPr id="3" name="Retângulo 2"/>
          <p:cNvSpPr/>
          <p:nvPr/>
        </p:nvSpPr>
        <p:spPr>
          <a:xfrm>
            <a:off x="8342811" y="182880"/>
            <a:ext cx="583474" cy="9144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4" name="Retângulo 3"/>
          <p:cNvSpPr/>
          <p:nvPr/>
        </p:nvSpPr>
        <p:spPr>
          <a:xfrm>
            <a:off x="8334101" y="5673634"/>
            <a:ext cx="801189" cy="9144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533813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74769"/>
            <a:ext cx="9144000" cy="2123658"/>
          </a:xfrm>
          <a:prstGeom prst="rect">
            <a:avLst/>
          </a:prstGeom>
          <a:solidFill>
            <a:schemeClr val="bg1"/>
          </a:solid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800" b="1" dirty="0">
                <a:solidFill>
                  <a:schemeClr val="tx1"/>
                </a:solidFill>
              </a:rPr>
              <a:t>	IV	Reguladores Especiais</a:t>
            </a:r>
          </a:p>
          <a:p>
            <a:pPr algn="just"/>
            <a:endParaRPr lang="pt-BR" sz="800" b="1" dirty="0">
              <a:solidFill>
                <a:schemeClr val="tx1"/>
              </a:solidFill>
            </a:endParaRPr>
          </a:p>
          <a:p>
            <a:pPr algn="just"/>
            <a:r>
              <a:rPr lang="pt-BR" b="1" dirty="0">
                <a:solidFill>
                  <a:schemeClr val="tx1"/>
                </a:solidFill>
              </a:rPr>
              <a:t>	</a:t>
            </a:r>
            <a:r>
              <a:rPr lang="pt-BR" dirty="0">
                <a:solidFill>
                  <a:schemeClr val="tx1"/>
                </a:solidFill>
              </a:rPr>
              <a:t>Existe no mercado reguladores com características variadas, consideremos alguns destes reguladores:</a:t>
            </a:r>
          </a:p>
          <a:p>
            <a:pPr algn="just"/>
            <a:endParaRPr lang="pt-BR" dirty="0">
              <a:solidFill>
                <a:schemeClr val="tx1"/>
              </a:solidFill>
            </a:endParaRPr>
          </a:p>
          <a:p>
            <a:pPr algn="just"/>
            <a:r>
              <a:rPr lang="pt-BR" b="1" dirty="0">
                <a:solidFill>
                  <a:schemeClr val="tx1"/>
                </a:solidFill>
              </a:rPr>
              <a:t>(a)</a:t>
            </a:r>
            <a:r>
              <a:rPr lang="pt-BR" dirty="0">
                <a:solidFill>
                  <a:schemeClr val="tx1"/>
                </a:solidFill>
              </a:rPr>
              <a:t>	</a:t>
            </a:r>
            <a:r>
              <a:rPr lang="pt-BR" b="1" dirty="0">
                <a:solidFill>
                  <a:schemeClr val="tx1"/>
                </a:solidFill>
              </a:rPr>
              <a:t>LM338k: </a:t>
            </a:r>
            <a:r>
              <a:rPr lang="pt-BR" dirty="0">
                <a:solidFill>
                  <a:schemeClr val="tx1"/>
                </a:solidFill>
              </a:rPr>
              <a:t>Trata-se de um regulador linear ajustável com tensão de saída entre 1,2 V e 32 V, sua corrente de saída em regime constante é de 5 A suportando pico de corrente de saída de 7 A.</a:t>
            </a:r>
          </a:p>
        </p:txBody>
      </p:sp>
      <p:pic>
        <p:nvPicPr>
          <p:cNvPr id="3" name="Imagem 2"/>
          <p:cNvPicPr>
            <a:picLocks noChangeAspect="1"/>
          </p:cNvPicPr>
          <p:nvPr/>
        </p:nvPicPr>
        <p:blipFill rotWithShape="1">
          <a:blip r:embed="rId2" cstate="email">
            <a:extLst>
              <a:ext uri="{28A0092B-C50C-407E-A947-70E740481C1C}">
                <a14:useLocalDpi xmlns:a14="http://schemas.microsoft.com/office/drawing/2010/main" val="0"/>
              </a:ext>
            </a:extLst>
          </a:blip>
          <a:srcRect l="8083" t="25842" r="9630" b="22817"/>
          <a:stretch/>
        </p:blipFill>
        <p:spPr>
          <a:xfrm>
            <a:off x="97049" y="2402448"/>
            <a:ext cx="2011681" cy="1255151"/>
          </a:xfrm>
          <a:prstGeom prst="rect">
            <a:avLst/>
          </a:prstGeom>
        </p:spPr>
      </p:pic>
      <p:pic>
        <p:nvPicPr>
          <p:cNvPr id="4" name="Imagem 3"/>
          <p:cNvPicPr>
            <a:picLocks noChangeAspect="1"/>
          </p:cNvPicPr>
          <p:nvPr/>
        </p:nvPicPr>
        <p:blipFill rotWithShape="1">
          <a:blip r:embed="rId3"/>
          <a:srcRect l="55486" t="43764" r="34951" b="22147"/>
          <a:stretch/>
        </p:blipFill>
        <p:spPr>
          <a:xfrm>
            <a:off x="2860586" y="2153963"/>
            <a:ext cx="1435224" cy="2877734"/>
          </a:xfrm>
          <a:prstGeom prst="rect">
            <a:avLst/>
          </a:prstGeom>
        </p:spPr>
      </p:pic>
      <p:pic>
        <p:nvPicPr>
          <p:cNvPr id="5" name="Imagem 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7048" y="3762102"/>
            <a:ext cx="2011681" cy="1504230"/>
          </a:xfrm>
          <a:prstGeom prst="rect">
            <a:avLst/>
          </a:prstGeom>
        </p:spPr>
      </p:pic>
      <p:pic>
        <p:nvPicPr>
          <p:cNvPr id="6" name="Imagem 5"/>
          <p:cNvPicPr>
            <a:picLocks noChangeAspect="1"/>
          </p:cNvPicPr>
          <p:nvPr/>
        </p:nvPicPr>
        <p:blipFill rotWithShape="1">
          <a:blip r:embed="rId5"/>
          <a:srcRect l="25389" t="18910" r="52378" b="34143"/>
          <a:stretch/>
        </p:blipFill>
        <p:spPr>
          <a:xfrm>
            <a:off x="5269118" y="2255520"/>
            <a:ext cx="3874882" cy="4602480"/>
          </a:xfrm>
          <a:prstGeom prst="rect">
            <a:avLst/>
          </a:prstGeom>
        </p:spPr>
      </p:pic>
    </p:spTree>
    <p:extLst>
      <p:ext uri="{BB962C8B-B14F-4D97-AF65-F5344CB8AC3E}">
        <p14:creationId xmlns:p14="http://schemas.microsoft.com/office/powerpoint/2010/main" val="17209655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5">
            <a:extLst>
              <a:ext uri="{FF2B5EF4-FFF2-40B4-BE49-F238E27FC236}">
                <a16:creationId xmlns:a16="http://schemas.microsoft.com/office/drawing/2014/main" id="{34A3690D-61DB-4241-5C0A-D87A72F876B2}"/>
              </a:ext>
            </a:extLst>
          </p:cNvPr>
          <p:cNvSpPr>
            <a:spLocks noChangeArrowheads="1"/>
          </p:cNvSpPr>
          <p:nvPr/>
        </p:nvSpPr>
        <p:spPr bwMode="auto">
          <a:xfrm>
            <a:off x="0" y="876100"/>
            <a:ext cx="9144000" cy="830997"/>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dirty="0">
                <a:solidFill>
                  <a:schemeClr val="tx1"/>
                </a:solidFill>
              </a:rPr>
              <a:t>	</a:t>
            </a:r>
            <a:r>
              <a:rPr lang="pt-BR" b="1" dirty="0">
                <a:solidFill>
                  <a:schemeClr val="tx1"/>
                </a:solidFill>
              </a:rPr>
              <a:t> (b)	LM350T: </a:t>
            </a:r>
            <a:r>
              <a:rPr lang="pt-BR" dirty="0">
                <a:solidFill>
                  <a:schemeClr val="tx1"/>
                </a:solidFill>
              </a:rPr>
              <a:t>Trata-se de um regulador linear ajustável com tensão de saída entre 1,2 V e 32 V, sua corrente de saída em regime constante é de 3 A suportando pico de corrente de saída apenas um pouco maior do que isso</a:t>
            </a:r>
          </a:p>
        </p:txBody>
      </p:sp>
      <p:pic>
        <p:nvPicPr>
          <p:cNvPr id="5" name="Imagem 4">
            <a:extLst>
              <a:ext uri="{FF2B5EF4-FFF2-40B4-BE49-F238E27FC236}">
                <a16:creationId xmlns:a16="http://schemas.microsoft.com/office/drawing/2014/main" id="{702CBBDB-732E-CCD7-AB8E-4DC3C2822BA4}"/>
              </a:ext>
            </a:extLst>
          </p:cNvPr>
          <p:cNvPicPr>
            <a:picLocks noChangeAspect="1"/>
          </p:cNvPicPr>
          <p:nvPr/>
        </p:nvPicPr>
        <p:blipFill>
          <a:blip r:embed="rId2"/>
          <a:stretch>
            <a:fillRect/>
          </a:stretch>
        </p:blipFill>
        <p:spPr>
          <a:xfrm>
            <a:off x="3483632" y="2656703"/>
            <a:ext cx="5660368" cy="4201297"/>
          </a:xfrm>
          <a:prstGeom prst="rect">
            <a:avLst/>
          </a:prstGeom>
        </p:spPr>
      </p:pic>
      <p:pic>
        <p:nvPicPr>
          <p:cNvPr id="7" name="Imagem 6">
            <a:extLst>
              <a:ext uri="{FF2B5EF4-FFF2-40B4-BE49-F238E27FC236}">
                <a16:creationId xmlns:a16="http://schemas.microsoft.com/office/drawing/2014/main" id="{7E2CF6E5-71F3-5F25-CFF0-636F8FCB873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rot="18867814">
            <a:off x="617015" y="2889094"/>
            <a:ext cx="2409877" cy="1514780"/>
          </a:xfrm>
          <a:prstGeom prst="rect">
            <a:avLst/>
          </a:prstGeom>
        </p:spPr>
      </p:pic>
    </p:spTree>
    <p:extLst>
      <p:ext uri="{BB962C8B-B14F-4D97-AF65-F5344CB8AC3E}">
        <p14:creationId xmlns:p14="http://schemas.microsoft.com/office/powerpoint/2010/main" val="1334589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70856"/>
            <a:ext cx="9144000" cy="584775"/>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b="1" dirty="0">
                <a:solidFill>
                  <a:schemeClr val="tx1"/>
                </a:solidFill>
              </a:rPr>
              <a:t>	(c)</a:t>
            </a:r>
            <a:r>
              <a:rPr lang="pt-BR" dirty="0">
                <a:solidFill>
                  <a:schemeClr val="tx1"/>
                </a:solidFill>
              </a:rPr>
              <a:t>	</a:t>
            </a:r>
            <a:r>
              <a:rPr lang="pt-BR" b="1" dirty="0">
                <a:solidFill>
                  <a:schemeClr val="tx1"/>
                </a:solidFill>
              </a:rPr>
              <a:t>TL783C: </a:t>
            </a:r>
            <a:r>
              <a:rPr lang="pt-BR" dirty="0">
                <a:solidFill>
                  <a:schemeClr val="tx1"/>
                </a:solidFill>
              </a:rPr>
              <a:t>Trata-se de um regulador ajustável com tensão de saída entre 1,2 V e 125 V, sua corrente de saída em regime constante é de 700 mA.</a:t>
            </a:r>
          </a:p>
        </p:txBody>
      </p:sp>
      <p:pic>
        <p:nvPicPr>
          <p:cNvPr id="3" name="Imagem 2"/>
          <p:cNvPicPr>
            <a:picLocks noChangeAspect="1"/>
          </p:cNvPicPr>
          <p:nvPr/>
        </p:nvPicPr>
        <p:blipFill rotWithShape="1">
          <a:blip r:embed="rId2"/>
          <a:srcRect l="54467" t="32373" r="28689" b="34833"/>
          <a:stretch/>
        </p:blipFill>
        <p:spPr>
          <a:xfrm>
            <a:off x="1626645" y="2773976"/>
            <a:ext cx="2398766" cy="2626891"/>
          </a:xfrm>
          <a:prstGeom prst="rect">
            <a:avLst/>
          </a:prstGeom>
        </p:spPr>
      </p:pic>
      <p:pic>
        <p:nvPicPr>
          <p:cNvPr id="4" name="Imagem 3"/>
          <p:cNvPicPr>
            <a:picLocks noChangeAspect="1"/>
          </p:cNvPicPr>
          <p:nvPr/>
        </p:nvPicPr>
        <p:blipFill rotWithShape="1">
          <a:blip r:embed="rId3" cstate="email">
            <a:extLst>
              <a:ext uri="{28A0092B-C50C-407E-A947-70E740481C1C}">
                <a14:useLocalDpi xmlns:a14="http://schemas.microsoft.com/office/drawing/2010/main" val="0"/>
              </a:ext>
            </a:extLst>
          </a:blip>
          <a:srcRect l="25398" t="4180" r="15590" b="7205"/>
          <a:stretch/>
        </p:blipFill>
        <p:spPr>
          <a:xfrm>
            <a:off x="399972" y="2773976"/>
            <a:ext cx="753090" cy="1336470"/>
          </a:xfrm>
          <a:prstGeom prst="rect">
            <a:avLst/>
          </a:prstGeom>
        </p:spPr>
      </p:pic>
      <p:pic>
        <p:nvPicPr>
          <p:cNvPr id="5" name="Imagem 4"/>
          <p:cNvPicPr>
            <a:picLocks noChangeAspect="1"/>
          </p:cNvPicPr>
          <p:nvPr/>
        </p:nvPicPr>
        <p:blipFill rotWithShape="1">
          <a:blip r:embed="rId4"/>
          <a:srcRect l="20582" t="29698" r="42864" b="30690"/>
          <a:stretch/>
        </p:blipFill>
        <p:spPr>
          <a:xfrm>
            <a:off x="4184680" y="2773976"/>
            <a:ext cx="4935538" cy="3008516"/>
          </a:xfrm>
          <a:prstGeom prst="rect">
            <a:avLst/>
          </a:prstGeom>
        </p:spPr>
      </p:pic>
    </p:spTree>
    <p:extLst>
      <p:ext uri="{BB962C8B-B14F-4D97-AF65-F5344CB8AC3E}">
        <p14:creationId xmlns:p14="http://schemas.microsoft.com/office/powerpoint/2010/main" val="1117301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747286"/>
            <a:ext cx="9144000" cy="1877437"/>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800" b="1" dirty="0">
                <a:solidFill>
                  <a:schemeClr val="tx1"/>
                </a:solidFill>
              </a:rPr>
              <a:t>	V	Circuitos Aprimorados</a:t>
            </a:r>
          </a:p>
          <a:p>
            <a:pPr algn="just"/>
            <a:endParaRPr lang="pt-BR" sz="800" b="1" dirty="0">
              <a:solidFill>
                <a:schemeClr val="tx1"/>
              </a:solidFill>
            </a:endParaRPr>
          </a:p>
          <a:p>
            <a:pPr algn="just"/>
            <a:r>
              <a:rPr lang="pt-BR" b="1" dirty="0">
                <a:solidFill>
                  <a:schemeClr val="tx1"/>
                </a:solidFill>
              </a:rPr>
              <a:t>	</a:t>
            </a:r>
            <a:r>
              <a:rPr lang="pt-BR" dirty="0">
                <a:solidFill>
                  <a:schemeClr val="tx1"/>
                </a:solidFill>
              </a:rPr>
              <a:t>Os circuitos de aplicação típicos apresentados nos slides anteriores, foram circuitos com o mínimo de componentes para o seu funcionamento. Este circuitos podem ser aprimorados com componentes adicionais, vejamos para o LM7805.</a:t>
            </a:r>
          </a:p>
          <a:p>
            <a:pPr algn="just"/>
            <a:endParaRPr lang="pt-BR" dirty="0">
              <a:solidFill>
                <a:schemeClr val="tx1"/>
              </a:solidFill>
            </a:endParaRPr>
          </a:p>
          <a:p>
            <a:pPr algn="just"/>
            <a:r>
              <a:rPr lang="pt-BR" b="1" dirty="0">
                <a:solidFill>
                  <a:schemeClr val="tx1"/>
                </a:solidFill>
              </a:rPr>
              <a:t>a)</a:t>
            </a:r>
            <a:r>
              <a:rPr lang="pt-BR" dirty="0">
                <a:solidFill>
                  <a:schemeClr val="tx1"/>
                </a:solidFill>
              </a:rPr>
              <a:t>	Regulador de tensão de alta corrente:</a:t>
            </a:r>
          </a:p>
        </p:txBody>
      </p:sp>
      <p:pic>
        <p:nvPicPr>
          <p:cNvPr id="3" name="Imagem 2"/>
          <p:cNvPicPr>
            <a:picLocks noChangeAspect="1"/>
          </p:cNvPicPr>
          <p:nvPr/>
        </p:nvPicPr>
        <p:blipFill rotWithShape="1">
          <a:blip r:embed="rId2"/>
          <a:srcRect l="28349" t="32632" r="29029" b="34401"/>
          <a:stretch/>
        </p:blipFill>
        <p:spPr>
          <a:xfrm>
            <a:off x="0" y="3106325"/>
            <a:ext cx="6101751" cy="2654749"/>
          </a:xfrm>
          <a:prstGeom prst="rect">
            <a:avLst/>
          </a:prstGeom>
        </p:spPr>
      </p:pic>
    </p:spTree>
    <p:extLst>
      <p:ext uri="{BB962C8B-B14F-4D97-AF65-F5344CB8AC3E}">
        <p14:creationId xmlns:p14="http://schemas.microsoft.com/office/powerpoint/2010/main" val="2785751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70856"/>
            <a:ext cx="9144000" cy="338554"/>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b="1" dirty="0">
                <a:solidFill>
                  <a:schemeClr val="tx1"/>
                </a:solidFill>
              </a:rPr>
              <a:t>	b)</a:t>
            </a:r>
            <a:r>
              <a:rPr lang="pt-BR" dirty="0">
                <a:solidFill>
                  <a:schemeClr val="tx1"/>
                </a:solidFill>
              </a:rPr>
              <a:t>	Regulador de tensão de alta corrente com proteção contra curto na saída:</a:t>
            </a:r>
          </a:p>
        </p:txBody>
      </p:sp>
      <p:pic>
        <p:nvPicPr>
          <p:cNvPr id="3" name="Imagem 2"/>
          <p:cNvPicPr>
            <a:picLocks noChangeAspect="1"/>
          </p:cNvPicPr>
          <p:nvPr/>
        </p:nvPicPr>
        <p:blipFill rotWithShape="1">
          <a:blip r:embed="rId2"/>
          <a:srcRect l="28167" t="30001" r="26667" b="31481"/>
          <a:stretch/>
        </p:blipFill>
        <p:spPr>
          <a:xfrm>
            <a:off x="0" y="1846233"/>
            <a:ext cx="7071360" cy="3392165"/>
          </a:xfrm>
          <a:prstGeom prst="rect">
            <a:avLst/>
          </a:prstGeom>
        </p:spPr>
      </p:pic>
    </p:spTree>
    <p:extLst>
      <p:ext uri="{BB962C8B-B14F-4D97-AF65-F5344CB8AC3E}">
        <p14:creationId xmlns:p14="http://schemas.microsoft.com/office/powerpoint/2010/main" val="6629254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70856"/>
            <a:ext cx="9144000" cy="584775"/>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b="1" dirty="0">
                <a:solidFill>
                  <a:schemeClr val="tx1"/>
                </a:solidFill>
              </a:rPr>
              <a:t>	c)</a:t>
            </a:r>
            <a:r>
              <a:rPr lang="pt-BR" dirty="0">
                <a:solidFill>
                  <a:schemeClr val="tx1"/>
                </a:solidFill>
              </a:rPr>
              <a:t>	Diodo de proteção para corrente reversa em regulador com grande capacitor de saída:</a:t>
            </a:r>
          </a:p>
        </p:txBody>
      </p:sp>
      <p:pic>
        <p:nvPicPr>
          <p:cNvPr id="3" name="Imagem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8185" y="1689310"/>
            <a:ext cx="5223526" cy="3400849"/>
          </a:xfrm>
          <a:prstGeom prst="rect">
            <a:avLst/>
          </a:prstGeom>
        </p:spPr>
      </p:pic>
    </p:spTree>
    <p:extLst>
      <p:ext uri="{BB962C8B-B14F-4D97-AF65-F5344CB8AC3E}">
        <p14:creationId xmlns:p14="http://schemas.microsoft.com/office/powerpoint/2010/main" val="22449846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870856"/>
            <a:ext cx="9144000" cy="2800767"/>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b="1" dirty="0">
                <a:solidFill>
                  <a:schemeClr val="tx1"/>
                </a:solidFill>
              </a:rPr>
              <a:t>	Reguladores de tensão como fontes de corrente:</a:t>
            </a:r>
            <a:r>
              <a:rPr lang="pt-BR" dirty="0">
                <a:solidFill>
                  <a:schemeClr val="tx1"/>
                </a:solidFill>
              </a:rPr>
              <a:t> Os reguladores de tensão podem ser montados como fontes de corrente. Fontes de correntes mantém a corrente no circuito constante, dentro de certos limites, assim como as fontes de tensão mantem a tensão constante. Fontes de correntes podem ser usadas para acionamento de LEDs, o que torna seu acionamento mais eficiente que aquele oferecido por fontes de tensão. Diversos tipos de sensores funcionam modificando sua corrente de saída em função da intensidade do parâmetro de entrada ao qual eles são sensíveis, assim, para determinar o valor da grandeza medida é preciso comparar a corrente de saída do sensor com uma corrente conhecida e confiável, ou seja, a corrente de uma fonte de corrente.</a:t>
            </a:r>
          </a:p>
          <a:p>
            <a:pPr algn="just"/>
            <a:r>
              <a:rPr lang="pt-BR" dirty="0">
                <a:solidFill>
                  <a:schemeClr val="tx1"/>
                </a:solidFill>
              </a:rPr>
              <a:t>	A figura seguinte apresenta o arranjo de um LM317, regulador de tensão ajustável, como uma fonte de corrente ajustável.</a:t>
            </a:r>
          </a:p>
        </p:txBody>
      </p:sp>
      <p:pic>
        <p:nvPicPr>
          <p:cNvPr id="4" name="Imagem 3"/>
          <p:cNvPicPr>
            <a:picLocks noChangeAspect="1"/>
          </p:cNvPicPr>
          <p:nvPr/>
        </p:nvPicPr>
        <p:blipFill rotWithShape="1">
          <a:blip r:embed="rId2" cstate="email">
            <a:extLst>
              <a:ext uri="{28A0092B-C50C-407E-A947-70E740481C1C}">
                <a14:useLocalDpi xmlns:a14="http://schemas.microsoft.com/office/drawing/2010/main" val="0"/>
              </a:ext>
            </a:extLst>
          </a:blip>
          <a:srcRect b="47418"/>
          <a:stretch/>
        </p:blipFill>
        <p:spPr>
          <a:xfrm>
            <a:off x="0" y="4218432"/>
            <a:ext cx="4782312" cy="1862328"/>
          </a:xfrm>
          <a:prstGeom prst="rect">
            <a:avLst/>
          </a:prstGeom>
        </p:spPr>
      </p:pic>
      <p:pic>
        <p:nvPicPr>
          <p:cNvPr id="5" name="Imagem 4"/>
          <p:cNvPicPr>
            <a:picLocks noChangeAspect="1"/>
          </p:cNvPicPr>
          <p:nvPr/>
        </p:nvPicPr>
        <p:blipFill rotWithShape="1">
          <a:blip r:embed="rId2" cstate="email">
            <a:extLst>
              <a:ext uri="{28A0092B-C50C-407E-A947-70E740481C1C}">
                <a14:useLocalDpi xmlns:a14="http://schemas.microsoft.com/office/drawing/2010/main" val="0"/>
              </a:ext>
            </a:extLst>
          </a:blip>
          <a:srcRect l="30560" t="53012" r="22913"/>
          <a:stretch/>
        </p:blipFill>
        <p:spPr>
          <a:xfrm>
            <a:off x="5730240" y="3671623"/>
            <a:ext cx="2225040" cy="1664208"/>
          </a:xfrm>
          <a:prstGeom prst="rect">
            <a:avLst/>
          </a:prstGeom>
        </p:spPr>
      </p:pic>
    </p:spTree>
    <p:extLst>
      <p:ext uri="{BB962C8B-B14F-4D97-AF65-F5344CB8AC3E}">
        <p14:creationId xmlns:p14="http://schemas.microsoft.com/office/powerpoint/2010/main" val="18494738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0" y="747286"/>
            <a:ext cx="9144000" cy="523220"/>
          </a:xfrm>
          <a:prstGeom prst="rect">
            <a:avLst/>
          </a:prstGeom>
          <a:noFill/>
          <a:ln w="9525">
            <a:noFill/>
            <a:miter lim="800000"/>
            <a:headEnd/>
            <a:tailEnd/>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a:r>
              <a:rPr lang="pt-BR" sz="2800" b="1" dirty="0">
                <a:solidFill>
                  <a:schemeClr val="tx1"/>
                </a:solidFill>
              </a:rPr>
              <a:t>	VI	Regulador de Tensão Chaveado: XL4015 </a:t>
            </a:r>
            <a:endParaRPr lang="pt-BR" sz="2800" dirty="0">
              <a:solidFill>
                <a:schemeClr val="tx1"/>
              </a:solidFill>
            </a:endParaRPr>
          </a:p>
        </p:txBody>
      </p:sp>
      <p:pic>
        <p:nvPicPr>
          <p:cNvPr id="3" name="Imagem 2"/>
          <p:cNvPicPr>
            <a:picLocks noChangeAspect="1"/>
          </p:cNvPicPr>
          <p:nvPr/>
        </p:nvPicPr>
        <p:blipFill rotWithShape="1">
          <a:blip r:embed="rId2"/>
          <a:srcRect l="9078" t="19083" r="28398" b="6612"/>
          <a:stretch/>
        </p:blipFill>
        <p:spPr>
          <a:xfrm>
            <a:off x="0" y="1597689"/>
            <a:ext cx="7475167" cy="4996987"/>
          </a:xfrm>
          <a:prstGeom prst="rect">
            <a:avLst/>
          </a:prstGeom>
        </p:spPr>
      </p:pic>
      <p:pic>
        <p:nvPicPr>
          <p:cNvPr id="4" name="Imagem 3"/>
          <p:cNvPicPr>
            <a:picLocks noChangeAspect="1"/>
          </p:cNvPicPr>
          <p:nvPr/>
        </p:nvPicPr>
        <p:blipFill rotWithShape="1">
          <a:blip r:embed="rId3"/>
          <a:srcRect l="9223" t="76214" r="59563" b="7130"/>
          <a:stretch/>
        </p:blipFill>
        <p:spPr>
          <a:xfrm>
            <a:off x="17418" y="5616965"/>
            <a:ext cx="3477426" cy="1043769"/>
          </a:xfrm>
          <a:prstGeom prst="rect">
            <a:avLst/>
          </a:prstGeom>
        </p:spPr>
      </p:pic>
      <p:pic>
        <p:nvPicPr>
          <p:cNvPr id="5" name="Imagem 4"/>
          <p:cNvPicPr>
            <a:picLocks noChangeAspect="1"/>
          </p:cNvPicPr>
          <p:nvPr/>
        </p:nvPicPr>
        <p:blipFill rotWithShape="1">
          <a:blip r:embed="rId4"/>
          <a:srcRect l="35582" t="62147" r="54712" b="18867"/>
          <a:stretch/>
        </p:blipFill>
        <p:spPr>
          <a:xfrm>
            <a:off x="7733212" y="2088976"/>
            <a:ext cx="1263250" cy="1389972"/>
          </a:xfrm>
          <a:prstGeom prst="rect">
            <a:avLst/>
          </a:prstGeom>
        </p:spPr>
      </p:pic>
      <p:pic>
        <p:nvPicPr>
          <p:cNvPr id="6" name="Imagem 5"/>
          <p:cNvPicPr>
            <a:picLocks noChangeAspect="1"/>
          </p:cNvPicPr>
          <p:nvPr/>
        </p:nvPicPr>
        <p:blipFill rotWithShape="1">
          <a:blip r:embed="rId5" cstate="email">
            <a:extLst>
              <a:ext uri="{28A0092B-C50C-407E-A947-70E740481C1C}">
                <a14:useLocalDpi xmlns:a14="http://schemas.microsoft.com/office/drawing/2010/main" val="0"/>
              </a:ext>
            </a:extLst>
          </a:blip>
          <a:srcRect l="23422" t="19507" r="29446" b="29115"/>
          <a:stretch/>
        </p:blipFill>
        <p:spPr>
          <a:xfrm>
            <a:off x="7855131" y="3898989"/>
            <a:ext cx="1010193" cy="964620"/>
          </a:xfrm>
          <a:prstGeom prst="rect">
            <a:avLst/>
          </a:prstGeom>
        </p:spPr>
      </p:pic>
    </p:spTree>
    <p:extLst>
      <p:ext uri="{BB962C8B-B14F-4D97-AF65-F5344CB8AC3E}">
        <p14:creationId xmlns:p14="http://schemas.microsoft.com/office/powerpoint/2010/main" val="4286101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rotWithShape="1">
          <a:blip r:embed="rId2"/>
          <a:srcRect l="30048" t="30302" r="48447" b="43463"/>
          <a:stretch/>
        </p:blipFill>
        <p:spPr>
          <a:xfrm rot="5400000">
            <a:off x="-84954" y="1755859"/>
            <a:ext cx="2088492" cy="1433186"/>
          </a:xfrm>
          <a:prstGeom prst="rect">
            <a:avLst/>
          </a:prstGeom>
        </p:spPr>
      </p:pic>
      <p:pic>
        <p:nvPicPr>
          <p:cNvPr id="3" name="Imagem 2"/>
          <p:cNvPicPr>
            <a:picLocks noChangeAspect="1"/>
          </p:cNvPicPr>
          <p:nvPr/>
        </p:nvPicPr>
        <p:blipFill rotWithShape="1">
          <a:blip r:embed="rId3"/>
          <a:srcRect l="10583" t="19342" r="29272" b="23787"/>
          <a:stretch/>
        </p:blipFill>
        <p:spPr>
          <a:xfrm>
            <a:off x="2309871" y="2394858"/>
            <a:ext cx="6834129" cy="3634940"/>
          </a:xfrm>
          <a:prstGeom prst="rect">
            <a:avLst/>
          </a:prstGeom>
        </p:spPr>
      </p:pic>
    </p:spTree>
    <p:extLst>
      <p:ext uri="{BB962C8B-B14F-4D97-AF65-F5344CB8AC3E}">
        <p14:creationId xmlns:p14="http://schemas.microsoft.com/office/powerpoint/2010/main" val="3913495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p:cNvPicPr>
            <a:picLocks noChangeAspect="1"/>
          </p:cNvPicPr>
          <p:nvPr/>
        </p:nvPicPr>
        <p:blipFill rotWithShape="1">
          <a:blip r:embed="rId2"/>
          <a:srcRect l="30048" t="30302" r="48447" b="43463"/>
          <a:stretch/>
        </p:blipFill>
        <p:spPr>
          <a:xfrm rot="5400000">
            <a:off x="-250417" y="440865"/>
            <a:ext cx="2088492" cy="1433186"/>
          </a:xfrm>
          <a:prstGeom prst="rect">
            <a:avLst/>
          </a:prstGeom>
        </p:spPr>
      </p:pic>
      <p:pic>
        <p:nvPicPr>
          <p:cNvPr id="3" name="Imagem 2"/>
          <p:cNvPicPr>
            <a:picLocks noChangeAspect="1"/>
          </p:cNvPicPr>
          <p:nvPr/>
        </p:nvPicPr>
        <p:blipFill rotWithShape="1">
          <a:blip r:embed="rId3"/>
          <a:srcRect l="12379" t="31510" r="31893" b="18177"/>
          <a:stretch/>
        </p:blipFill>
        <p:spPr>
          <a:xfrm>
            <a:off x="1347367" y="2037806"/>
            <a:ext cx="7796633" cy="3959441"/>
          </a:xfrm>
          <a:prstGeom prst="rect">
            <a:avLst/>
          </a:prstGeom>
        </p:spPr>
      </p:pic>
    </p:spTree>
    <p:extLst>
      <p:ext uri="{BB962C8B-B14F-4D97-AF65-F5344CB8AC3E}">
        <p14:creationId xmlns:p14="http://schemas.microsoft.com/office/powerpoint/2010/main" val="33669290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p:cNvPicPr>
            <a:picLocks noChangeAspect="1"/>
          </p:cNvPicPr>
          <p:nvPr/>
        </p:nvPicPr>
        <p:blipFill rotWithShape="1">
          <a:blip r:embed="rId2"/>
          <a:srcRect l="12330" t="43161" r="32573" b="6008"/>
          <a:stretch/>
        </p:blipFill>
        <p:spPr>
          <a:xfrm>
            <a:off x="1357444" y="2037806"/>
            <a:ext cx="7786556" cy="4040777"/>
          </a:xfrm>
          <a:prstGeom prst="rect">
            <a:avLst/>
          </a:prstGeom>
        </p:spPr>
      </p:pic>
      <p:pic>
        <p:nvPicPr>
          <p:cNvPr id="6" name="Imagem 5"/>
          <p:cNvPicPr>
            <a:picLocks noChangeAspect="1"/>
          </p:cNvPicPr>
          <p:nvPr/>
        </p:nvPicPr>
        <p:blipFill rotWithShape="1">
          <a:blip r:embed="rId3"/>
          <a:srcRect l="30048" t="30302" r="48447" b="43463"/>
          <a:stretch/>
        </p:blipFill>
        <p:spPr>
          <a:xfrm rot="5400000">
            <a:off x="-250417" y="440865"/>
            <a:ext cx="2088492" cy="1433186"/>
          </a:xfrm>
          <a:prstGeom prst="rect">
            <a:avLst/>
          </a:prstGeom>
        </p:spPr>
      </p:pic>
    </p:spTree>
    <p:extLst>
      <p:ext uri="{BB962C8B-B14F-4D97-AF65-F5344CB8AC3E}">
        <p14:creationId xmlns:p14="http://schemas.microsoft.com/office/powerpoint/2010/main" val="5836660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p:cNvPicPr>
            <a:picLocks noChangeAspect="1"/>
          </p:cNvPicPr>
          <p:nvPr/>
        </p:nvPicPr>
        <p:blipFill rotWithShape="1">
          <a:blip r:embed="rId2"/>
          <a:srcRect l="51199" t="33926" r="6232" b="6305"/>
          <a:stretch/>
        </p:blipFill>
        <p:spPr>
          <a:xfrm>
            <a:off x="2612135" y="856118"/>
            <a:ext cx="2852577" cy="2252842"/>
          </a:xfrm>
          <a:prstGeom prst="rect">
            <a:avLst/>
          </a:prstGeom>
        </p:spPr>
      </p:pic>
      <p:pic>
        <p:nvPicPr>
          <p:cNvPr id="2" name="Imagem 1"/>
          <p:cNvPicPr>
            <a:picLocks noChangeAspect="1"/>
          </p:cNvPicPr>
          <p:nvPr/>
        </p:nvPicPr>
        <p:blipFill rotWithShape="1">
          <a:blip r:embed="rId3"/>
          <a:srcRect l="49721" t="49374" r="16133" b="7735"/>
          <a:stretch/>
        </p:blipFill>
        <p:spPr>
          <a:xfrm>
            <a:off x="130629" y="2427382"/>
            <a:ext cx="3172209" cy="2241369"/>
          </a:xfrm>
          <a:prstGeom prst="rect">
            <a:avLst/>
          </a:prstGeom>
        </p:spPr>
      </p:pic>
      <p:pic>
        <p:nvPicPr>
          <p:cNvPr id="4" name="Imagem 3"/>
          <p:cNvPicPr>
            <a:picLocks noChangeAspect="1"/>
          </p:cNvPicPr>
          <p:nvPr/>
        </p:nvPicPr>
        <p:blipFill rotWithShape="1">
          <a:blip r:embed="rId4"/>
          <a:srcRect l="49709" t="52912" r="16456" b="16365"/>
          <a:stretch/>
        </p:blipFill>
        <p:spPr>
          <a:xfrm>
            <a:off x="5697930" y="1874520"/>
            <a:ext cx="3212628" cy="1640884"/>
          </a:xfrm>
          <a:prstGeom prst="rect">
            <a:avLst/>
          </a:prstGeom>
        </p:spPr>
      </p:pic>
      <p:pic>
        <p:nvPicPr>
          <p:cNvPr id="14" name="Imagem 13"/>
          <p:cNvPicPr>
            <a:picLocks noChangeAspect="1"/>
          </p:cNvPicPr>
          <p:nvPr/>
        </p:nvPicPr>
        <p:blipFill rotWithShape="1">
          <a:blip r:embed="rId5"/>
          <a:srcRect l="12330" t="43162" r="32573" b="10761"/>
          <a:stretch/>
        </p:blipFill>
        <p:spPr>
          <a:xfrm>
            <a:off x="2481072" y="3731765"/>
            <a:ext cx="6662928" cy="3134266"/>
          </a:xfrm>
          <a:prstGeom prst="rect">
            <a:avLst/>
          </a:prstGeom>
        </p:spPr>
      </p:pic>
    </p:spTree>
    <p:extLst>
      <p:ext uri="{BB962C8B-B14F-4D97-AF65-F5344CB8AC3E}">
        <p14:creationId xmlns:p14="http://schemas.microsoft.com/office/powerpoint/2010/main" val="12674425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5"/>
          <p:cNvSpPr>
            <a:spLocks noChangeArrowheads="1"/>
          </p:cNvSpPr>
          <p:nvPr/>
        </p:nvSpPr>
        <p:spPr bwMode="auto">
          <a:xfrm>
            <a:off x="2" y="54078"/>
            <a:ext cx="9143998" cy="1231106"/>
          </a:xfrm>
          <a:prstGeom prst="rect">
            <a:avLst/>
          </a:prstGeom>
          <a:solidFill>
            <a:schemeClr val="bg1"/>
          </a:solidFill>
          <a:ln>
            <a:noFill/>
          </a:ln>
        </p:spPr>
        <p:txBody>
          <a:bodyPr wrap="square">
            <a:spAutoFit/>
          </a:bodyPr>
          <a:lstStyle>
            <a:lvl1pPr>
              <a:defRPr sz="1600">
                <a:solidFill>
                  <a:schemeClr val="bg2"/>
                </a:solidFill>
                <a:latin typeface="Arial" panose="020B0604020202020204" pitchFamily="34" charset="0"/>
              </a:defRPr>
            </a:lvl1pPr>
            <a:lvl2pPr marL="742950" indent="-285750">
              <a:defRPr sz="1600">
                <a:solidFill>
                  <a:schemeClr val="bg2"/>
                </a:solidFill>
                <a:latin typeface="Arial" panose="020B0604020202020204" pitchFamily="34" charset="0"/>
              </a:defRPr>
            </a:lvl2pPr>
            <a:lvl3pPr marL="1143000" indent="-228600">
              <a:defRPr sz="1600">
                <a:solidFill>
                  <a:schemeClr val="bg2"/>
                </a:solidFill>
                <a:latin typeface="Arial" panose="020B0604020202020204" pitchFamily="34" charset="0"/>
              </a:defRPr>
            </a:lvl3pPr>
            <a:lvl4pPr marL="1600200" indent="-228600">
              <a:defRPr sz="1600">
                <a:solidFill>
                  <a:schemeClr val="bg2"/>
                </a:solidFill>
                <a:latin typeface="Arial" panose="020B0604020202020204" pitchFamily="34" charset="0"/>
              </a:defRPr>
            </a:lvl4pPr>
            <a:lvl5pPr marL="2057400" indent="-228600">
              <a:defRPr sz="1600">
                <a:solidFill>
                  <a:schemeClr val="bg2"/>
                </a:solidFill>
                <a:latin typeface="Arial" panose="020B0604020202020204" pitchFamily="34" charset="0"/>
              </a:defRPr>
            </a:lvl5pPr>
            <a:lvl6pPr marL="2514600" indent="-228600" eaLnBrk="0" fontAlgn="base" hangingPunct="0">
              <a:spcBef>
                <a:spcPct val="0"/>
              </a:spcBef>
              <a:spcAft>
                <a:spcPct val="0"/>
              </a:spcAft>
              <a:defRPr sz="1600">
                <a:solidFill>
                  <a:schemeClr val="bg2"/>
                </a:solidFill>
                <a:latin typeface="Arial" panose="020B0604020202020204" pitchFamily="34" charset="0"/>
              </a:defRPr>
            </a:lvl6pPr>
            <a:lvl7pPr marL="2971800" indent="-228600" eaLnBrk="0" fontAlgn="base" hangingPunct="0">
              <a:spcBef>
                <a:spcPct val="0"/>
              </a:spcBef>
              <a:spcAft>
                <a:spcPct val="0"/>
              </a:spcAft>
              <a:defRPr sz="1600">
                <a:solidFill>
                  <a:schemeClr val="bg2"/>
                </a:solidFill>
                <a:latin typeface="Arial" panose="020B0604020202020204" pitchFamily="34" charset="0"/>
              </a:defRPr>
            </a:lvl7pPr>
            <a:lvl8pPr marL="3429000" indent="-228600" eaLnBrk="0" fontAlgn="base" hangingPunct="0">
              <a:spcBef>
                <a:spcPct val="0"/>
              </a:spcBef>
              <a:spcAft>
                <a:spcPct val="0"/>
              </a:spcAft>
              <a:defRPr sz="1600">
                <a:solidFill>
                  <a:schemeClr val="bg2"/>
                </a:solidFill>
                <a:latin typeface="Arial" panose="020B0604020202020204" pitchFamily="34" charset="0"/>
              </a:defRPr>
            </a:lvl8pPr>
            <a:lvl9pPr marL="3886200" indent="-228600" eaLnBrk="0" fontAlgn="base" hangingPunct="0">
              <a:spcBef>
                <a:spcPct val="0"/>
              </a:spcBef>
              <a:spcAft>
                <a:spcPct val="0"/>
              </a:spcAft>
              <a:defRPr sz="1600">
                <a:solidFill>
                  <a:schemeClr val="bg2"/>
                </a:solidFill>
                <a:latin typeface="Arial" panose="020B0604020202020204" pitchFamily="34" charset="0"/>
              </a:defRPr>
            </a:lvl9pPr>
          </a:lstStyle>
          <a:p>
            <a:pPr algn="just" eaLnBrk="1" hangingPunct="1"/>
            <a:r>
              <a:rPr lang="pt-BR" sz="2800" b="1" dirty="0">
                <a:solidFill>
                  <a:schemeClr val="tx1"/>
                </a:solidFill>
              </a:rPr>
              <a:t>VII	Atividade: Testando e entendendo o circuito de um regulador.</a:t>
            </a:r>
            <a:endParaRPr lang="pt-BR" sz="1000" dirty="0">
              <a:solidFill>
                <a:schemeClr val="tx1"/>
              </a:solidFill>
            </a:endParaRPr>
          </a:p>
          <a:p>
            <a:pPr algn="just"/>
            <a:r>
              <a:rPr lang="pt-BR" sz="1800" dirty="0">
                <a:solidFill>
                  <a:schemeClr val="tx1"/>
                </a:solidFill>
              </a:rPr>
              <a:t>	.</a:t>
            </a:r>
          </a:p>
        </p:txBody>
      </p:sp>
      <p:sp>
        <p:nvSpPr>
          <p:cNvPr id="3" name="CaixaDeTexto 2"/>
          <p:cNvSpPr txBox="1"/>
          <p:nvPr/>
        </p:nvSpPr>
        <p:spPr>
          <a:xfrm>
            <a:off x="0" y="1285184"/>
            <a:ext cx="2454390" cy="369332"/>
          </a:xfrm>
          <a:prstGeom prst="rect">
            <a:avLst/>
          </a:prstGeom>
          <a:noFill/>
        </p:spPr>
        <p:txBody>
          <a:bodyPr wrap="none" rtlCol="0">
            <a:spAutoFit/>
          </a:bodyPr>
          <a:lstStyle/>
          <a:p>
            <a:r>
              <a:rPr lang="pt-BR" b="1" dirty="0"/>
              <a:t>1)</a:t>
            </a:r>
            <a:r>
              <a:rPr lang="pt-BR" dirty="0"/>
              <a:t> Escolha um regulador</a:t>
            </a:r>
          </a:p>
        </p:txBody>
      </p:sp>
      <p:pic>
        <p:nvPicPr>
          <p:cNvPr id="4" name="Imagem 3"/>
          <p:cNvPicPr>
            <a:picLocks noChangeAspect="1"/>
          </p:cNvPicPr>
          <p:nvPr/>
        </p:nvPicPr>
        <p:blipFill rotWithShape="1">
          <a:blip r:embed="rId2"/>
          <a:srcRect l="49721" t="49374" r="16133" b="7735"/>
          <a:stretch/>
        </p:blipFill>
        <p:spPr>
          <a:xfrm>
            <a:off x="298269" y="1711103"/>
            <a:ext cx="2353491" cy="1662892"/>
          </a:xfrm>
          <a:prstGeom prst="rect">
            <a:avLst/>
          </a:prstGeom>
        </p:spPr>
      </p:pic>
      <p:pic>
        <p:nvPicPr>
          <p:cNvPr id="6" name="Imagem 5"/>
          <p:cNvPicPr>
            <a:picLocks noChangeAspect="1"/>
          </p:cNvPicPr>
          <p:nvPr/>
        </p:nvPicPr>
        <p:blipFill rotWithShape="1">
          <a:blip r:embed="rId2"/>
          <a:srcRect l="49721" t="49374" r="16133" b="7735"/>
          <a:stretch/>
        </p:blipFill>
        <p:spPr>
          <a:xfrm>
            <a:off x="1609160" y="5022253"/>
            <a:ext cx="1526507" cy="1078575"/>
          </a:xfrm>
          <a:prstGeom prst="rect">
            <a:avLst/>
          </a:prstGeom>
        </p:spPr>
      </p:pic>
      <p:pic>
        <p:nvPicPr>
          <p:cNvPr id="7" name="Imagem 6"/>
          <p:cNvPicPr>
            <a:picLocks noChangeAspect="1"/>
          </p:cNvPicPr>
          <p:nvPr/>
        </p:nvPicPr>
        <p:blipFill rotWithShape="1">
          <a:blip r:embed="rId3" cstate="email">
            <a:extLst>
              <a:ext uri="{28A0092B-C50C-407E-A947-70E740481C1C}">
                <a14:useLocalDpi xmlns:a14="http://schemas.microsoft.com/office/drawing/2010/main" val="0"/>
              </a:ext>
            </a:extLst>
          </a:blip>
          <a:srcRect l="14791" t="14556" r="15000" b="12889"/>
          <a:stretch/>
        </p:blipFill>
        <p:spPr>
          <a:xfrm>
            <a:off x="0" y="5022252"/>
            <a:ext cx="1265719" cy="1226283"/>
          </a:xfrm>
          <a:prstGeom prst="rect">
            <a:avLst/>
          </a:prstGeom>
        </p:spPr>
      </p:pic>
      <p:sp>
        <p:nvSpPr>
          <p:cNvPr id="8" name="CaixaDeTexto 7"/>
          <p:cNvSpPr txBox="1"/>
          <p:nvPr/>
        </p:nvSpPr>
        <p:spPr>
          <a:xfrm>
            <a:off x="3135667" y="669631"/>
            <a:ext cx="5040593" cy="923330"/>
          </a:xfrm>
          <a:prstGeom prst="rect">
            <a:avLst/>
          </a:prstGeom>
          <a:noFill/>
        </p:spPr>
        <p:txBody>
          <a:bodyPr wrap="square" rtlCol="0">
            <a:spAutoFit/>
          </a:bodyPr>
          <a:lstStyle/>
          <a:p>
            <a:pPr algn="just"/>
            <a:r>
              <a:rPr lang="pt-BR" b="1" dirty="0"/>
              <a:t>3)</a:t>
            </a:r>
            <a:r>
              <a:rPr lang="pt-BR" dirty="0"/>
              <a:t> Ajuste o potenciômetro do módulo regulador e descubra a saída máxima do regulador para uma entrada de 12 V. </a:t>
            </a:r>
          </a:p>
        </p:txBody>
      </p:sp>
      <p:sp>
        <p:nvSpPr>
          <p:cNvPr id="9" name="CaixaDeTexto 8"/>
          <p:cNvSpPr txBox="1"/>
          <p:nvPr/>
        </p:nvSpPr>
        <p:spPr>
          <a:xfrm>
            <a:off x="0" y="3514147"/>
            <a:ext cx="2796540" cy="1200329"/>
          </a:xfrm>
          <a:prstGeom prst="rect">
            <a:avLst/>
          </a:prstGeom>
          <a:noFill/>
        </p:spPr>
        <p:txBody>
          <a:bodyPr wrap="square" rtlCol="0">
            <a:spAutoFit/>
          </a:bodyPr>
          <a:lstStyle/>
          <a:p>
            <a:pPr algn="just"/>
            <a:r>
              <a:rPr lang="pt-BR" b="1" dirty="0"/>
              <a:t>2)</a:t>
            </a:r>
            <a:r>
              <a:rPr lang="pt-BR" dirty="0"/>
              <a:t> Alimente o regulador com a fonte de 12 V (utilize os jumpers e cabos que for necessário)</a:t>
            </a:r>
          </a:p>
        </p:txBody>
      </p:sp>
      <p:sp>
        <p:nvSpPr>
          <p:cNvPr id="10" name="CaixaDeTexto 9"/>
          <p:cNvSpPr txBox="1"/>
          <p:nvPr/>
        </p:nvSpPr>
        <p:spPr>
          <a:xfrm>
            <a:off x="1309078" y="5418292"/>
            <a:ext cx="300082" cy="369332"/>
          </a:xfrm>
          <a:prstGeom prst="rect">
            <a:avLst/>
          </a:prstGeom>
          <a:noFill/>
        </p:spPr>
        <p:txBody>
          <a:bodyPr wrap="none" rtlCol="0">
            <a:spAutoFit/>
          </a:bodyPr>
          <a:lstStyle/>
          <a:p>
            <a:r>
              <a:rPr lang="pt-BR" dirty="0"/>
              <a:t>+</a:t>
            </a:r>
          </a:p>
        </p:txBody>
      </p:sp>
      <p:sp>
        <p:nvSpPr>
          <p:cNvPr id="11" name="CaixaDeTexto 10"/>
          <p:cNvSpPr txBox="1"/>
          <p:nvPr/>
        </p:nvSpPr>
        <p:spPr>
          <a:xfrm>
            <a:off x="3107074" y="1753334"/>
            <a:ext cx="3827126" cy="646331"/>
          </a:xfrm>
          <a:prstGeom prst="rect">
            <a:avLst/>
          </a:prstGeom>
          <a:noFill/>
        </p:spPr>
        <p:txBody>
          <a:bodyPr wrap="square" rtlCol="0">
            <a:spAutoFit/>
          </a:bodyPr>
          <a:lstStyle/>
          <a:p>
            <a:pPr algn="just"/>
            <a:r>
              <a:rPr lang="pt-BR" b="1" dirty="0"/>
              <a:t>4)</a:t>
            </a:r>
            <a:r>
              <a:rPr lang="pt-BR" dirty="0"/>
              <a:t> Identifique o regulador utilizado pelo módulo. </a:t>
            </a:r>
          </a:p>
        </p:txBody>
      </p:sp>
      <p:sp>
        <p:nvSpPr>
          <p:cNvPr id="12" name="CaixaDeTexto 11"/>
          <p:cNvSpPr txBox="1"/>
          <p:nvPr/>
        </p:nvSpPr>
        <p:spPr>
          <a:xfrm>
            <a:off x="3135667" y="2652373"/>
            <a:ext cx="2929853" cy="1477328"/>
          </a:xfrm>
          <a:prstGeom prst="rect">
            <a:avLst/>
          </a:prstGeom>
          <a:noFill/>
        </p:spPr>
        <p:txBody>
          <a:bodyPr wrap="square" rtlCol="0">
            <a:spAutoFit/>
          </a:bodyPr>
          <a:lstStyle/>
          <a:p>
            <a:pPr algn="just"/>
            <a:r>
              <a:rPr lang="pt-BR" b="1" dirty="0"/>
              <a:t>5)</a:t>
            </a:r>
            <a:r>
              <a:rPr lang="pt-BR" dirty="0"/>
              <a:t> Fotografe o módulo e identifique nele os componentes apresentados no esquema de aplicação típico. </a:t>
            </a:r>
          </a:p>
        </p:txBody>
      </p:sp>
      <p:pic>
        <p:nvPicPr>
          <p:cNvPr id="13" name="Imagem 12"/>
          <p:cNvPicPr>
            <a:picLocks noChangeAspect="1"/>
          </p:cNvPicPr>
          <p:nvPr/>
        </p:nvPicPr>
        <p:blipFill rotWithShape="1">
          <a:blip r:embed="rId4"/>
          <a:srcRect l="12330" t="43162" r="32573" b="10761"/>
          <a:stretch/>
        </p:blipFill>
        <p:spPr>
          <a:xfrm>
            <a:off x="4122421" y="4495831"/>
            <a:ext cx="5021580" cy="2362170"/>
          </a:xfrm>
          <a:prstGeom prst="rect">
            <a:avLst/>
          </a:prstGeom>
        </p:spPr>
      </p:pic>
      <p:pic>
        <p:nvPicPr>
          <p:cNvPr id="14" name="Imagem 13"/>
          <p:cNvPicPr>
            <a:picLocks noChangeAspect="1"/>
          </p:cNvPicPr>
          <p:nvPr/>
        </p:nvPicPr>
        <p:blipFill rotWithShape="1">
          <a:blip r:embed="rId2"/>
          <a:srcRect l="49721" t="49374" r="16133" b="7735"/>
          <a:stretch/>
        </p:blipFill>
        <p:spPr>
          <a:xfrm>
            <a:off x="6399422" y="2248163"/>
            <a:ext cx="2353491" cy="1662892"/>
          </a:xfrm>
          <a:prstGeom prst="rect">
            <a:avLst/>
          </a:prstGeom>
        </p:spPr>
      </p:pic>
      <p:sp>
        <p:nvSpPr>
          <p:cNvPr id="5" name="Elipse 4"/>
          <p:cNvSpPr/>
          <p:nvPr/>
        </p:nvSpPr>
        <p:spPr>
          <a:xfrm>
            <a:off x="4432663" y="5418292"/>
            <a:ext cx="722811" cy="830243"/>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9" name="Elipse 18"/>
          <p:cNvSpPr/>
          <p:nvPr/>
        </p:nvSpPr>
        <p:spPr>
          <a:xfrm>
            <a:off x="7993887" y="5142254"/>
            <a:ext cx="722811" cy="830243"/>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0" name="Elipse 19"/>
          <p:cNvSpPr/>
          <p:nvPr/>
        </p:nvSpPr>
        <p:spPr>
          <a:xfrm>
            <a:off x="7017921" y="4402003"/>
            <a:ext cx="722811" cy="57468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2" name="Elipse 21"/>
          <p:cNvSpPr/>
          <p:nvPr/>
        </p:nvSpPr>
        <p:spPr>
          <a:xfrm>
            <a:off x="6687892" y="4987004"/>
            <a:ext cx="722811" cy="574680"/>
          </a:xfrm>
          <a:prstGeom prst="ellipse">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51166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5"/>
          <p:cNvSpPr>
            <a:spLocks noChangeArrowheads="1"/>
          </p:cNvSpPr>
          <p:nvPr/>
        </p:nvSpPr>
        <p:spPr bwMode="auto">
          <a:xfrm>
            <a:off x="3922713" y="2852738"/>
            <a:ext cx="2449512"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nchor="ctr">
            <a:spAutoFit/>
          </a:bodyPr>
          <a:lstStyle>
            <a:lvl1pPr>
              <a:tabLst>
                <a:tab pos="503238" algn="l"/>
              </a:tabLst>
              <a:defRPr sz="1600">
                <a:solidFill>
                  <a:schemeClr val="bg2"/>
                </a:solidFill>
                <a:latin typeface="Arial" panose="020B0604020202020204" pitchFamily="34" charset="0"/>
              </a:defRPr>
            </a:lvl1pPr>
            <a:lvl2pPr marL="742950" indent="-285750">
              <a:tabLst>
                <a:tab pos="503238" algn="l"/>
              </a:tabLst>
              <a:defRPr sz="1600">
                <a:solidFill>
                  <a:schemeClr val="bg2"/>
                </a:solidFill>
                <a:latin typeface="Arial" panose="020B0604020202020204" pitchFamily="34" charset="0"/>
              </a:defRPr>
            </a:lvl2pPr>
            <a:lvl3pPr marL="1143000" indent="-228600">
              <a:tabLst>
                <a:tab pos="503238" algn="l"/>
              </a:tabLst>
              <a:defRPr sz="1600">
                <a:solidFill>
                  <a:schemeClr val="bg2"/>
                </a:solidFill>
                <a:latin typeface="Arial" panose="020B0604020202020204" pitchFamily="34" charset="0"/>
              </a:defRPr>
            </a:lvl3pPr>
            <a:lvl4pPr marL="1600200" indent="-228600">
              <a:tabLst>
                <a:tab pos="503238" algn="l"/>
              </a:tabLst>
              <a:defRPr sz="1600">
                <a:solidFill>
                  <a:schemeClr val="bg2"/>
                </a:solidFill>
                <a:latin typeface="Arial" panose="020B0604020202020204" pitchFamily="34" charset="0"/>
              </a:defRPr>
            </a:lvl4pPr>
            <a:lvl5pPr marL="2057400" indent="-228600">
              <a:tabLst>
                <a:tab pos="503238" algn="l"/>
              </a:tabLst>
              <a:defRPr sz="1600">
                <a:solidFill>
                  <a:schemeClr val="bg2"/>
                </a:solidFill>
                <a:latin typeface="Arial" panose="020B0604020202020204" pitchFamily="34" charset="0"/>
              </a:defRPr>
            </a:lvl5pPr>
            <a:lvl6pPr marL="2514600" indent="-228600" eaLnBrk="0" fontAlgn="base" hangingPunct="0">
              <a:spcBef>
                <a:spcPct val="0"/>
              </a:spcBef>
              <a:spcAft>
                <a:spcPct val="0"/>
              </a:spcAft>
              <a:tabLst>
                <a:tab pos="503238" algn="l"/>
              </a:tabLst>
              <a:defRPr sz="1600">
                <a:solidFill>
                  <a:schemeClr val="bg2"/>
                </a:solidFill>
                <a:latin typeface="Arial" panose="020B0604020202020204" pitchFamily="34" charset="0"/>
              </a:defRPr>
            </a:lvl6pPr>
            <a:lvl7pPr marL="2971800" indent="-228600" eaLnBrk="0" fontAlgn="base" hangingPunct="0">
              <a:spcBef>
                <a:spcPct val="0"/>
              </a:spcBef>
              <a:spcAft>
                <a:spcPct val="0"/>
              </a:spcAft>
              <a:tabLst>
                <a:tab pos="503238" algn="l"/>
              </a:tabLst>
              <a:defRPr sz="1600">
                <a:solidFill>
                  <a:schemeClr val="bg2"/>
                </a:solidFill>
                <a:latin typeface="Arial" panose="020B0604020202020204" pitchFamily="34" charset="0"/>
              </a:defRPr>
            </a:lvl7pPr>
            <a:lvl8pPr marL="3429000" indent="-228600" eaLnBrk="0" fontAlgn="base" hangingPunct="0">
              <a:spcBef>
                <a:spcPct val="0"/>
              </a:spcBef>
              <a:spcAft>
                <a:spcPct val="0"/>
              </a:spcAft>
              <a:tabLst>
                <a:tab pos="503238" algn="l"/>
              </a:tabLst>
              <a:defRPr sz="1600">
                <a:solidFill>
                  <a:schemeClr val="bg2"/>
                </a:solidFill>
                <a:latin typeface="Arial" panose="020B0604020202020204" pitchFamily="34" charset="0"/>
              </a:defRPr>
            </a:lvl8pPr>
            <a:lvl9pPr marL="3886200" indent="-228600" eaLnBrk="0" fontAlgn="base" hangingPunct="0">
              <a:spcBef>
                <a:spcPct val="0"/>
              </a:spcBef>
              <a:spcAft>
                <a:spcPct val="0"/>
              </a:spcAft>
              <a:tabLst>
                <a:tab pos="503238" algn="l"/>
              </a:tabLst>
              <a:defRPr sz="1600">
                <a:solidFill>
                  <a:schemeClr val="bg2"/>
                </a:solidFill>
                <a:latin typeface="Arial" panose="020B0604020202020204" pitchFamily="34" charset="0"/>
              </a:defRPr>
            </a:lvl9pPr>
          </a:lstStyle>
          <a:p>
            <a:r>
              <a:rPr lang="pt-BR" sz="4000" b="1">
                <a:solidFill>
                  <a:srgbClr val="FF0000"/>
                </a:solidFill>
              </a:rPr>
              <a:t>Fim</a:t>
            </a:r>
          </a:p>
        </p:txBody>
      </p:sp>
    </p:spTree>
    <p:extLst>
      <p:ext uri="{BB962C8B-B14F-4D97-AF65-F5344CB8AC3E}">
        <p14:creationId xmlns:p14="http://schemas.microsoft.com/office/powerpoint/2010/main" val="15019121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580640"/>
            <a:ext cx="9144000" cy="282448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1026"/>
          <p:cNvSpPr>
            <a:spLocks noChangeArrowheads="1"/>
          </p:cNvSpPr>
          <p:nvPr/>
        </p:nvSpPr>
        <p:spPr bwMode="auto">
          <a:xfrm>
            <a:off x="1053372" y="3387982"/>
            <a:ext cx="6897554" cy="1459503"/>
          </a:xfrm>
          <a:prstGeom prst="rect">
            <a:avLst/>
          </a:prstGeom>
          <a:noFill/>
          <a:ln w="9525">
            <a:noFill/>
            <a:miter lim="800000"/>
            <a:headEnd/>
            <a:tailEnd/>
          </a:ln>
        </p:spPr>
        <p:txBody>
          <a:bodyPr wrap="square" lIns="92075" tIns="46038" rIns="92075" bIns="46038">
            <a:spAutoFit/>
          </a:bodyPr>
          <a:lstStyle/>
          <a:p>
            <a:pPr>
              <a:defRPr/>
            </a:pPr>
            <a:r>
              <a:rPr kumimoji="1" lang="en-US" sz="2000" dirty="0">
                <a:solidFill>
                  <a:schemeClr val="bg1"/>
                </a:solidFill>
                <a:latin typeface="Gotham HTF" pitchFamily="2" charset="0"/>
                <a:cs typeface="Gotham-Bold"/>
              </a:rPr>
              <a:t>Copyright © 2026 Prof. Dr. Nivaldo Zafalon Junior</a:t>
            </a:r>
          </a:p>
          <a:p>
            <a:pPr>
              <a:defRPr/>
            </a:pPr>
            <a:endParaRPr kumimoji="1" lang="en-US" sz="1600" dirty="0">
              <a:solidFill>
                <a:schemeClr val="bg1"/>
              </a:solidFill>
              <a:latin typeface="Gotham-Book"/>
              <a:cs typeface="Gotham-Book"/>
            </a:endParaRPr>
          </a:p>
          <a:p>
            <a:pPr>
              <a:lnSpc>
                <a:spcPct val="110000"/>
              </a:lnSpc>
              <a:defRPr/>
            </a:pPr>
            <a:r>
              <a:rPr kumimoji="1" lang="en-US" sz="1600" dirty="0" err="1">
                <a:solidFill>
                  <a:schemeClr val="bg1"/>
                </a:solidFill>
                <a:latin typeface="Gotham HTF Book" pitchFamily="2" charset="0"/>
                <a:cs typeface="Gotham-Book"/>
              </a:rPr>
              <a:t>Todos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direitos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reservados</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Reprodução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divulgação</a:t>
            </a:r>
            <a:r>
              <a:rPr kumimoji="1" lang="en-US" sz="1600" dirty="0">
                <a:solidFill>
                  <a:schemeClr val="bg1"/>
                </a:solidFill>
                <a:latin typeface="Gotham HTF Book" pitchFamily="2" charset="0"/>
                <a:cs typeface="Gotham-Book"/>
              </a:rPr>
              <a:t> total </a:t>
            </a:r>
            <a:r>
              <a:rPr kumimoji="1" lang="en-US" sz="1600" dirty="0" err="1">
                <a:solidFill>
                  <a:schemeClr val="bg1"/>
                </a:solidFill>
                <a:latin typeface="Gotham HTF Book" pitchFamily="2" charset="0"/>
                <a:cs typeface="Gotham-Book"/>
              </a:rPr>
              <a:t>ou</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parcial</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deste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documento</a:t>
            </a:r>
            <a:r>
              <a:rPr kumimoji="1" lang="en-US" sz="1600" dirty="0">
                <a:solidFill>
                  <a:schemeClr val="bg1"/>
                </a:solidFill>
                <a:latin typeface="Gotham HTF Book" pitchFamily="2" charset="0"/>
                <a:cs typeface="Gotham-Book"/>
              </a:rPr>
              <a:t> é </a:t>
            </a:r>
            <a:r>
              <a:rPr kumimoji="1" lang="en-US" sz="1600" dirty="0" err="1">
                <a:solidFill>
                  <a:schemeClr val="bg1"/>
                </a:solidFill>
                <a:latin typeface="Gotham HTF Book" pitchFamily="2" charset="0"/>
                <a:cs typeface="Gotham-Book"/>
              </a:rPr>
              <a:t>expressamente</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proíbido</a:t>
            </a:r>
            <a:r>
              <a:rPr kumimoji="1" lang="en-US" sz="1600" dirty="0">
                <a:solidFill>
                  <a:schemeClr val="bg1"/>
                </a:solidFill>
                <a:latin typeface="Gotham HTF Book" pitchFamily="2" charset="0"/>
                <a:cs typeface="Gotham-Book"/>
              </a:rPr>
              <a:t> </a:t>
            </a:r>
            <a:r>
              <a:rPr kumimoji="1" lang="en-US" sz="1600" dirty="0" err="1">
                <a:solidFill>
                  <a:schemeClr val="bg1"/>
                </a:solidFill>
                <a:latin typeface="Gotham HTF Book" pitchFamily="2" charset="0"/>
                <a:cs typeface="Gotham-Book"/>
              </a:rPr>
              <a:t>sem</a:t>
            </a:r>
            <a:r>
              <a:rPr kumimoji="1" lang="en-US" sz="1600" dirty="0">
                <a:solidFill>
                  <a:schemeClr val="bg1"/>
                </a:solidFill>
                <a:latin typeface="Gotham HTF Book" pitchFamily="2" charset="0"/>
                <a:cs typeface="Gotham-Book"/>
              </a:rPr>
              <a:t> o </a:t>
            </a:r>
            <a:r>
              <a:rPr kumimoji="1" lang="pt-BR" sz="1600" dirty="0">
                <a:solidFill>
                  <a:schemeClr val="bg1"/>
                </a:solidFill>
                <a:latin typeface="Gotham HTF Book" pitchFamily="2" charset="0"/>
                <a:cs typeface="Gotham-Book"/>
              </a:rPr>
              <a:t>consentimento formal, por escrito,</a:t>
            </a:r>
            <a:r>
              <a:rPr kumimoji="1" lang="en-US" sz="1600" dirty="0">
                <a:solidFill>
                  <a:schemeClr val="bg1"/>
                </a:solidFill>
                <a:latin typeface="Gotham HTF Book" pitchFamily="2" charset="0"/>
                <a:cs typeface="Gotham-Book"/>
              </a:rPr>
              <a:t> do Professor (</a:t>
            </a:r>
            <a:r>
              <a:rPr kumimoji="1" lang="en-US" sz="1600" dirty="0" err="1">
                <a:solidFill>
                  <a:schemeClr val="bg1"/>
                </a:solidFill>
                <a:latin typeface="Gotham HTF Book" pitchFamily="2" charset="0"/>
                <a:cs typeface="Gotham-Book"/>
              </a:rPr>
              <a:t>autor</a:t>
            </a:r>
            <a:r>
              <a:rPr kumimoji="1" lang="en-US" sz="1600" dirty="0">
                <a:solidFill>
                  <a:schemeClr val="bg1"/>
                </a:solidFill>
                <a:latin typeface="Gotham HTF Book" pitchFamily="2" charset="0"/>
                <a:cs typeface="Gotham-Book"/>
              </a:rPr>
              <a:t>).</a:t>
            </a:r>
          </a:p>
        </p:txBody>
      </p:sp>
      <p:sp>
        <p:nvSpPr>
          <p:cNvPr id="5" name="Rectangle 4"/>
          <p:cNvSpPr/>
          <p:nvPr/>
        </p:nvSpPr>
        <p:spPr>
          <a:xfrm>
            <a:off x="747966" y="3342641"/>
            <a:ext cx="72000" cy="1239520"/>
          </a:xfrm>
          <a:prstGeom prst="rect">
            <a:avLst/>
          </a:prstGeom>
          <a:solidFill>
            <a:srgbClr val="F02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a:stretch>
            <a:fillRect/>
          </a:stretch>
        </p:blipFill>
        <p:spPr>
          <a:xfrm>
            <a:off x="7837508" y="333716"/>
            <a:ext cx="975616" cy="267011"/>
          </a:xfrm>
          <a:prstGeom prst="rect">
            <a:avLst/>
          </a:prstGeom>
        </p:spPr>
      </p:pic>
    </p:spTree>
    <p:extLst>
      <p:ext uri="{BB962C8B-B14F-4D97-AF65-F5344CB8AC3E}">
        <p14:creationId xmlns:p14="http://schemas.microsoft.com/office/powerpoint/2010/main" val="6995947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mv="urn:schemas-microsoft-com:mac:vml" xmlns="">
      <mp:transition xmlns:mp="http://schemas.microsoft.com/office/mac/powerpoint/2008/main" spd="slow"/>
    </mc:Fallback>
  </mc:AlternateContent>
</p:sld>
</file>

<file path=ppt/theme/theme1.xml><?xml version="1.0" encoding="utf-8"?>
<a:theme xmlns:a="http://schemas.openxmlformats.org/drawingml/2006/main" name="Default Theme">
  <a:themeElements>
    <a:clrScheme name="Opulento">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Escritório Clássico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2_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ar design">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Theme.thmx</Template>
  <TotalTime>4036</TotalTime>
  <Words>2133</Words>
  <Application>Microsoft Office PowerPoint</Application>
  <PresentationFormat>Apresentação na tela (4:3)</PresentationFormat>
  <Paragraphs>162</Paragraphs>
  <Slides>36</Slides>
  <Notes>3</Notes>
  <HiddenSlides>0</HiddenSlides>
  <MMClips>0</MMClips>
  <ScaleCrop>false</ScaleCrop>
  <HeadingPairs>
    <vt:vector size="6" baseType="variant">
      <vt:variant>
        <vt:lpstr>Fontes usadas</vt:lpstr>
      </vt:variant>
      <vt:variant>
        <vt:i4>7</vt:i4>
      </vt:variant>
      <vt:variant>
        <vt:lpstr>Tema</vt:lpstr>
      </vt:variant>
      <vt:variant>
        <vt:i4>5</vt:i4>
      </vt:variant>
      <vt:variant>
        <vt:lpstr>Títulos de slides</vt:lpstr>
      </vt:variant>
      <vt:variant>
        <vt:i4>36</vt:i4>
      </vt:variant>
    </vt:vector>
  </HeadingPairs>
  <TitlesOfParts>
    <vt:vector size="48" baseType="lpstr">
      <vt:lpstr>Arial</vt:lpstr>
      <vt:lpstr>Calibri</vt:lpstr>
      <vt:lpstr>Gotham HTF</vt:lpstr>
      <vt:lpstr>Gotham HTF Book</vt:lpstr>
      <vt:lpstr>Gotham-Bold</vt:lpstr>
      <vt:lpstr>Gotham-Book</vt:lpstr>
      <vt:lpstr>Wingdings</vt:lpstr>
      <vt:lpstr>Default Theme</vt:lpstr>
      <vt:lpstr>1_Personalizar design</vt:lpstr>
      <vt:lpstr>Office Theme</vt:lpstr>
      <vt:lpstr>2_Personalizar design</vt:lpstr>
      <vt:lpstr>Personalizar design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FIAP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Juliana Reyes</dc:creator>
  <cp:lastModifiedBy>Nivaldo Zafalon</cp:lastModifiedBy>
  <cp:revision>337</cp:revision>
  <dcterms:created xsi:type="dcterms:W3CDTF">2015-02-07T21:24:47Z</dcterms:created>
  <dcterms:modified xsi:type="dcterms:W3CDTF">2026-03-02T02:52:56Z</dcterms:modified>
</cp:coreProperties>
</file>