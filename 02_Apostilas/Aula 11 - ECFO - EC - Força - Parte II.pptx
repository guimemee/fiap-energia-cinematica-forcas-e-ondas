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3"/>
  </p:notesMasterIdLst>
  <p:handoutMasterIdLst>
    <p:handoutMasterId r:id="rId24"/>
  </p:handoutMasterIdLst>
  <p:sldIdLst>
    <p:sldId id="256" r:id="rId6"/>
    <p:sldId id="266" r:id="rId7"/>
    <p:sldId id="258" r:id="rId8"/>
    <p:sldId id="259" r:id="rId9"/>
    <p:sldId id="317" r:id="rId10"/>
    <p:sldId id="319" r:id="rId11"/>
    <p:sldId id="320" r:id="rId12"/>
    <p:sldId id="328" r:id="rId13"/>
    <p:sldId id="321" r:id="rId14"/>
    <p:sldId id="322" r:id="rId15"/>
    <p:sldId id="329" r:id="rId16"/>
    <p:sldId id="323" r:id="rId17"/>
    <p:sldId id="324" r:id="rId18"/>
    <p:sldId id="325" r:id="rId19"/>
    <p:sldId id="327" r:id="rId20"/>
    <p:sldId id="263" r:id="rId21"/>
    <p:sldId id="265" r:id="rId2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5592" autoAdjust="0"/>
  </p:normalViewPr>
  <p:slideViewPr>
    <p:cSldViewPr snapToGrid="0" snapToObjects="1">
      <p:cViewPr varScale="1">
        <p:scale>
          <a:sx n="39" d="100"/>
          <a:sy n="39" d="100"/>
        </p:scale>
        <p:origin x="634" y="2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82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ECFO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02BB8F69-9F62-4FE1-8531-27E1AABCA90E}"/>
              </a:ext>
            </a:extLst>
          </p:cNvPr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1" y="3222882"/>
            <a:ext cx="6865985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2025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B8ADBAB1-B020-4AEF-B921-2ACB3D84F518}"/>
              </a:ext>
            </a:extLst>
          </p:cNvPr>
          <p:cNvSpPr txBox="1"/>
          <p:nvPr/>
        </p:nvSpPr>
        <p:spPr>
          <a:xfrm>
            <a:off x="1042704" y="3898936"/>
            <a:ext cx="498979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Energia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Cinemática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,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Força</a:t>
            </a:r>
            <a:r>
              <a:rPr lang="en-US" sz="2200" dirty="0">
                <a:solidFill>
                  <a:srgbClr val="FFFFFF"/>
                </a:solidFill>
                <a:latin typeface="Gotham-Book"/>
                <a:cs typeface="Gotham-Book"/>
              </a:rPr>
              <a:t> e </a:t>
            </a:r>
            <a:r>
              <a:rPr lang="en-US" sz="2200" dirty="0" err="1">
                <a:solidFill>
                  <a:srgbClr val="FFFFFF"/>
                </a:solidFill>
                <a:latin typeface="Gotham-Book"/>
                <a:cs typeface="Gotham-Book"/>
              </a:rPr>
              <a:t>Ondas</a:t>
            </a:r>
            <a:endParaRPr lang="en-US" sz="2200" dirty="0">
              <a:solidFill>
                <a:srgbClr val="FFFFFF"/>
              </a:solidFill>
              <a:latin typeface="Gotham-Book"/>
              <a:cs typeface="Gotham-Book"/>
            </a:endParaRP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spaço Reservado para Texto 26"/>
          <p:cNvSpPr>
            <a:spLocks noGrp="1"/>
          </p:cNvSpPr>
          <p:nvPr>
            <p:ph type="body" sz="quarter" idx="13"/>
          </p:nvPr>
        </p:nvSpPr>
        <p:spPr>
          <a:xfrm>
            <a:off x="914400" y="1447800"/>
            <a:ext cx="7238198" cy="562778"/>
          </a:xfrm>
        </p:spPr>
        <p:txBody>
          <a:bodyPr/>
          <a:lstStyle/>
          <a:p>
            <a:r>
              <a:rPr lang="pt-BR" sz="4000" dirty="0">
                <a:solidFill>
                  <a:srgbClr val="FF0000"/>
                </a:solidFill>
              </a:rPr>
              <a:t>Força: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dirty="0">
                <a:solidFill>
                  <a:srgbClr val="FF0000"/>
                </a:solidFill>
              </a:rPr>
              <a:t>*	Terceira Lei de Newton.</a:t>
            </a:r>
            <a:endParaRPr lang="pt-BR" dirty="0"/>
          </a:p>
        </p:txBody>
      </p:sp>
      <p:cxnSp>
        <p:nvCxnSpPr>
          <p:cNvPr id="4" name="Conector de Seta Reta 3"/>
          <p:cNvCxnSpPr/>
          <p:nvPr/>
        </p:nvCxnSpPr>
        <p:spPr>
          <a:xfrm flipH="1">
            <a:off x="4110446" y="3553097"/>
            <a:ext cx="1489166" cy="1698172"/>
          </a:xfrm>
          <a:prstGeom prst="straightConnector1">
            <a:avLst/>
          </a:prstGeom>
          <a:ln w="57150">
            <a:solidFill>
              <a:srgbClr val="F0265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35612"/>
              </p:ext>
            </p:extLst>
          </p:nvPr>
        </p:nvGraphicFramePr>
        <p:xfrm>
          <a:off x="692648" y="4962245"/>
          <a:ext cx="1858963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091880" imgH="698400" progId="Equation.3">
                  <p:embed/>
                </p:oleObj>
              </mc:Choice>
              <mc:Fallback>
                <p:oleObj name="Equação" r:id="rId3" imgW="1091880" imgH="698400" progId="Equation.3">
                  <p:embed/>
                  <p:pic>
                    <p:nvPicPr>
                      <p:cNvPr id="1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648" y="4962245"/>
                        <a:ext cx="1858963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tângulo 5"/>
          <p:cNvSpPr/>
          <p:nvPr/>
        </p:nvSpPr>
        <p:spPr>
          <a:xfrm>
            <a:off x="5599611" y="3112675"/>
            <a:ext cx="1571419" cy="44544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4"/>
          <p:cNvSpPr>
            <a:spLocks noChangeArrowheads="1"/>
          </p:cNvSpPr>
          <p:nvPr/>
        </p:nvSpPr>
        <p:spPr bwMode="auto">
          <a:xfrm>
            <a:off x="36513" y="728663"/>
            <a:ext cx="8928100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chemeClr val="tx1"/>
                </a:solidFill>
              </a:rPr>
              <a:t>	A terceira Lei de Newton</a:t>
            </a:r>
          </a:p>
          <a:p>
            <a:pPr algn="just" eaLnBrk="1" hangingPunct="1"/>
            <a:endParaRPr lang="pt-BR" altLang="pt-BR" sz="1000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altLang="pt-BR" sz="1600" b="0" dirty="0">
                <a:solidFill>
                  <a:schemeClr val="tx1"/>
                </a:solidFill>
              </a:rPr>
              <a:t>	As forças aparecem aos pares, se um martelo exerce uma força sobre um prego o prego também exerce uma força sobre o martelo, porém, a força exercida pelo prego tem as seguintes características:</a:t>
            </a:r>
          </a:p>
          <a:p>
            <a:pPr algn="just" eaLnBrk="1" hangingPunct="1"/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altLang="pt-BR" sz="1600" dirty="0">
                <a:solidFill>
                  <a:schemeClr val="tx1"/>
                </a:solidFill>
              </a:rPr>
              <a:t>a)</a:t>
            </a:r>
            <a:r>
              <a:rPr lang="pt-BR" altLang="pt-BR" sz="1600" b="0" dirty="0">
                <a:solidFill>
                  <a:schemeClr val="tx1"/>
                </a:solidFill>
              </a:rPr>
              <a:t>	Age no martelo;</a:t>
            </a:r>
          </a:p>
          <a:p>
            <a:pPr algn="just" eaLnBrk="1" hangingPunct="1"/>
            <a:r>
              <a:rPr lang="pt-BR" altLang="pt-BR" sz="1600" dirty="0">
                <a:solidFill>
                  <a:schemeClr val="tx1"/>
                </a:solidFill>
              </a:rPr>
              <a:t>b)</a:t>
            </a:r>
            <a:r>
              <a:rPr lang="pt-BR" altLang="pt-BR" sz="1600" b="0" dirty="0">
                <a:solidFill>
                  <a:schemeClr val="tx1"/>
                </a:solidFill>
              </a:rPr>
              <a:t>	Tem o mesmo módulo ou intensidade;</a:t>
            </a:r>
          </a:p>
          <a:p>
            <a:pPr algn="just" eaLnBrk="1" hangingPunct="1"/>
            <a:r>
              <a:rPr lang="pt-BR" altLang="pt-BR" sz="1600" dirty="0">
                <a:solidFill>
                  <a:schemeClr val="tx1"/>
                </a:solidFill>
              </a:rPr>
              <a:t>c)</a:t>
            </a:r>
            <a:r>
              <a:rPr lang="pt-BR" altLang="pt-BR" sz="1600" b="0" dirty="0">
                <a:solidFill>
                  <a:schemeClr val="tx1"/>
                </a:solidFill>
              </a:rPr>
              <a:t>	Possui sentido oposto.</a:t>
            </a:r>
          </a:p>
          <a:p>
            <a:pPr algn="just" eaLnBrk="1" hangingPunct="1"/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altLang="pt-BR" sz="1600" b="0" dirty="0">
                <a:solidFill>
                  <a:schemeClr val="tx1"/>
                </a:solidFill>
              </a:rPr>
              <a:t>	Esta é a terceira lei de Newton, conhecida como Lei da Ação e Reação:</a:t>
            </a:r>
          </a:p>
          <a:p>
            <a:pPr algn="just" eaLnBrk="1" hangingPunct="1"/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altLang="pt-BR" sz="1600" b="0" dirty="0">
                <a:solidFill>
                  <a:schemeClr val="tx1"/>
                </a:solidFill>
              </a:rPr>
              <a:t>	“Quando dois corpos A e B interagem, se A aplica sobre B uma força, esse último corpo aplicará sobre A uma outra força de mesma intensidade, mesma direção e sentido contrário.”</a:t>
            </a:r>
          </a:p>
          <a:p>
            <a:pPr algn="just" eaLnBrk="1" hangingPunct="1"/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altLang="pt-BR" sz="1600" b="0" dirty="0">
                <a:solidFill>
                  <a:schemeClr val="tx1"/>
                </a:solidFill>
              </a:rPr>
              <a:t>	Graficamente:</a:t>
            </a:r>
          </a:p>
        </p:txBody>
      </p:sp>
      <p:pic>
        <p:nvPicPr>
          <p:cNvPr id="6147" name="Picture 38" descr="novo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4437063"/>
            <a:ext cx="4392613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780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8"/>
          <p:cNvSpPr>
            <a:spLocks noChangeArrowheads="1"/>
          </p:cNvSpPr>
          <p:nvPr/>
        </p:nvSpPr>
        <p:spPr bwMode="auto">
          <a:xfrm>
            <a:off x="36513" y="754063"/>
            <a:ext cx="8928100" cy="41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Livro em repouso sobre a terra:</a:t>
            </a:r>
          </a:p>
        </p:txBody>
      </p:sp>
      <p:pic>
        <p:nvPicPr>
          <p:cNvPr id="9219" name="Picture 19" descr="novo-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09"/>
          <a:stretch/>
        </p:blipFill>
        <p:spPr bwMode="auto">
          <a:xfrm>
            <a:off x="1872344" y="689880"/>
            <a:ext cx="5808844" cy="5877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5595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9"/>
          <p:cNvSpPr>
            <a:spLocks noChangeArrowheads="1"/>
          </p:cNvSpPr>
          <p:nvPr/>
        </p:nvSpPr>
        <p:spPr bwMode="auto">
          <a:xfrm>
            <a:off x="36513" y="754063"/>
            <a:ext cx="8928100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</a:t>
            </a:r>
            <a:r>
              <a:rPr lang="pt-BR" altLang="pt-BR" sz="1600" dirty="0">
                <a:solidFill>
                  <a:schemeClr val="tx1"/>
                </a:solidFill>
              </a:rPr>
              <a:t>Força peso: </a:t>
            </a:r>
            <a:r>
              <a:rPr lang="pt-BR" altLang="pt-BR" sz="1600" b="0" dirty="0">
                <a:solidFill>
                  <a:schemeClr val="tx1"/>
                </a:solidFill>
              </a:rPr>
              <a:t>O peso corresponde a força gravitacional exercida pela terra sobre um corpo. Seus atributos são:</a:t>
            </a:r>
          </a:p>
          <a:p>
            <a:pPr algn="just" eaLnBrk="1" hangingPunct="1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dirty="0">
                <a:solidFill>
                  <a:schemeClr val="tx1"/>
                </a:solidFill>
              </a:rPr>
              <a:t>a)</a:t>
            </a:r>
            <a:r>
              <a:rPr lang="pt-BR" altLang="pt-BR" sz="1600" b="0" dirty="0">
                <a:solidFill>
                  <a:schemeClr val="tx1"/>
                </a:solidFill>
              </a:rPr>
              <a:t>	 Aponta em direção ao centro de massa da terra e tem origem no centro de massa do corpo;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600" dirty="0">
                <a:solidFill>
                  <a:schemeClr val="tx1"/>
                </a:solidFill>
              </a:rPr>
              <a:t>b)</a:t>
            </a:r>
            <a:r>
              <a:rPr lang="pt-BR" altLang="pt-BR" sz="1600" b="0" dirty="0">
                <a:solidFill>
                  <a:schemeClr val="tx1"/>
                </a:solidFill>
              </a:rPr>
              <a:t>	Tem módulo igual a m</a:t>
            </a:r>
            <a:r>
              <a:rPr lang="pt-BR" altLang="pt-BR" sz="1600" dirty="0">
                <a:solidFill>
                  <a:schemeClr val="tx1"/>
                </a:solidFill>
              </a:rPr>
              <a:t>g</a:t>
            </a:r>
            <a:r>
              <a:rPr lang="pt-BR" altLang="pt-BR" sz="1600" b="0" dirty="0">
                <a:solidFill>
                  <a:schemeClr val="tx1"/>
                </a:solidFill>
              </a:rPr>
              <a:t> (Segunda lei de Newton) onde </a:t>
            </a:r>
            <a:r>
              <a:rPr lang="pt-BR" altLang="pt-BR" sz="1600" dirty="0">
                <a:solidFill>
                  <a:schemeClr val="tx1"/>
                </a:solidFill>
              </a:rPr>
              <a:t>g</a:t>
            </a:r>
            <a:r>
              <a:rPr lang="pt-BR" altLang="pt-BR" sz="1600" b="0" dirty="0">
                <a:solidFill>
                  <a:schemeClr val="tx1"/>
                </a:solidFill>
              </a:rPr>
              <a:t> é a aceleração da gravidade, uma grandeza vetorial e m a massa do corpo</a:t>
            </a:r>
            <a:endParaRPr lang="pt-BR" altLang="pt-BR" sz="1600" dirty="0">
              <a:solidFill>
                <a:schemeClr val="tx1"/>
              </a:solidFill>
            </a:endParaRPr>
          </a:p>
        </p:txBody>
      </p:sp>
      <p:pic>
        <p:nvPicPr>
          <p:cNvPr id="10243" name="Picture 11" descr="garfieldpes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681413"/>
            <a:ext cx="6840537" cy="205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2218" y="4310743"/>
            <a:ext cx="644434" cy="51380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459929" y="3936186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36756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E2F0CAF-FFB2-434F-8D49-CF6EDE2D8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660" y="754063"/>
            <a:ext cx="916266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</a:t>
            </a:r>
            <a:r>
              <a:rPr lang="pt-BR" altLang="pt-BR" sz="1600" dirty="0">
                <a:solidFill>
                  <a:schemeClr val="tx1"/>
                </a:solidFill>
              </a:rPr>
              <a:t>Força normal: </a:t>
            </a:r>
            <a:r>
              <a:rPr lang="pt-BR" altLang="pt-BR" sz="1600" b="0" dirty="0">
                <a:solidFill>
                  <a:schemeClr val="tx1"/>
                </a:solidFill>
              </a:rPr>
              <a:t>Em física, força normal é uma força de reação que a superfície faz em um corpo que esteja em contato com esta. Essa força é normal à superfície. Um corpo qualquer ao entrar em contato com a superfície de outro e a comprimir aplicará uma força nessa superfície e de acordo com a 3ª Lei de Newton haverá uma reação que é exatamente a força normal.</a:t>
            </a:r>
          </a:p>
          <a:p>
            <a:pPr algn="just">
              <a:lnSpc>
                <a:spcPct val="150000"/>
              </a:lnSpc>
            </a:pPr>
            <a:r>
              <a:rPr lang="pt-BR" altLang="pt-BR" sz="1600" b="0" dirty="0">
                <a:solidFill>
                  <a:schemeClr val="tx1"/>
                </a:solidFill>
              </a:rPr>
              <a:t>	A força é chamada de normal porque é termo utilizado em Física quando há formação de um ângulo de 90° entre duas direções, no caso a direção da superfície e a direção da força, ou seja, a reação é perpendicular à superfície de apoio.</a:t>
            </a:r>
          </a:p>
          <a:p>
            <a:pPr algn="just">
              <a:lnSpc>
                <a:spcPct val="150000"/>
              </a:lnSpc>
            </a:pPr>
            <a:endParaRPr lang="pt-BR" altLang="pt-BR" sz="1600" b="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altLang="pt-BR" sz="1600" dirty="0">
                <a:solidFill>
                  <a:schemeClr val="tx1"/>
                </a:solidFill>
              </a:rPr>
              <a:t>Módulo ou intensidade: </a:t>
            </a:r>
            <a:r>
              <a:rPr lang="pt-BR" altLang="pt-BR" sz="1600" b="0" dirty="0">
                <a:solidFill>
                  <a:schemeClr val="tx1"/>
                </a:solidFill>
              </a:rPr>
              <a:t>igual ao da compressão que a superfície recebe;</a:t>
            </a:r>
          </a:p>
          <a:p>
            <a:pPr algn="just">
              <a:lnSpc>
                <a:spcPct val="150000"/>
              </a:lnSpc>
            </a:pPr>
            <a:r>
              <a:rPr lang="pt-BR" altLang="pt-BR" sz="1600" dirty="0">
                <a:solidFill>
                  <a:schemeClr val="tx1"/>
                </a:solidFill>
              </a:rPr>
              <a:t>Direção: </a:t>
            </a:r>
            <a:r>
              <a:rPr lang="pt-BR" altLang="pt-BR" sz="1600" b="0" dirty="0">
                <a:solidFill>
                  <a:schemeClr val="tx1"/>
                </a:solidFill>
              </a:rPr>
              <a:t>perpendicular à superfície de apoio;</a:t>
            </a:r>
          </a:p>
          <a:p>
            <a:pPr algn="just">
              <a:lnSpc>
                <a:spcPct val="150000"/>
              </a:lnSpc>
            </a:pPr>
            <a:r>
              <a:rPr lang="pt-BR" altLang="pt-BR" sz="1600" dirty="0">
                <a:solidFill>
                  <a:schemeClr val="tx1"/>
                </a:solidFill>
              </a:rPr>
              <a:t>Sentido: </a:t>
            </a:r>
            <a:r>
              <a:rPr lang="pt-BR" altLang="pt-BR" sz="1600" b="0" dirty="0">
                <a:solidFill>
                  <a:schemeClr val="tx1"/>
                </a:solidFill>
              </a:rPr>
              <a:t>do apoio para o corpo.</a:t>
            </a:r>
          </a:p>
          <a:p>
            <a:pPr algn="just">
              <a:lnSpc>
                <a:spcPct val="150000"/>
              </a:lnSpc>
            </a:pPr>
            <a:endParaRPr lang="pt-BR" altLang="pt-BR" sz="1600" dirty="0">
              <a:solidFill>
                <a:schemeClr val="tx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EEE2FAB-F98F-4C5A-B6EF-573D6B7F17D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84" y="4796569"/>
            <a:ext cx="3601616" cy="1986786"/>
          </a:xfrm>
          <a:prstGeom prst="rect">
            <a:avLst/>
          </a:prstGeom>
        </p:spPr>
      </p:pic>
      <p:pic>
        <p:nvPicPr>
          <p:cNvPr id="8" name="Imagem 7" descr="Uma imagem contendo mesa, mobília&#10;&#10;Descrição gerada com muito alta confiança">
            <a:extLst>
              <a:ext uri="{FF2B5EF4-FFF2-40B4-BE49-F238E27FC236}">
                <a16:creationId xmlns:a16="http://schemas.microsoft.com/office/drawing/2014/main" id="{709D5B4A-BD96-4FAD-AF80-5D25A5B96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315" y="4573555"/>
            <a:ext cx="2857500" cy="2209800"/>
          </a:xfrm>
          <a:prstGeom prst="rect">
            <a:avLst/>
          </a:prstGeom>
        </p:spPr>
      </p:pic>
      <p:cxnSp>
        <p:nvCxnSpPr>
          <p:cNvPr id="3" name="Conector de Seta Reta 2"/>
          <p:cNvCxnSpPr>
            <a:endCxn id="8" idx="0"/>
          </p:cNvCxnSpPr>
          <p:nvPr/>
        </p:nvCxnSpPr>
        <p:spPr>
          <a:xfrm flipH="1">
            <a:off x="6784065" y="3863340"/>
            <a:ext cx="813075" cy="7102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>
            <a:off x="6210300" y="5745480"/>
            <a:ext cx="922020" cy="1524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 flipV="1">
            <a:off x="6926580" y="4914900"/>
            <a:ext cx="30480" cy="8458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2842260" y="6073140"/>
            <a:ext cx="784860" cy="38862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/>
          <p:cNvCxnSpPr/>
          <p:nvPr/>
        </p:nvCxnSpPr>
        <p:spPr>
          <a:xfrm flipV="1">
            <a:off x="3230880" y="5455920"/>
            <a:ext cx="464820" cy="8077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13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2"/>
          <p:cNvSpPr>
            <a:spLocks noChangeArrowheads="1"/>
          </p:cNvSpPr>
          <p:nvPr/>
        </p:nvSpPr>
        <p:spPr bwMode="auto">
          <a:xfrm>
            <a:off x="34925" y="25676"/>
            <a:ext cx="8964613" cy="1877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1400" dirty="0">
                <a:solidFill>
                  <a:srgbClr val="FF0000"/>
                </a:solidFill>
              </a:rPr>
              <a:t>	Exercício:</a:t>
            </a:r>
            <a:endParaRPr lang="pt-BR" altLang="pt-BR" sz="1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01)</a:t>
            </a:r>
            <a:r>
              <a:rPr lang="pt-BR" altLang="pt-BR" sz="1400" b="0" dirty="0">
                <a:solidFill>
                  <a:schemeClr val="tx1"/>
                </a:solidFill>
              </a:rPr>
              <a:t>	Um bloco de massa M igual a 33 kg é empurrado por uma superfície sem atrito por uma vara de massa m igual a 3,2 kg conforme mostra a figura seguinte o bloco é movimentado a partir do repouso por uma distância d de 77 cm em 1,7 s.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a)</a:t>
            </a:r>
            <a:r>
              <a:rPr lang="pt-BR" altLang="pt-BR" sz="1400" b="0" dirty="0">
                <a:solidFill>
                  <a:schemeClr val="tx1"/>
                </a:solidFill>
              </a:rPr>
              <a:t>	Identifique todos os pares de ação e reação forças que agem neste problema.</a:t>
            </a:r>
          </a:p>
        </p:txBody>
      </p:sp>
      <p:pic>
        <p:nvPicPr>
          <p:cNvPr id="11268" name="Picture 16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052" y="4076700"/>
            <a:ext cx="5338511" cy="211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503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ChangeArrowheads="1"/>
          </p:cNvSpPr>
          <p:nvPr/>
        </p:nvSpPr>
        <p:spPr bwMode="auto">
          <a:xfrm>
            <a:off x="34925" y="65223"/>
            <a:ext cx="8964613" cy="1338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	01)</a:t>
            </a:r>
            <a:r>
              <a:rPr lang="pt-BR" altLang="pt-BR" sz="1400" b="0" dirty="0">
                <a:solidFill>
                  <a:schemeClr val="tx1"/>
                </a:solidFill>
              </a:rPr>
              <a:t>	Um bloco de massa M igual a 33 kg é empurrado por uma superfície sem atrito por uma vara de massa m igual a 3,2 kg conforme mostra a figura seguinte o bloco é movimentado a partir do repouso por uma distância d de 77 cm em 1,7 s.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altLang="pt-BR" sz="1400" dirty="0">
                <a:solidFill>
                  <a:schemeClr val="tx1"/>
                </a:solidFill>
              </a:rPr>
              <a:t>b)</a:t>
            </a:r>
            <a:r>
              <a:rPr lang="pt-BR" altLang="pt-BR" sz="1400" b="0" dirty="0">
                <a:solidFill>
                  <a:schemeClr val="tx1"/>
                </a:solidFill>
              </a:rPr>
              <a:t>	Que força a mão deve aplicar á vara? a = </a:t>
            </a:r>
            <a:r>
              <a:rPr lang="el-GR" altLang="pt-BR" sz="1400" b="0" dirty="0">
                <a:solidFill>
                  <a:schemeClr val="tx1"/>
                </a:solidFill>
                <a:cs typeface="Arial" panose="020B0604020202020204" pitchFamily="34" charset="0"/>
              </a:rPr>
              <a:t>Δ</a:t>
            </a:r>
            <a:r>
              <a:rPr lang="pt-BR" altLang="pt-BR" sz="1400" dirty="0">
                <a:solidFill>
                  <a:schemeClr val="tx1"/>
                </a:solidFill>
                <a:cs typeface="Arial" panose="020B0604020202020204" pitchFamily="34" charset="0"/>
              </a:rPr>
              <a:t>v</a:t>
            </a:r>
            <a:r>
              <a:rPr lang="pt-BR" altLang="pt-BR" sz="1400" b="0" dirty="0">
                <a:solidFill>
                  <a:schemeClr val="tx1"/>
                </a:solidFill>
                <a:cs typeface="Arial" panose="020B0604020202020204" pitchFamily="34" charset="0"/>
              </a:rPr>
              <a:t>/ </a:t>
            </a:r>
            <a:r>
              <a:rPr lang="el-GR" altLang="pt-BR" sz="1400" b="0" dirty="0">
                <a:solidFill>
                  <a:schemeClr val="tx1"/>
                </a:solidFill>
              </a:rPr>
              <a:t>Δ</a:t>
            </a:r>
            <a:r>
              <a:rPr lang="pt-BR" altLang="pt-BR" sz="1400" b="0" dirty="0">
                <a:solidFill>
                  <a:schemeClr val="tx1"/>
                </a:solidFill>
              </a:rPr>
              <a:t>t, x – x</a:t>
            </a:r>
            <a:r>
              <a:rPr lang="pt-BR" altLang="pt-BR" sz="1400" b="0" baseline="-25000" dirty="0">
                <a:solidFill>
                  <a:schemeClr val="tx1"/>
                </a:solidFill>
              </a:rPr>
              <a:t>0</a:t>
            </a:r>
            <a:r>
              <a:rPr lang="pt-BR" altLang="pt-BR" sz="1400" b="0" dirty="0">
                <a:solidFill>
                  <a:schemeClr val="tx1"/>
                </a:solidFill>
              </a:rPr>
              <a:t> = v</a:t>
            </a:r>
            <a:r>
              <a:rPr lang="pt-BR" altLang="pt-BR" sz="1400" b="0" baseline="-25000" dirty="0">
                <a:solidFill>
                  <a:schemeClr val="tx1"/>
                </a:solidFill>
              </a:rPr>
              <a:t>0</a:t>
            </a:r>
            <a:r>
              <a:rPr lang="pt-BR" altLang="pt-BR" sz="1400" b="0" dirty="0">
                <a:solidFill>
                  <a:schemeClr val="tx1"/>
                </a:solidFill>
              </a:rPr>
              <a:t>t + (1/2)at</a:t>
            </a:r>
            <a:r>
              <a:rPr lang="pt-BR" altLang="pt-BR" sz="1400" b="0" baseline="30000" dirty="0">
                <a:solidFill>
                  <a:schemeClr val="tx1"/>
                </a:solidFill>
              </a:rPr>
              <a:t>2</a:t>
            </a:r>
            <a:r>
              <a:rPr lang="pt-BR" altLang="pt-BR" sz="1400" b="0" dirty="0">
                <a:solidFill>
                  <a:schemeClr val="tx1"/>
                </a:solidFill>
              </a:rPr>
              <a:t>, </a:t>
            </a:r>
            <a:r>
              <a:rPr lang="pt-BR" altLang="pt-BR" sz="1400" dirty="0">
                <a:solidFill>
                  <a:schemeClr val="tx1"/>
                </a:solidFill>
              </a:rPr>
              <a:t>f</a:t>
            </a:r>
            <a:r>
              <a:rPr lang="pt-BR" altLang="pt-BR" sz="1400" b="0" dirty="0">
                <a:solidFill>
                  <a:schemeClr val="tx1"/>
                </a:solidFill>
              </a:rPr>
              <a:t> = m</a:t>
            </a:r>
            <a:r>
              <a:rPr lang="pt-BR" altLang="pt-BR" sz="1400" dirty="0">
                <a:solidFill>
                  <a:schemeClr val="tx1"/>
                </a:solidFill>
              </a:rPr>
              <a:t>a</a:t>
            </a:r>
            <a:r>
              <a:rPr lang="pt-BR" altLang="pt-BR" sz="1400" b="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4" name="Picture 16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44" y="4076700"/>
            <a:ext cx="5338511" cy="211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87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 descr="novo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052" y="4076700"/>
            <a:ext cx="5338511" cy="2118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3626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"/>
          <p:cNvSpPr>
            <a:spLocks noChangeArrowheads="1"/>
          </p:cNvSpPr>
          <p:nvPr/>
        </p:nvSpPr>
        <p:spPr bwMode="auto">
          <a:xfrm>
            <a:off x="34925" y="727075"/>
            <a:ext cx="8964613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rgbClr val="FF0000"/>
                </a:solidFill>
              </a:rPr>
              <a:t>	Exercício:</a:t>
            </a:r>
            <a:endParaRPr lang="pt-BR" altLang="pt-BR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dirty="0">
                <a:solidFill>
                  <a:schemeClr val="tx1"/>
                </a:solidFill>
              </a:rPr>
              <a:t>02)</a:t>
            </a:r>
            <a:r>
              <a:rPr lang="pt-BR" altLang="pt-BR" b="0" dirty="0">
                <a:solidFill>
                  <a:schemeClr val="tx1"/>
                </a:solidFill>
              </a:rPr>
              <a:t>	A figura seguinte mostra um bloco de massa m de 15 kg pendurado por três cordas, quais são as tensões nas três cordas? </a:t>
            </a:r>
            <a:r>
              <a:rPr lang="pt-BR" altLang="pt-BR" dirty="0">
                <a:solidFill>
                  <a:schemeClr val="tx1"/>
                </a:solidFill>
              </a:rPr>
              <a:t>P</a:t>
            </a:r>
            <a:r>
              <a:rPr lang="pt-BR" altLang="pt-BR" b="0" dirty="0">
                <a:solidFill>
                  <a:schemeClr val="tx1"/>
                </a:solidFill>
              </a:rPr>
              <a:t> = m</a:t>
            </a:r>
            <a:r>
              <a:rPr lang="pt-BR" altLang="pt-BR" dirty="0">
                <a:solidFill>
                  <a:schemeClr val="tx1"/>
                </a:solidFill>
              </a:rPr>
              <a:t>g</a:t>
            </a:r>
            <a:r>
              <a:rPr lang="pt-BR" altLang="pt-BR" b="0" dirty="0">
                <a:solidFill>
                  <a:schemeClr val="tx1"/>
                </a:solidFill>
              </a:rPr>
              <a:t>.</a:t>
            </a:r>
            <a:endParaRPr lang="el-GR" altLang="pt-BR" b="0" dirty="0">
              <a:solidFill>
                <a:schemeClr val="tx1"/>
              </a:solidFill>
            </a:endParaRPr>
          </a:p>
        </p:txBody>
      </p:sp>
      <p:pic>
        <p:nvPicPr>
          <p:cNvPr id="13315" name="Picture 13" descr="novo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708275"/>
            <a:ext cx="6408738" cy="260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7368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7"/>
          <p:cNvSpPr>
            <a:spLocks noChangeArrowheads="1"/>
          </p:cNvSpPr>
          <p:nvPr/>
        </p:nvSpPr>
        <p:spPr bwMode="auto">
          <a:xfrm>
            <a:off x="34925" y="727075"/>
            <a:ext cx="8964613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rgbClr val="FF0000"/>
                </a:solidFill>
              </a:rPr>
              <a:t>	Exercício:</a:t>
            </a:r>
            <a:endParaRPr lang="pt-BR" altLang="pt-BR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dirty="0">
                <a:solidFill>
                  <a:schemeClr val="tx1"/>
                </a:solidFill>
              </a:rPr>
              <a:t>03)</a:t>
            </a:r>
            <a:r>
              <a:rPr lang="pt-BR" altLang="pt-BR" b="0" dirty="0">
                <a:solidFill>
                  <a:schemeClr val="tx1"/>
                </a:solidFill>
              </a:rPr>
              <a:t>	A figura seguinte mostra um bloco de massa m de 15 kg preso por uma corda por uma corda sobre um plano sem atrito que faz um ângulo de 27</a:t>
            </a:r>
            <a:r>
              <a:rPr lang="pt-BR" altLang="pt-BR" b="0" baseline="30000" dirty="0">
                <a:solidFill>
                  <a:schemeClr val="tx1"/>
                </a:solidFill>
              </a:rPr>
              <a:t>0</a:t>
            </a:r>
            <a:r>
              <a:rPr lang="pt-BR" altLang="pt-BR" b="0" dirty="0">
                <a:solidFill>
                  <a:schemeClr val="tx1"/>
                </a:solidFill>
              </a:rPr>
              <a:t> com a horizontal. Qual a tensão na corda? Qual a força que o plano exerce sobre o bloco? </a:t>
            </a:r>
            <a:r>
              <a:rPr lang="pt-BR" altLang="pt-BR" dirty="0">
                <a:solidFill>
                  <a:schemeClr val="tx1"/>
                </a:solidFill>
              </a:rPr>
              <a:t>P</a:t>
            </a:r>
            <a:r>
              <a:rPr lang="pt-BR" altLang="pt-BR" b="0" dirty="0">
                <a:solidFill>
                  <a:schemeClr val="tx1"/>
                </a:solidFill>
              </a:rPr>
              <a:t> = m</a:t>
            </a:r>
            <a:r>
              <a:rPr lang="pt-BR" altLang="pt-BR" dirty="0">
                <a:solidFill>
                  <a:schemeClr val="tx1"/>
                </a:solidFill>
              </a:rPr>
              <a:t>g</a:t>
            </a:r>
            <a:r>
              <a:rPr lang="pt-BR" altLang="pt-BR" b="0" dirty="0">
                <a:solidFill>
                  <a:schemeClr val="tx1"/>
                </a:solidFill>
              </a:rPr>
              <a:t>.</a:t>
            </a:r>
            <a:endParaRPr lang="el-GR" altLang="pt-BR" b="0" dirty="0">
              <a:solidFill>
                <a:schemeClr val="tx1"/>
              </a:solidFill>
            </a:endParaRPr>
          </a:p>
        </p:txBody>
      </p:sp>
      <p:pic>
        <p:nvPicPr>
          <p:cNvPr id="14339" name="Picture 18" descr="novo-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535363"/>
            <a:ext cx="3159125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84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34925" y="727075"/>
            <a:ext cx="8964613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altLang="pt-BR" sz="2800" dirty="0">
                <a:solidFill>
                  <a:srgbClr val="FF0000"/>
                </a:solidFill>
              </a:rPr>
              <a:t>	Exercício:</a:t>
            </a:r>
            <a:endParaRPr lang="pt-BR" altLang="pt-BR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pt-BR" altLang="pt-BR" sz="1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altLang="pt-BR" dirty="0">
                <a:solidFill>
                  <a:schemeClr val="tx1"/>
                </a:solidFill>
              </a:rPr>
              <a:t>04)</a:t>
            </a:r>
            <a:r>
              <a:rPr lang="pt-BR" altLang="pt-BR" b="0" dirty="0">
                <a:solidFill>
                  <a:schemeClr val="tx1"/>
                </a:solidFill>
              </a:rPr>
              <a:t>	Suponha que a corda que segura o bloco do problema anterior tenha sido cortada. Com que aceleração o bloco se moverá?</a:t>
            </a:r>
            <a:endParaRPr lang="el-GR" altLang="pt-BR" b="0" dirty="0">
              <a:solidFill>
                <a:schemeClr val="tx1"/>
              </a:solidFill>
            </a:endParaRPr>
          </a:p>
        </p:txBody>
      </p:sp>
      <p:pic>
        <p:nvPicPr>
          <p:cNvPr id="15363" name="Picture 5" descr="novo-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535363"/>
            <a:ext cx="3159125" cy="245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6510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743986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pt-BR" altLang="pt-BR" dirty="0"/>
              <a:t>HALLIDAY, David; RESNICK, Robert;  WALKER, Jearl. Fundamentos de Física: gravitação, ondas e termodinâmica. Vol 2. Rio de Janeiro: LTC, 2006. </a:t>
            </a:r>
            <a:r>
              <a:rPr lang="pt-BR" altLang="pt-BR" dirty="0">
                <a:solidFill>
                  <a:srgbClr val="FF0000"/>
                </a:solidFill>
              </a:rPr>
              <a:t>CAP. 5</a:t>
            </a: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387982"/>
            <a:ext cx="689400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2025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838</TotalTime>
  <Words>821</Words>
  <Application>Microsoft Office PowerPoint</Application>
  <PresentationFormat>Apresentação na tela (4:3)</PresentationFormat>
  <Paragraphs>57</Paragraphs>
  <Slides>17</Slides>
  <Notes>6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30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Equação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</cp:lastModifiedBy>
  <cp:revision>207</cp:revision>
  <dcterms:created xsi:type="dcterms:W3CDTF">2015-02-07T21:24:47Z</dcterms:created>
  <dcterms:modified xsi:type="dcterms:W3CDTF">2025-09-15T19:44:51Z</dcterms:modified>
</cp:coreProperties>
</file>