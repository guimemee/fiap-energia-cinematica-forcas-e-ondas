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2"/>
  </p:notesMasterIdLst>
  <p:handoutMasterIdLst>
    <p:handoutMasterId r:id="rId23"/>
  </p:handoutMasterIdLst>
  <p:sldIdLst>
    <p:sldId id="256" r:id="rId6"/>
    <p:sldId id="266" r:id="rId7"/>
    <p:sldId id="258" r:id="rId8"/>
    <p:sldId id="259" r:id="rId9"/>
    <p:sldId id="291" r:id="rId10"/>
    <p:sldId id="274" r:id="rId11"/>
    <p:sldId id="286" r:id="rId12"/>
    <p:sldId id="287" r:id="rId13"/>
    <p:sldId id="292" r:id="rId14"/>
    <p:sldId id="288" r:id="rId15"/>
    <p:sldId id="290" r:id="rId16"/>
    <p:sldId id="294" r:id="rId17"/>
    <p:sldId id="293" r:id="rId18"/>
    <p:sldId id="285" r:id="rId19"/>
    <p:sldId id="263" r:id="rId20"/>
    <p:sldId id="265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6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19/08/2024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04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5"/>
          <p:cNvSpPr txBox="1"/>
          <p:nvPr userDrawn="1"/>
        </p:nvSpPr>
        <p:spPr>
          <a:xfrm>
            <a:off x="947124" y="745668"/>
            <a:ext cx="66582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Energia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, </a:t>
            </a:r>
            <a:r>
              <a:rPr lang="en-US" sz="2800" b="1" baseline="0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Cinemática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, </a:t>
            </a:r>
            <a:r>
              <a:rPr lang="en-US" sz="2800" b="1" baseline="0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Força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e </a:t>
            </a:r>
            <a:r>
              <a:rPr lang="en-US" sz="2800" b="1" baseline="0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Ondas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</a:t>
            </a:r>
            <a:r>
              <a:rPr kumimoji="1" lang="en-US" sz="2000" b="1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Dr</a:t>
            </a: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6" name="TextBox 20"/>
          <p:cNvSpPr txBox="1"/>
          <p:nvPr/>
        </p:nvSpPr>
        <p:spPr>
          <a:xfrm>
            <a:off x="1042703" y="3898936"/>
            <a:ext cx="5407257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Energia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Cinemática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Força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Ondas</a:t>
            </a:r>
            <a:endParaRPr lang="en-US" sz="2200" dirty="0">
              <a:solidFill>
                <a:srgbClr val="FFFFFF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spaço Reservado para Texto 26"/>
          <p:cNvSpPr>
            <a:spLocks noGrp="1"/>
          </p:cNvSpPr>
          <p:nvPr>
            <p:ph type="body" sz="quarter" idx="13"/>
          </p:nvPr>
        </p:nvSpPr>
        <p:spPr>
          <a:xfrm>
            <a:off x="914400" y="1447800"/>
            <a:ext cx="7238198" cy="562778"/>
          </a:xfrm>
        </p:spPr>
        <p:txBody>
          <a:bodyPr/>
          <a:lstStyle/>
          <a:p>
            <a:r>
              <a:rPr lang="pt-BR" sz="4000" dirty="0">
                <a:solidFill>
                  <a:srgbClr val="FF0000"/>
                </a:solidFill>
              </a:rPr>
              <a:t>Física do Movimento: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>
                <a:solidFill>
                  <a:srgbClr val="FF0000"/>
                </a:solidFill>
              </a:rPr>
              <a:t>*	Determinação da Aceleração da gravidade (g)</a:t>
            </a:r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69579" y="70388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/>
              <a:t>int</a:t>
            </a:r>
            <a:r>
              <a:rPr lang="pt-BR" dirty="0"/>
              <a:t> sensor_1 = 8;</a:t>
            </a:r>
          </a:p>
          <a:p>
            <a:r>
              <a:rPr lang="pt-BR" dirty="0" err="1"/>
              <a:t>int</a:t>
            </a:r>
            <a:r>
              <a:rPr lang="pt-BR" dirty="0"/>
              <a:t> sensor_2 = 9;</a:t>
            </a:r>
          </a:p>
          <a:p>
            <a:r>
              <a:rPr lang="pt-BR" dirty="0" err="1"/>
              <a:t>int</a:t>
            </a:r>
            <a:r>
              <a:rPr lang="pt-BR" dirty="0"/>
              <a:t> sensor_3 = 10;</a:t>
            </a:r>
          </a:p>
          <a:p>
            <a:r>
              <a:rPr lang="pt-BR" dirty="0" err="1"/>
              <a:t>int</a:t>
            </a:r>
            <a:r>
              <a:rPr lang="pt-BR" dirty="0"/>
              <a:t> sensor_4 = 11;</a:t>
            </a:r>
          </a:p>
          <a:p>
            <a:r>
              <a:rPr lang="pt-BR" dirty="0" err="1"/>
              <a:t>int</a:t>
            </a:r>
            <a:r>
              <a:rPr lang="pt-BR" dirty="0"/>
              <a:t> sensor_5 = 12;</a:t>
            </a:r>
          </a:p>
        </p:txBody>
      </p:sp>
      <p:pic>
        <p:nvPicPr>
          <p:cNvPr id="4" name="Imagem 3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855" y="842962"/>
            <a:ext cx="4843145" cy="5172075"/>
          </a:xfrm>
          <a:prstGeom prst="rect">
            <a:avLst/>
          </a:prstGeom>
        </p:spPr>
      </p:pic>
      <p:pic>
        <p:nvPicPr>
          <p:cNvPr id="5" name="Imagem 4"/>
          <p:cNvPicPr/>
          <p:nvPr/>
        </p:nvPicPr>
        <p:blipFill rotWithShape="1">
          <a:blip r:embed="rId3"/>
          <a:srcRect l="2646" t="60805" r="86070" b="9328"/>
          <a:stretch/>
        </p:blipFill>
        <p:spPr bwMode="auto">
          <a:xfrm>
            <a:off x="0" y="3486150"/>
            <a:ext cx="1952626" cy="29055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9" name="Conector de Seta Reta 8"/>
          <p:cNvCxnSpPr/>
          <p:nvPr/>
        </p:nvCxnSpPr>
        <p:spPr>
          <a:xfrm>
            <a:off x="6545317" y="1277318"/>
            <a:ext cx="0" cy="41854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H="1">
            <a:off x="5155324" y="1765738"/>
            <a:ext cx="1389994" cy="5754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2883052" y="2228196"/>
            <a:ext cx="24950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987,5 – 11 = 976,5 mm</a:t>
            </a:r>
          </a:p>
          <a:p>
            <a:r>
              <a:rPr lang="pt-BR" dirty="0"/>
              <a:t>=0,9765 m</a:t>
            </a:r>
          </a:p>
        </p:txBody>
      </p:sp>
    </p:spTree>
    <p:extLst>
      <p:ext uri="{BB962C8B-B14F-4D97-AF65-F5344CB8AC3E}">
        <p14:creationId xmlns:p14="http://schemas.microsoft.com/office/powerpoint/2010/main" val="399316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584" y="1324303"/>
            <a:ext cx="4392416" cy="46907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1"/>
              <p:cNvSpPr txBox="1"/>
              <p:nvPr/>
            </p:nvSpPr>
            <p:spPr bwMode="auto">
              <a:xfrm>
                <a:off x="2765249" y="914427"/>
                <a:ext cx="1923064" cy="23809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/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br>
                  <a:rPr lang="pt-BR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pt-BR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pt-BR" sz="2400" dirty="0"/>
                  <a:t>s = ?</a:t>
                </a:r>
              </a:p>
            </p:txBody>
          </p:sp>
        </mc:Choice>
        <mc:Fallback xmlns="">
          <p:sp>
            <p:nvSpPr>
              <p:cNvPr id="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5249" y="914427"/>
                <a:ext cx="1923064" cy="2380907"/>
              </a:xfrm>
              <a:prstGeom prst="rect">
                <a:avLst/>
              </a:prstGeom>
              <a:blipFill>
                <a:blip r:embed="rId3"/>
                <a:stretch>
                  <a:fillRect l="-9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/>
          <p:cNvCxnSpPr/>
          <p:nvPr/>
        </p:nvCxnSpPr>
        <p:spPr>
          <a:xfrm>
            <a:off x="8752490" y="751488"/>
            <a:ext cx="0" cy="9038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6834352" y="591262"/>
            <a:ext cx="1854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Sentido crescente</a:t>
            </a:r>
          </a:p>
          <a:p>
            <a:r>
              <a:rPr lang="pt-BR" dirty="0"/>
              <a:t>da posição.</a:t>
            </a: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49886"/>
              </p:ext>
            </p:extLst>
          </p:nvPr>
        </p:nvGraphicFramePr>
        <p:xfrm>
          <a:off x="340617" y="4562695"/>
          <a:ext cx="3811587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942920" imgH="965160" progId="Equation.3">
                  <p:embed/>
                </p:oleObj>
              </mc:Choice>
              <mc:Fallback>
                <p:oleObj name="Equação" r:id="rId4" imgW="1942920" imgH="965160" progId="Equation.3">
                  <p:embed/>
                  <p:pic>
                    <p:nvPicPr>
                      <p:cNvPr id="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17" y="4562695"/>
                        <a:ext cx="3811587" cy="189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F945E88-1139-4E26-9239-F4E53B5C3E4C}"/>
              </a:ext>
            </a:extLst>
          </p:cNvPr>
          <p:cNvCxnSpPr>
            <a:cxnSpLocks/>
          </p:cNvCxnSpPr>
          <p:nvPr/>
        </p:nvCxnSpPr>
        <p:spPr>
          <a:xfrm>
            <a:off x="4468306" y="1583703"/>
            <a:ext cx="1762812" cy="1508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D981FB65-0875-418F-A1AD-6FE6DC7621A5}"/>
              </a:ext>
            </a:extLst>
          </p:cNvPr>
          <p:cNvCxnSpPr>
            <a:cxnSpLocks/>
          </p:cNvCxnSpPr>
          <p:nvPr/>
        </p:nvCxnSpPr>
        <p:spPr>
          <a:xfrm flipV="1">
            <a:off x="1989056" y="5420412"/>
            <a:ext cx="4242062" cy="1132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257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8"/>
              <p:cNvSpPr txBox="1"/>
              <p:nvPr/>
            </p:nvSpPr>
            <p:spPr bwMode="auto">
              <a:xfrm>
                <a:off x="287338" y="3429000"/>
                <a:ext cx="3508375" cy="2347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pt-B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pt-BR" dirty="0"/>
              </a:p>
            </p:txBody>
          </p:sp>
        </mc:Choice>
        <mc:Fallback xmlns="">
          <p:sp>
            <p:nvSpPr>
              <p:cNvPr id="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38" y="3429000"/>
                <a:ext cx="3508375" cy="23479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230554"/>
              </p:ext>
            </p:extLst>
          </p:nvPr>
        </p:nvGraphicFramePr>
        <p:xfrm>
          <a:off x="4632763" y="418498"/>
          <a:ext cx="1444625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736560" imgH="965160" progId="Equation.3">
                  <p:embed/>
                </p:oleObj>
              </mc:Choice>
              <mc:Fallback>
                <p:oleObj name="Equação" r:id="rId3" imgW="736560" imgH="965160" progId="Equation.3">
                  <p:embed/>
                  <p:pic>
                    <p:nvPicPr>
                      <p:cNvPr id="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763" y="418498"/>
                        <a:ext cx="1444625" cy="189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558777"/>
              </p:ext>
            </p:extLst>
          </p:nvPr>
        </p:nvGraphicFramePr>
        <p:xfrm>
          <a:off x="4662284" y="2927322"/>
          <a:ext cx="3811587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942920" imgH="965160" progId="Equation.3">
                  <p:embed/>
                </p:oleObj>
              </mc:Choice>
              <mc:Fallback>
                <p:oleObj name="Equação" r:id="rId5" imgW="1942920" imgH="965160" progId="Equation.3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284" y="2927322"/>
                        <a:ext cx="3811587" cy="189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447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4"/>
          <p:cNvSpPr>
            <a:spLocks noGrp="1"/>
          </p:cNvSpPr>
          <p:nvPr>
            <p:ph idx="1"/>
          </p:nvPr>
        </p:nvSpPr>
        <p:spPr>
          <a:xfrm>
            <a:off x="417787" y="701565"/>
            <a:ext cx="5273565" cy="5517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	Planejamento do software</a:t>
            </a:r>
          </a:p>
        </p:txBody>
      </p:sp>
      <p:sp>
        <p:nvSpPr>
          <p:cNvPr id="3" name="Retângulo 2"/>
          <p:cNvSpPr/>
          <p:nvPr/>
        </p:nvSpPr>
        <p:spPr>
          <a:xfrm>
            <a:off x="2971800" y="1442545"/>
            <a:ext cx="1820917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2987565" y="1442545"/>
            <a:ext cx="2806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Inclusão de bibliotecas;</a:t>
            </a:r>
          </a:p>
          <a:p>
            <a:r>
              <a:rPr lang="pt-BR" sz="1200" dirty="0"/>
              <a:t>* Declaração de variáveis;</a:t>
            </a:r>
          </a:p>
        </p:txBody>
      </p:sp>
      <p:sp>
        <p:nvSpPr>
          <p:cNvPr id="5" name="Retângulo 4"/>
          <p:cNvSpPr/>
          <p:nvPr/>
        </p:nvSpPr>
        <p:spPr>
          <a:xfrm>
            <a:off x="2987565" y="2275443"/>
            <a:ext cx="214323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2892315" y="2037447"/>
            <a:ext cx="746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setup ()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987565" y="2294945"/>
            <a:ext cx="2806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Inicializar o LCD;</a:t>
            </a:r>
          </a:p>
          <a:p>
            <a:r>
              <a:rPr lang="pt-BR" sz="1200" dirty="0"/>
              <a:t>* Declarar as portas de entrada;</a:t>
            </a:r>
          </a:p>
        </p:txBody>
      </p:sp>
      <p:sp>
        <p:nvSpPr>
          <p:cNvPr id="8" name="Retângulo 7"/>
          <p:cNvSpPr/>
          <p:nvPr/>
        </p:nvSpPr>
        <p:spPr>
          <a:xfrm>
            <a:off x="2987565" y="3147345"/>
            <a:ext cx="214323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2892315" y="2909349"/>
            <a:ext cx="746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loop ()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65538" y="1854612"/>
            <a:ext cx="2806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Sensor de passagem: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38" y="2244457"/>
            <a:ext cx="2267440" cy="2267440"/>
          </a:xfrm>
          <a:prstGeom prst="rect">
            <a:avLst/>
          </a:prstGeom>
        </p:spPr>
      </p:pic>
      <p:cxnSp>
        <p:nvCxnSpPr>
          <p:cNvPr id="13" name="Conector de Seta Reta 12"/>
          <p:cNvCxnSpPr/>
          <p:nvPr/>
        </p:nvCxnSpPr>
        <p:spPr>
          <a:xfrm>
            <a:off x="543560" y="3850641"/>
            <a:ext cx="370840" cy="4317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873760" y="4184267"/>
            <a:ext cx="2898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V</a:t>
            </a:r>
            <a:r>
              <a:rPr lang="pt-BR" sz="1200" baseline="-25000" dirty="0">
                <a:solidFill>
                  <a:srgbClr val="FF0000"/>
                </a:solidFill>
              </a:rPr>
              <a:t>cc</a:t>
            </a:r>
            <a:r>
              <a:rPr lang="pt-BR" sz="1200" dirty="0">
                <a:solidFill>
                  <a:srgbClr val="FF0000"/>
                </a:solidFill>
              </a:rPr>
              <a:t> = Entrada de alimentação positiva -&gt; 5V</a:t>
            </a: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414423" y="3850641"/>
            <a:ext cx="499977" cy="7741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873760" y="4516008"/>
            <a:ext cx="3147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GND = Entrada de alimentação negativa -&gt; GND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309214" y="3821927"/>
            <a:ext cx="564546" cy="121743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859278" y="4923001"/>
            <a:ext cx="2784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00B0F0"/>
                </a:solidFill>
              </a:rPr>
              <a:t>DO = Digital Out -&gt; Saída digital do sensor</a:t>
            </a:r>
          </a:p>
        </p:txBody>
      </p:sp>
    </p:spTree>
    <p:extLst>
      <p:ext uri="{BB962C8B-B14F-4D97-AF65-F5344CB8AC3E}">
        <p14:creationId xmlns:p14="http://schemas.microsoft.com/office/powerpoint/2010/main" val="395065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4587782" y="619170"/>
            <a:ext cx="1820917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4603547" y="619170"/>
            <a:ext cx="2806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Inclusão de bibliotecas;</a:t>
            </a:r>
          </a:p>
          <a:p>
            <a:r>
              <a:rPr lang="pt-BR" sz="1200" dirty="0"/>
              <a:t>* Declaração de variáveis;</a:t>
            </a:r>
          </a:p>
        </p:txBody>
      </p:sp>
      <p:sp>
        <p:nvSpPr>
          <p:cNvPr id="5" name="Retângulo 4"/>
          <p:cNvSpPr/>
          <p:nvPr/>
        </p:nvSpPr>
        <p:spPr>
          <a:xfrm>
            <a:off x="4603547" y="1452068"/>
            <a:ext cx="2143235" cy="665833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4508297" y="1214072"/>
            <a:ext cx="746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setup ()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603547" y="1471570"/>
            <a:ext cx="280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Inicializar o LCD;</a:t>
            </a:r>
          </a:p>
          <a:p>
            <a:r>
              <a:rPr lang="pt-BR" sz="1200" dirty="0"/>
              <a:t>* Declarar as portas de entrada;</a:t>
            </a:r>
          </a:p>
          <a:p>
            <a:r>
              <a:rPr lang="pt-BR" sz="1200" dirty="0"/>
              <a:t>* Msg inicial;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508297" y="2294199"/>
            <a:ext cx="746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loop ()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963764" y="568004"/>
            <a:ext cx="38000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1343769" y="660336"/>
            <a:ext cx="888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Sensor S1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501179" y="117136"/>
            <a:ext cx="27009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807206" y="221265"/>
            <a:ext cx="1621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não detectado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963764" y="2045907"/>
            <a:ext cx="38000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/>
          <p:cNvSpPr txBox="1"/>
          <p:nvPr/>
        </p:nvSpPr>
        <p:spPr>
          <a:xfrm>
            <a:off x="1343769" y="2138239"/>
            <a:ext cx="888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Sensor S1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501179" y="1907406"/>
            <a:ext cx="27009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807206" y="1505075"/>
            <a:ext cx="1621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detectado</a:t>
            </a:r>
          </a:p>
        </p:txBody>
      </p:sp>
      <p:cxnSp>
        <p:nvCxnSpPr>
          <p:cNvPr id="30" name="Conector de Seta Reta 29"/>
          <p:cNvCxnSpPr/>
          <p:nvPr/>
        </p:nvCxnSpPr>
        <p:spPr>
          <a:xfrm flipV="1">
            <a:off x="906449" y="1725512"/>
            <a:ext cx="262393" cy="122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>
            <a:off x="644056" y="909054"/>
            <a:ext cx="0" cy="8175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644056" y="1138515"/>
            <a:ext cx="2119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Descendo o objeto com a mão</a:t>
            </a:r>
          </a:p>
        </p:txBody>
      </p:sp>
      <p:cxnSp>
        <p:nvCxnSpPr>
          <p:cNvPr id="36" name="Conector de Seta Reta 35"/>
          <p:cNvCxnSpPr/>
          <p:nvPr/>
        </p:nvCxnSpPr>
        <p:spPr>
          <a:xfrm flipH="1">
            <a:off x="2075652" y="2245078"/>
            <a:ext cx="5870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2703740" y="2071036"/>
            <a:ext cx="1381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Pronto para soltar o objeto e começar a contar o tempo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959937" y="3013266"/>
            <a:ext cx="38000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/>
          <p:cNvSpPr txBox="1"/>
          <p:nvPr/>
        </p:nvSpPr>
        <p:spPr>
          <a:xfrm>
            <a:off x="1339942" y="3105598"/>
            <a:ext cx="888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Sensor S1</a:t>
            </a:r>
          </a:p>
        </p:txBody>
      </p:sp>
      <p:sp>
        <p:nvSpPr>
          <p:cNvPr id="41" name="Retângulo 40"/>
          <p:cNvSpPr/>
          <p:nvPr/>
        </p:nvSpPr>
        <p:spPr>
          <a:xfrm>
            <a:off x="497352" y="3524467"/>
            <a:ext cx="27009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/>
          <p:cNvSpPr txBox="1"/>
          <p:nvPr/>
        </p:nvSpPr>
        <p:spPr>
          <a:xfrm>
            <a:off x="1384500" y="3604706"/>
            <a:ext cx="1621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não detectado</a:t>
            </a:r>
          </a:p>
        </p:txBody>
      </p:sp>
      <p:cxnSp>
        <p:nvCxnSpPr>
          <p:cNvPr id="43" name="Conector de Seta Reta 42"/>
          <p:cNvCxnSpPr/>
          <p:nvPr/>
        </p:nvCxnSpPr>
        <p:spPr>
          <a:xfrm flipV="1">
            <a:off x="812008" y="3755299"/>
            <a:ext cx="52793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>
            <a:off x="640229" y="2453036"/>
            <a:ext cx="0" cy="8175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/>
          <p:cNvSpPr txBox="1"/>
          <p:nvPr/>
        </p:nvSpPr>
        <p:spPr>
          <a:xfrm>
            <a:off x="640229" y="2682497"/>
            <a:ext cx="2119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solto</a:t>
            </a:r>
          </a:p>
        </p:txBody>
      </p:sp>
      <p:cxnSp>
        <p:nvCxnSpPr>
          <p:cNvPr id="46" name="Conector de Seta Reta 45"/>
          <p:cNvCxnSpPr/>
          <p:nvPr/>
        </p:nvCxnSpPr>
        <p:spPr>
          <a:xfrm flipH="1">
            <a:off x="2071825" y="3212437"/>
            <a:ext cx="5870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2699913" y="2974114"/>
            <a:ext cx="134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Inicia a contagem de tempo</a:t>
            </a:r>
          </a:p>
        </p:txBody>
      </p:sp>
      <p:sp>
        <p:nvSpPr>
          <p:cNvPr id="49" name="Retângulo 48"/>
          <p:cNvSpPr/>
          <p:nvPr/>
        </p:nvSpPr>
        <p:spPr>
          <a:xfrm>
            <a:off x="996299" y="4826730"/>
            <a:ext cx="38000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/>
          <p:cNvSpPr txBox="1"/>
          <p:nvPr/>
        </p:nvSpPr>
        <p:spPr>
          <a:xfrm>
            <a:off x="1376304" y="4919062"/>
            <a:ext cx="888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Sensor S5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496204" y="4688229"/>
            <a:ext cx="27009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de Seta Reta 53"/>
          <p:cNvCxnSpPr>
            <a:cxnSpLocks/>
          </p:cNvCxnSpPr>
          <p:nvPr/>
        </p:nvCxnSpPr>
        <p:spPr>
          <a:xfrm>
            <a:off x="632401" y="4057000"/>
            <a:ext cx="0" cy="5468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3150561" y="5526937"/>
            <a:ext cx="1166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Finaliza a contagem de tempo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813549" y="4365340"/>
            <a:ext cx="1621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detectado</a:t>
            </a:r>
          </a:p>
        </p:txBody>
      </p:sp>
      <p:cxnSp>
        <p:nvCxnSpPr>
          <p:cNvPr id="60" name="Conector de Seta Reta 59"/>
          <p:cNvCxnSpPr/>
          <p:nvPr/>
        </p:nvCxnSpPr>
        <p:spPr>
          <a:xfrm flipV="1">
            <a:off x="912792" y="4604631"/>
            <a:ext cx="262393" cy="1224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cxnSpLocks/>
          </p:cNvCxnSpPr>
          <p:nvPr/>
        </p:nvCxnSpPr>
        <p:spPr>
          <a:xfrm>
            <a:off x="633185" y="5288395"/>
            <a:ext cx="0" cy="8909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Imagem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142437" y="2668912"/>
            <a:ext cx="802740" cy="805703"/>
          </a:xfrm>
          <a:prstGeom prst="rect">
            <a:avLst/>
          </a:prstGeom>
        </p:spPr>
      </p:pic>
      <p:sp>
        <p:nvSpPr>
          <p:cNvPr id="64" name="CaixaDeTexto 63"/>
          <p:cNvSpPr txBox="1"/>
          <p:nvPr/>
        </p:nvSpPr>
        <p:spPr>
          <a:xfrm>
            <a:off x="5096033" y="2841185"/>
            <a:ext cx="903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Objeto detectado</a:t>
            </a:r>
          </a:p>
          <a:p>
            <a:pPr algn="ctr"/>
            <a:r>
              <a:rPr lang="pt-BR" sz="1200" dirty="0"/>
              <a:t>?</a:t>
            </a:r>
          </a:p>
        </p:txBody>
      </p:sp>
      <p:cxnSp>
        <p:nvCxnSpPr>
          <p:cNvPr id="65" name="Conector de Seta Reta 64"/>
          <p:cNvCxnSpPr/>
          <p:nvPr/>
        </p:nvCxnSpPr>
        <p:spPr>
          <a:xfrm>
            <a:off x="5537457" y="245938"/>
            <a:ext cx="0" cy="3795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/>
          <p:nvPr/>
        </p:nvCxnSpPr>
        <p:spPr>
          <a:xfrm>
            <a:off x="5537457" y="1080835"/>
            <a:ext cx="0" cy="3795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/>
          <p:nvPr/>
        </p:nvCxnSpPr>
        <p:spPr>
          <a:xfrm>
            <a:off x="5536187" y="2121958"/>
            <a:ext cx="0" cy="4263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/>
          <p:cNvSpPr txBox="1"/>
          <p:nvPr/>
        </p:nvSpPr>
        <p:spPr>
          <a:xfrm>
            <a:off x="5837880" y="2809161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Não</a:t>
            </a:r>
          </a:p>
        </p:txBody>
      </p:sp>
      <p:cxnSp>
        <p:nvCxnSpPr>
          <p:cNvPr id="75" name="Conector de Seta Reta 74"/>
          <p:cNvCxnSpPr/>
          <p:nvPr/>
        </p:nvCxnSpPr>
        <p:spPr>
          <a:xfrm flipH="1">
            <a:off x="5540501" y="2416146"/>
            <a:ext cx="9823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/>
          <p:nvPr/>
        </p:nvCxnSpPr>
        <p:spPr>
          <a:xfrm>
            <a:off x="6071257" y="3059406"/>
            <a:ext cx="451595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flipV="1">
            <a:off x="6522852" y="2416146"/>
            <a:ext cx="0" cy="64326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Imagem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5136591" y="4769703"/>
            <a:ext cx="802740" cy="805703"/>
          </a:xfrm>
          <a:prstGeom prst="rect">
            <a:avLst/>
          </a:prstGeom>
        </p:spPr>
      </p:pic>
      <p:sp>
        <p:nvSpPr>
          <p:cNvPr id="84" name="CaixaDeTexto 83"/>
          <p:cNvSpPr txBox="1"/>
          <p:nvPr/>
        </p:nvSpPr>
        <p:spPr>
          <a:xfrm>
            <a:off x="5090187" y="4941976"/>
            <a:ext cx="903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Objeto</a:t>
            </a:r>
          </a:p>
          <a:p>
            <a:pPr algn="ctr"/>
            <a:r>
              <a:rPr lang="pt-BR" sz="1200" dirty="0"/>
              <a:t>detectado</a:t>
            </a:r>
          </a:p>
          <a:p>
            <a:pPr algn="ctr"/>
            <a:r>
              <a:rPr lang="pt-BR" sz="1200" dirty="0"/>
              <a:t>?</a:t>
            </a:r>
          </a:p>
        </p:txBody>
      </p:sp>
      <p:cxnSp>
        <p:nvCxnSpPr>
          <p:cNvPr id="85" name="Conector de Seta Reta 84"/>
          <p:cNvCxnSpPr>
            <a:cxnSpLocks/>
          </p:cNvCxnSpPr>
          <p:nvPr/>
        </p:nvCxnSpPr>
        <p:spPr>
          <a:xfrm>
            <a:off x="5535421" y="3579769"/>
            <a:ext cx="0" cy="2950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5832034" y="5125321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Sim</a:t>
            </a:r>
          </a:p>
        </p:txBody>
      </p:sp>
      <p:cxnSp>
        <p:nvCxnSpPr>
          <p:cNvPr id="87" name="Conector de Seta Reta 86"/>
          <p:cNvCxnSpPr/>
          <p:nvPr/>
        </p:nvCxnSpPr>
        <p:spPr>
          <a:xfrm flipH="1">
            <a:off x="5544815" y="4516937"/>
            <a:ext cx="9823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/>
          <p:nvPr/>
        </p:nvCxnSpPr>
        <p:spPr>
          <a:xfrm>
            <a:off x="6065411" y="5160197"/>
            <a:ext cx="451595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to 88"/>
          <p:cNvCxnSpPr/>
          <p:nvPr/>
        </p:nvCxnSpPr>
        <p:spPr>
          <a:xfrm flipV="1">
            <a:off x="6517006" y="4516937"/>
            <a:ext cx="0" cy="64326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tângulo 90"/>
          <p:cNvSpPr/>
          <p:nvPr/>
        </p:nvSpPr>
        <p:spPr>
          <a:xfrm>
            <a:off x="5021409" y="3873127"/>
            <a:ext cx="1387289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/>
          <p:cNvSpPr txBox="1"/>
          <p:nvPr/>
        </p:nvSpPr>
        <p:spPr>
          <a:xfrm>
            <a:off x="5041632" y="3889111"/>
            <a:ext cx="142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Mostre no LCD a </a:t>
            </a:r>
            <a:r>
              <a:rPr lang="pt-BR" sz="1200" dirty="0" err="1"/>
              <a:t>msg</a:t>
            </a:r>
            <a:r>
              <a:rPr lang="pt-BR" sz="1200" dirty="0"/>
              <a:t> Solte o objeto.</a:t>
            </a:r>
          </a:p>
        </p:txBody>
      </p:sp>
      <p:cxnSp>
        <p:nvCxnSpPr>
          <p:cNvPr id="93" name="Conector de Seta Reta 92"/>
          <p:cNvCxnSpPr>
            <a:cxnSpLocks/>
          </p:cNvCxnSpPr>
          <p:nvPr/>
        </p:nvCxnSpPr>
        <p:spPr>
          <a:xfrm>
            <a:off x="5531107" y="4334792"/>
            <a:ext cx="0" cy="2929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de Seta Reta 93"/>
          <p:cNvCxnSpPr>
            <a:cxnSpLocks/>
          </p:cNvCxnSpPr>
          <p:nvPr/>
        </p:nvCxnSpPr>
        <p:spPr>
          <a:xfrm>
            <a:off x="5530341" y="5684697"/>
            <a:ext cx="0" cy="2797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CaixaDeTexto 94"/>
          <p:cNvSpPr txBox="1"/>
          <p:nvPr/>
        </p:nvSpPr>
        <p:spPr>
          <a:xfrm>
            <a:off x="5239292" y="5663584"/>
            <a:ext cx="995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Não</a:t>
            </a:r>
          </a:p>
        </p:txBody>
      </p:sp>
      <p:sp>
        <p:nvSpPr>
          <p:cNvPr id="96" name="Retângulo 95"/>
          <p:cNvSpPr/>
          <p:nvPr/>
        </p:nvSpPr>
        <p:spPr>
          <a:xfrm>
            <a:off x="5006169" y="5948471"/>
            <a:ext cx="1575182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CaixaDeTexto 96"/>
          <p:cNvSpPr txBox="1"/>
          <p:nvPr/>
        </p:nvSpPr>
        <p:spPr>
          <a:xfrm>
            <a:off x="5026392" y="5964455"/>
            <a:ext cx="1420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Inicia a contagem de tempo</a:t>
            </a:r>
          </a:p>
        </p:txBody>
      </p:sp>
      <p:pic>
        <p:nvPicPr>
          <p:cNvPr id="99" name="Imagem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7226596" y="1454566"/>
            <a:ext cx="802740" cy="805703"/>
          </a:xfrm>
          <a:prstGeom prst="rect">
            <a:avLst/>
          </a:prstGeom>
        </p:spPr>
      </p:pic>
      <p:sp>
        <p:nvSpPr>
          <p:cNvPr id="100" name="CaixaDeTexto 99"/>
          <p:cNvSpPr txBox="1"/>
          <p:nvPr/>
        </p:nvSpPr>
        <p:spPr>
          <a:xfrm>
            <a:off x="7180192" y="1559103"/>
            <a:ext cx="903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Objeto detectado</a:t>
            </a:r>
          </a:p>
          <a:p>
            <a:pPr algn="ctr"/>
            <a:r>
              <a:rPr lang="pt-BR" sz="1200" dirty="0"/>
              <a:t>?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7928389" y="1566948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Não</a:t>
            </a:r>
          </a:p>
        </p:txBody>
      </p:sp>
      <p:cxnSp>
        <p:nvCxnSpPr>
          <p:cNvPr id="102" name="Conector de Seta Reta 101"/>
          <p:cNvCxnSpPr/>
          <p:nvPr/>
        </p:nvCxnSpPr>
        <p:spPr>
          <a:xfrm flipH="1">
            <a:off x="7624660" y="1201800"/>
            <a:ext cx="9823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to 102"/>
          <p:cNvCxnSpPr/>
          <p:nvPr/>
        </p:nvCxnSpPr>
        <p:spPr>
          <a:xfrm>
            <a:off x="8155416" y="1845060"/>
            <a:ext cx="451595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/>
          <p:cNvCxnSpPr/>
          <p:nvPr/>
        </p:nvCxnSpPr>
        <p:spPr>
          <a:xfrm flipV="1">
            <a:off x="8607011" y="1201800"/>
            <a:ext cx="0" cy="64326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de Seta Reta 104"/>
          <p:cNvCxnSpPr/>
          <p:nvPr/>
        </p:nvCxnSpPr>
        <p:spPr>
          <a:xfrm>
            <a:off x="7618572" y="918051"/>
            <a:ext cx="0" cy="4263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/>
          <p:cNvSpPr txBox="1"/>
          <p:nvPr/>
        </p:nvSpPr>
        <p:spPr>
          <a:xfrm>
            <a:off x="7355242" y="2348447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Sim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7527120" y="1273040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S5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5471689" y="2585899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S1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490270" y="4703599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S1</a:t>
            </a:r>
          </a:p>
        </p:txBody>
      </p:sp>
      <p:sp>
        <p:nvSpPr>
          <p:cNvPr id="112" name="Retângulo 111"/>
          <p:cNvSpPr/>
          <p:nvPr/>
        </p:nvSpPr>
        <p:spPr>
          <a:xfrm>
            <a:off x="7028359" y="4293291"/>
            <a:ext cx="1602554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CaixaDeTexto 112"/>
          <p:cNvSpPr txBox="1"/>
          <p:nvPr/>
        </p:nvSpPr>
        <p:spPr>
          <a:xfrm>
            <a:off x="7048582" y="4309275"/>
            <a:ext cx="1582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Calculamos g e mostramos no display</a:t>
            </a:r>
          </a:p>
        </p:txBody>
      </p:sp>
      <p:cxnSp>
        <p:nvCxnSpPr>
          <p:cNvPr id="117" name="Conector reto 116"/>
          <p:cNvCxnSpPr>
            <a:cxnSpLocks/>
          </p:cNvCxnSpPr>
          <p:nvPr/>
        </p:nvCxnSpPr>
        <p:spPr>
          <a:xfrm>
            <a:off x="6250349" y="3062612"/>
            <a:ext cx="383452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/>
          <p:cNvCxnSpPr/>
          <p:nvPr/>
        </p:nvCxnSpPr>
        <p:spPr>
          <a:xfrm>
            <a:off x="6110171" y="3059909"/>
            <a:ext cx="3737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tângulo 81"/>
          <p:cNvSpPr/>
          <p:nvPr/>
        </p:nvSpPr>
        <p:spPr>
          <a:xfrm>
            <a:off x="996299" y="5768600"/>
            <a:ext cx="380005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1376304" y="5860932"/>
            <a:ext cx="888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Sensor S5</a:t>
            </a:r>
          </a:p>
        </p:txBody>
      </p:sp>
      <p:sp>
        <p:nvSpPr>
          <p:cNvPr id="111" name="Retângulo 110"/>
          <p:cNvSpPr/>
          <p:nvPr/>
        </p:nvSpPr>
        <p:spPr>
          <a:xfrm>
            <a:off x="498136" y="6326936"/>
            <a:ext cx="270098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5" name="CaixaDeTexto 114"/>
          <p:cNvSpPr txBox="1"/>
          <p:nvPr/>
        </p:nvSpPr>
        <p:spPr>
          <a:xfrm>
            <a:off x="1434201" y="6426120"/>
            <a:ext cx="1621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não detectado</a:t>
            </a:r>
          </a:p>
        </p:txBody>
      </p:sp>
      <p:cxnSp>
        <p:nvCxnSpPr>
          <p:cNvPr id="116" name="Conector de Seta Reta 115"/>
          <p:cNvCxnSpPr/>
          <p:nvPr/>
        </p:nvCxnSpPr>
        <p:spPr>
          <a:xfrm flipV="1">
            <a:off x="861709" y="6576713"/>
            <a:ext cx="52793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9" name="Imagem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7215883" y="2927931"/>
            <a:ext cx="802740" cy="805703"/>
          </a:xfrm>
          <a:prstGeom prst="rect">
            <a:avLst/>
          </a:prstGeom>
        </p:spPr>
      </p:pic>
      <p:sp>
        <p:nvSpPr>
          <p:cNvPr id="120" name="CaixaDeTexto 119"/>
          <p:cNvSpPr txBox="1"/>
          <p:nvPr/>
        </p:nvSpPr>
        <p:spPr>
          <a:xfrm>
            <a:off x="7169479" y="3032468"/>
            <a:ext cx="903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Objeto</a:t>
            </a:r>
          </a:p>
          <a:p>
            <a:pPr algn="ctr"/>
            <a:r>
              <a:rPr lang="pt-BR" sz="1200" dirty="0"/>
              <a:t>detectado</a:t>
            </a:r>
          </a:p>
          <a:p>
            <a:pPr algn="ctr"/>
            <a:r>
              <a:rPr lang="pt-BR" sz="1200" dirty="0"/>
              <a:t>?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7917676" y="3040313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Sim</a:t>
            </a:r>
          </a:p>
        </p:txBody>
      </p:sp>
      <p:cxnSp>
        <p:nvCxnSpPr>
          <p:cNvPr id="123" name="Conector de Seta Reta 122"/>
          <p:cNvCxnSpPr/>
          <p:nvPr/>
        </p:nvCxnSpPr>
        <p:spPr>
          <a:xfrm flipH="1">
            <a:off x="7613947" y="2675165"/>
            <a:ext cx="9823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/>
          <p:cNvCxnSpPr/>
          <p:nvPr/>
        </p:nvCxnSpPr>
        <p:spPr>
          <a:xfrm>
            <a:off x="8144703" y="3318425"/>
            <a:ext cx="451595" cy="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to 124"/>
          <p:cNvCxnSpPr/>
          <p:nvPr/>
        </p:nvCxnSpPr>
        <p:spPr>
          <a:xfrm flipV="1">
            <a:off x="8596298" y="2675165"/>
            <a:ext cx="0" cy="643260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de Seta Reta 125"/>
          <p:cNvCxnSpPr/>
          <p:nvPr/>
        </p:nvCxnSpPr>
        <p:spPr>
          <a:xfrm>
            <a:off x="7604553" y="3842925"/>
            <a:ext cx="0" cy="4263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CaixaDeTexto 126"/>
          <p:cNvSpPr txBox="1"/>
          <p:nvPr/>
        </p:nvSpPr>
        <p:spPr>
          <a:xfrm>
            <a:off x="7344529" y="3821812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Não</a:t>
            </a:r>
          </a:p>
        </p:txBody>
      </p:sp>
      <p:sp>
        <p:nvSpPr>
          <p:cNvPr id="128" name="CaixaDeTexto 127"/>
          <p:cNvSpPr txBox="1"/>
          <p:nvPr/>
        </p:nvSpPr>
        <p:spPr>
          <a:xfrm>
            <a:off x="7516407" y="2746405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S5</a:t>
            </a:r>
          </a:p>
        </p:txBody>
      </p:sp>
      <p:cxnSp>
        <p:nvCxnSpPr>
          <p:cNvPr id="129" name="Conector reto 128"/>
          <p:cNvCxnSpPr/>
          <p:nvPr/>
        </p:nvCxnSpPr>
        <p:spPr>
          <a:xfrm>
            <a:off x="6825887" y="4540107"/>
            <a:ext cx="210870" cy="0"/>
          </a:xfrm>
          <a:prstGeom prst="line">
            <a:avLst/>
          </a:prstGeom>
          <a:ln w="1905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cxnSpLocks/>
          </p:cNvCxnSpPr>
          <p:nvPr/>
        </p:nvCxnSpPr>
        <p:spPr>
          <a:xfrm flipV="1">
            <a:off x="6830967" y="3059406"/>
            <a:ext cx="0" cy="1483345"/>
          </a:xfrm>
          <a:prstGeom prst="line">
            <a:avLst/>
          </a:prstGeom>
          <a:ln w="1905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CB7EA274-B0C3-4F08-AC1A-8BA8C10D1431}"/>
              </a:ext>
            </a:extLst>
          </p:cNvPr>
          <p:cNvSpPr txBox="1"/>
          <p:nvPr/>
        </p:nvSpPr>
        <p:spPr>
          <a:xfrm>
            <a:off x="5280477" y="3579769"/>
            <a:ext cx="903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Sim</a:t>
            </a:r>
          </a:p>
        </p:txBody>
      </p: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10946960-50BC-4EE7-9522-54A8F0539E7C}"/>
              </a:ext>
            </a:extLst>
          </p:cNvPr>
          <p:cNvSpPr txBox="1"/>
          <p:nvPr/>
        </p:nvSpPr>
        <p:spPr>
          <a:xfrm>
            <a:off x="676591" y="5344339"/>
            <a:ext cx="2119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solto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9AF3E54B-CFDD-4B3A-88C8-5A8917B9D9D5}"/>
              </a:ext>
            </a:extLst>
          </p:cNvPr>
          <p:cNvCxnSpPr>
            <a:stCxn id="115" idx="3"/>
          </p:cNvCxnSpPr>
          <p:nvPr/>
        </p:nvCxnSpPr>
        <p:spPr>
          <a:xfrm>
            <a:off x="3055983" y="6564620"/>
            <a:ext cx="436517" cy="12093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EF4A3C06-309B-4C04-A9B7-A920327C0E42}"/>
              </a:ext>
            </a:extLst>
          </p:cNvPr>
          <p:cNvSpPr txBox="1"/>
          <p:nvPr/>
        </p:nvSpPr>
        <p:spPr>
          <a:xfrm>
            <a:off x="676591" y="4080986"/>
            <a:ext cx="2119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Objeto solto</a:t>
            </a:r>
          </a:p>
        </p:txBody>
      </p:sp>
      <p:cxnSp>
        <p:nvCxnSpPr>
          <p:cNvPr id="134" name="Conector de Seta Reta 133">
            <a:extLst>
              <a:ext uri="{FF2B5EF4-FFF2-40B4-BE49-F238E27FC236}">
                <a16:creationId xmlns:a16="http://schemas.microsoft.com/office/drawing/2014/main" id="{9435AA8F-7CF8-430A-837B-1A274CC8EF13}"/>
              </a:ext>
            </a:extLst>
          </p:cNvPr>
          <p:cNvCxnSpPr>
            <a:cxnSpLocks/>
          </p:cNvCxnSpPr>
          <p:nvPr/>
        </p:nvCxnSpPr>
        <p:spPr>
          <a:xfrm flipV="1">
            <a:off x="3492500" y="6203171"/>
            <a:ext cx="0" cy="3763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ector de Seta Reta 134">
            <a:extLst>
              <a:ext uri="{FF2B5EF4-FFF2-40B4-BE49-F238E27FC236}">
                <a16:creationId xmlns:a16="http://schemas.microsoft.com/office/drawing/2014/main" id="{AFD672DB-80E6-4FB4-8AB5-EAB6FE674606}"/>
              </a:ext>
            </a:extLst>
          </p:cNvPr>
          <p:cNvCxnSpPr>
            <a:cxnSpLocks/>
          </p:cNvCxnSpPr>
          <p:nvPr/>
        </p:nvCxnSpPr>
        <p:spPr>
          <a:xfrm flipV="1">
            <a:off x="3492500" y="5160197"/>
            <a:ext cx="0" cy="3763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74C28128-83FC-44C1-A2A3-8B18DDD5D802}"/>
              </a:ext>
            </a:extLst>
          </p:cNvPr>
          <p:cNvSpPr txBox="1"/>
          <p:nvPr/>
        </p:nvSpPr>
        <p:spPr>
          <a:xfrm>
            <a:off x="3154791" y="4665837"/>
            <a:ext cx="131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Calcula g e mostra no display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1403B450-29DB-4110-8765-61727BBF7548}"/>
              </a:ext>
            </a:extLst>
          </p:cNvPr>
          <p:cNvCxnSpPr/>
          <p:nvPr/>
        </p:nvCxnSpPr>
        <p:spPr>
          <a:xfrm flipV="1">
            <a:off x="3492500" y="3755299"/>
            <a:ext cx="0" cy="784808"/>
          </a:xfrm>
          <a:prstGeom prst="line">
            <a:avLst/>
          </a:prstGeom>
          <a:ln w="3810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reto 138">
            <a:extLst>
              <a:ext uri="{FF2B5EF4-FFF2-40B4-BE49-F238E27FC236}">
                <a16:creationId xmlns:a16="http://schemas.microsoft.com/office/drawing/2014/main" id="{E7580329-107E-4448-B0FE-C6DF46684888}"/>
              </a:ext>
            </a:extLst>
          </p:cNvPr>
          <p:cNvCxnSpPr>
            <a:cxnSpLocks/>
          </p:cNvCxnSpPr>
          <p:nvPr/>
        </p:nvCxnSpPr>
        <p:spPr>
          <a:xfrm>
            <a:off x="3496471" y="3771811"/>
            <a:ext cx="690093" cy="0"/>
          </a:xfrm>
          <a:prstGeom prst="line">
            <a:avLst/>
          </a:prstGeom>
          <a:ln w="3810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de Seta Reta 139">
            <a:extLst>
              <a:ext uri="{FF2B5EF4-FFF2-40B4-BE49-F238E27FC236}">
                <a16:creationId xmlns:a16="http://schemas.microsoft.com/office/drawing/2014/main" id="{CD4BAED1-52F9-48CF-8820-3B7F511B6A27}"/>
              </a:ext>
            </a:extLst>
          </p:cNvPr>
          <p:cNvCxnSpPr>
            <a:cxnSpLocks/>
          </p:cNvCxnSpPr>
          <p:nvPr/>
        </p:nvCxnSpPr>
        <p:spPr>
          <a:xfrm flipH="1">
            <a:off x="2365361" y="375992"/>
            <a:ext cx="180427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ector reto 141">
            <a:extLst>
              <a:ext uri="{FF2B5EF4-FFF2-40B4-BE49-F238E27FC236}">
                <a16:creationId xmlns:a16="http://schemas.microsoft.com/office/drawing/2014/main" id="{7544E8C0-17CF-4983-9C07-0F8AB4C3AB7A}"/>
              </a:ext>
            </a:extLst>
          </p:cNvPr>
          <p:cNvCxnSpPr>
            <a:cxnSpLocks/>
          </p:cNvCxnSpPr>
          <p:nvPr/>
        </p:nvCxnSpPr>
        <p:spPr>
          <a:xfrm flipV="1">
            <a:off x="4173864" y="356435"/>
            <a:ext cx="0" cy="3423842"/>
          </a:xfrm>
          <a:prstGeom prst="line">
            <a:avLst/>
          </a:prstGeom>
          <a:ln w="38100"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cxnSpLocks/>
          </p:cNvCxnSpPr>
          <p:nvPr/>
        </p:nvCxnSpPr>
        <p:spPr>
          <a:xfrm flipH="1">
            <a:off x="6596594" y="3065319"/>
            <a:ext cx="234373" cy="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de Seta Reta 105"/>
          <p:cNvCxnSpPr/>
          <p:nvPr/>
        </p:nvCxnSpPr>
        <p:spPr>
          <a:xfrm>
            <a:off x="7615266" y="2369560"/>
            <a:ext cx="0" cy="4263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de Seta Reta 142">
            <a:extLst>
              <a:ext uri="{FF2B5EF4-FFF2-40B4-BE49-F238E27FC236}">
                <a16:creationId xmlns:a16="http://schemas.microsoft.com/office/drawing/2014/main" id="{5C017539-0C8A-496F-8883-A7C107F83700}"/>
              </a:ext>
            </a:extLst>
          </p:cNvPr>
          <p:cNvCxnSpPr>
            <a:cxnSpLocks/>
          </p:cNvCxnSpPr>
          <p:nvPr/>
        </p:nvCxnSpPr>
        <p:spPr>
          <a:xfrm>
            <a:off x="5507163" y="6410136"/>
            <a:ext cx="0" cy="2797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tângulo 72">
            <a:extLst>
              <a:ext uri="{FF2B5EF4-FFF2-40B4-BE49-F238E27FC236}">
                <a16:creationId xmlns:a16="http://schemas.microsoft.com/office/drawing/2014/main" id="{8C6E7775-8B3A-4A11-BB1D-D4B832E71B45}"/>
              </a:ext>
            </a:extLst>
          </p:cNvPr>
          <p:cNvSpPr/>
          <p:nvPr/>
        </p:nvSpPr>
        <p:spPr>
          <a:xfrm>
            <a:off x="8247718" y="5948471"/>
            <a:ext cx="896282" cy="741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E80850F7-AE7F-4E3D-BFF3-7E1BABE348D1}"/>
              </a:ext>
            </a:extLst>
          </p:cNvPr>
          <p:cNvSpPr/>
          <p:nvPr/>
        </p:nvSpPr>
        <p:spPr>
          <a:xfrm>
            <a:off x="7624660" y="245938"/>
            <a:ext cx="1206918" cy="403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07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38" y="610391"/>
            <a:ext cx="2267440" cy="2267440"/>
          </a:xfrm>
          <a:prstGeom prst="rect">
            <a:avLst/>
          </a:prstGeom>
        </p:spPr>
      </p:pic>
      <p:cxnSp>
        <p:nvCxnSpPr>
          <p:cNvPr id="18" name="Conector de Seta Reta 17"/>
          <p:cNvCxnSpPr/>
          <p:nvPr/>
        </p:nvCxnSpPr>
        <p:spPr>
          <a:xfrm>
            <a:off x="309214" y="2187861"/>
            <a:ext cx="564546" cy="121743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59278" y="3288935"/>
            <a:ext cx="2784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00B0F0"/>
                </a:solidFill>
              </a:rPr>
              <a:t>DO = Digital Out -&gt; Saída digital do sensor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278467" y="4428044"/>
            <a:ext cx="629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Quando o objeto está na frente do sensor o que aparece em DO?</a:t>
            </a:r>
          </a:p>
          <a:p>
            <a:r>
              <a:rPr lang="pt-BR" dirty="0"/>
              <a:t>R: 0V -&gt; Nível lógico 0 -&gt; Nível lógico LOW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278467" y="5377098"/>
            <a:ext cx="6787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Quando o objeto </a:t>
            </a:r>
            <a:r>
              <a:rPr lang="pt-BR" b="1" dirty="0">
                <a:solidFill>
                  <a:srgbClr val="FF0000"/>
                </a:solidFill>
              </a:rPr>
              <a:t>NÃO</a:t>
            </a:r>
            <a:r>
              <a:rPr lang="pt-BR" dirty="0"/>
              <a:t> está na frente do sensor o que aparece em DO?</a:t>
            </a:r>
          </a:p>
          <a:p>
            <a:r>
              <a:rPr lang="pt-BR" dirty="0"/>
              <a:t>R: 5V -&gt; Nível lógico 1 -&gt; Nível lógico HIGH</a:t>
            </a:r>
          </a:p>
        </p:txBody>
      </p:sp>
    </p:spTree>
    <p:extLst>
      <p:ext uri="{BB962C8B-B14F-4D97-AF65-F5344CB8AC3E}">
        <p14:creationId xmlns:p14="http://schemas.microsoft.com/office/powerpoint/2010/main" val="111416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62">
            <a:extLst>
              <a:ext uri="{FF2B5EF4-FFF2-40B4-BE49-F238E27FC236}">
                <a16:creationId xmlns:a16="http://schemas.microsoft.com/office/drawing/2014/main" id="{B7E3ADD0-C507-4FDD-9459-FB8A4C8682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456"/>
          <a:stretch/>
        </p:blipFill>
        <p:spPr>
          <a:xfrm>
            <a:off x="588094" y="101600"/>
            <a:ext cx="2544572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7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62">
            <a:extLst>
              <a:ext uri="{FF2B5EF4-FFF2-40B4-BE49-F238E27FC236}">
                <a16:creationId xmlns:a16="http://schemas.microsoft.com/office/drawing/2014/main" id="{4835D3B0-683F-47AC-935A-A0BED15E6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2" y="67732"/>
            <a:ext cx="4581144" cy="679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33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977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3947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HALLIDAY, David; RESNICK, Robert;  WALKER, </a:t>
            </a:r>
            <a:r>
              <a:rPr lang="pt-BR" dirty="0" err="1"/>
              <a:t>Jearl</a:t>
            </a:r>
            <a:r>
              <a:rPr lang="pt-BR" dirty="0"/>
              <a:t>. Fundamentos de Física: gravitação, ondas e termodinâmica. </a:t>
            </a:r>
            <a:r>
              <a:rPr lang="pt-BR" dirty="0" err="1"/>
              <a:t>Vol</a:t>
            </a:r>
            <a:r>
              <a:rPr lang="pt-BR" dirty="0"/>
              <a:t> 1. Rio de Janeiro: LTC, 2006. </a:t>
            </a:r>
            <a:r>
              <a:rPr lang="pt-BR" dirty="0">
                <a:solidFill>
                  <a:srgbClr val="FF0000"/>
                </a:solidFill>
              </a:rPr>
              <a:t>CAP. 2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387982"/>
            <a:ext cx="6906262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1434</TotalTime>
  <Words>514</Words>
  <Application>Microsoft Office PowerPoint</Application>
  <PresentationFormat>Apresentação na tela (4:3)</PresentationFormat>
  <Paragraphs>95</Paragraphs>
  <Slides>16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30" baseType="lpstr">
      <vt:lpstr>Arial</vt:lpstr>
      <vt:lpstr>Calibri</vt:lpstr>
      <vt:lpstr>Cambria Math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252</cp:revision>
  <dcterms:created xsi:type="dcterms:W3CDTF">2015-02-07T21:24:47Z</dcterms:created>
  <dcterms:modified xsi:type="dcterms:W3CDTF">2024-08-19T10:20:26Z</dcterms:modified>
</cp:coreProperties>
</file>