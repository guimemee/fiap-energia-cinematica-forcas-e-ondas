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30"/>
  </p:notesMasterIdLst>
  <p:handoutMasterIdLst>
    <p:handoutMasterId r:id="rId31"/>
  </p:handoutMasterIdLst>
  <p:sldIdLst>
    <p:sldId id="256" r:id="rId6"/>
    <p:sldId id="266" r:id="rId7"/>
    <p:sldId id="258" r:id="rId8"/>
    <p:sldId id="259" r:id="rId9"/>
    <p:sldId id="274" r:id="rId10"/>
    <p:sldId id="304" r:id="rId11"/>
    <p:sldId id="305" r:id="rId12"/>
    <p:sldId id="307" r:id="rId13"/>
    <p:sldId id="306" r:id="rId14"/>
    <p:sldId id="276" r:id="rId15"/>
    <p:sldId id="298" r:id="rId16"/>
    <p:sldId id="299" r:id="rId17"/>
    <p:sldId id="300" r:id="rId18"/>
    <p:sldId id="301" r:id="rId19"/>
    <p:sldId id="302" r:id="rId20"/>
    <p:sldId id="308" r:id="rId21"/>
    <p:sldId id="303" r:id="rId22"/>
    <p:sldId id="279" r:id="rId23"/>
    <p:sldId id="280" r:id="rId24"/>
    <p:sldId id="281" r:id="rId25"/>
    <p:sldId id="282" r:id="rId26"/>
    <p:sldId id="285" r:id="rId27"/>
    <p:sldId id="263" r:id="rId28"/>
    <p:sldId id="265" r:id="rId2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00"/>
    <a:srgbClr val="F0265D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s(t)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Plan1!$A$2:$A$13</c:f>
              <c:numCache>
                <c:formatCode>General</c:formatCode>
                <c:ptCount val="12"/>
                <c:pt idx="0">
                  <c:v>-2</c:v>
                </c:pt>
                <c:pt idx="1">
                  <c:v>-1.5</c:v>
                </c:pt>
                <c:pt idx="2">
                  <c:v>-1</c:v>
                </c:pt>
                <c:pt idx="3">
                  <c:v>-0.5</c:v>
                </c:pt>
                <c:pt idx="4">
                  <c:v>-0.25</c:v>
                </c:pt>
                <c:pt idx="5">
                  <c:v>0</c:v>
                </c:pt>
                <c:pt idx="6">
                  <c:v>0.5</c:v>
                </c:pt>
                <c:pt idx="7">
                  <c:v>1</c:v>
                </c:pt>
                <c:pt idx="8">
                  <c:v>1.5</c:v>
                </c:pt>
              </c:numCache>
            </c:numRef>
          </c:xVal>
          <c:yVal>
            <c:numRef>
              <c:f>Plan1!$B$2:$B$13</c:f>
              <c:numCache>
                <c:formatCode>General</c:formatCode>
                <c:ptCount val="12"/>
                <c:pt idx="0">
                  <c:v>12</c:v>
                </c:pt>
                <c:pt idx="1">
                  <c:v>6</c:v>
                </c:pt>
                <c:pt idx="2">
                  <c:v>2</c:v>
                </c:pt>
                <c:pt idx="3">
                  <c:v>0</c:v>
                </c:pt>
                <c:pt idx="4">
                  <c:v>-0.25</c:v>
                </c:pt>
                <c:pt idx="5">
                  <c:v>0</c:v>
                </c:pt>
                <c:pt idx="6">
                  <c:v>2</c:v>
                </c:pt>
                <c:pt idx="7">
                  <c:v>6</c:v>
                </c:pt>
                <c:pt idx="8">
                  <c:v>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866-4D52-B5DF-C79039CAD6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709908176"/>
        <c:axId val="-709903824"/>
      </c:scatterChart>
      <c:valAx>
        <c:axId val="-709908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400"/>
                  <a:t>Tempo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709903824"/>
        <c:crosses val="autoZero"/>
        <c:crossBetween val="midCat"/>
      </c:valAx>
      <c:valAx>
        <c:axId val="-709903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400"/>
                  <a:t>Posição (s(t))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-709908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05/08/2024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5"/>
          <p:cNvSpPr txBox="1"/>
          <p:nvPr userDrawn="1"/>
        </p:nvSpPr>
        <p:spPr>
          <a:xfrm>
            <a:off x="947124" y="745668"/>
            <a:ext cx="66582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Energia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, </a:t>
            </a:r>
            <a:r>
              <a:rPr lang="en-US" sz="2800" b="1" baseline="0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Cinemática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, </a:t>
            </a:r>
            <a:r>
              <a:rPr lang="en-US" sz="2800" b="1" baseline="0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Força</a:t>
            </a:r>
            <a:r>
              <a:rPr lang="en-US" sz="2800" b="1" baseline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e </a:t>
            </a:r>
            <a:r>
              <a:rPr lang="en-US" sz="2800" b="1" baseline="0" dirty="0" err="1">
                <a:solidFill>
                  <a:srgbClr val="303030"/>
                </a:solidFill>
                <a:latin typeface="Gotham HTF" pitchFamily="2" charset="0"/>
                <a:cs typeface="Gotham-Bold"/>
              </a:rPr>
              <a:t>Ondas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COMPUTAÇÂO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</a:t>
            </a:r>
            <a:r>
              <a:rPr kumimoji="1" lang="en-US" sz="2000" b="1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Dr</a:t>
            </a: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5.w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8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0.bin"/><Relationship Id="rId39" Type="http://schemas.openxmlformats.org/officeDocument/2006/relationships/image" Target="../media/image43.wmf"/><Relationship Id="rId21" Type="http://schemas.openxmlformats.org/officeDocument/2006/relationships/image" Target="../media/image34.emf"/><Relationship Id="rId34" Type="http://schemas.openxmlformats.org/officeDocument/2006/relationships/oleObject" Target="../embeddings/oleObject34.bin"/><Relationship Id="rId7" Type="http://schemas.openxmlformats.org/officeDocument/2006/relationships/image" Target="../media/image28.emf"/><Relationship Id="rId12" Type="http://schemas.openxmlformats.org/officeDocument/2006/relationships/image" Target="../media/image30.wmf"/><Relationship Id="rId17" Type="http://schemas.openxmlformats.org/officeDocument/2006/relationships/image" Target="../media/image32.wmf"/><Relationship Id="rId25" Type="http://schemas.openxmlformats.org/officeDocument/2006/relationships/image" Target="../media/image36.emf"/><Relationship Id="rId33" Type="http://schemas.openxmlformats.org/officeDocument/2006/relationships/image" Target="../media/image40.wmf"/><Relationship Id="rId38" Type="http://schemas.openxmlformats.org/officeDocument/2006/relationships/oleObject" Target="../embeddings/oleObject36.bin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29" Type="http://schemas.openxmlformats.org/officeDocument/2006/relationships/image" Target="../media/image38.wmf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22.bin"/><Relationship Id="rId24" Type="http://schemas.openxmlformats.org/officeDocument/2006/relationships/oleObject" Target="../embeddings/oleObject29.bin"/><Relationship Id="rId32" Type="http://schemas.openxmlformats.org/officeDocument/2006/relationships/oleObject" Target="../embeddings/oleObject33.bin"/><Relationship Id="rId37" Type="http://schemas.openxmlformats.org/officeDocument/2006/relationships/image" Target="../media/image42.wmf"/><Relationship Id="rId5" Type="http://schemas.openxmlformats.org/officeDocument/2006/relationships/image" Target="../media/image27.wmf"/><Relationship Id="rId15" Type="http://schemas.openxmlformats.org/officeDocument/2006/relationships/oleObject" Target="../embeddings/oleObject24.bin"/><Relationship Id="rId23" Type="http://schemas.openxmlformats.org/officeDocument/2006/relationships/image" Target="../media/image35.wmf"/><Relationship Id="rId28" Type="http://schemas.openxmlformats.org/officeDocument/2006/relationships/oleObject" Target="../embeddings/oleObject31.bin"/><Relationship Id="rId36" Type="http://schemas.openxmlformats.org/officeDocument/2006/relationships/oleObject" Target="../embeddings/oleObject35.bin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33.wmf"/><Relationship Id="rId31" Type="http://schemas.openxmlformats.org/officeDocument/2006/relationships/image" Target="../media/image39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9.wmf"/><Relationship Id="rId14" Type="http://schemas.openxmlformats.org/officeDocument/2006/relationships/image" Target="../media/image31.wmf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37.wmf"/><Relationship Id="rId30" Type="http://schemas.openxmlformats.org/officeDocument/2006/relationships/oleObject" Target="../embeddings/oleObject32.bin"/><Relationship Id="rId35" Type="http://schemas.openxmlformats.org/officeDocument/2006/relationships/image" Target="../media/image41.wmf"/><Relationship Id="rId8" Type="http://schemas.openxmlformats.org/officeDocument/2006/relationships/oleObject" Target="../embeddings/oleObject20.bin"/><Relationship Id="rId3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1.wmf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6" name="TextBox 20"/>
          <p:cNvSpPr txBox="1"/>
          <p:nvPr/>
        </p:nvSpPr>
        <p:spPr>
          <a:xfrm>
            <a:off x="1042703" y="3898936"/>
            <a:ext cx="5407257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Energia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Cinemática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Força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Ondas</a:t>
            </a:r>
            <a:endParaRPr lang="en-US" sz="2200" dirty="0">
              <a:solidFill>
                <a:srgbClr val="FFFFFF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spaço Reservado para Texto 26"/>
          <p:cNvSpPr>
            <a:spLocks noGrp="1"/>
          </p:cNvSpPr>
          <p:nvPr>
            <p:ph type="body" sz="quarter" idx="13"/>
          </p:nvPr>
        </p:nvSpPr>
        <p:spPr>
          <a:xfrm>
            <a:off x="914400" y="1447800"/>
            <a:ext cx="7238198" cy="562778"/>
          </a:xfrm>
        </p:spPr>
        <p:txBody>
          <a:bodyPr/>
          <a:lstStyle/>
          <a:p>
            <a:r>
              <a:rPr lang="pt-BR" sz="4000" dirty="0">
                <a:solidFill>
                  <a:srgbClr val="FF0000"/>
                </a:solidFill>
              </a:rPr>
              <a:t>Física do Movimento: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>
                <a:solidFill>
                  <a:srgbClr val="FF0000"/>
                </a:solidFill>
              </a:rPr>
              <a:t>*	Movimento Uniformemente Acelerado.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34925" y="755650"/>
            <a:ext cx="9109075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	01)</a:t>
            </a:r>
            <a:r>
              <a:rPr lang="pt-BR" sz="1600" b="0" dirty="0">
                <a:solidFill>
                  <a:schemeClr val="tx1"/>
                </a:solidFill>
              </a:rPr>
              <a:t>	Quando um corpo é lançado verticalmente para cima, sendo sua velocidade inicial (v</a:t>
            </a:r>
            <a:r>
              <a:rPr lang="pt-BR" sz="1600" b="0" baseline="-25000" dirty="0">
                <a:solidFill>
                  <a:schemeClr val="tx1"/>
                </a:solidFill>
              </a:rPr>
              <a:t>0</a:t>
            </a:r>
            <a:r>
              <a:rPr lang="pt-BR" sz="1600" b="0" dirty="0">
                <a:solidFill>
                  <a:schemeClr val="tx1"/>
                </a:solidFill>
              </a:rPr>
              <a:t>) de 10m/s, a equação que descreve a sua posição (altura) em função do tempo é a seguinte:		</a:t>
            </a:r>
            <a:r>
              <a:rPr lang="pt-BR" sz="1600" dirty="0">
                <a:solidFill>
                  <a:schemeClr val="tx1"/>
                </a:solidFill>
              </a:rPr>
              <a:t>h(t) = 10.t - 5.t</a:t>
            </a:r>
            <a:r>
              <a:rPr lang="pt-BR" sz="1600" baseline="30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363" name="Rectangle 5"/>
          <p:cNvSpPr>
            <a:spLocks noChangeArrowheads="1"/>
          </p:cNvSpPr>
          <p:nvPr/>
        </p:nvSpPr>
        <p:spPr bwMode="auto">
          <a:xfrm>
            <a:off x="34925" y="1862138"/>
            <a:ext cx="9109075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sz="1600" b="0" dirty="0">
                <a:solidFill>
                  <a:schemeClr val="tx1"/>
                </a:solidFill>
              </a:rPr>
              <a:t>	A figura ao lado apresenta o gráfico da posição pelo tempo. Qual a velocidade do corpo nos instantes: t = 0,2 s, 0,7 s e 1,9 s. Em qual instante o corpo começa a cair? Construa o gráfica da velocidade pelo tempo.</a:t>
            </a:r>
          </a:p>
        </p:txBody>
      </p:sp>
      <p:pic>
        <p:nvPicPr>
          <p:cNvPr id="518151" name="Picture 7" descr="Home bala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725" y="3449638"/>
            <a:ext cx="4032250" cy="324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81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641007"/>
              </p:ext>
            </p:extLst>
          </p:nvPr>
        </p:nvGraphicFramePr>
        <p:xfrm>
          <a:off x="2781300" y="3454400"/>
          <a:ext cx="54356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3" imgW="6791427" imgH="3352651" progId="Excel.Chart.8">
                  <p:embed/>
                </p:oleObj>
              </mc:Choice>
              <mc:Fallback>
                <p:oleObj name="Gráfico" r:id="rId3" imgW="6791427" imgH="33526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300" y="3454400"/>
                        <a:ext cx="5435600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872668"/>
              </p:ext>
            </p:extLst>
          </p:nvPr>
        </p:nvGraphicFramePr>
        <p:xfrm>
          <a:off x="7761012" y="2705550"/>
          <a:ext cx="122872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" r:id="rId5" imgW="1228791" imgH="1533493" progId="Excel.Sheet.12">
                  <p:embed/>
                </p:oleObj>
              </mc:Choice>
              <mc:Fallback>
                <p:oleObj name="Planilha" r:id="rId5" imgW="1228791" imgH="153349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61012" y="2705550"/>
                        <a:ext cx="1228725" cy="1533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625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518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5181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4925" y="138430"/>
            <a:ext cx="910907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h(t) = 10.t - 5.t</a:t>
            </a:r>
            <a:r>
              <a:rPr lang="pt-BR" sz="1600" baseline="30000" dirty="0">
                <a:solidFill>
                  <a:schemeClr val="tx1"/>
                </a:solidFill>
              </a:rPr>
              <a:t>2</a:t>
            </a:r>
          </a:p>
        </p:txBody>
      </p:sp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018940"/>
              </p:ext>
            </p:extLst>
          </p:nvPr>
        </p:nvGraphicFramePr>
        <p:xfrm>
          <a:off x="2909570" y="517682"/>
          <a:ext cx="7635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482400" imgH="203040" progId="Equation.3">
                  <p:embed/>
                </p:oleObj>
              </mc:Choice>
              <mc:Fallback>
                <p:oleObj name="Equação" r:id="rId2" imgW="482400" imgH="203040" progId="Equation.3">
                  <p:embed/>
                  <p:pic>
                    <p:nvPicPr>
                      <p:cNvPr id="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570" y="517682"/>
                        <a:ext cx="7635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2670048" y="120333"/>
            <a:ext cx="122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Queremos:</a:t>
            </a:r>
          </a:p>
        </p:txBody>
      </p:sp>
      <p:sp>
        <p:nvSpPr>
          <p:cNvPr id="7" name="Elipse 6"/>
          <p:cNvSpPr/>
          <p:nvPr/>
        </p:nvSpPr>
        <p:spPr>
          <a:xfrm>
            <a:off x="7656270" y="1243022"/>
            <a:ext cx="507201" cy="321789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/>
          <p:cNvSpPr txBox="1"/>
          <p:nvPr/>
        </p:nvSpPr>
        <p:spPr>
          <a:xfrm>
            <a:off x="3209653" y="1289566"/>
            <a:ext cx="241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Velocidade instantânea.</a:t>
            </a:r>
          </a:p>
        </p:txBody>
      </p:sp>
      <p:cxnSp>
        <p:nvCxnSpPr>
          <p:cNvPr id="9" name="Conector de Seta Reta 8"/>
          <p:cNvCxnSpPr/>
          <p:nvPr/>
        </p:nvCxnSpPr>
        <p:spPr>
          <a:xfrm flipH="1" flipV="1">
            <a:off x="3209653" y="841532"/>
            <a:ext cx="272687" cy="370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190252"/>
              </p:ext>
            </p:extLst>
          </p:nvPr>
        </p:nvGraphicFramePr>
        <p:xfrm>
          <a:off x="525145" y="3827463"/>
          <a:ext cx="5053012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577960" imgH="431640" progId="Equation.3">
                  <p:embed/>
                </p:oleObj>
              </mc:Choice>
              <mc:Fallback>
                <p:oleObj name="Equação" r:id="rId4" imgW="2577960" imgH="431640" progId="Equation.3">
                  <p:embed/>
                  <p:pic>
                    <p:nvPicPr>
                      <p:cNvPr id="1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" y="3827463"/>
                        <a:ext cx="5053012" cy="846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0" y="3003752"/>
            <a:ext cx="1283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Velocidade</a:t>
            </a:r>
          </a:p>
          <a:p>
            <a:r>
              <a:rPr lang="pt-BR" dirty="0">
                <a:solidFill>
                  <a:srgbClr val="FF0000"/>
                </a:solidFill>
              </a:rPr>
              <a:t>instantânea</a:t>
            </a:r>
          </a:p>
        </p:txBody>
      </p:sp>
      <p:cxnSp>
        <p:nvCxnSpPr>
          <p:cNvPr id="12" name="Conector de Seta Reta 11"/>
          <p:cNvCxnSpPr>
            <a:stCxn id="11" idx="2"/>
          </p:cNvCxnSpPr>
          <p:nvPr/>
        </p:nvCxnSpPr>
        <p:spPr>
          <a:xfrm flipH="1">
            <a:off x="641810" y="3650083"/>
            <a:ext cx="1" cy="420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V="1">
            <a:off x="1283622" y="4951907"/>
            <a:ext cx="0" cy="244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 rot="16200000">
            <a:off x="1094307" y="4347093"/>
            <a:ext cx="378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{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227050" y="5235854"/>
            <a:ext cx="21131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Limite da velocidade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média quando ∆t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tende à 0</a:t>
            </a:r>
          </a:p>
        </p:txBody>
      </p:sp>
      <p:sp>
        <p:nvSpPr>
          <p:cNvPr id="16" name="CaixaDeTexto 15"/>
          <p:cNvSpPr txBox="1"/>
          <p:nvPr/>
        </p:nvSpPr>
        <p:spPr>
          <a:xfrm rot="5400000">
            <a:off x="2280647" y="3376507"/>
            <a:ext cx="378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{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404061" y="2509332"/>
            <a:ext cx="21318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Limite de delta h por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delta t quando ∆t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tende à 0</a:t>
            </a:r>
          </a:p>
        </p:txBody>
      </p:sp>
      <p:cxnSp>
        <p:nvCxnSpPr>
          <p:cNvPr id="18" name="Conector de Seta Reta 17"/>
          <p:cNvCxnSpPr/>
          <p:nvPr/>
        </p:nvCxnSpPr>
        <p:spPr>
          <a:xfrm>
            <a:off x="2469963" y="3452567"/>
            <a:ext cx="0" cy="2110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 flipV="1">
            <a:off x="3758069" y="4936366"/>
            <a:ext cx="0" cy="2596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 rot="16200000">
            <a:off x="3537093" y="4347093"/>
            <a:ext cx="378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{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2793300" y="5235854"/>
            <a:ext cx="18662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Limite de h</a:t>
            </a:r>
            <a:r>
              <a:rPr lang="pt-BR" baseline="-25000" dirty="0">
                <a:solidFill>
                  <a:srgbClr val="FF0000"/>
                </a:solidFill>
              </a:rPr>
              <a:t>1</a:t>
            </a:r>
            <a:r>
              <a:rPr lang="pt-BR" dirty="0">
                <a:solidFill>
                  <a:srgbClr val="FF0000"/>
                </a:solidFill>
              </a:rPr>
              <a:t> – h</a:t>
            </a:r>
            <a:r>
              <a:rPr lang="pt-BR" baseline="-25000" dirty="0">
                <a:solidFill>
                  <a:srgbClr val="FF0000"/>
                </a:solidFill>
              </a:rPr>
              <a:t>0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por t</a:t>
            </a:r>
            <a:r>
              <a:rPr lang="pt-BR" baseline="-25000" dirty="0">
                <a:solidFill>
                  <a:srgbClr val="FF0000"/>
                </a:solidFill>
              </a:rPr>
              <a:t>1</a:t>
            </a:r>
            <a:r>
              <a:rPr lang="pt-BR" dirty="0">
                <a:solidFill>
                  <a:srgbClr val="FF0000"/>
                </a:solidFill>
              </a:rPr>
              <a:t> – t</a:t>
            </a:r>
            <a:r>
              <a:rPr lang="pt-BR" baseline="-25000" dirty="0">
                <a:solidFill>
                  <a:srgbClr val="FF0000"/>
                </a:solidFill>
              </a:rPr>
              <a:t>0</a:t>
            </a:r>
            <a:r>
              <a:rPr lang="pt-BR" dirty="0">
                <a:solidFill>
                  <a:srgbClr val="FF0000"/>
                </a:solidFill>
              </a:rPr>
              <a:t> quando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t</a:t>
            </a:r>
            <a:r>
              <a:rPr lang="pt-BR" baseline="-25000" dirty="0">
                <a:solidFill>
                  <a:srgbClr val="FF0000"/>
                </a:solidFill>
              </a:rPr>
              <a:t>1 </a:t>
            </a:r>
            <a:r>
              <a:rPr lang="pt-BR" dirty="0">
                <a:solidFill>
                  <a:srgbClr val="FF0000"/>
                </a:solidFill>
              </a:rPr>
              <a:t>tende à t</a:t>
            </a:r>
            <a:r>
              <a:rPr lang="pt-BR" baseline="-25000" dirty="0">
                <a:solidFill>
                  <a:srgbClr val="FF0000"/>
                </a:solidFill>
              </a:rPr>
              <a:t>0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 rot="5400000">
            <a:off x="4675642" y="3376507"/>
            <a:ext cx="378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{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4210066" y="2748684"/>
            <a:ext cx="1309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Derivada de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h por t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4864957" y="3452567"/>
            <a:ext cx="1" cy="2110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/>
          <p:nvPr/>
        </p:nvCxnSpPr>
        <p:spPr>
          <a:xfrm flipV="1">
            <a:off x="5470538" y="4658260"/>
            <a:ext cx="1" cy="4675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 rot="16200000">
            <a:off x="5249563" y="4068987"/>
            <a:ext cx="378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rgbClr val="FF0000"/>
                </a:solidFill>
              </a:rPr>
              <a:t>{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783987" y="5196043"/>
            <a:ext cx="1309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Derivada de</a:t>
            </a:r>
          </a:p>
          <a:p>
            <a:pPr algn="ctr"/>
            <a:r>
              <a:rPr lang="pt-BR" dirty="0">
                <a:solidFill>
                  <a:srgbClr val="FF0000"/>
                </a:solidFill>
              </a:rPr>
              <a:t>h por t</a:t>
            </a:r>
          </a:p>
        </p:txBody>
      </p:sp>
      <p:cxnSp>
        <p:nvCxnSpPr>
          <p:cNvPr id="28" name="Conector de Seta Reta 27"/>
          <p:cNvCxnSpPr>
            <a:endCxn id="11" idx="0"/>
          </p:cNvCxnSpPr>
          <p:nvPr/>
        </p:nvCxnSpPr>
        <p:spPr>
          <a:xfrm flipH="1">
            <a:off x="641811" y="801721"/>
            <a:ext cx="2151489" cy="22020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852603"/>
              </p:ext>
            </p:extLst>
          </p:nvPr>
        </p:nvGraphicFramePr>
        <p:xfrm>
          <a:off x="6093769" y="1961230"/>
          <a:ext cx="26384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346040" imgH="393480" progId="Equation.3">
                  <p:embed/>
                </p:oleObj>
              </mc:Choice>
              <mc:Fallback>
                <p:oleObj name="Equação" r:id="rId6" imgW="1346040" imgH="393480" progId="Equation.3">
                  <p:embed/>
                  <p:pic>
                    <p:nvPicPr>
                      <p:cNvPr id="4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769" y="1961230"/>
                        <a:ext cx="263842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CaixaDeTexto 29"/>
          <p:cNvSpPr txBox="1"/>
          <p:nvPr/>
        </p:nvSpPr>
        <p:spPr>
          <a:xfrm>
            <a:off x="6252360" y="3395015"/>
            <a:ext cx="2807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Por observação, como sabemos que a velocidade não é infinita no instante (t)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V="1">
            <a:off x="8221980" y="2509332"/>
            <a:ext cx="228600" cy="759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8328846" y="2897483"/>
            <a:ext cx="80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Errado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7541623" y="549510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∆</a:t>
            </a:r>
          </a:p>
        </p:txBody>
      </p:sp>
    </p:spTree>
    <p:extLst>
      <p:ext uri="{BB962C8B-B14F-4D97-AF65-F5344CB8AC3E}">
        <p14:creationId xmlns:p14="http://schemas.microsoft.com/office/powerpoint/2010/main" val="15226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793192"/>
              </p:ext>
            </p:extLst>
          </p:nvPr>
        </p:nvGraphicFramePr>
        <p:xfrm>
          <a:off x="0" y="295275"/>
          <a:ext cx="3883025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981080" imgH="431640" progId="Equation.3">
                  <p:embed/>
                </p:oleObj>
              </mc:Choice>
              <mc:Fallback>
                <p:oleObj name="Equação" r:id="rId2" imgW="1981080" imgH="431640" progId="Equation.3">
                  <p:embed/>
                  <p:pic>
                    <p:nvPicPr>
                      <p:cNvPr id="1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5275"/>
                        <a:ext cx="3883025" cy="846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023620"/>
              </p:ext>
            </p:extLst>
          </p:nvPr>
        </p:nvGraphicFramePr>
        <p:xfrm>
          <a:off x="0" y="2501509"/>
          <a:ext cx="19923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015920" imgH="393480" progId="Equation.3">
                  <p:embed/>
                </p:oleObj>
              </mc:Choice>
              <mc:Fallback>
                <p:oleObj name="Equação" r:id="rId4" imgW="1015920" imgH="393480" progId="Equation.3">
                  <p:embed/>
                  <p:pic>
                    <p:nvPicPr>
                      <p:cNvPr id="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501509"/>
                        <a:ext cx="1992312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ector de Seta Reta 6"/>
          <p:cNvCxnSpPr/>
          <p:nvPr/>
        </p:nvCxnSpPr>
        <p:spPr>
          <a:xfrm>
            <a:off x="1216152" y="1257079"/>
            <a:ext cx="0" cy="1135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1453896" y="1604352"/>
            <a:ext cx="7690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Vamos simplesmente chamar </a:t>
            </a:r>
            <a:r>
              <a:rPr lang="pt-BR" dirty="0">
                <a:solidFill>
                  <a:srgbClr val="FF0000"/>
                </a:solidFill>
              </a:rPr>
              <a:t>t</a:t>
            </a:r>
            <a:r>
              <a:rPr lang="pt-BR" baseline="-25000" dirty="0">
                <a:solidFill>
                  <a:srgbClr val="FF0000"/>
                </a:solidFill>
              </a:rPr>
              <a:t>0</a:t>
            </a:r>
            <a:r>
              <a:rPr lang="pt-BR" dirty="0">
                <a:solidFill>
                  <a:srgbClr val="FF0000"/>
                </a:solidFill>
              </a:rPr>
              <a:t> de t </a:t>
            </a:r>
            <a:r>
              <a:rPr lang="pt-BR" dirty="0"/>
              <a:t>e </a:t>
            </a:r>
            <a:r>
              <a:rPr lang="pt-BR" dirty="0">
                <a:solidFill>
                  <a:srgbClr val="FF0000"/>
                </a:solidFill>
              </a:rPr>
              <a:t>h</a:t>
            </a:r>
            <a:r>
              <a:rPr lang="pt-BR" baseline="-25000" dirty="0">
                <a:solidFill>
                  <a:srgbClr val="FF0000"/>
                </a:solidFill>
              </a:rPr>
              <a:t>0</a:t>
            </a:r>
            <a:r>
              <a:rPr lang="pt-BR" dirty="0">
                <a:solidFill>
                  <a:srgbClr val="FF0000"/>
                </a:solidFill>
              </a:rPr>
              <a:t> de h</a:t>
            </a:r>
            <a:r>
              <a:rPr lang="pt-BR" dirty="0"/>
              <a:t>, obviamente assumindo que t</a:t>
            </a:r>
            <a:r>
              <a:rPr lang="pt-BR" baseline="-25000" dirty="0"/>
              <a:t>1</a:t>
            </a:r>
            <a:r>
              <a:rPr lang="pt-BR" dirty="0"/>
              <a:t> &gt; t</a:t>
            </a:r>
            <a:r>
              <a:rPr lang="pt-BR" baseline="-25000" dirty="0"/>
              <a:t>0</a:t>
            </a:r>
            <a:r>
              <a:rPr lang="pt-BR" dirty="0"/>
              <a:t> </a:t>
            </a:r>
          </a:p>
        </p:txBody>
      </p:sp>
      <p:cxnSp>
        <p:nvCxnSpPr>
          <p:cNvPr id="10" name="Conector de Seta Reta 9"/>
          <p:cNvCxnSpPr/>
          <p:nvPr/>
        </p:nvCxnSpPr>
        <p:spPr>
          <a:xfrm>
            <a:off x="1240536" y="3576607"/>
            <a:ext cx="0" cy="11354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209386"/>
              </p:ext>
            </p:extLst>
          </p:nvPr>
        </p:nvGraphicFramePr>
        <p:xfrm>
          <a:off x="2380424" y="4166737"/>
          <a:ext cx="221456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1130040" imgH="241200" progId="Equation.3">
                  <p:embed/>
                </p:oleObj>
              </mc:Choice>
              <mc:Fallback>
                <p:oleObj name="Equação" r:id="rId6" imgW="1130040" imgH="241200" progId="Equation.3">
                  <p:embed/>
                  <p:pic>
                    <p:nvPicPr>
                      <p:cNvPr id="1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0424" y="4166737"/>
                        <a:ext cx="221456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311317"/>
              </p:ext>
            </p:extLst>
          </p:nvPr>
        </p:nvGraphicFramePr>
        <p:xfrm>
          <a:off x="2380424" y="3711506"/>
          <a:ext cx="1941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990360" imgH="228600" progId="Equation.3">
                  <p:embed/>
                </p:oleObj>
              </mc:Choice>
              <mc:Fallback>
                <p:oleObj name="Equação" r:id="rId8" imgW="990360" imgH="228600" progId="Equation.3">
                  <p:embed/>
                  <p:pic>
                    <p:nvPicPr>
                      <p:cNvPr id="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0424" y="3711506"/>
                        <a:ext cx="1941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CaixaDeTexto 13"/>
          <p:cNvSpPr txBox="1"/>
          <p:nvPr/>
        </p:nvSpPr>
        <p:spPr>
          <a:xfrm>
            <a:off x="2075532" y="3877661"/>
            <a:ext cx="3048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000" dirty="0"/>
              <a:t>{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824986" y="2671486"/>
            <a:ext cx="1775587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sz="1600" dirty="0">
                <a:solidFill>
                  <a:schemeClr val="tx1"/>
                </a:solidFill>
              </a:rPr>
              <a:t>h(t) = 10.t - 5.t</a:t>
            </a:r>
            <a:r>
              <a:rPr lang="pt-BR" sz="1600" baseline="30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662461" y="4936386"/>
            <a:ext cx="1156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agora?...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824986" y="2288597"/>
            <a:ext cx="22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Do problema original:</a:t>
            </a:r>
          </a:p>
        </p:txBody>
      </p:sp>
      <p:cxnSp>
        <p:nvCxnSpPr>
          <p:cNvPr id="18" name="Conector de Seta Reta 17"/>
          <p:cNvCxnSpPr/>
          <p:nvPr/>
        </p:nvCxnSpPr>
        <p:spPr>
          <a:xfrm flipH="1">
            <a:off x="3968496" y="3273034"/>
            <a:ext cx="353442" cy="4384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/>
          <p:nvPr/>
        </p:nvCxnSpPr>
        <p:spPr>
          <a:xfrm flipH="1">
            <a:off x="1380744" y="4166737"/>
            <a:ext cx="4378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67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40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145369" y="1486987"/>
          <a:ext cx="1941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990360" imgH="228600" progId="Equation.3">
                  <p:embed/>
                </p:oleObj>
              </mc:Choice>
              <mc:Fallback>
                <p:oleObj name="Equação" r:id="rId2" imgW="990360" imgH="228600" progId="Equation.3">
                  <p:embed/>
                  <p:pic>
                    <p:nvPicPr>
                      <p:cNvPr id="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69" y="1486987"/>
                        <a:ext cx="1941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991902"/>
              </p:ext>
            </p:extLst>
          </p:nvPr>
        </p:nvGraphicFramePr>
        <p:xfrm>
          <a:off x="145369" y="2636266"/>
          <a:ext cx="26654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358640" imgH="393480" progId="Equation.3">
                  <p:embed/>
                </p:oleObj>
              </mc:Choice>
              <mc:Fallback>
                <p:oleObj name="Equação" r:id="rId4" imgW="1358640" imgH="393480" progId="Equation.3">
                  <p:embed/>
                  <p:pic>
                    <p:nvPicPr>
                      <p:cNvPr id="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69" y="2636266"/>
                        <a:ext cx="2665412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aixaDeTexto 1"/>
          <p:cNvSpPr txBox="1"/>
          <p:nvPr/>
        </p:nvSpPr>
        <p:spPr>
          <a:xfrm>
            <a:off x="2387600" y="1121227"/>
            <a:ext cx="1165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Queremos</a:t>
            </a:r>
          </a:p>
        </p:txBody>
      </p:sp>
      <p:graphicFrame>
        <p:nvGraphicFramePr>
          <p:cNvPr id="6" name="Object 11"/>
          <p:cNvGraphicFramePr>
            <a:graphicFrameLocks noChangeAspect="1"/>
          </p:cNvGraphicFramePr>
          <p:nvPr/>
        </p:nvGraphicFramePr>
        <p:xfrm>
          <a:off x="3381140" y="1481089"/>
          <a:ext cx="94615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482400" imgH="203040" progId="Equation.3">
                  <p:embed/>
                </p:oleObj>
              </mc:Choice>
              <mc:Fallback>
                <p:oleObj name="Equação" r:id="rId6" imgW="482400" imgH="203040" progId="Equation.3">
                  <p:embed/>
                  <p:pic>
                    <p:nvPicPr>
                      <p:cNvPr id="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140" y="1481089"/>
                        <a:ext cx="94615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ector de Seta Reta 7"/>
          <p:cNvCxnSpPr/>
          <p:nvPr/>
        </p:nvCxnSpPr>
        <p:spPr>
          <a:xfrm>
            <a:off x="2387600" y="1710824"/>
            <a:ext cx="7112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ângulo 8"/>
          <p:cNvSpPr/>
          <p:nvPr/>
        </p:nvSpPr>
        <p:spPr>
          <a:xfrm>
            <a:off x="145368" y="1305893"/>
            <a:ext cx="1959891" cy="831528"/>
          </a:xfrm>
          <a:prstGeom prst="rect">
            <a:avLst/>
          </a:prstGeom>
          <a:noFill/>
          <a:ln w="28575">
            <a:solidFill>
              <a:srgbClr val="F02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93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36513" y="715963"/>
            <a:ext cx="8928100" cy="504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	Aceleração:</a:t>
            </a:r>
            <a:r>
              <a:rPr lang="pt-BR" b="0" dirty="0">
                <a:solidFill>
                  <a:schemeClr val="tx1"/>
                </a:solidFill>
              </a:rPr>
              <a:t>	Quando a velocidade muda com o tempo dizemos que o móvel está experimentando uma aceleração ou, de outro modo, está sendo acelerado. A aceleração pode ser positiva ou negativa a depender da mudança na velocidade, de modo que, quando a velocidade aumenta o valor da aceleração é positivo e vice-versa.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Assim como para a velocidade temos a aceleração média e a aceleração instantânea as quais, matematicamente, são definidas como:</a:t>
            </a:r>
          </a:p>
          <a:p>
            <a:pPr algn="just" eaLnBrk="1" hangingPunct="1">
              <a:lnSpc>
                <a:spcPct val="15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Aceleração média:</a:t>
            </a:r>
          </a:p>
          <a:p>
            <a:pPr algn="just" eaLnBrk="1" hangingPunct="1">
              <a:lnSpc>
                <a:spcPct val="15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Aceleração instantânea:</a:t>
            </a:r>
            <a:endParaRPr lang="pt-BR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74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8875628"/>
              </p:ext>
            </p:extLst>
          </p:nvPr>
        </p:nvGraphicFramePr>
        <p:xfrm>
          <a:off x="2943225" y="3883025"/>
          <a:ext cx="21336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6000" imgH="431800" progId="Equation.3">
                  <p:embed/>
                </p:oleObj>
              </mc:Choice>
              <mc:Fallback>
                <p:oleObj name="Equation" r:id="rId2" imgW="10160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883025"/>
                        <a:ext cx="21336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741643"/>
              </p:ext>
            </p:extLst>
          </p:nvPr>
        </p:nvGraphicFramePr>
        <p:xfrm>
          <a:off x="2970213" y="5076825"/>
          <a:ext cx="28130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434960" imgH="419040" progId="Equation.3">
                  <p:embed/>
                </p:oleObj>
              </mc:Choice>
              <mc:Fallback>
                <p:oleObj name="Equação" r:id="rId4" imgW="14349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5076825"/>
                        <a:ext cx="28130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8663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4925" y="676275"/>
            <a:ext cx="8964613" cy="588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pt-BR" sz="2800" dirty="0">
                <a:solidFill>
                  <a:srgbClr val="FF0000"/>
                </a:solidFill>
              </a:rPr>
              <a:t>	Movimento Uniformemente Variado (MUV):</a:t>
            </a:r>
            <a:endParaRPr lang="pt-BR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Ocorre quando a aceleração é constante, portanto, a aceleração média é igual à aceleração instantânea.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São válidas as seguinte equações gerais: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Equação do movimento: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Equação da velocidade: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Onde:	s(t) = posição em um dado instante;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	s</a:t>
            </a:r>
            <a:r>
              <a:rPr lang="pt-BR" b="0" baseline="-25000" dirty="0">
                <a:solidFill>
                  <a:schemeClr val="tx1"/>
                </a:solidFill>
              </a:rPr>
              <a:t>0</a:t>
            </a:r>
            <a:r>
              <a:rPr lang="pt-BR" b="0" dirty="0">
                <a:solidFill>
                  <a:schemeClr val="tx1"/>
                </a:solidFill>
              </a:rPr>
              <a:t> = posição inicial;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	v</a:t>
            </a:r>
            <a:r>
              <a:rPr lang="pt-BR" b="0" baseline="-25000" dirty="0">
                <a:solidFill>
                  <a:schemeClr val="tx1"/>
                </a:solidFill>
              </a:rPr>
              <a:t>0</a:t>
            </a:r>
            <a:r>
              <a:rPr lang="pt-BR" b="0" dirty="0">
                <a:solidFill>
                  <a:schemeClr val="tx1"/>
                </a:solidFill>
              </a:rPr>
              <a:t> = velocidade inicial; e</a:t>
            </a: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	v(t) = velocidade em um dado instante.</a:t>
            </a:r>
          </a:p>
        </p:txBody>
      </p:sp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5340350" y="2217738"/>
          <a:ext cx="3386138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612800" imgH="393480" progId="Equation.3">
                  <p:embed/>
                </p:oleObj>
              </mc:Choice>
              <mc:Fallback>
                <p:oleObj name="Equação" r:id="rId2" imgW="16128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0350" y="2217738"/>
                        <a:ext cx="3386138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/>
        </p:nvGraphicFramePr>
        <p:xfrm>
          <a:off x="2808287" y="3282156"/>
          <a:ext cx="253206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206360" imgH="393480" progId="Equation.3">
                  <p:embed/>
                </p:oleObj>
              </mc:Choice>
              <mc:Fallback>
                <p:oleObj name="Equação" r:id="rId4" imgW="1206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7" y="3282156"/>
                        <a:ext cx="2532063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2812256" y="4464050"/>
          <a:ext cx="170497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812520" imgH="228600" progId="Equation.3">
                  <p:embed/>
                </p:oleObj>
              </mc:Choice>
              <mc:Fallback>
                <p:oleObj name="Equação" r:id="rId6" imgW="8125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256" y="4464050"/>
                        <a:ext cx="170497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1175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9"/>
          <p:cNvSpPr>
            <a:spLocks noChangeArrowheads="1"/>
          </p:cNvSpPr>
          <p:nvPr/>
        </p:nvSpPr>
        <p:spPr bwMode="auto">
          <a:xfrm>
            <a:off x="34925" y="676275"/>
            <a:ext cx="8964613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pt-BR" sz="2800" dirty="0">
                <a:solidFill>
                  <a:srgbClr val="FF0000"/>
                </a:solidFill>
              </a:rPr>
              <a:t>	Exercícios:</a:t>
            </a:r>
            <a:endParaRPr lang="pt-BR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02)</a:t>
            </a:r>
            <a:r>
              <a:rPr lang="pt-BR" b="0" dirty="0">
                <a:solidFill>
                  <a:schemeClr val="tx1"/>
                </a:solidFill>
              </a:rPr>
              <a:t>	</a:t>
            </a:r>
            <a:r>
              <a:rPr lang="pt-BR" dirty="0">
                <a:solidFill>
                  <a:schemeClr val="tx1"/>
                </a:solidFill>
              </a:rPr>
              <a:t>(a) </a:t>
            </a:r>
            <a:r>
              <a:rPr lang="pt-BR" b="0" dirty="0">
                <a:solidFill>
                  <a:schemeClr val="tx1"/>
                </a:solidFill>
              </a:rPr>
              <a:t>Um carro, partindo do repouso, atinge 88 km/h em 3,2s. Qual é sua aceleração média? </a:t>
            </a:r>
            <a:r>
              <a:rPr lang="pt-BR" dirty="0">
                <a:solidFill>
                  <a:schemeClr val="tx1"/>
                </a:solidFill>
              </a:rPr>
              <a:t>(b) </a:t>
            </a:r>
            <a:r>
              <a:rPr lang="pt-BR" b="0" dirty="0">
                <a:solidFill>
                  <a:schemeClr val="tx1"/>
                </a:solidFill>
              </a:rPr>
              <a:t>Mais tarde o carro é freado em 4,2s, qual é sua aceleração média durante a frenagem?</a:t>
            </a:r>
          </a:p>
        </p:txBody>
      </p:sp>
      <p:cxnSp>
        <p:nvCxnSpPr>
          <p:cNvPr id="3" name="Conector reto 2"/>
          <p:cNvCxnSpPr/>
          <p:nvPr/>
        </p:nvCxnSpPr>
        <p:spPr>
          <a:xfrm>
            <a:off x="134143" y="3390228"/>
            <a:ext cx="0" cy="5080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/>
          <p:cNvCxnSpPr/>
          <p:nvPr/>
        </p:nvCxnSpPr>
        <p:spPr>
          <a:xfrm>
            <a:off x="1827212" y="3349588"/>
            <a:ext cx="0" cy="5080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/>
          <p:cNvCxnSpPr/>
          <p:nvPr/>
        </p:nvCxnSpPr>
        <p:spPr>
          <a:xfrm>
            <a:off x="2274252" y="3349588"/>
            <a:ext cx="0" cy="5080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/>
          <p:cNvCxnSpPr/>
          <p:nvPr/>
        </p:nvCxnSpPr>
        <p:spPr>
          <a:xfrm>
            <a:off x="134143" y="3603588"/>
            <a:ext cx="519064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34925" y="4217413"/>
            <a:ext cx="1183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0</a:t>
            </a:r>
            <a:r>
              <a:rPr lang="pt-BR" dirty="0"/>
              <a:t> = 0 m/s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4925" y="3918542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  <a:r>
              <a:rPr lang="pt-BR" baseline="-25000" dirty="0"/>
              <a:t>0</a:t>
            </a:r>
            <a:r>
              <a:rPr lang="pt-BR" dirty="0"/>
              <a:t> = 0 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682391" y="4179496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1</a:t>
            </a:r>
            <a:r>
              <a:rPr lang="pt-BR" dirty="0"/>
              <a:t> = 24,4 m/s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682391" y="3880625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  <a:r>
              <a:rPr lang="pt-BR" baseline="-25000" dirty="0"/>
              <a:t>1</a:t>
            </a:r>
            <a:r>
              <a:rPr lang="pt-BR" dirty="0"/>
              <a:t> = 3,2 s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2969854" y="2727391"/>
            <a:ext cx="758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  <a:r>
              <a:rPr lang="pt-BR" baseline="-25000" dirty="0"/>
              <a:t>2</a:t>
            </a:r>
            <a:r>
              <a:rPr lang="pt-BR" dirty="0"/>
              <a:t> = ?s</a:t>
            </a:r>
          </a:p>
        </p:txBody>
      </p:sp>
      <p:cxnSp>
        <p:nvCxnSpPr>
          <p:cNvPr id="12" name="Conector reto 11"/>
          <p:cNvCxnSpPr/>
          <p:nvPr/>
        </p:nvCxnSpPr>
        <p:spPr>
          <a:xfrm>
            <a:off x="5324792" y="3377528"/>
            <a:ext cx="0" cy="5080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3349125" y="3368176"/>
            <a:ext cx="0" cy="5080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2946538" y="3015344"/>
            <a:ext cx="147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2</a:t>
            </a:r>
            <a:r>
              <a:rPr lang="pt-BR" dirty="0"/>
              <a:t> = 24,4 m/s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804588" y="3911127"/>
            <a:ext cx="1319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</a:t>
            </a:r>
            <a:r>
              <a:rPr lang="pt-BR" baseline="-25000" dirty="0"/>
              <a:t>3</a:t>
            </a:r>
            <a:r>
              <a:rPr lang="pt-BR" dirty="0"/>
              <a:t> = ?s</a:t>
            </a:r>
          </a:p>
          <a:p>
            <a:r>
              <a:rPr lang="pt-BR" dirty="0"/>
              <a:t>t</a:t>
            </a:r>
            <a:r>
              <a:rPr lang="pt-BR" baseline="-25000" dirty="0"/>
              <a:t>3</a:t>
            </a:r>
            <a:r>
              <a:rPr lang="pt-BR" dirty="0"/>
              <a:t> = t</a:t>
            </a:r>
            <a:r>
              <a:rPr lang="pt-BR" baseline="-25000" dirty="0"/>
              <a:t>2</a:t>
            </a:r>
            <a:r>
              <a:rPr lang="pt-BR" dirty="0"/>
              <a:t> + 4,2s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675569" y="2979995"/>
            <a:ext cx="1145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  <a:r>
              <a:rPr lang="pt-BR" baseline="-25000" dirty="0"/>
              <a:t>3</a:t>
            </a:r>
            <a:r>
              <a:rPr lang="pt-BR" dirty="0"/>
              <a:t> = 0 m/s</a:t>
            </a:r>
          </a:p>
        </p:txBody>
      </p:sp>
    </p:spTree>
    <p:extLst>
      <p:ext uri="{BB962C8B-B14F-4D97-AF65-F5344CB8AC3E}">
        <p14:creationId xmlns:p14="http://schemas.microsoft.com/office/powerpoint/2010/main" val="1460952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4925" y="92075"/>
            <a:ext cx="8964613" cy="35548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pt-BR" sz="2800" dirty="0">
                <a:solidFill>
                  <a:srgbClr val="FF0000"/>
                </a:solidFill>
              </a:rPr>
              <a:t>	Exercícios:</a:t>
            </a:r>
            <a:endParaRPr lang="pt-BR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3a)</a:t>
            </a:r>
            <a:r>
              <a:rPr lang="pt-BR" b="0" dirty="0">
                <a:solidFill>
                  <a:schemeClr val="tx1"/>
                </a:solidFill>
              </a:rPr>
              <a:t>	Seja um móvel que se desloca segundo a seguinte equação do movimento: s(t) = 8 - 6t + t</a:t>
            </a:r>
            <a:r>
              <a:rPr lang="pt-BR" b="0" baseline="30000" dirty="0">
                <a:solidFill>
                  <a:schemeClr val="tx1"/>
                </a:solidFill>
              </a:rPr>
              <a:t>2</a:t>
            </a:r>
            <a:r>
              <a:rPr lang="pt-BR" b="0" dirty="0">
                <a:solidFill>
                  <a:schemeClr val="tx1"/>
                </a:solidFill>
              </a:rPr>
              <a:t>. Responda: </a:t>
            </a:r>
            <a:r>
              <a:rPr lang="pt-BR" dirty="0">
                <a:solidFill>
                  <a:schemeClr val="tx1"/>
                </a:solidFill>
              </a:rPr>
              <a:t>(a) </a:t>
            </a:r>
            <a:r>
              <a:rPr lang="pt-BR" b="0" dirty="0">
                <a:solidFill>
                  <a:schemeClr val="tx1"/>
                </a:solidFill>
              </a:rPr>
              <a:t>Que tipo de movimento descreve este móvel, por que? </a:t>
            </a:r>
            <a:r>
              <a:rPr lang="pt-BR" dirty="0">
                <a:solidFill>
                  <a:schemeClr val="tx1"/>
                </a:solidFill>
              </a:rPr>
              <a:t>(b) </a:t>
            </a:r>
            <a:r>
              <a:rPr lang="pt-BR" b="0" dirty="0">
                <a:solidFill>
                  <a:schemeClr val="tx1"/>
                </a:solidFill>
              </a:rPr>
              <a:t>Qual a posição inicial (em t = 0s) do móvel? </a:t>
            </a:r>
            <a:r>
              <a:rPr lang="pt-BR" dirty="0">
                <a:solidFill>
                  <a:schemeClr val="tx1"/>
                </a:solidFill>
              </a:rPr>
              <a:t>(c)</a:t>
            </a:r>
            <a:r>
              <a:rPr lang="pt-BR" b="0" dirty="0">
                <a:solidFill>
                  <a:schemeClr val="tx1"/>
                </a:solidFill>
              </a:rPr>
              <a:t> Qual a velocidade inicial (em t = 0s) do móvel? </a:t>
            </a:r>
            <a:r>
              <a:rPr lang="pt-BR" dirty="0">
                <a:solidFill>
                  <a:schemeClr val="tx1"/>
                </a:solidFill>
              </a:rPr>
              <a:t>(d)</a:t>
            </a:r>
            <a:r>
              <a:rPr lang="pt-BR" b="0" dirty="0">
                <a:solidFill>
                  <a:schemeClr val="tx1"/>
                </a:solidFill>
              </a:rPr>
              <a:t> Qual a aceleração do móvel? </a:t>
            </a:r>
            <a:r>
              <a:rPr lang="pt-BR" dirty="0">
                <a:solidFill>
                  <a:schemeClr val="tx1"/>
                </a:solidFill>
              </a:rPr>
              <a:t>(e)</a:t>
            </a:r>
            <a:r>
              <a:rPr lang="pt-BR" b="0" dirty="0">
                <a:solidFill>
                  <a:schemeClr val="tx1"/>
                </a:solidFill>
              </a:rPr>
              <a:t> Qual a equação da velocidade do móvel (v(t))? </a:t>
            </a:r>
            <a:r>
              <a:rPr lang="pt-BR" dirty="0">
                <a:solidFill>
                  <a:schemeClr val="tx1"/>
                </a:solidFill>
              </a:rPr>
              <a:t>(e)</a:t>
            </a:r>
            <a:r>
              <a:rPr lang="pt-BR" b="0" dirty="0">
                <a:solidFill>
                  <a:schemeClr val="tx1"/>
                </a:solidFill>
              </a:rPr>
              <a:t> Qual a posição e a velocidade do móvel nos seguintes instantes: t = -1s; t = 0s; t = 1s; t = 2s; t = 3s; t = 4s e t = 5s ; t = 6s. </a:t>
            </a:r>
            <a:r>
              <a:rPr lang="pt-BR" dirty="0">
                <a:solidFill>
                  <a:schemeClr val="tx1"/>
                </a:solidFill>
              </a:rPr>
              <a:t>(f)</a:t>
            </a:r>
            <a:r>
              <a:rPr lang="pt-BR" b="0" dirty="0">
                <a:solidFill>
                  <a:schemeClr val="tx1"/>
                </a:solidFill>
              </a:rPr>
              <a:t> Trace os gráficos da posição </a:t>
            </a:r>
            <a:r>
              <a:rPr lang="pt-BR" b="0" dirty="0" err="1">
                <a:solidFill>
                  <a:schemeClr val="tx1"/>
                </a:solidFill>
              </a:rPr>
              <a:t>vs</a:t>
            </a:r>
            <a:r>
              <a:rPr lang="pt-BR" b="0" dirty="0">
                <a:solidFill>
                  <a:schemeClr val="tx1"/>
                </a:solidFill>
              </a:rPr>
              <a:t> tempo e da velocidade </a:t>
            </a:r>
            <a:r>
              <a:rPr lang="pt-BR" b="0" dirty="0" err="1">
                <a:solidFill>
                  <a:schemeClr val="tx1"/>
                </a:solidFill>
              </a:rPr>
              <a:t>vs</a:t>
            </a:r>
            <a:r>
              <a:rPr lang="pt-BR" b="0" dirty="0">
                <a:solidFill>
                  <a:schemeClr val="tx1"/>
                </a:solidFill>
              </a:rPr>
              <a:t> tempo entre os instantes t = -1s e t = 6s. </a:t>
            </a:r>
            <a:r>
              <a:rPr lang="pt-BR" dirty="0">
                <a:solidFill>
                  <a:schemeClr val="tx1"/>
                </a:solidFill>
              </a:rPr>
              <a:t>(g) </a:t>
            </a:r>
            <a:r>
              <a:rPr lang="pt-BR" b="0" dirty="0">
                <a:solidFill>
                  <a:schemeClr val="tx1"/>
                </a:solidFill>
              </a:rPr>
              <a:t>este móvel passa pela origem (s(t) = 0m), quando?</a:t>
            </a:r>
          </a:p>
        </p:txBody>
      </p:sp>
    </p:spTree>
    <p:extLst>
      <p:ext uri="{BB962C8B-B14F-4D97-AF65-F5344CB8AC3E}">
        <p14:creationId xmlns:p14="http://schemas.microsoft.com/office/powerpoint/2010/main" val="4075601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34925" y="92075"/>
            <a:ext cx="8964613" cy="27053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3b)</a:t>
            </a:r>
            <a:r>
              <a:rPr lang="pt-BR" b="0" dirty="0">
                <a:solidFill>
                  <a:schemeClr val="tx1"/>
                </a:solidFill>
              </a:rPr>
              <a:t>	Seja um móvel que se desloca segundo a seguinte equação do movimento: s(t) = 4 + t</a:t>
            </a:r>
            <a:r>
              <a:rPr lang="pt-BR" b="0" baseline="30000" dirty="0">
                <a:solidFill>
                  <a:schemeClr val="tx1"/>
                </a:solidFill>
              </a:rPr>
              <a:t>2</a:t>
            </a:r>
            <a:r>
              <a:rPr lang="pt-BR" b="0" dirty="0">
                <a:solidFill>
                  <a:schemeClr val="tx1"/>
                </a:solidFill>
              </a:rPr>
              <a:t>. Responda: </a:t>
            </a:r>
            <a:r>
              <a:rPr lang="pt-BR" dirty="0">
                <a:solidFill>
                  <a:schemeClr val="tx1"/>
                </a:solidFill>
              </a:rPr>
              <a:t>(a) </a:t>
            </a:r>
            <a:r>
              <a:rPr lang="pt-BR" b="0" dirty="0">
                <a:solidFill>
                  <a:schemeClr val="tx1"/>
                </a:solidFill>
              </a:rPr>
              <a:t>Que tipo de movimento descreve este móvel, por que? </a:t>
            </a:r>
            <a:r>
              <a:rPr lang="pt-BR" dirty="0">
                <a:solidFill>
                  <a:schemeClr val="tx1"/>
                </a:solidFill>
              </a:rPr>
              <a:t>(b) </a:t>
            </a:r>
            <a:r>
              <a:rPr lang="pt-BR" b="0" dirty="0">
                <a:solidFill>
                  <a:schemeClr val="tx1"/>
                </a:solidFill>
              </a:rPr>
              <a:t>Qual a posição inicial (em t = 0s) do móvel? </a:t>
            </a:r>
            <a:r>
              <a:rPr lang="pt-BR" dirty="0">
                <a:solidFill>
                  <a:schemeClr val="tx1"/>
                </a:solidFill>
              </a:rPr>
              <a:t>(c)</a:t>
            </a:r>
            <a:r>
              <a:rPr lang="pt-BR" b="0" dirty="0">
                <a:solidFill>
                  <a:schemeClr val="tx1"/>
                </a:solidFill>
              </a:rPr>
              <a:t> Qual a velocidade inicial (em t = 0s) do móvel? </a:t>
            </a:r>
            <a:r>
              <a:rPr lang="pt-BR" dirty="0">
                <a:solidFill>
                  <a:schemeClr val="tx1"/>
                </a:solidFill>
              </a:rPr>
              <a:t>(d)</a:t>
            </a:r>
            <a:r>
              <a:rPr lang="pt-BR" b="0" dirty="0">
                <a:solidFill>
                  <a:schemeClr val="tx1"/>
                </a:solidFill>
              </a:rPr>
              <a:t> Qual a aceleração do móvel? </a:t>
            </a:r>
            <a:r>
              <a:rPr lang="pt-BR" dirty="0">
                <a:solidFill>
                  <a:schemeClr val="tx1"/>
                </a:solidFill>
              </a:rPr>
              <a:t>(e)</a:t>
            </a:r>
            <a:r>
              <a:rPr lang="pt-BR" b="0" dirty="0">
                <a:solidFill>
                  <a:schemeClr val="tx1"/>
                </a:solidFill>
              </a:rPr>
              <a:t> Qual a equação da velocidade do móvel (v(t))? </a:t>
            </a:r>
            <a:r>
              <a:rPr lang="pt-BR" dirty="0">
                <a:solidFill>
                  <a:schemeClr val="tx1"/>
                </a:solidFill>
              </a:rPr>
              <a:t>(e)</a:t>
            </a:r>
            <a:r>
              <a:rPr lang="pt-BR" b="0" dirty="0">
                <a:solidFill>
                  <a:schemeClr val="tx1"/>
                </a:solidFill>
              </a:rPr>
              <a:t> Qual a posição e a velocidade do móvel nos seguintes instantes: t = -3s; t = -2s; t = -1s; t = 0s; t = 1s; t = 2s e t = 3s. </a:t>
            </a:r>
            <a:r>
              <a:rPr lang="pt-BR" dirty="0">
                <a:solidFill>
                  <a:schemeClr val="tx1"/>
                </a:solidFill>
              </a:rPr>
              <a:t>(f)</a:t>
            </a:r>
            <a:r>
              <a:rPr lang="pt-BR" b="0" dirty="0">
                <a:solidFill>
                  <a:schemeClr val="tx1"/>
                </a:solidFill>
              </a:rPr>
              <a:t> Trace os gráficos da posição </a:t>
            </a:r>
            <a:r>
              <a:rPr lang="pt-BR" b="0" dirty="0" err="1">
                <a:solidFill>
                  <a:schemeClr val="tx1"/>
                </a:solidFill>
              </a:rPr>
              <a:t>vs</a:t>
            </a:r>
            <a:r>
              <a:rPr lang="pt-BR" b="0" dirty="0">
                <a:solidFill>
                  <a:schemeClr val="tx1"/>
                </a:solidFill>
              </a:rPr>
              <a:t> tempo e da velocidade </a:t>
            </a:r>
            <a:r>
              <a:rPr lang="pt-BR" b="0" dirty="0" err="1">
                <a:solidFill>
                  <a:schemeClr val="tx1"/>
                </a:solidFill>
              </a:rPr>
              <a:t>vs</a:t>
            </a:r>
            <a:r>
              <a:rPr lang="pt-BR" b="0" dirty="0">
                <a:solidFill>
                  <a:schemeClr val="tx1"/>
                </a:solidFill>
              </a:rPr>
              <a:t> tempo entre os instantes t = -1s e t = 6s. </a:t>
            </a:r>
            <a:r>
              <a:rPr lang="pt-BR" dirty="0">
                <a:solidFill>
                  <a:schemeClr val="tx1"/>
                </a:solidFill>
              </a:rPr>
              <a:t>(g) </a:t>
            </a:r>
            <a:r>
              <a:rPr lang="pt-BR" b="0" dirty="0">
                <a:solidFill>
                  <a:schemeClr val="tx1"/>
                </a:solidFill>
              </a:rPr>
              <a:t>este móvel passa pela origem (s(t) = 0m), quando?</a:t>
            </a:r>
          </a:p>
        </p:txBody>
      </p:sp>
    </p:spTree>
    <p:extLst>
      <p:ext uri="{BB962C8B-B14F-4D97-AF65-F5344CB8AC3E}">
        <p14:creationId xmlns:p14="http://schemas.microsoft.com/office/powerpoint/2010/main" val="368079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4925" y="92075"/>
            <a:ext cx="8964613" cy="27053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3c)</a:t>
            </a:r>
            <a:r>
              <a:rPr lang="pt-BR" b="0" dirty="0">
                <a:solidFill>
                  <a:schemeClr val="tx1"/>
                </a:solidFill>
              </a:rPr>
              <a:t>	Seja um móvel que se desloca segundo a seguinte equação do movimento: s(t) = -4 + t</a:t>
            </a:r>
            <a:r>
              <a:rPr lang="pt-BR" b="0" baseline="30000" dirty="0">
                <a:solidFill>
                  <a:schemeClr val="tx1"/>
                </a:solidFill>
              </a:rPr>
              <a:t>2</a:t>
            </a:r>
            <a:r>
              <a:rPr lang="pt-BR" b="0" dirty="0">
                <a:solidFill>
                  <a:schemeClr val="tx1"/>
                </a:solidFill>
              </a:rPr>
              <a:t>. Responda: </a:t>
            </a:r>
            <a:r>
              <a:rPr lang="pt-BR" dirty="0">
                <a:solidFill>
                  <a:schemeClr val="tx1"/>
                </a:solidFill>
              </a:rPr>
              <a:t>(a) </a:t>
            </a:r>
            <a:r>
              <a:rPr lang="pt-BR" b="0" dirty="0">
                <a:solidFill>
                  <a:schemeClr val="tx1"/>
                </a:solidFill>
              </a:rPr>
              <a:t>Que tipo de movimento descreve este móvel, por que? </a:t>
            </a:r>
            <a:r>
              <a:rPr lang="pt-BR" dirty="0">
                <a:solidFill>
                  <a:schemeClr val="tx1"/>
                </a:solidFill>
              </a:rPr>
              <a:t>(b) </a:t>
            </a:r>
            <a:r>
              <a:rPr lang="pt-BR" b="0" dirty="0">
                <a:solidFill>
                  <a:schemeClr val="tx1"/>
                </a:solidFill>
              </a:rPr>
              <a:t>Qual a posição inicial (em t = 0s) do móvel? </a:t>
            </a:r>
            <a:r>
              <a:rPr lang="pt-BR" dirty="0">
                <a:solidFill>
                  <a:schemeClr val="tx1"/>
                </a:solidFill>
              </a:rPr>
              <a:t>(c)</a:t>
            </a:r>
            <a:r>
              <a:rPr lang="pt-BR" b="0" dirty="0">
                <a:solidFill>
                  <a:schemeClr val="tx1"/>
                </a:solidFill>
              </a:rPr>
              <a:t> Qual a velocidade inicial (em t = 0s) do móvel? </a:t>
            </a:r>
            <a:r>
              <a:rPr lang="pt-BR" dirty="0">
                <a:solidFill>
                  <a:schemeClr val="tx1"/>
                </a:solidFill>
              </a:rPr>
              <a:t>(d)</a:t>
            </a:r>
            <a:r>
              <a:rPr lang="pt-BR" b="0" dirty="0">
                <a:solidFill>
                  <a:schemeClr val="tx1"/>
                </a:solidFill>
              </a:rPr>
              <a:t> Qual a aceleração do móvel? </a:t>
            </a:r>
            <a:r>
              <a:rPr lang="pt-BR" dirty="0">
                <a:solidFill>
                  <a:schemeClr val="tx1"/>
                </a:solidFill>
              </a:rPr>
              <a:t>(e)</a:t>
            </a:r>
            <a:r>
              <a:rPr lang="pt-BR" b="0" dirty="0">
                <a:solidFill>
                  <a:schemeClr val="tx1"/>
                </a:solidFill>
              </a:rPr>
              <a:t> Qual a equação da velocidade do móvel (v(t))? </a:t>
            </a:r>
            <a:r>
              <a:rPr lang="pt-BR" dirty="0">
                <a:solidFill>
                  <a:schemeClr val="tx1"/>
                </a:solidFill>
              </a:rPr>
              <a:t>(e)</a:t>
            </a:r>
            <a:r>
              <a:rPr lang="pt-BR" b="0" dirty="0">
                <a:solidFill>
                  <a:schemeClr val="tx1"/>
                </a:solidFill>
              </a:rPr>
              <a:t> Qual a posição e a velocidade do móvel nos seguintes instantes: t = -3s; t = -2s; t = -1s; t = 0s; t = 1s; t = 2s e t = 3s ; t = 6s. </a:t>
            </a:r>
            <a:r>
              <a:rPr lang="pt-BR" dirty="0">
                <a:solidFill>
                  <a:schemeClr val="tx1"/>
                </a:solidFill>
              </a:rPr>
              <a:t>(f)</a:t>
            </a:r>
            <a:r>
              <a:rPr lang="pt-BR" b="0" dirty="0">
                <a:solidFill>
                  <a:schemeClr val="tx1"/>
                </a:solidFill>
              </a:rPr>
              <a:t> Trace os gráficos da posição </a:t>
            </a:r>
            <a:r>
              <a:rPr lang="pt-BR" b="0" dirty="0" err="1">
                <a:solidFill>
                  <a:schemeClr val="tx1"/>
                </a:solidFill>
              </a:rPr>
              <a:t>vs</a:t>
            </a:r>
            <a:r>
              <a:rPr lang="pt-BR" b="0" dirty="0">
                <a:solidFill>
                  <a:schemeClr val="tx1"/>
                </a:solidFill>
              </a:rPr>
              <a:t> tempo e da velocidade </a:t>
            </a:r>
            <a:r>
              <a:rPr lang="pt-BR" b="0" dirty="0" err="1">
                <a:solidFill>
                  <a:schemeClr val="tx1"/>
                </a:solidFill>
              </a:rPr>
              <a:t>vs</a:t>
            </a:r>
            <a:r>
              <a:rPr lang="pt-BR" b="0" dirty="0">
                <a:solidFill>
                  <a:schemeClr val="tx1"/>
                </a:solidFill>
              </a:rPr>
              <a:t> tempo entre os instantes t = -1s e t = 6s. </a:t>
            </a:r>
            <a:r>
              <a:rPr lang="pt-BR" dirty="0">
                <a:solidFill>
                  <a:schemeClr val="tx1"/>
                </a:solidFill>
              </a:rPr>
              <a:t>(g) </a:t>
            </a:r>
            <a:r>
              <a:rPr lang="pt-BR" b="0" dirty="0">
                <a:solidFill>
                  <a:schemeClr val="tx1"/>
                </a:solidFill>
              </a:rPr>
              <a:t>este móvel passa pela origem (s(t) = 0m), quando?</a:t>
            </a:r>
          </a:p>
        </p:txBody>
      </p:sp>
    </p:spTree>
    <p:extLst>
      <p:ext uri="{BB962C8B-B14F-4D97-AF65-F5344CB8AC3E}">
        <p14:creationId xmlns:p14="http://schemas.microsoft.com/office/powerpoint/2010/main" val="899922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2218566" y="3395954"/>
          <a:ext cx="4556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66400" imgH="203040" progId="Equation.3">
                  <p:embed/>
                </p:oleObj>
              </mc:Choice>
              <mc:Fallback>
                <p:oleObj name="Equação" r:id="rId2" imgW="266400" imgH="203040" progId="Equation.3">
                  <p:embed/>
                  <p:pic>
                    <p:nvPicPr>
                      <p:cNvPr id="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66" y="3395954"/>
                        <a:ext cx="45561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2917066" y="4010952"/>
          <a:ext cx="6286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368280" imgH="393480" progId="Equation.3">
                  <p:embed/>
                </p:oleObj>
              </mc:Choice>
              <mc:Fallback>
                <p:oleObj name="Equação" r:id="rId4" imgW="368280" imgH="393480" progId="Equation.3">
                  <p:embed/>
                  <p:pic>
                    <p:nvPicPr>
                      <p:cNvPr id="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066" y="4010952"/>
                        <a:ext cx="62865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2623493" y="3729272"/>
          <a:ext cx="10826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6" imgW="1083245" imgH="333002" progId="CorelDraw.Graphic.18">
                  <p:embed/>
                </p:oleObj>
              </mc:Choice>
              <mc:Fallback>
                <p:oleObj name="CorelDRAW" r:id="rId6" imgW="1083245" imgH="333002" progId="CorelDraw.Graphic.18">
                  <p:embed/>
                  <p:pic>
                    <p:nvPicPr>
                      <p:cNvPr id="6" name="Objeto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23493" y="3729272"/>
                        <a:ext cx="10826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/>
        </p:nvGraphicFramePr>
        <p:xfrm>
          <a:off x="3478361" y="3386532"/>
          <a:ext cx="4556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8" imgW="266400" imgH="203040" progId="Equation.3">
                  <p:embed/>
                </p:oleObj>
              </mc:Choice>
              <mc:Fallback>
                <p:oleObj name="Equação" r:id="rId8" imgW="266400" imgH="203040" progId="Equation.3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361" y="3386532"/>
                        <a:ext cx="45561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/>
          <p:cNvGraphicFramePr>
            <a:graphicFrameLocks noChangeAspect="1"/>
          </p:cNvGraphicFramePr>
          <p:nvPr/>
        </p:nvGraphicFramePr>
        <p:xfrm>
          <a:off x="3808560" y="3742029"/>
          <a:ext cx="10826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0" imgW="1083245" imgH="333002" progId="CorelDraw.Graphic.18">
                  <p:embed/>
                </p:oleObj>
              </mc:Choice>
              <mc:Fallback>
                <p:oleObj name="CorelDRAW" r:id="rId10" imgW="1083245" imgH="333002" progId="CorelDraw.Graphic.18">
                  <p:embed/>
                  <p:pic>
                    <p:nvPicPr>
                      <p:cNvPr id="8" name="Objeto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08560" y="3742029"/>
                        <a:ext cx="1082675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4025026" y="4044815"/>
          <a:ext cx="65087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1" imgW="380880" imgH="393480" progId="Equation.3">
                  <p:embed/>
                </p:oleObj>
              </mc:Choice>
              <mc:Fallback>
                <p:oleObj name="Equação" r:id="rId11" imgW="380880" imgH="393480" progId="Equation.3">
                  <p:embed/>
                  <p:pic>
                    <p:nvPicPr>
                      <p:cNvPr id="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026" y="4044815"/>
                        <a:ext cx="65087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667963" y="3395509"/>
          <a:ext cx="4778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3" imgW="279360" imgH="203040" progId="Equation.3">
                  <p:embed/>
                </p:oleObj>
              </mc:Choice>
              <mc:Fallback>
                <p:oleObj name="Equação" r:id="rId13" imgW="279360" imgH="2030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963" y="3395509"/>
                        <a:ext cx="47783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/>
          <p:cNvGraphicFramePr>
            <a:graphicFrameLocks noChangeAspect="1"/>
          </p:cNvGraphicFramePr>
          <p:nvPr/>
        </p:nvGraphicFramePr>
        <p:xfrm>
          <a:off x="3776156" y="3015602"/>
          <a:ext cx="1143128" cy="388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5" imgW="1083245" imgH="333002" progId="CorelDraw.Graphic.18">
                  <p:embed/>
                </p:oleObj>
              </mc:Choice>
              <mc:Fallback>
                <p:oleObj name="CorelDRAW" r:id="rId15" imgW="1083245" imgH="333002" progId="CorelDraw.Graphic.18">
                  <p:embed/>
                  <p:pic>
                    <p:nvPicPr>
                      <p:cNvPr id="11" name="Objeto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76156" y="3015602"/>
                        <a:ext cx="1143128" cy="388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3915716" y="2540939"/>
          <a:ext cx="86836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6" imgW="507960" imgH="279360" progId="Equation.3">
                  <p:embed/>
                </p:oleObj>
              </mc:Choice>
              <mc:Fallback>
                <p:oleObj name="Equação" r:id="rId16" imgW="507960" imgH="279360" progId="Equation.3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5716" y="2540939"/>
                        <a:ext cx="868362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>
            <a:graphicFrameLocks noChangeAspect="1"/>
          </p:cNvGraphicFramePr>
          <p:nvPr/>
        </p:nvGraphicFramePr>
        <p:xfrm>
          <a:off x="2759788" y="2523971"/>
          <a:ext cx="8477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8" imgW="495000" imgH="279360" progId="Equation.3">
                  <p:embed/>
                </p:oleObj>
              </mc:Choice>
              <mc:Fallback>
                <p:oleObj name="Equação" r:id="rId18" imgW="495000" imgH="279360" progId="Equation.3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788" y="2523971"/>
                        <a:ext cx="8477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/>
          <p:cNvGraphicFramePr>
            <a:graphicFrameLocks noChangeAspect="1"/>
          </p:cNvGraphicFramePr>
          <p:nvPr/>
        </p:nvGraphicFramePr>
        <p:xfrm>
          <a:off x="2583011" y="3887249"/>
          <a:ext cx="2308224" cy="1301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0" imgW="1790948" imgH="1110996" progId="CorelDraw.Graphic.18">
                  <p:embed/>
                </p:oleObj>
              </mc:Choice>
              <mc:Fallback>
                <p:oleObj name="CorelDRAW" r:id="rId20" imgW="1790948" imgH="1110996" progId="CorelDraw.Graphic.18">
                  <p:embed/>
                  <p:pic>
                    <p:nvPicPr>
                      <p:cNvPr id="15" name="Objeto 1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583011" y="3887249"/>
                        <a:ext cx="2308224" cy="1301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3429147" y="5189814"/>
          <a:ext cx="7588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2" imgW="444240" imgH="419040" progId="Equation.3">
                  <p:embed/>
                </p:oleObj>
              </mc:Choice>
              <mc:Fallback>
                <p:oleObj name="Equação" r:id="rId22" imgW="444240" imgH="419040" progId="Equation.3">
                  <p:embed/>
                  <p:pic>
                    <p:nvPicPr>
                      <p:cNvPr id="1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147" y="5189814"/>
                        <a:ext cx="7588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441746"/>
              </p:ext>
            </p:extLst>
          </p:nvPr>
        </p:nvGraphicFramePr>
        <p:xfrm>
          <a:off x="2583011" y="1670870"/>
          <a:ext cx="2401739" cy="1406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4" imgW="1790948" imgH="1110996" progId="CorelDraw.Graphic.18">
                  <p:embed/>
                </p:oleObj>
              </mc:Choice>
              <mc:Fallback>
                <p:oleObj name="CorelDRAW" r:id="rId24" imgW="1790948" imgH="1110996" progId="CorelDraw.Graphic.18">
                  <p:embed/>
                  <p:pic>
                    <p:nvPicPr>
                      <p:cNvPr id="17" name="Objeto 1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583011" y="1670870"/>
                        <a:ext cx="2401739" cy="1406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/>
        </p:nvGraphicFramePr>
        <p:xfrm>
          <a:off x="3046160" y="1171167"/>
          <a:ext cx="1301560" cy="580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6" imgW="622080" imgH="279360" progId="Equation.3">
                  <p:embed/>
                </p:oleObj>
              </mc:Choice>
              <mc:Fallback>
                <p:oleObj name="Equação" r:id="rId26" imgW="622080" imgH="279360" progId="Equation.3">
                  <p:embed/>
                  <p:pic>
                    <p:nvPicPr>
                      <p:cNvPr id="1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6160" y="1171167"/>
                        <a:ext cx="1301560" cy="580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/>
          <p:cNvGraphicFramePr>
            <a:graphicFrameLocks noChangeAspect="1"/>
          </p:cNvGraphicFramePr>
          <p:nvPr/>
        </p:nvGraphicFramePr>
        <p:xfrm>
          <a:off x="1235166" y="5170148"/>
          <a:ext cx="12795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8" imgW="749160" imgH="393480" progId="Equation.3">
                  <p:embed/>
                </p:oleObj>
              </mc:Choice>
              <mc:Fallback>
                <p:oleObj name="Equação" r:id="rId28" imgW="749160" imgH="393480" progId="Equation.3">
                  <p:embed/>
                  <p:pic>
                    <p:nvPicPr>
                      <p:cNvPr id="2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166" y="5170148"/>
                        <a:ext cx="12795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"/>
          <p:cNvGraphicFramePr>
            <a:graphicFrameLocks noChangeAspect="1"/>
          </p:cNvGraphicFramePr>
          <p:nvPr/>
        </p:nvGraphicFramePr>
        <p:xfrm>
          <a:off x="4903788" y="5189814"/>
          <a:ext cx="130175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0" imgW="761760" imgH="393480" progId="Equation.3">
                  <p:embed/>
                </p:oleObj>
              </mc:Choice>
              <mc:Fallback>
                <p:oleObj name="Equação" r:id="rId30" imgW="761760" imgH="393480" progId="Equation.3">
                  <p:embed/>
                  <p:pic>
                    <p:nvPicPr>
                      <p:cNvPr id="2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5189814"/>
                        <a:ext cx="130175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Conector de Seta Reta 24"/>
          <p:cNvCxnSpPr/>
          <p:nvPr/>
        </p:nvCxnSpPr>
        <p:spPr>
          <a:xfrm flipH="1">
            <a:off x="2446372" y="4538190"/>
            <a:ext cx="599788" cy="6509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9"/>
          <p:cNvGraphicFramePr>
            <a:graphicFrameLocks noChangeAspect="1"/>
          </p:cNvGraphicFramePr>
          <p:nvPr/>
        </p:nvGraphicFramePr>
        <p:xfrm>
          <a:off x="3092596" y="6111141"/>
          <a:ext cx="14319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2" imgW="838080" imgH="419040" progId="Equation.3">
                  <p:embed/>
                </p:oleObj>
              </mc:Choice>
              <mc:Fallback>
                <p:oleObj name="Equação" r:id="rId32" imgW="838080" imgH="419040" progId="Equation.3">
                  <p:embed/>
                  <p:pic>
                    <p:nvPicPr>
                      <p:cNvPr id="2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596" y="6111141"/>
                        <a:ext cx="14319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Conector de Seta Reta 27"/>
          <p:cNvCxnSpPr/>
          <p:nvPr/>
        </p:nvCxnSpPr>
        <p:spPr>
          <a:xfrm>
            <a:off x="3788629" y="5904189"/>
            <a:ext cx="0" cy="206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V="1">
            <a:off x="4564503" y="2023377"/>
            <a:ext cx="516349" cy="529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 flipV="1">
            <a:off x="2446372" y="2149995"/>
            <a:ext cx="611036" cy="4332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V="1">
            <a:off x="3696940" y="905691"/>
            <a:ext cx="0" cy="2654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9"/>
          <p:cNvGraphicFramePr>
            <a:graphicFrameLocks noChangeAspect="1"/>
          </p:cNvGraphicFramePr>
          <p:nvPr/>
        </p:nvGraphicFramePr>
        <p:xfrm>
          <a:off x="1000125" y="1671638"/>
          <a:ext cx="14779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4" imgW="863280" imgH="279360" progId="Equation.3">
                  <p:embed/>
                </p:oleObj>
              </mc:Choice>
              <mc:Fallback>
                <p:oleObj name="Equação" r:id="rId34" imgW="863280" imgH="279360" progId="Equation.3">
                  <p:embed/>
                  <p:pic>
                    <p:nvPicPr>
                      <p:cNvPr id="3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671638"/>
                        <a:ext cx="14779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9"/>
          <p:cNvGraphicFramePr>
            <a:graphicFrameLocks noChangeAspect="1"/>
          </p:cNvGraphicFramePr>
          <p:nvPr/>
        </p:nvGraphicFramePr>
        <p:xfrm>
          <a:off x="4984750" y="1587500"/>
          <a:ext cx="15001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6" imgW="876240" imgH="279360" progId="Equation.3">
                  <p:embed/>
                </p:oleObj>
              </mc:Choice>
              <mc:Fallback>
                <p:oleObj name="Equação" r:id="rId36" imgW="876240" imgH="279360" progId="Equation.3">
                  <p:embed/>
                  <p:pic>
                    <p:nvPicPr>
                      <p:cNvPr id="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1587500"/>
                        <a:ext cx="150018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9"/>
          <p:cNvGraphicFramePr>
            <a:graphicFrameLocks noChangeAspect="1"/>
          </p:cNvGraphicFramePr>
          <p:nvPr/>
        </p:nvGraphicFramePr>
        <p:xfrm>
          <a:off x="2673350" y="263525"/>
          <a:ext cx="18700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8" imgW="1091880" imgH="317160" progId="Equation.3">
                  <p:embed/>
                </p:oleObj>
              </mc:Choice>
              <mc:Fallback>
                <p:oleObj name="Equação" r:id="rId38" imgW="1091880" imgH="317160" progId="Equation.3">
                  <p:embed/>
                  <p:pic>
                    <p:nvPicPr>
                      <p:cNvPr id="3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263525"/>
                        <a:ext cx="18700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Conector de Seta Reta 38"/>
          <p:cNvCxnSpPr/>
          <p:nvPr/>
        </p:nvCxnSpPr>
        <p:spPr>
          <a:xfrm>
            <a:off x="4560171" y="4536409"/>
            <a:ext cx="547530" cy="625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Objeto 29"/>
          <p:cNvGraphicFramePr>
            <a:graphicFrameLocks noChangeAspect="1"/>
          </p:cNvGraphicFramePr>
          <p:nvPr/>
        </p:nvGraphicFramePr>
        <p:xfrm>
          <a:off x="2579605" y="3017953"/>
          <a:ext cx="1143128" cy="388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15" imgW="1083245" imgH="333002" progId="CorelDraw.Graphic.18">
                  <p:embed/>
                </p:oleObj>
              </mc:Choice>
              <mc:Fallback>
                <p:oleObj name="CorelDRAW" r:id="rId15" imgW="1083245" imgH="333002" progId="CorelDraw.Graphic.18">
                  <p:embed/>
                  <p:pic>
                    <p:nvPicPr>
                      <p:cNvPr id="30" name="Objeto 2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79605" y="3017953"/>
                        <a:ext cx="1143128" cy="388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7844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34925" y="92075"/>
            <a:ext cx="8964613" cy="11541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pt-BR" sz="2800" dirty="0">
                <a:solidFill>
                  <a:srgbClr val="FF0000"/>
                </a:solidFill>
              </a:rPr>
              <a:t>	Exercícios:</a:t>
            </a:r>
            <a:endParaRPr lang="pt-BR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sz="1400" dirty="0">
              <a:solidFill>
                <a:schemeClr val="tx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4)</a:t>
            </a:r>
            <a:r>
              <a:rPr lang="pt-BR" b="0" dirty="0">
                <a:solidFill>
                  <a:schemeClr val="tx1"/>
                </a:solidFill>
              </a:rPr>
              <a:t>	O gráfico seguinte apresenta a posição no tempos de um móvel.</a:t>
            </a:r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3103670"/>
              </p:ext>
            </p:extLst>
          </p:nvPr>
        </p:nvGraphicFramePr>
        <p:xfrm>
          <a:off x="-165100" y="1454150"/>
          <a:ext cx="4914900" cy="3448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854960"/>
              </p:ext>
            </p:extLst>
          </p:nvPr>
        </p:nvGraphicFramePr>
        <p:xfrm>
          <a:off x="4749800" y="1565275"/>
          <a:ext cx="1219200" cy="2228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t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s(t)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-2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-1,5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-1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-0,5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-0,25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-0,25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0,5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1,5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6057900" y="1242871"/>
            <a:ext cx="30861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latin typeface="Arial" panose="020B0604020202020204" pitchFamily="34" charset="0"/>
              </a:rPr>
              <a:t>(a)</a:t>
            </a:r>
            <a:r>
              <a:rPr lang="pt-BR" sz="1600" dirty="0">
                <a:latin typeface="Arial" panose="020B0604020202020204" pitchFamily="34" charset="0"/>
              </a:rPr>
              <a:t> Qual a posição do móvel em -1,5 s?</a:t>
            </a:r>
          </a:p>
          <a:p>
            <a:r>
              <a:rPr lang="pt-BR" sz="1600" b="1" dirty="0">
                <a:latin typeface="Arial" panose="020B0604020202020204" pitchFamily="34" charset="0"/>
              </a:rPr>
              <a:t>(b)</a:t>
            </a:r>
            <a:r>
              <a:rPr lang="pt-BR" sz="1600" dirty="0">
                <a:latin typeface="Arial" panose="020B0604020202020204" pitchFamily="34" charset="0"/>
              </a:rPr>
              <a:t> Em quais instantes o móvel passa pela origem (s(t) = 0)?</a:t>
            </a:r>
          </a:p>
          <a:p>
            <a:r>
              <a:rPr lang="pt-BR" sz="1600" dirty="0">
                <a:latin typeface="Arial" panose="020B0604020202020204" pitchFamily="34" charset="0"/>
              </a:rPr>
              <a:t>Qual a posição inicial do móvel (em t = 0s)?</a:t>
            </a:r>
          </a:p>
          <a:p>
            <a:r>
              <a:rPr lang="pt-BR" sz="1600" b="1" dirty="0">
                <a:latin typeface="Arial" panose="020B0604020202020204" pitchFamily="34" charset="0"/>
              </a:rPr>
              <a:t>(c)</a:t>
            </a:r>
            <a:r>
              <a:rPr lang="pt-BR" sz="1600" dirty="0">
                <a:latin typeface="Arial" panose="020B0604020202020204" pitchFamily="34" charset="0"/>
              </a:rPr>
              <a:t> Em qual intervalo de tempo o móvel está andando no sentido decrescente do eixo, isto é, voltando?</a:t>
            </a:r>
          </a:p>
          <a:p>
            <a:r>
              <a:rPr lang="pt-BR" sz="1600" b="1" dirty="0">
                <a:latin typeface="Arial" panose="020B0604020202020204" pitchFamily="34" charset="0"/>
              </a:rPr>
              <a:t>(d)</a:t>
            </a:r>
            <a:r>
              <a:rPr lang="pt-BR" sz="1600" dirty="0">
                <a:latin typeface="Arial" panose="020B0604020202020204" pitchFamily="34" charset="0"/>
              </a:rPr>
              <a:t> Em qual intervalo de tempo o móvel está andando no sentido crescente do eixo, isto é, avançando?</a:t>
            </a:r>
          </a:p>
          <a:p>
            <a:r>
              <a:rPr lang="pt-BR" sz="1600" b="1" dirty="0">
                <a:latin typeface="Arial" panose="020B0604020202020204" pitchFamily="34" charset="0"/>
              </a:rPr>
              <a:t>(e)</a:t>
            </a:r>
            <a:r>
              <a:rPr lang="pt-BR" sz="1600" dirty="0">
                <a:latin typeface="Arial" panose="020B0604020202020204" pitchFamily="34" charset="0"/>
              </a:rPr>
              <a:t>Em qual intervalo de tempo a velocidade do móvel é negativa, o que isto significa?</a:t>
            </a:r>
          </a:p>
          <a:p>
            <a:r>
              <a:rPr lang="pt-BR" sz="1600" b="1" dirty="0">
                <a:latin typeface="Arial" panose="020B0604020202020204" pitchFamily="34" charset="0"/>
              </a:rPr>
              <a:t>(f) </a:t>
            </a:r>
            <a:r>
              <a:rPr lang="pt-BR" sz="1600" dirty="0">
                <a:latin typeface="Arial" panose="020B0604020202020204" pitchFamily="34" charset="0"/>
              </a:rPr>
              <a:t>Em qual intervalo de tempo a velocidade do móvel é positiva, o que isto significa?</a:t>
            </a:r>
          </a:p>
        </p:txBody>
      </p:sp>
    </p:spTree>
    <p:extLst>
      <p:ext uri="{BB962C8B-B14F-4D97-AF65-F5344CB8AC3E}">
        <p14:creationId xmlns:p14="http://schemas.microsoft.com/office/powerpoint/2010/main" val="3894648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ChangeArrowheads="1"/>
          </p:cNvSpPr>
          <p:nvPr/>
        </p:nvSpPr>
        <p:spPr bwMode="auto">
          <a:xfrm>
            <a:off x="36513" y="792163"/>
            <a:ext cx="8928100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	Descobrindo a posição em função do tempo para a = 0:</a:t>
            </a: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	Seja s</a:t>
            </a:r>
            <a:r>
              <a:rPr lang="pt-BR" b="0" baseline="-25000" dirty="0">
                <a:solidFill>
                  <a:schemeClr val="tx1"/>
                </a:solidFill>
              </a:rPr>
              <a:t>2</a:t>
            </a:r>
            <a:r>
              <a:rPr lang="pt-BR" b="0" dirty="0">
                <a:solidFill>
                  <a:schemeClr val="tx1"/>
                </a:solidFill>
              </a:rPr>
              <a:t> a posição do móvel em um instante t, e s</a:t>
            </a:r>
            <a:r>
              <a:rPr lang="pt-BR" b="0" baseline="-25000" dirty="0">
                <a:solidFill>
                  <a:schemeClr val="tx1"/>
                </a:solidFill>
              </a:rPr>
              <a:t>1</a:t>
            </a:r>
            <a:r>
              <a:rPr lang="pt-BR" b="0" dirty="0">
                <a:solidFill>
                  <a:schemeClr val="tx1"/>
                </a:solidFill>
              </a:rPr>
              <a:t> a posição no instante inicial (t = 0), ou seja, s</a:t>
            </a:r>
            <a:r>
              <a:rPr lang="pt-BR" b="0" baseline="-25000" dirty="0">
                <a:solidFill>
                  <a:schemeClr val="tx1"/>
                </a:solidFill>
              </a:rPr>
              <a:t>0</a:t>
            </a:r>
            <a:r>
              <a:rPr lang="pt-BR" b="0" dirty="0">
                <a:solidFill>
                  <a:schemeClr val="tx1"/>
                </a:solidFill>
              </a:rPr>
              <a:t>.</a:t>
            </a: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Descobrindo a velocidade em função do tempo para a = constante:</a:t>
            </a: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	Seja v</a:t>
            </a:r>
            <a:r>
              <a:rPr lang="pt-BR" b="0" baseline="-25000" dirty="0">
                <a:solidFill>
                  <a:schemeClr val="tx1"/>
                </a:solidFill>
              </a:rPr>
              <a:t>2</a:t>
            </a:r>
            <a:r>
              <a:rPr lang="pt-BR" b="0" dirty="0">
                <a:solidFill>
                  <a:schemeClr val="tx1"/>
                </a:solidFill>
              </a:rPr>
              <a:t> a velocidade do móvel em um instante t, e v</a:t>
            </a:r>
            <a:r>
              <a:rPr lang="pt-BR" b="0" baseline="-25000" dirty="0">
                <a:solidFill>
                  <a:schemeClr val="tx1"/>
                </a:solidFill>
              </a:rPr>
              <a:t>1</a:t>
            </a:r>
            <a:r>
              <a:rPr lang="pt-BR" b="0" dirty="0">
                <a:solidFill>
                  <a:schemeClr val="tx1"/>
                </a:solidFill>
              </a:rPr>
              <a:t> a velocidade no instante inicial (t = 0), ou seja, v</a:t>
            </a:r>
            <a:r>
              <a:rPr lang="pt-BR" b="0" baseline="-25000" dirty="0">
                <a:solidFill>
                  <a:schemeClr val="tx1"/>
                </a:solidFill>
              </a:rPr>
              <a:t>0</a:t>
            </a:r>
            <a:r>
              <a:rPr lang="pt-BR" b="0" dirty="0">
                <a:solidFill>
                  <a:schemeClr val="tx1"/>
                </a:solidFill>
              </a:rPr>
              <a:t>.</a:t>
            </a:r>
            <a:endParaRPr lang="pt-BR" b="0" baseline="-25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endParaRPr lang="pt-BR" b="0" baseline="-25000" dirty="0">
              <a:solidFill>
                <a:schemeClr val="tx1"/>
              </a:solidFill>
            </a:endParaRPr>
          </a:p>
        </p:txBody>
      </p:sp>
      <p:graphicFrame>
        <p:nvGraphicFramePr>
          <p:cNvPr id="2048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851665"/>
              </p:ext>
            </p:extLst>
          </p:nvPr>
        </p:nvGraphicFramePr>
        <p:xfrm>
          <a:off x="255588" y="2324100"/>
          <a:ext cx="5824537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895480" imgH="431640" progId="Equation.3">
                  <p:embed/>
                </p:oleObj>
              </mc:Choice>
              <mc:Fallback>
                <p:oleObj name="Equação" r:id="rId2" imgW="2895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8" y="2324100"/>
                        <a:ext cx="5824537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CaixaDeTexto 5"/>
          <p:cNvSpPr txBox="1">
            <a:spLocks noChangeArrowheads="1"/>
          </p:cNvSpPr>
          <p:nvPr/>
        </p:nvSpPr>
        <p:spPr bwMode="auto">
          <a:xfrm>
            <a:off x="6386513" y="2420938"/>
            <a:ext cx="561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 dirty="0">
                <a:solidFill>
                  <a:schemeClr val="tx1"/>
                </a:solidFill>
              </a:rPr>
              <a:t>(1)</a:t>
            </a:r>
          </a:p>
        </p:txBody>
      </p:sp>
      <p:graphicFrame>
        <p:nvGraphicFramePr>
          <p:cNvPr id="20485" name="Object 8"/>
          <p:cNvGraphicFramePr>
            <a:graphicFrameLocks noChangeAspect="1"/>
          </p:cNvGraphicFramePr>
          <p:nvPr/>
        </p:nvGraphicFramePr>
        <p:xfrm>
          <a:off x="158750" y="5224463"/>
          <a:ext cx="5926138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2946400" imgH="431800" progId="Equation.3">
                  <p:embed/>
                </p:oleObj>
              </mc:Choice>
              <mc:Fallback>
                <p:oleObj name="Equação" r:id="rId4" imgW="2946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5224463"/>
                        <a:ext cx="5926138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CaixaDeTexto 7"/>
          <p:cNvSpPr txBox="1">
            <a:spLocks noChangeArrowheads="1"/>
          </p:cNvSpPr>
          <p:nvPr/>
        </p:nvSpPr>
        <p:spPr bwMode="auto">
          <a:xfrm>
            <a:off x="6386513" y="5300663"/>
            <a:ext cx="561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 dirty="0">
                <a:solidFill>
                  <a:schemeClr val="tx1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755296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3068638"/>
            <a:ext cx="5360988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6" name="Rectangle 7"/>
          <p:cNvSpPr>
            <a:spLocks noChangeArrowheads="1"/>
          </p:cNvSpPr>
          <p:nvPr/>
        </p:nvSpPr>
        <p:spPr bwMode="auto">
          <a:xfrm>
            <a:off x="36513" y="779463"/>
            <a:ext cx="8928100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	Descobrindo a posição em função do tempo para a = constante:</a:t>
            </a: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1)</a:t>
            </a:r>
            <a:r>
              <a:rPr lang="pt-BR" b="0" dirty="0">
                <a:solidFill>
                  <a:schemeClr val="tx1"/>
                </a:solidFill>
              </a:rPr>
              <a:t>	Observando o gráfico a seguir queremos uma relação entre os seguintes parâmetros: velocidade média (    ); velocidade inicial (v</a:t>
            </a:r>
            <a:r>
              <a:rPr lang="pt-BR" b="0" baseline="-25000" dirty="0">
                <a:solidFill>
                  <a:schemeClr val="tx1"/>
                </a:solidFill>
              </a:rPr>
              <a:t>0</a:t>
            </a:r>
            <a:r>
              <a:rPr lang="pt-BR" b="0" dirty="0">
                <a:solidFill>
                  <a:schemeClr val="tx1"/>
                </a:solidFill>
              </a:rPr>
              <a:t>) e velocidade final (v(t)):</a:t>
            </a:r>
            <a:endParaRPr lang="pt-BR" b="0" baseline="-25000" dirty="0">
              <a:solidFill>
                <a:schemeClr val="tx1"/>
              </a:solidFill>
            </a:endParaRPr>
          </a:p>
        </p:txBody>
      </p:sp>
      <p:graphicFrame>
        <p:nvGraphicFramePr>
          <p:cNvPr id="21508" name="Object 7"/>
          <p:cNvGraphicFramePr>
            <a:graphicFrameLocks noChangeAspect="1"/>
          </p:cNvGraphicFramePr>
          <p:nvPr/>
        </p:nvGraphicFramePr>
        <p:xfrm>
          <a:off x="3348038" y="1628775"/>
          <a:ext cx="1952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14250" imgH="279279" progId="Equation.3">
                  <p:embed/>
                </p:oleObj>
              </mc:Choice>
              <mc:Fallback>
                <p:oleObj name="Equação" r:id="rId3" imgW="114250" imgH="2792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628775"/>
                        <a:ext cx="1952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349686"/>
              </p:ext>
            </p:extLst>
          </p:nvPr>
        </p:nvGraphicFramePr>
        <p:xfrm>
          <a:off x="5594350" y="2349500"/>
          <a:ext cx="16764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977476" imgH="393529" progId="Equation.3">
                  <p:embed/>
                </p:oleObj>
              </mc:Choice>
              <mc:Fallback>
                <p:oleObj name="Equação" r:id="rId5" imgW="977476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350" y="2349500"/>
                        <a:ext cx="16764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ixaDeTexto 11"/>
          <p:cNvSpPr txBox="1">
            <a:spLocks noChangeArrowheads="1"/>
          </p:cNvSpPr>
          <p:nvPr/>
        </p:nvSpPr>
        <p:spPr bwMode="auto">
          <a:xfrm>
            <a:off x="7318375" y="2398713"/>
            <a:ext cx="5603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>
                <a:solidFill>
                  <a:schemeClr val="tx1"/>
                </a:solidFill>
              </a:rPr>
              <a:t>(3)</a:t>
            </a:r>
          </a:p>
        </p:txBody>
      </p:sp>
      <p:graphicFrame>
        <p:nvGraphicFramePr>
          <p:cNvPr id="1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821409"/>
              </p:ext>
            </p:extLst>
          </p:nvPr>
        </p:nvGraphicFramePr>
        <p:xfrm>
          <a:off x="5640388" y="3670300"/>
          <a:ext cx="15843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787320" imgH="393480" progId="Equation.3">
                  <p:embed/>
                </p:oleObj>
              </mc:Choice>
              <mc:Fallback>
                <p:oleObj name="Equação" r:id="rId7" imgW="78732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0388" y="3670300"/>
                        <a:ext cx="15843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Conector de seta reta 3"/>
          <p:cNvCxnSpPr>
            <a:cxnSpLocks noChangeShapeType="1"/>
          </p:cNvCxnSpPr>
          <p:nvPr/>
        </p:nvCxnSpPr>
        <p:spPr bwMode="auto">
          <a:xfrm flipH="1" flipV="1">
            <a:off x="5737225" y="2792413"/>
            <a:ext cx="347663" cy="9969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6" name="CaixaDeTexto 15"/>
          <p:cNvSpPr txBox="1">
            <a:spLocks noChangeArrowheads="1"/>
          </p:cNvSpPr>
          <p:nvPr/>
        </p:nvSpPr>
        <p:spPr bwMode="auto">
          <a:xfrm>
            <a:off x="5724525" y="4286250"/>
            <a:ext cx="5603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>
                <a:solidFill>
                  <a:schemeClr val="tx1"/>
                </a:solidFill>
              </a:rPr>
              <a:t>(1)</a:t>
            </a: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468550"/>
              </p:ext>
            </p:extLst>
          </p:nvPr>
        </p:nvGraphicFramePr>
        <p:xfrm>
          <a:off x="7392988" y="3402013"/>
          <a:ext cx="16351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9" imgW="812447" imgH="228501" progId="Equation.3">
                  <p:embed/>
                </p:oleObj>
              </mc:Choice>
              <mc:Fallback>
                <p:oleObj name="Equação" r:id="rId9" imgW="81244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988" y="3402013"/>
                        <a:ext cx="16351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aixaDeTexto 17"/>
          <p:cNvSpPr txBox="1">
            <a:spLocks noChangeArrowheads="1"/>
          </p:cNvSpPr>
          <p:nvPr/>
        </p:nvSpPr>
        <p:spPr bwMode="auto">
          <a:xfrm>
            <a:off x="8210550" y="3824288"/>
            <a:ext cx="561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>
                <a:solidFill>
                  <a:schemeClr val="tx1"/>
                </a:solidFill>
              </a:rPr>
              <a:t>(2)</a:t>
            </a:r>
          </a:p>
        </p:txBody>
      </p:sp>
      <p:cxnSp>
        <p:nvCxnSpPr>
          <p:cNvPr id="7" name="Conector de seta reta 6"/>
          <p:cNvCxnSpPr>
            <a:cxnSpLocks noChangeShapeType="1"/>
          </p:cNvCxnSpPr>
          <p:nvPr/>
        </p:nvCxnSpPr>
        <p:spPr bwMode="auto">
          <a:xfrm flipH="1" flipV="1">
            <a:off x="7092950" y="2859088"/>
            <a:ext cx="935038" cy="542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aphicFrame>
        <p:nvGraphicFramePr>
          <p:cNvPr id="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5971977"/>
              </p:ext>
            </p:extLst>
          </p:nvPr>
        </p:nvGraphicFramePr>
        <p:xfrm>
          <a:off x="5129213" y="5130800"/>
          <a:ext cx="2605087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11" imgW="1295280" imgH="393480" progId="Equation.3">
                  <p:embed/>
                </p:oleObj>
              </mc:Choice>
              <mc:Fallback>
                <p:oleObj name="Equação" r:id="rId11" imgW="1295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9213" y="5130800"/>
                        <a:ext cx="2605087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aixaDeTexto 22"/>
          <p:cNvSpPr txBox="1">
            <a:spLocks noChangeArrowheads="1"/>
          </p:cNvSpPr>
          <p:nvPr/>
        </p:nvSpPr>
        <p:spPr bwMode="auto">
          <a:xfrm>
            <a:off x="7747000" y="5278438"/>
            <a:ext cx="5619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>
                <a:solidFill>
                  <a:schemeClr val="tx1"/>
                </a:solidFill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282112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8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ChangeArrowheads="1"/>
          </p:cNvSpPr>
          <p:nvPr/>
        </p:nvSpPr>
        <p:spPr bwMode="auto">
          <a:xfrm>
            <a:off x="36513" y="792163"/>
            <a:ext cx="8928100" cy="438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	Resumo de equações para o movimento com aceleração constante:</a:t>
            </a: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dirty="0">
                <a:solidFill>
                  <a:schemeClr val="tx1"/>
                </a:solidFill>
              </a:rPr>
              <a:t>Equação		Relação			Grandeza que falta</a:t>
            </a:r>
          </a:p>
          <a:p>
            <a:pPr algn="just" eaLnBrk="1" hangingPunct="1">
              <a:lnSpc>
                <a:spcPct val="120000"/>
              </a:lnSpc>
            </a:pPr>
            <a:endParaRPr lang="pt-BR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(2)							</a:t>
            </a:r>
            <a:r>
              <a:rPr lang="pt-BR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 - s</a:t>
            </a:r>
            <a:r>
              <a:rPr lang="pt-BR" b="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(6)							</a:t>
            </a:r>
            <a:r>
              <a:rPr lang="pt-BR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(7)							</a:t>
            </a:r>
            <a:r>
              <a:rPr lang="pt-BR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(8)							</a:t>
            </a:r>
            <a:r>
              <a:rPr lang="pt-BR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</a:p>
          <a:p>
            <a:pPr algn="just" eaLnBrk="1" hangingPunct="1">
              <a:lnSpc>
                <a:spcPct val="12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pt-BR" b="0" dirty="0">
                <a:solidFill>
                  <a:schemeClr val="tx1"/>
                </a:solidFill>
              </a:rPr>
              <a:t>(9)							</a:t>
            </a:r>
            <a:r>
              <a:rPr lang="pt-BR" b="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pt-BR" b="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2253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934940"/>
              </p:ext>
            </p:extLst>
          </p:nvPr>
        </p:nvGraphicFramePr>
        <p:xfrm>
          <a:off x="2867025" y="2098675"/>
          <a:ext cx="2322513" cy="331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193760" imgH="1701720" progId="Equation.3">
                  <p:embed/>
                </p:oleObj>
              </mc:Choice>
              <mc:Fallback>
                <p:oleObj name="Equação" r:id="rId2" imgW="1193760" imgH="1701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2098675"/>
                        <a:ext cx="2322513" cy="331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0581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ChangeArrowheads="1"/>
          </p:cNvSpPr>
          <p:nvPr/>
        </p:nvSpPr>
        <p:spPr bwMode="auto">
          <a:xfrm>
            <a:off x="34925" y="727075"/>
            <a:ext cx="8964613" cy="282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Exercícios:</a:t>
            </a:r>
            <a:endParaRPr lang="pt-BR" sz="2800" dirty="0">
              <a:solidFill>
                <a:schemeClr val="tx1"/>
              </a:solidFill>
            </a:endParaRPr>
          </a:p>
          <a:p>
            <a:pPr algn="just" eaLnBrk="1" hangingPunct="1"/>
            <a:endParaRPr lang="pt-BR" sz="100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dirty="0">
                <a:solidFill>
                  <a:schemeClr val="tx1"/>
                </a:solidFill>
              </a:rPr>
              <a:t>5)</a:t>
            </a:r>
            <a:r>
              <a:rPr lang="pt-BR" b="0" dirty="0">
                <a:solidFill>
                  <a:schemeClr val="tx1"/>
                </a:solidFill>
              </a:rPr>
              <a:t>	Imagine que você reduza a velocidade do seu </a:t>
            </a:r>
            <a:r>
              <a:rPr lang="pt-BR" b="0" dirty="0" err="1">
                <a:solidFill>
                  <a:schemeClr val="tx1"/>
                </a:solidFill>
              </a:rPr>
              <a:t>Porsche</a:t>
            </a:r>
            <a:r>
              <a:rPr lang="pt-BR" b="0" dirty="0">
                <a:solidFill>
                  <a:schemeClr val="tx1"/>
                </a:solidFill>
              </a:rPr>
              <a:t> de 75 km/h para 45 km/h, percorrendo uma distância de 88 m. </a:t>
            </a:r>
            <a:r>
              <a:rPr lang="pt-BR" dirty="0">
                <a:solidFill>
                  <a:schemeClr val="tx1"/>
                </a:solidFill>
              </a:rPr>
              <a:t>(a) </a:t>
            </a:r>
            <a:r>
              <a:rPr lang="pt-BR" b="0" dirty="0">
                <a:solidFill>
                  <a:schemeClr val="tx1"/>
                </a:solidFill>
              </a:rPr>
              <a:t>Qual é a aceleração, supostamente constante? </a:t>
            </a:r>
            <a:r>
              <a:rPr lang="pt-BR" dirty="0">
                <a:solidFill>
                  <a:schemeClr val="tx1"/>
                </a:solidFill>
              </a:rPr>
              <a:t>(b) </a:t>
            </a:r>
            <a:r>
              <a:rPr lang="pt-BR" b="0" dirty="0">
                <a:solidFill>
                  <a:schemeClr val="tx1"/>
                </a:solidFill>
              </a:rPr>
              <a:t>Qual é o tempo decorrido neste processo? </a:t>
            </a:r>
            <a:r>
              <a:rPr lang="pt-BR" dirty="0">
                <a:solidFill>
                  <a:schemeClr val="tx1"/>
                </a:solidFill>
              </a:rPr>
              <a:t>(c) </a:t>
            </a:r>
            <a:r>
              <a:rPr lang="pt-BR" b="0" dirty="0">
                <a:solidFill>
                  <a:schemeClr val="tx1"/>
                </a:solidFill>
              </a:rPr>
              <a:t>Se você continuar freando com a aceleração calculada no item (a), quanto tempo passará até que o carro pare?</a:t>
            </a:r>
            <a:r>
              <a:rPr lang="pt-BR" dirty="0">
                <a:solidFill>
                  <a:schemeClr val="tx1"/>
                </a:solidFill>
              </a:rPr>
              <a:t> (d) </a:t>
            </a:r>
            <a:r>
              <a:rPr lang="pt-BR" b="0" dirty="0">
                <a:solidFill>
                  <a:schemeClr val="tx1"/>
                </a:solidFill>
              </a:rPr>
              <a:t>No item (c), qual será a distância percorrida? </a:t>
            </a:r>
            <a:r>
              <a:rPr lang="pt-BR" dirty="0">
                <a:solidFill>
                  <a:schemeClr val="tx1"/>
                </a:solidFill>
              </a:rPr>
              <a:t>(e) </a:t>
            </a:r>
            <a:r>
              <a:rPr lang="pt-BR" b="0" dirty="0">
                <a:solidFill>
                  <a:schemeClr val="tx1"/>
                </a:solidFill>
              </a:rPr>
              <a:t>Suponha que, em outra situação, na qual a aceleração é a mesma calculada no item (a) e uma velocidade inicial diferente, você tenha parado o seu carro após ter percorrido 200m. Qual é o tempo necessário para frear?</a:t>
            </a:r>
          </a:p>
        </p:txBody>
      </p:sp>
    </p:spTree>
    <p:extLst>
      <p:ext uri="{BB962C8B-B14F-4D97-AF65-F5344CB8AC3E}">
        <p14:creationId xmlns:p14="http://schemas.microsoft.com/office/powerpoint/2010/main" val="1924176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139472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dirty="0"/>
              <a:t>HALLIDAY, David; RESNICK, Robert;  WALKER, </a:t>
            </a:r>
            <a:r>
              <a:rPr lang="pt-BR" dirty="0" err="1"/>
              <a:t>Jearl</a:t>
            </a:r>
            <a:r>
              <a:rPr lang="pt-BR" dirty="0"/>
              <a:t>. Fundamentos de Física: gravitação, ondas e termodinâmica. </a:t>
            </a:r>
            <a:r>
              <a:rPr lang="pt-BR" dirty="0" err="1"/>
              <a:t>Vol</a:t>
            </a:r>
            <a:r>
              <a:rPr lang="pt-BR" dirty="0"/>
              <a:t> 1. Rio de Janeiro: LTC, 2006. </a:t>
            </a:r>
            <a:r>
              <a:rPr lang="pt-BR" dirty="0">
                <a:solidFill>
                  <a:srgbClr val="FF0000"/>
                </a:solidFill>
              </a:rPr>
              <a:t>CAP. 2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387982"/>
            <a:ext cx="6906262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864</TotalTime>
  <Words>1800</Words>
  <Application>Microsoft Office PowerPoint</Application>
  <PresentationFormat>Apresentação na tela (4:3)</PresentationFormat>
  <Paragraphs>161</Paragraphs>
  <Slides>24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5</vt:i4>
      </vt:variant>
      <vt:variant>
        <vt:lpstr>Títulos de slides</vt:lpstr>
      </vt:variant>
      <vt:variant>
        <vt:i4>24</vt:i4>
      </vt:variant>
    </vt:vector>
  </HeadingPairs>
  <TitlesOfParts>
    <vt:vector size="42" baseType="lpstr">
      <vt:lpstr>Arial</vt:lpstr>
      <vt:lpstr>Calibri</vt:lpstr>
      <vt:lpstr>Gotham HTF</vt:lpstr>
      <vt:lpstr>Gotham HTF Book</vt:lpstr>
      <vt:lpstr>Gotham-Bold</vt:lpstr>
      <vt:lpstr>Gotham-Book</vt:lpstr>
      <vt:lpstr>Times New Roman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Gráfico</vt:lpstr>
      <vt:lpstr>Planilha</vt:lpstr>
      <vt:lpstr>Equação</vt:lpstr>
      <vt:lpstr>Equation</vt:lpstr>
      <vt:lpstr>CorelDRAW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202</cp:revision>
  <dcterms:created xsi:type="dcterms:W3CDTF">2015-02-07T21:24:47Z</dcterms:created>
  <dcterms:modified xsi:type="dcterms:W3CDTF">2024-08-05T10:15:30Z</dcterms:modified>
</cp:coreProperties>
</file>