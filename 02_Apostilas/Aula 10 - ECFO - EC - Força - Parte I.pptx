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34"/>
  </p:notesMasterIdLst>
  <p:handoutMasterIdLst>
    <p:handoutMasterId r:id="rId35"/>
  </p:handoutMasterIdLst>
  <p:sldIdLst>
    <p:sldId id="256" r:id="rId6"/>
    <p:sldId id="266" r:id="rId7"/>
    <p:sldId id="258" r:id="rId8"/>
    <p:sldId id="259" r:id="rId9"/>
    <p:sldId id="304" r:id="rId10"/>
    <p:sldId id="305" r:id="rId11"/>
    <p:sldId id="320" r:id="rId12"/>
    <p:sldId id="321" r:id="rId13"/>
    <p:sldId id="306" r:id="rId14"/>
    <p:sldId id="307" r:id="rId15"/>
    <p:sldId id="319" r:id="rId16"/>
    <p:sldId id="318" r:id="rId17"/>
    <p:sldId id="308" r:id="rId18"/>
    <p:sldId id="309" r:id="rId19"/>
    <p:sldId id="322" r:id="rId20"/>
    <p:sldId id="310" r:id="rId21"/>
    <p:sldId id="311" r:id="rId22"/>
    <p:sldId id="312" r:id="rId23"/>
    <p:sldId id="313" r:id="rId24"/>
    <p:sldId id="314" r:id="rId25"/>
    <p:sldId id="323" r:id="rId26"/>
    <p:sldId id="325" r:id="rId27"/>
    <p:sldId id="326" r:id="rId28"/>
    <p:sldId id="327" r:id="rId29"/>
    <p:sldId id="328" r:id="rId30"/>
    <p:sldId id="316" r:id="rId31"/>
    <p:sldId id="263" r:id="rId32"/>
    <p:sldId id="265" r:id="rId3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01455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DED1B43B-40AD-449D-BCBF-F194C2EF3F0A}"/>
              </a:ext>
            </a:extLst>
          </p:cNvPr>
          <p:cNvSpPr txBox="1"/>
          <p:nvPr userDrawn="1"/>
        </p:nvSpPr>
        <p:spPr>
          <a:xfrm>
            <a:off x="947124" y="745668"/>
            <a:ext cx="6825276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Energia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 </a:t>
            </a:r>
            <a:r>
              <a:rPr lang="en-US" sz="2800" b="1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Ciemática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</a:t>
            </a:r>
            <a:r>
              <a:rPr lang="en-US" sz="2800" b="1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Força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e </a:t>
            </a:r>
            <a:r>
              <a:rPr lang="en-US" sz="2800" b="1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Ondas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890478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3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8.png"/><Relationship Id="rId7" Type="http://schemas.openxmlformats.org/officeDocument/2006/relationships/image" Target="../media/image45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1.emf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1">
            <a:extLst>
              <a:ext uri="{FF2B5EF4-FFF2-40B4-BE49-F238E27FC236}">
                <a16:creationId xmlns:a16="http://schemas.microsoft.com/office/drawing/2014/main" id="{6FEBCABF-E989-432E-9958-342A9C040E5A}"/>
              </a:ext>
            </a:extLst>
          </p:cNvPr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709710C1-53B0-4F2C-9A3A-0B6D0C952744}"/>
              </a:ext>
            </a:extLst>
          </p:cNvPr>
          <p:cNvSpPr txBox="1"/>
          <p:nvPr/>
        </p:nvSpPr>
        <p:spPr>
          <a:xfrm>
            <a:off x="1042704" y="3898936"/>
            <a:ext cx="498979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Energia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Cinemática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Força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Ondas</a:t>
            </a: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spaço Reservado para Texto 26"/>
          <p:cNvSpPr>
            <a:spLocks noGrp="1"/>
          </p:cNvSpPr>
          <p:nvPr>
            <p:ph type="body" sz="quarter" idx="13"/>
          </p:nvPr>
        </p:nvSpPr>
        <p:spPr>
          <a:xfrm>
            <a:off x="914400" y="1447800"/>
            <a:ext cx="7238198" cy="562778"/>
          </a:xfrm>
        </p:spPr>
        <p:txBody>
          <a:bodyPr/>
          <a:lstStyle/>
          <a:p>
            <a:r>
              <a:rPr lang="pt-BR" sz="4000" dirty="0">
                <a:solidFill>
                  <a:srgbClr val="FF0000"/>
                </a:solidFill>
              </a:rPr>
              <a:t>Força: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>
                <a:solidFill>
                  <a:srgbClr val="FF0000"/>
                </a:solidFill>
              </a:rPr>
              <a:t>*	Primeira Lei de Newton;</a:t>
            </a:r>
          </a:p>
          <a:p>
            <a:pPr marL="0" indent="0">
              <a:buNone/>
            </a:pPr>
            <a:r>
              <a:rPr lang="pt-BR" sz="2400" dirty="0">
                <a:solidFill>
                  <a:srgbClr val="FF0000"/>
                </a:solidFill>
              </a:rPr>
              <a:t>*	Segunda Lei de Newton.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4"/>
          <p:cNvSpPr>
            <a:spLocks noChangeArrowheads="1"/>
          </p:cNvSpPr>
          <p:nvPr/>
        </p:nvSpPr>
        <p:spPr bwMode="auto">
          <a:xfrm>
            <a:off x="0" y="728663"/>
            <a:ext cx="91439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Por que uma partícula altera a sua velocidade?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1342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0" y="728663"/>
            <a:ext cx="9143999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Por que uma partícula altera a sua velocidade?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Isaac Newton (1642-1727) ao estabelecer as Leis do Movimento e a Teoria da Gravitação, respondeu à esta questão pela primeira vez e de maneira completa.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“Um corpo tem sua velocidade alterada mediante a ocorrência de uma aceleração, para tanto, a resultante das forças que agem no corpo </a:t>
            </a:r>
            <a:r>
              <a:rPr lang="pt-BR" altLang="pt-BR" dirty="0">
                <a:solidFill>
                  <a:srgbClr val="FF0000"/>
                </a:solidFill>
              </a:rPr>
              <a:t>não pode ser nula</a:t>
            </a:r>
            <a:r>
              <a:rPr lang="pt-BR" altLang="pt-BR" sz="1600" b="0" dirty="0">
                <a:solidFill>
                  <a:schemeClr val="tx1"/>
                </a:solidFill>
              </a:rPr>
              <a:t>.”</a:t>
            </a:r>
          </a:p>
        </p:txBody>
      </p:sp>
      <p:pic>
        <p:nvPicPr>
          <p:cNvPr id="8195" name="Picture 5" descr="Issac-Newton-e-sua-maçã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150946"/>
            <a:ext cx="2635250" cy="204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289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ons do Espaço Interestelar - YouTube">
            <a:extLst>
              <a:ext uri="{FF2B5EF4-FFF2-40B4-BE49-F238E27FC236}">
                <a16:creationId xmlns:a16="http://schemas.microsoft.com/office/drawing/2014/main" id="{A3C13280-7598-4489-84FE-165CCEB37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45"/>
          <a:stretch/>
        </p:blipFill>
        <p:spPr bwMode="auto">
          <a:xfrm>
            <a:off x="0" y="98492"/>
            <a:ext cx="9144000" cy="673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1CB1F063-23E8-4FF2-9264-890E8EDCF127}"/>
              </a:ext>
            </a:extLst>
          </p:cNvPr>
          <p:cNvSpPr/>
          <p:nvPr/>
        </p:nvSpPr>
        <p:spPr>
          <a:xfrm>
            <a:off x="2587172" y="3008479"/>
            <a:ext cx="498301" cy="49830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42522E-938E-47D8-8027-1CF0D87196DB}"/>
              </a:ext>
            </a:extLst>
          </p:cNvPr>
          <p:cNvSpPr txBox="1"/>
          <p:nvPr/>
        </p:nvSpPr>
        <p:spPr>
          <a:xfrm>
            <a:off x="2143008" y="1635165"/>
            <a:ext cx="1510735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Situação 2:</a:t>
            </a:r>
          </a:p>
          <a:p>
            <a:r>
              <a:rPr lang="pt-BR" dirty="0">
                <a:solidFill>
                  <a:srgbClr val="FF0000"/>
                </a:solidFill>
              </a:rPr>
              <a:t>v = 1.000 m/s;</a:t>
            </a:r>
          </a:p>
          <a:p>
            <a:r>
              <a:rPr lang="pt-BR" dirty="0">
                <a:solidFill>
                  <a:srgbClr val="FF0000"/>
                </a:solidFill>
              </a:rPr>
              <a:t>F</a:t>
            </a:r>
            <a:r>
              <a:rPr lang="pt-BR" baseline="-25000" dirty="0">
                <a:solidFill>
                  <a:srgbClr val="FF0000"/>
                </a:solidFill>
              </a:rPr>
              <a:t>R</a:t>
            </a:r>
            <a:r>
              <a:rPr lang="pt-BR" dirty="0">
                <a:solidFill>
                  <a:srgbClr val="FF0000"/>
                </a:solidFill>
              </a:rPr>
              <a:t> = 0 N;</a:t>
            </a:r>
          </a:p>
          <a:p>
            <a:r>
              <a:rPr lang="pt-BR" dirty="0">
                <a:solidFill>
                  <a:srgbClr val="FF0000"/>
                </a:solidFill>
              </a:rPr>
              <a:t>a = 0 m/s</a:t>
            </a:r>
            <a:r>
              <a:rPr lang="pt-BR" baseline="30000" dirty="0">
                <a:solidFill>
                  <a:srgbClr val="FF0000"/>
                </a:solidFill>
              </a:rPr>
              <a:t>2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8AF2EBC-E225-4BB1-A1D4-1BD1867642C7}"/>
              </a:ext>
            </a:extLst>
          </p:cNvPr>
          <p:cNvCxnSpPr>
            <a:cxnSpLocks/>
          </p:cNvCxnSpPr>
          <p:nvPr/>
        </p:nvCxnSpPr>
        <p:spPr>
          <a:xfrm>
            <a:off x="3326474" y="3257629"/>
            <a:ext cx="10019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D06135-76A0-43C3-8C8D-299B01C73380}"/>
              </a:ext>
            </a:extLst>
          </p:cNvPr>
          <p:cNvSpPr txBox="1"/>
          <p:nvPr/>
        </p:nvSpPr>
        <p:spPr>
          <a:xfrm>
            <a:off x="3085473" y="3495099"/>
            <a:ext cx="14638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∆t= 10 anos...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A07594E-619F-4791-AC73-6282BCE0620B}"/>
              </a:ext>
            </a:extLst>
          </p:cNvPr>
          <p:cNvSpPr/>
          <p:nvPr/>
        </p:nvSpPr>
        <p:spPr>
          <a:xfrm>
            <a:off x="4668892" y="3008479"/>
            <a:ext cx="498301" cy="49830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EF9D6B-DE85-4321-AF6F-253C6A166D45}"/>
              </a:ext>
            </a:extLst>
          </p:cNvPr>
          <p:cNvSpPr txBox="1"/>
          <p:nvPr/>
        </p:nvSpPr>
        <p:spPr>
          <a:xfrm>
            <a:off x="4381404" y="1921988"/>
            <a:ext cx="1510735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 = 1.000 m/s;</a:t>
            </a:r>
          </a:p>
          <a:p>
            <a:r>
              <a:rPr lang="pt-BR" dirty="0">
                <a:solidFill>
                  <a:srgbClr val="FF0000"/>
                </a:solidFill>
              </a:rPr>
              <a:t>F</a:t>
            </a:r>
            <a:r>
              <a:rPr lang="pt-BR" baseline="-25000" dirty="0">
                <a:solidFill>
                  <a:srgbClr val="FF0000"/>
                </a:solidFill>
              </a:rPr>
              <a:t>R</a:t>
            </a:r>
            <a:r>
              <a:rPr lang="pt-BR" dirty="0">
                <a:solidFill>
                  <a:srgbClr val="FF0000"/>
                </a:solidFill>
              </a:rPr>
              <a:t> = 0 N;</a:t>
            </a:r>
          </a:p>
          <a:p>
            <a:r>
              <a:rPr lang="pt-BR" dirty="0">
                <a:solidFill>
                  <a:srgbClr val="FF0000"/>
                </a:solidFill>
              </a:rPr>
              <a:t>a = 0 m/s</a:t>
            </a:r>
            <a:r>
              <a:rPr lang="pt-BR" baseline="30000" dirty="0">
                <a:solidFill>
                  <a:srgbClr val="FF0000"/>
                </a:solidFill>
              </a:rPr>
              <a:t>2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54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">
            <a:extLst>
              <a:ext uri="{FF2B5EF4-FFF2-40B4-BE49-F238E27FC236}">
                <a16:creationId xmlns:a16="http://schemas.microsoft.com/office/drawing/2014/main" id="{E2A946CD-A53E-4D8A-BD6B-BF400EB8F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8663"/>
            <a:ext cx="9143999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O que influencia no valor (definição) da aceleração?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83063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7" descr="sists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1341438"/>
            <a:ext cx="4743450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8" descr="02_041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762000"/>
            <a:ext cx="23717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9" descr="satelite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3468688"/>
            <a:ext cx="3563937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10" descr="segundalei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4219575"/>
            <a:ext cx="2692400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1" descr="image42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829050"/>
            <a:ext cx="2325688" cy="225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0775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7"/>
          <p:cNvSpPr>
            <a:spLocks noChangeArrowheads="1"/>
          </p:cNvSpPr>
          <p:nvPr/>
        </p:nvSpPr>
        <p:spPr bwMode="auto">
          <a:xfrm>
            <a:off x="0" y="91709"/>
            <a:ext cx="9143999" cy="592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Primeira Lei de Newton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Lembre-se: “Um corpo tem sua </a:t>
            </a:r>
            <a:r>
              <a:rPr lang="pt-BR" altLang="pt-BR" sz="3600" dirty="0">
                <a:solidFill>
                  <a:srgbClr val="FF0000"/>
                </a:solidFill>
              </a:rPr>
              <a:t>velocidade alterada</a:t>
            </a:r>
            <a:r>
              <a:rPr lang="pt-BR" altLang="pt-BR" sz="3600" b="0" dirty="0">
                <a:solidFill>
                  <a:schemeClr val="tx1"/>
                </a:solidFill>
              </a:rPr>
              <a:t> </a:t>
            </a:r>
            <a:r>
              <a:rPr lang="pt-BR" altLang="pt-BR" sz="1600" b="0" dirty="0">
                <a:solidFill>
                  <a:schemeClr val="tx1"/>
                </a:solidFill>
              </a:rPr>
              <a:t>mediante a ocorrência de uma </a:t>
            </a:r>
            <a:r>
              <a:rPr lang="pt-BR" altLang="pt-BR" sz="1600" dirty="0">
                <a:solidFill>
                  <a:srgbClr val="FF0000"/>
                </a:solidFill>
              </a:rPr>
              <a:t>aceleração</a:t>
            </a:r>
            <a:r>
              <a:rPr lang="pt-BR" altLang="pt-BR" sz="1600" b="0" dirty="0">
                <a:solidFill>
                  <a:schemeClr val="tx1"/>
                </a:solidFill>
              </a:rPr>
              <a:t>, para tanto, a resultante das forças que agem no corpo </a:t>
            </a:r>
            <a:r>
              <a:rPr lang="pt-BR" altLang="pt-BR" sz="1600" dirty="0">
                <a:solidFill>
                  <a:srgbClr val="FF0000"/>
                </a:solidFill>
              </a:rPr>
              <a:t>não pode ser nula</a:t>
            </a:r>
            <a:r>
              <a:rPr lang="pt-BR" altLang="pt-BR" sz="1600" b="0" dirty="0">
                <a:solidFill>
                  <a:schemeClr val="tx1"/>
                </a:solidFill>
              </a:rPr>
              <a:t>.”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dirty="0">
                <a:solidFill>
                  <a:schemeClr val="tx1"/>
                </a:solidFill>
              </a:rPr>
              <a:t>Primeira Lei (más e se a resultante das forças é nula?):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“Consideremos um corpo em que a </a:t>
            </a:r>
            <a:r>
              <a:rPr lang="pt-BR" altLang="pt-BR" sz="1600" dirty="0">
                <a:solidFill>
                  <a:srgbClr val="FF0000"/>
                </a:solidFill>
              </a:rPr>
              <a:t>resultante das forças que atuam sobre ele seja nula</a:t>
            </a:r>
            <a:r>
              <a:rPr lang="pt-BR" altLang="pt-BR" sz="1600" b="0" dirty="0">
                <a:solidFill>
                  <a:schemeClr val="tx1"/>
                </a:solidFill>
              </a:rPr>
              <a:t>. Se este corpo estiver em repouso, ele assim, permanecerá. Se estiver em movimento com velocidade constante, manter-se-á neste estado.”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4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“Sendo nula a resultante das forças que agem sobre um corpo, é possível encontrar um conjunto de sistemas de referências tais que o corpo não tenha aceleração.”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4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A primeira lei de Newton é muitas vezes chamada de Lei da Inércia e os sistemas de referências definidos por ela são chamados referenciais, ou sistemas de referência inerciais.</a:t>
            </a:r>
          </a:p>
        </p:txBody>
      </p:sp>
    </p:spTree>
    <p:extLst>
      <p:ext uri="{BB962C8B-B14F-4D97-AF65-F5344CB8AC3E}">
        <p14:creationId xmlns:p14="http://schemas.microsoft.com/office/powerpoint/2010/main" val="3339106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1933303" y="2246807"/>
            <a:ext cx="722811" cy="66185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/>
          <p:cNvCxnSpPr/>
          <p:nvPr/>
        </p:nvCxnSpPr>
        <p:spPr>
          <a:xfrm>
            <a:off x="2316480" y="2586442"/>
            <a:ext cx="16023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3048000" y="2081345"/>
            <a:ext cx="1233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 = 1000 /s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836890" y="1766836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  <a:r>
              <a:rPr lang="pt-BR" baseline="-25000" dirty="0"/>
              <a:t>0</a:t>
            </a:r>
            <a:r>
              <a:rPr lang="pt-BR" dirty="0"/>
              <a:t> = 0 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906662" y="1766836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  <a:r>
              <a:rPr lang="pt-BR" baseline="-25000" dirty="0"/>
              <a:t>1</a:t>
            </a:r>
            <a:r>
              <a:rPr lang="pt-BR" dirty="0"/>
              <a:t> = 10.000 s</a:t>
            </a:r>
          </a:p>
        </p:txBody>
      </p:sp>
      <p:sp>
        <p:nvSpPr>
          <p:cNvPr id="10" name="Elipse 9"/>
          <p:cNvSpPr/>
          <p:nvPr/>
        </p:nvSpPr>
        <p:spPr>
          <a:xfrm>
            <a:off x="4673301" y="2233745"/>
            <a:ext cx="722811" cy="66185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/>
          <p:cNvCxnSpPr/>
          <p:nvPr/>
        </p:nvCxnSpPr>
        <p:spPr>
          <a:xfrm>
            <a:off x="5056478" y="2573380"/>
            <a:ext cx="16023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5787998" y="2068283"/>
            <a:ext cx="1233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 = 1000 /s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4825555" y="3061060"/>
            <a:ext cx="1490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velocidade?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01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inercia--img-m0386a67aa4b234a438377b119c81f5b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983" y="2267316"/>
            <a:ext cx="4057477" cy="263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795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9"/>
          <p:cNvSpPr>
            <a:spLocks noChangeArrowheads="1"/>
          </p:cNvSpPr>
          <p:nvPr/>
        </p:nvSpPr>
        <p:spPr bwMode="auto">
          <a:xfrm>
            <a:off x="0" y="715963"/>
            <a:ext cx="9143999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Força – Definição do Newton (N)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1 Newton (N) é a intensidade de força capaz de fazer com que um corpo de 1 kg experimente uma aceleração de 1 m/s</a:t>
            </a:r>
            <a:r>
              <a:rPr lang="pt-BR" altLang="pt-BR" sz="1600" b="0" baseline="30000" dirty="0">
                <a:solidFill>
                  <a:schemeClr val="tx1"/>
                </a:solidFill>
              </a:rPr>
              <a:t>2</a:t>
            </a:r>
            <a:r>
              <a:rPr lang="pt-BR" altLang="pt-BR" sz="1600" b="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1267" name="Picture 10" descr="novo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357" y="3157783"/>
            <a:ext cx="4843462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0" y="2696118"/>
            <a:ext cx="369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  <a:p>
            <a:r>
              <a:rPr lang="pt-BR" dirty="0">
                <a:solidFill>
                  <a:srgbClr val="FF0000"/>
                </a:solidFill>
              </a:rPr>
              <a:t>a</a:t>
            </a:r>
          </a:p>
          <a:p>
            <a:r>
              <a:rPr lang="pt-BR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823489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ChangeArrowheads="1"/>
          </p:cNvSpPr>
          <p:nvPr/>
        </p:nvSpPr>
        <p:spPr bwMode="auto">
          <a:xfrm>
            <a:off x="0" y="87408"/>
            <a:ext cx="4950069" cy="24006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Massa vs Força vs Aceleração</a:t>
            </a:r>
            <a:endParaRPr lang="pt-BR" alt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  <a:r>
              <a:rPr lang="pt-BR" altLang="pt-BR" sz="1400" b="0" dirty="0">
                <a:solidFill>
                  <a:schemeClr val="tx1"/>
                </a:solidFill>
              </a:rPr>
              <a:t>A vivência nos diz que uma dada força produzirá acelerações diferentes em corpos diferentes. Coloquemos uma bola de boliche e uma bola de tênis no assoalho e apliquemos à ambas o mesmo golpe, a aceleração da bola de boliche será muito menor.</a:t>
            </a:r>
          </a:p>
        </p:txBody>
      </p:sp>
      <p:pic>
        <p:nvPicPr>
          <p:cNvPr id="12291" name="Picture 8" descr="Submarino_214718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701925"/>
            <a:ext cx="251936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9" descr="7128ten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502" y="4217224"/>
            <a:ext cx="34194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de Seta Reta 3"/>
          <p:cNvCxnSpPr/>
          <p:nvPr/>
        </p:nvCxnSpPr>
        <p:spPr>
          <a:xfrm>
            <a:off x="1582615" y="3961606"/>
            <a:ext cx="360485" cy="1203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806818" y="5165175"/>
            <a:ext cx="720970" cy="7209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2020031" y="6267755"/>
            <a:ext cx="294543" cy="294543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/>
          <p:cNvCxnSpPr>
            <a:endCxn id="5" idx="2"/>
          </p:cNvCxnSpPr>
          <p:nvPr/>
        </p:nvCxnSpPr>
        <p:spPr>
          <a:xfrm>
            <a:off x="1116623" y="5525660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329836" y="6415026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243952" y="516517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431520" y="611163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330386" y="481947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  <a:r>
              <a:rPr lang="pt-BR" baseline="-25000" dirty="0"/>
              <a:t>1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97109" y="59897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  <a:r>
              <a:rPr lang="pt-BR" baseline="-25000" dirty="0"/>
              <a:t>2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2777944" y="5534507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782647" y="6470461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2921671" y="513059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  <a:r>
              <a:rPr lang="pt-BR" baseline="-25000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936131" y="604569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  <a:r>
              <a:rPr lang="pt-BR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8"/>
              <p:cNvSpPr txBox="1"/>
              <p:nvPr/>
            </p:nvSpPr>
            <p:spPr bwMode="auto">
              <a:xfrm>
                <a:off x="5183188" y="1528763"/>
                <a:ext cx="3960812" cy="173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𝑝𝑟𝑜𝑝𝑜𝑟𝑐𝑖𝑜𝑛𝑎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à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ç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𝑝𝑟𝑜𝑝𝑜𝑟𝑐𝑖𝑜𝑛𝑎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à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br>
                  <a:rPr lang="pt-BR" dirty="0">
                    <a:solidFill>
                      <a:srgbClr val="000000"/>
                    </a:solidFill>
                  </a:rPr>
                </a:br>
                <a:endParaRPr lang="pt-BR" dirty="0"/>
              </a:p>
            </p:txBody>
          </p:sp>
        </mc:Choice>
        <mc:Fallback xmlns="">
          <p:sp>
            <p:nvSpPr>
              <p:cNvPr id="2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3188" y="1528763"/>
                <a:ext cx="3960812" cy="1733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475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ChangeArrowheads="1"/>
          </p:cNvSpPr>
          <p:nvPr/>
        </p:nvSpPr>
        <p:spPr bwMode="auto">
          <a:xfrm>
            <a:off x="1" y="87408"/>
            <a:ext cx="3751868" cy="30070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Massa vs Força vs Aceleração</a:t>
            </a:r>
            <a:endParaRPr lang="pt-BR" alt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  <a:r>
              <a:rPr lang="pt-BR" altLang="pt-BR" sz="1400" b="0" dirty="0">
                <a:solidFill>
                  <a:schemeClr val="tx1"/>
                </a:solidFill>
              </a:rPr>
              <a:t>A vivência nos diz que uma dada força produzirá acelerações diferentes em corpos diferentes. Coloquemos uma bola de boliche e uma bola de tênis no assoalho e apliquemos à ambas o mesmo golpe, a aceleração da bola de boliche será muito menor.</a:t>
            </a:r>
          </a:p>
        </p:txBody>
      </p:sp>
      <p:pic>
        <p:nvPicPr>
          <p:cNvPr id="12291" name="Picture 8" descr="Submarino_214718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701925"/>
            <a:ext cx="251936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9" descr="7128ten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502" y="4217224"/>
            <a:ext cx="34194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de Seta Reta 3"/>
          <p:cNvCxnSpPr/>
          <p:nvPr/>
        </p:nvCxnSpPr>
        <p:spPr>
          <a:xfrm>
            <a:off x="1582615" y="3961606"/>
            <a:ext cx="360485" cy="1203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806818" y="5165175"/>
            <a:ext cx="720970" cy="72097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2020031" y="6267755"/>
            <a:ext cx="294543" cy="294543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/>
          <p:cNvCxnSpPr>
            <a:endCxn id="5" idx="2"/>
          </p:cNvCxnSpPr>
          <p:nvPr/>
        </p:nvCxnSpPr>
        <p:spPr>
          <a:xfrm>
            <a:off x="1116623" y="5525660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329836" y="6415026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243952" y="516517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431520" y="611163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330386" y="481947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  <a:r>
              <a:rPr lang="pt-BR" baseline="-25000" dirty="0"/>
              <a:t>1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97109" y="59897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  <a:r>
              <a:rPr lang="pt-BR" baseline="-25000" dirty="0"/>
              <a:t>2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2777944" y="5534507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782647" y="6470461"/>
            <a:ext cx="6901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2921671" y="513059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  <a:r>
              <a:rPr lang="pt-BR" baseline="-25000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936131" y="604569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  <a:r>
              <a:rPr lang="pt-BR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8"/>
              <p:cNvSpPr txBox="1"/>
              <p:nvPr/>
            </p:nvSpPr>
            <p:spPr bwMode="auto">
              <a:xfrm>
                <a:off x="3949208" y="1528763"/>
                <a:ext cx="5137608" cy="1733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  <m:oMath xmlns:m="http://schemas.openxmlformats.org/officeDocument/2006/math"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𝑑𝑖𝑟𝑒𝑡𝑎𝑚𝑒𝑛𝑡𝑒</m:t>
                          </m:r>
                        </m:e>
                        <m:sub/>
                      </m:sSub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𝑝𝑟𝑜𝑝𝑜𝑟𝑐𝑖𝑜𝑛𝑎</m:t>
                      </m:r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à</m:t>
                          </m:r>
                        </m:e>
                        <m:sub/>
                      </m:sSub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ç</m:t>
                      </m:r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𝑖𝑛𝑣𝑒𝑟𝑠𝑎𝑚𝑒𝑛𝑡𝑒</m:t>
                          </m:r>
                        </m:e>
                        <m:sub/>
                      </m:sSub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𝑝𝑟𝑜𝑝𝑜𝑟𝑐𝑖𝑜𝑛𝑎</m:t>
                      </m:r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/>
                      </m:sSub>
                      <m:sSub>
                        <m:sSubPr>
                          <m:ctrlP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à</m:t>
                          </m:r>
                        </m:e>
                        <m:sub/>
                      </m:sSub>
                      <m:r>
                        <a:rPr lang="pt-BR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br>
                  <a:rPr lang="pt-BR" sz="2100" dirty="0">
                    <a:solidFill>
                      <a:srgbClr val="000000"/>
                    </a:solidFill>
                  </a:rPr>
                </a:br>
                <a:endParaRPr lang="pt-BR" sz="2100" dirty="0"/>
              </a:p>
            </p:txBody>
          </p:sp>
        </mc:Choice>
        <mc:Fallback xmlns="">
          <p:sp>
            <p:nvSpPr>
              <p:cNvPr id="2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9208" y="1528763"/>
                <a:ext cx="5137608" cy="1733550"/>
              </a:xfrm>
              <a:prstGeom prst="rect">
                <a:avLst/>
              </a:prstGeom>
              <a:blipFill>
                <a:blip r:embed="rId4"/>
                <a:stretch>
                  <a:fillRect l="-119" r="-36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8">
                <a:extLst>
                  <a:ext uri="{FF2B5EF4-FFF2-40B4-BE49-F238E27FC236}">
                    <a16:creationId xmlns:a16="http://schemas.microsoft.com/office/drawing/2014/main" id="{C2A99D9E-4FF3-4423-A270-6C9AF0442933}"/>
                  </a:ext>
                </a:extLst>
              </p:cNvPr>
              <p:cNvSpPr txBox="1"/>
              <p:nvPr/>
            </p:nvSpPr>
            <p:spPr bwMode="auto">
              <a:xfrm>
                <a:off x="5027398" y="3330120"/>
                <a:ext cx="2983682" cy="9628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m:rPr>
                          <m:nor/>
                        </m:rPr>
                        <a:rPr lang="pt-BR" sz="2400" dirty="0"/>
                        <m:t>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7" name="Object 8">
                <a:extLst>
                  <a:ext uri="{FF2B5EF4-FFF2-40B4-BE49-F238E27FC236}">
                    <a16:creationId xmlns:a16="http://schemas.microsoft.com/office/drawing/2014/main" id="{C2A99D9E-4FF3-4423-A270-6C9AF0442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7398" y="3330120"/>
                <a:ext cx="2983682" cy="962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883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ChangeArrowheads="1"/>
          </p:cNvSpPr>
          <p:nvPr/>
        </p:nvSpPr>
        <p:spPr bwMode="auto">
          <a:xfrm>
            <a:off x="0" y="715963"/>
            <a:ext cx="9143999" cy="436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Segunda Lei de Newton</a:t>
            </a:r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“ A somatória das forças que agem em um corpo, portanto a força resultante, é igual ao produto da massa do corpo pela aceleração experimentada pelo mesmo.”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Como veremos na aula de vetores podemos colocar a equação anterior na forma: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		    </a:t>
            </a:r>
            <a:r>
              <a:rPr lang="pt-BR" altLang="pt-BR" sz="2400" b="0" dirty="0">
                <a:solidFill>
                  <a:schemeClr val="tx1"/>
                </a:solidFill>
              </a:rPr>
              <a:t>,</a:t>
            </a:r>
            <a:r>
              <a:rPr lang="pt-BR" altLang="pt-BR" sz="1600" b="0" dirty="0">
                <a:solidFill>
                  <a:schemeClr val="tx1"/>
                </a:solidFill>
              </a:rPr>
              <a:t>			</a:t>
            </a:r>
            <a:r>
              <a:rPr lang="pt-BR" altLang="pt-BR" sz="2400" b="0" dirty="0">
                <a:solidFill>
                  <a:schemeClr val="tx1"/>
                </a:solidFill>
              </a:rPr>
              <a:t>,</a:t>
            </a:r>
            <a:r>
              <a:rPr lang="pt-BR" altLang="pt-BR" sz="1600" b="0" dirty="0">
                <a:solidFill>
                  <a:schemeClr val="tx1"/>
                </a:solidFill>
              </a:rPr>
              <a:t>		         </a:t>
            </a:r>
            <a:r>
              <a:rPr lang="pt-BR" altLang="pt-BR" sz="2400" b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315" name="Rectangle 10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bIns="0" anchor="ctr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graphicFrame>
        <p:nvGraphicFramePr>
          <p:cNvPr id="13316" name="Object 9"/>
          <p:cNvGraphicFramePr>
            <a:graphicFrameLocks noChangeAspect="1"/>
          </p:cNvGraphicFramePr>
          <p:nvPr/>
        </p:nvGraphicFramePr>
        <p:xfrm>
          <a:off x="1042988" y="2636838"/>
          <a:ext cx="17637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400" imgH="330200" progId="Equation.3">
                  <p:embed/>
                </p:oleObj>
              </mc:Choice>
              <mc:Fallback>
                <p:oleObj name="Equation" r:id="rId2" imgW="787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6838"/>
                        <a:ext cx="17637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13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bIns="0" anchor="ctr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graphicFrame>
        <p:nvGraphicFramePr>
          <p:cNvPr id="13318" name="Object 12"/>
          <p:cNvGraphicFramePr>
            <a:graphicFrameLocks noChangeAspect="1"/>
          </p:cNvGraphicFramePr>
          <p:nvPr/>
        </p:nvGraphicFramePr>
        <p:xfrm>
          <a:off x="1085850" y="4381500"/>
          <a:ext cx="20034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614" imgH="342751" progId="Equation.3">
                  <p:embed/>
                </p:oleObj>
              </mc:Choice>
              <mc:Fallback>
                <p:oleObj name="Equation" r:id="rId4" imgW="888614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4381500"/>
                        <a:ext cx="20034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4"/>
          <p:cNvGraphicFramePr>
            <a:graphicFrameLocks noChangeAspect="1"/>
          </p:cNvGraphicFramePr>
          <p:nvPr/>
        </p:nvGraphicFramePr>
        <p:xfrm>
          <a:off x="3476625" y="4351338"/>
          <a:ext cx="20320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309" imgH="355446" progId="Equation.3">
                  <p:embed/>
                </p:oleObj>
              </mc:Choice>
              <mc:Fallback>
                <p:oleObj name="Equation" r:id="rId6" imgW="901309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4351338"/>
                        <a:ext cx="20320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5"/>
          <p:cNvGraphicFramePr>
            <a:graphicFrameLocks noChangeAspect="1"/>
          </p:cNvGraphicFramePr>
          <p:nvPr/>
        </p:nvGraphicFramePr>
        <p:xfrm>
          <a:off x="5953125" y="4379913"/>
          <a:ext cx="19748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300" imgH="342900" progId="Equation.3">
                  <p:embed/>
                </p:oleObj>
              </mc:Choice>
              <mc:Fallback>
                <p:oleObj name="Equation" r:id="rId8" imgW="8763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4379913"/>
                        <a:ext cx="19748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225890"/>
              </p:ext>
            </p:extLst>
          </p:nvPr>
        </p:nvGraphicFramePr>
        <p:xfrm>
          <a:off x="5585271" y="2732087"/>
          <a:ext cx="1355279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558720" imgH="215640" progId="Equation.3">
                  <p:embed/>
                </p:oleObj>
              </mc:Choice>
              <mc:Fallback>
                <p:oleObj name="Equação" r:id="rId10" imgW="558720" imgH="215640" progId="Equation.3">
                  <p:embed/>
                  <p:pic>
                    <p:nvPicPr>
                      <p:cNvPr id="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5271" y="2732087"/>
                        <a:ext cx="1355279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9178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"/>
          <p:cNvSpPr>
            <a:spLocks noChangeArrowheads="1"/>
          </p:cNvSpPr>
          <p:nvPr/>
        </p:nvSpPr>
        <p:spPr bwMode="auto">
          <a:xfrm>
            <a:off x="1" y="11292"/>
            <a:ext cx="9144000" cy="11079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01)</a:t>
            </a:r>
            <a:r>
              <a:rPr lang="pt-BR" altLang="pt-BR" sz="1400" b="0" dirty="0">
                <a:solidFill>
                  <a:schemeClr val="tx1"/>
                </a:solidFill>
              </a:rPr>
              <a:t>	Um estudante empurra um trenó carregado, cuja massa m é 240 kg por uma distância d = 2,3 m sobre uma superfície sem atrito de um lago congelado. Ele exerce uma força horizontal de 130 N para deslocar o trenó. Se o trenó parte do repouso, qual será sua velocidade final? 	</a:t>
            </a:r>
            <a:r>
              <a:rPr lang="pt-BR" altLang="pt-BR" dirty="0">
                <a:solidFill>
                  <a:schemeClr val="tx1"/>
                </a:solidFill>
              </a:rPr>
              <a:t>a</a:t>
            </a:r>
            <a:r>
              <a:rPr lang="pt-BR" altLang="pt-BR" b="0" dirty="0">
                <a:solidFill>
                  <a:schemeClr val="tx1"/>
                </a:solidFill>
              </a:rPr>
              <a:t> = </a:t>
            </a:r>
            <a:r>
              <a:rPr lang="pt-BR" altLang="pt-BR" dirty="0">
                <a:solidFill>
                  <a:schemeClr val="tx1"/>
                </a:solidFill>
              </a:rPr>
              <a:t>F</a:t>
            </a:r>
            <a:r>
              <a:rPr lang="pt-BR" altLang="pt-BR" b="0" dirty="0">
                <a:solidFill>
                  <a:schemeClr val="tx1"/>
                </a:solidFill>
              </a:rPr>
              <a:t>/m;</a:t>
            </a:r>
          </a:p>
        </p:txBody>
      </p:sp>
      <p:pic>
        <p:nvPicPr>
          <p:cNvPr id="14339" name="Picture 13" descr="novo-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14"/>
          <a:stretch/>
        </p:blipFill>
        <p:spPr bwMode="auto">
          <a:xfrm>
            <a:off x="20030" y="1110498"/>
            <a:ext cx="3816350" cy="150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1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bIns="0" anchor="ctr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sp>
        <p:nvSpPr>
          <p:cNvPr id="6" name="Retângulo 5"/>
          <p:cNvSpPr/>
          <p:nvPr/>
        </p:nvSpPr>
        <p:spPr>
          <a:xfrm>
            <a:off x="500305" y="3089397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929913" y="3089397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/>
          <p:cNvCxnSpPr/>
          <p:nvPr/>
        </p:nvCxnSpPr>
        <p:spPr>
          <a:xfrm>
            <a:off x="731520" y="3300413"/>
            <a:ext cx="7053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731520" y="2930298"/>
            <a:ext cx="24558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163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ector de Seta Reta 36"/>
          <p:cNvCxnSpPr/>
          <p:nvPr/>
        </p:nvCxnSpPr>
        <p:spPr>
          <a:xfrm flipH="1">
            <a:off x="7193525" y="1987139"/>
            <a:ext cx="674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7325273" y="167971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endParaRPr lang="pt-BR" baseline="-25000" dirty="0"/>
          </a:p>
        </p:txBody>
      </p:sp>
      <p:cxnSp>
        <p:nvCxnSpPr>
          <p:cNvPr id="34" name="Conector de Seta Reta 33"/>
          <p:cNvCxnSpPr/>
          <p:nvPr/>
        </p:nvCxnSpPr>
        <p:spPr>
          <a:xfrm flipH="1">
            <a:off x="7206990" y="1681111"/>
            <a:ext cx="674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5687464" y="1796928"/>
            <a:ext cx="7476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2" name="Rectangle 5"/>
          <p:cNvSpPr>
            <a:spLocks noChangeArrowheads="1"/>
          </p:cNvSpPr>
          <p:nvPr/>
        </p:nvSpPr>
        <p:spPr bwMode="auto">
          <a:xfrm>
            <a:off x="1" y="32483"/>
            <a:ext cx="9144000" cy="1241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dirty="0">
                <a:solidFill>
                  <a:schemeClr val="tx1"/>
                </a:solidFill>
              </a:rPr>
              <a:t>02)</a:t>
            </a:r>
            <a:r>
              <a:rPr lang="pt-BR" altLang="pt-BR" b="0" dirty="0">
                <a:solidFill>
                  <a:schemeClr val="tx1"/>
                </a:solidFill>
              </a:rPr>
              <a:t>	O estudante do exercício 01 deseja inverter o sentido da velocidade do trenó em 4,5 s. Com que força constante ele deverá empurrar o trenó para que isto ocorra? a = </a:t>
            </a:r>
            <a:r>
              <a:rPr lang="el-GR" altLang="pt-BR" b="0" dirty="0">
                <a:solidFill>
                  <a:schemeClr val="tx1"/>
                </a:solidFill>
                <a:cs typeface="Arial" panose="020B0604020202020204" pitchFamily="34" charset="0"/>
              </a:rPr>
              <a:t>Δ</a:t>
            </a:r>
            <a:r>
              <a:rPr lang="pt-BR" altLang="pt-BR" b="0" dirty="0">
                <a:solidFill>
                  <a:schemeClr val="tx1"/>
                </a:solidFill>
                <a:cs typeface="Arial" panose="020B0604020202020204" pitchFamily="34" charset="0"/>
              </a:rPr>
              <a:t>v/ </a:t>
            </a:r>
            <a:r>
              <a:rPr lang="el-GR" altLang="pt-BR" b="0" dirty="0">
                <a:solidFill>
                  <a:schemeClr val="tx1"/>
                </a:solidFill>
              </a:rPr>
              <a:t>Δ</a:t>
            </a:r>
            <a:r>
              <a:rPr lang="pt-BR" altLang="pt-BR" b="0" dirty="0">
                <a:solidFill>
                  <a:schemeClr val="tx1"/>
                </a:solidFill>
              </a:rPr>
              <a:t>t ou v = v</a:t>
            </a:r>
            <a:r>
              <a:rPr lang="pt-BR" altLang="pt-BR" b="0" baseline="-25000" dirty="0">
                <a:solidFill>
                  <a:schemeClr val="tx1"/>
                </a:solidFill>
              </a:rPr>
              <a:t>0</a:t>
            </a:r>
            <a:r>
              <a:rPr lang="pt-BR" altLang="pt-BR" b="0" dirty="0">
                <a:solidFill>
                  <a:schemeClr val="tx1"/>
                </a:solidFill>
              </a:rPr>
              <a:t> + at.</a:t>
            </a:r>
            <a:endParaRPr lang="el-GR" altLang="pt-BR" b="0" dirty="0">
              <a:solidFill>
                <a:schemeClr val="tx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00305" y="1585913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809755"/>
              </p:ext>
            </p:extLst>
          </p:nvPr>
        </p:nvGraphicFramePr>
        <p:xfrm>
          <a:off x="156549" y="2245420"/>
          <a:ext cx="1127125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761760" imgH="1269720" progId="Equation.3">
                  <p:embed/>
                </p:oleObj>
              </mc:Choice>
              <mc:Fallback>
                <p:oleObj name="Equação" r:id="rId2" imgW="761760" imgH="126972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49" y="2245420"/>
                        <a:ext cx="1127125" cy="188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/>
          <p:cNvSpPr/>
          <p:nvPr/>
        </p:nvSpPr>
        <p:spPr>
          <a:xfrm>
            <a:off x="2929913" y="1585913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383006"/>
              </p:ext>
            </p:extLst>
          </p:nvPr>
        </p:nvGraphicFramePr>
        <p:xfrm>
          <a:off x="2590346" y="2262188"/>
          <a:ext cx="1295400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876240" imgH="1269720" progId="Equation.3">
                  <p:embed/>
                </p:oleObj>
              </mc:Choice>
              <mc:Fallback>
                <p:oleObj name="Equação" r:id="rId4" imgW="876240" imgH="1269720" progId="Equation.3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346" y="2262188"/>
                        <a:ext cx="1295400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ector de Seta Reta 6"/>
          <p:cNvCxnSpPr/>
          <p:nvPr/>
        </p:nvCxnSpPr>
        <p:spPr>
          <a:xfrm>
            <a:off x="720111" y="1796928"/>
            <a:ext cx="7476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7661814" y="1585913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/>
          <p:cNvCxnSpPr/>
          <p:nvPr/>
        </p:nvCxnSpPr>
        <p:spPr>
          <a:xfrm flipH="1">
            <a:off x="4920405" y="1796928"/>
            <a:ext cx="674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V="1">
            <a:off x="5687464" y="1256463"/>
            <a:ext cx="2061123" cy="2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5467657" y="1569145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/>
          <p:cNvSpPr/>
          <p:nvPr/>
        </p:nvSpPr>
        <p:spPr>
          <a:xfrm>
            <a:off x="3986577" y="1704096"/>
            <a:ext cx="174172" cy="18566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4235094" y="1704096"/>
            <a:ext cx="174172" cy="18566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4483611" y="1704096"/>
            <a:ext cx="174172" cy="18566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5997846" y="135072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074016" y="134708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7250698" y="122797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1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112210" y="432236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043383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"/>
          <p:cNvSpPr>
            <a:spLocks noChangeArrowheads="1"/>
          </p:cNvSpPr>
          <p:nvPr/>
        </p:nvSpPr>
        <p:spPr bwMode="auto">
          <a:xfrm>
            <a:off x="0" y="6106"/>
            <a:ext cx="9144000" cy="12988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03)</a:t>
            </a:r>
            <a:r>
              <a:rPr lang="pt-BR" altLang="pt-BR" sz="1400" b="0" dirty="0">
                <a:solidFill>
                  <a:schemeClr val="tx1"/>
                </a:solidFill>
              </a:rPr>
              <a:t>	Uma carga de massa igual a 360 kg está na carroceria de um caminhão que se move com velocidade v</a:t>
            </a:r>
            <a:r>
              <a:rPr lang="pt-BR" altLang="pt-BR" sz="1400" b="0" baseline="-25000" dirty="0">
                <a:solidFill>
                  <a:schemeClr val="tx1"/>
                </a:solidFill>
              </a:rPr>
              <a:t>0</a:t>
            </a:r>
            <a:r>
              <a:rPr lang="pt-BR" altLang="pt-BR" sz="1400" b="0" dirty="0">
                <a:solidFill>
                  <a:schemeClr val="tx1"/>
                </a:solidFill>
              </a:rPr>
              <a:t> de 120 km/h. O motorista aciona os freios e reduz a velocidade para 62 km/h em 17s. Que força (supostamente constante) agiu sobre a carga durante este intervalo de tempo? Suponha que a carga não tenha escorregado na carroceria do caminhão. a = </a:t>
            </a:r>
            <a:r>
              <a:rPr lang="el-GR" altLang="pt-BR" sz="1400" b="0" dirty="0">
                <a:solidFill>
                  <a:schemeClr val="tx1"/>
                </a:solidFill>
              </a:rPr>
              <a:t>Δ</a:t>
            </a:r>
            <a:r>
              <a:rPr lang="pt-BR" altLang="pt-BR" sz="1400" b="0" dirty="0">
                <a:solidFill>
                  <a:schemeClr val="tx1"/>
                </a:solidFill>
              </a:rPr>
              <a:t>v/ </a:t>
            </a:r>
            <a:r>
              <a:rPr lang="el-GR" altLang="pt-BR" sz="1400" b="0" dirty="0">
                <a:solidFill>
                  <a:schemeClr val="tx1"/>
                </a:solidFill>
              </a:rPr>
              <a:t>Δ</a:t>
            </a:r>
            <a:r>
              <a:rPr lang="pt-BR" altLang="pt-BR" sz="1400" b="0" dirty="0">
                <a:solidFill>
                  <a:schemeClr val="tx1"/>
                </a:solidFill>
              </a:rPr>
              <a:t>t ou v = v</a:t>
            </a:r>
            <a:r>
              <a:rPr lang="pt-BR" altLang="pt-BR" sz="1400" b="0" baseline="-25000" dirty="0">
                <a:solidFill>
                  <a:schemeClr val="tx1"/>
                </a:solidFill>
              </a:rPr>
              <a:t>0</a:t>
            </a:r>
            <a:r>
              <a:rPr lang="pt-BR" altLang="pt-BR" sz="1400" b="0" dirty="0">
                <a:solidFill>
                  <a:schemeClr val="tx1"/>
                </a:solidFill>
              </a:rPr>
              <a:t> + at.</a:t>
            </a:r>
            <a:endParaRPr lang="el-GR" altLang="pt-BR" sz="1400" b="0" dirty="0">
              <a:solidFill>
                <a:schemeClr val="tx1"/>
              </a:solidFill>
            </a:endParaRPr>
          </a:p>
        </p:txBody>
      </p:sp>
      <p:pic>
        <p:nvPicPr>
          <p:cNvPr id="16387" name="Picture 11" descr="novo-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1" y="1408967"/>
            <a:ext cx="3415456" cy="202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489707" y="1993394"/>
            <a:ext cx="677007" cy="518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489707" y="1465303"/>
            <a:ext cx="711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Carga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38744" y="1993394"/>
            <a:ext cx="677007" cy="518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538744" y="1465303"/>
            <a:ext cx="711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Carga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3901440" y="2252767"/>
            <a:ext cx="943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061533" y="191482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200846" y="1852202"/>
            <a:ext cx="2337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102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5"/>
          <p:cNvSpPr>
            <a:spLocks noChangeArrowheads="1"/>
          </p:cNvSpPr>
          <p:nvPr/>
        </p:nvSpPr>
        <p:spPr bwMode="auto">
          <a:xfrm>
            <a:off x="1" y="727075"/>
            <a:ext cx="9144000" cy="276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rgbClr val="FF0000"/>
                </a:solidFill>
              </a:rPr>
              <a:t>	Exercício: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0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altLang="pt-BR" dirty="0">
                <a:solidFill>
                  <a:schemeClr val="tx1"/>
                </a:solidFill>
              </a:rPr>
              <a:t>04)</a:t>
            </a:r>
            <a:r>
              <a:rPr lang="pt-BR" altLang="pt-BR" b="0" dirty="0">
                <a:solidFill>
                  <a:schemeClr val="tx1"/>
                </a:solidFill>
              </a:rPr>
              <a:t>	Em um jogo de cabo de guerra, em duas dimensões, Ismael, Demerval e Sandro puxam as cordas que estão amarradas em um pneu de automóvel. Ismael puxa com uma força </a:t>
            </a:r>
            <a:r>
              <a:rPr lang="pt-BR" altLang="pt-BR" dirty="0">
                <a:solidFill>
                  <a:schemeClr val="tx1"/>
                </a:solidFill>
              </a:rPr>
              <a:t>F</a:t>
            </a:r>
            <a:r>
              <a:rPr lang="pt-BR" altLang="pt-BR" b="0" baseline="-25000" dirty="0">
                <a:solidFill>
                  <a:schemeClr val="tx1"/>
                </a:solidFill>
              </a:rPr>
              <a:t>I</a:t>
            </a:r>
            <a:r>
              <a:rPr lang="pt-BR" altLang="pt-BR" b="0" dirty="0">
                <a:solidFill>
                  <a:schemeClr val="tx1"/>
                </a:solidFill>
              </a:rPr>
              <a:t> (220 N) e Sandro puxa com uma força </a:t>
            </a:r>
            <a:r>
              <a:rPr lang="pt-BR" altLang="pt-BR" dirty="0">
                <a:solidFill>
                  <a:schemeClr val="tx1"/>
                </a:solidFill>
              </a:rPr>
              <a:t>F</a:t>
            </a:r>
            <a:r>
              <a:rPr lang="pt-BR" altLang="pt-BR" b="0" baseline="-25000" dirty="0">
                <a:solidFill>
                  <a:schemeClr val="tx1"/>
                </a:solidFill>
              </a:rPr>
              <a:t>S</a:t>
            </a:r>
            <a:r>
              <a:rPr lang="pt-BR" altLang="pt-BR" b="0" dirty="0">
                <a:solidFill>
                  <a:schemeClr val="tx1"/>
                </a:solidFill>
              </a:rPr>
              <a:t> (170N) Com que força Demerval deve puxar para que o pneu não se nova. A orientação do Sandro não é dada e a força exercida por Demerval aponta no sentido decrescente do eixo y.</a:t>
            </a:r>
            <a:endParaRPr lang="el-GR" altLang="pt-BR" b="0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5524"/>
            <a:ext cx="5912973" cy="307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35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86BAECA-3B7F-4B3C-9196-004A47CBC5C0}"/>
              </a:ext>
            </a:extLst>
          </p:cNvPr>
          <p:cNvSpPr txBox="1"/>
          <p:nvPr/>
        </p:nvSpPr>
        <p:spPr>
          <a:xfrm>
            <a:off x="3434894" y="3105834"/>
            <a:ext cx="2322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Resoluções</a:t>
            </a:r>
          </a:p>
        </p:txBody>
      </p:sp>
    </p:spTree>
    <p:extLst>
      <p:ext uri="{BB962C8B-B14F-4D97-AF65-F5344CB8AC3E}">
        <p14:creationId xmlns:p14="http://schemas.microsoft.com/office/powerpoint/2010/main" val="3994923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"/>
          <p:cNvSpPr>
            <a:spLocks noChangeArrowheads="1"/>
          </p:cNvSpPr>
          <p:nvPr/>
        </p:nvSpPr>
        <p:spPr bwMode="auto">
          <a:xfrm>
            <a:off x="1" y="11292"/>
            <a:ext cx="9144000" cy="11079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01)</a:t>
            </a:r>
            <a:r>
              <a:rPr lang="pt-BR" altLang="pt-BR" sz="1400" b="0" dirty="0">
                <a:solidFill>
                  <a:schemeClr val="tx1"/>
                </a:solidFill>
              </a:rPr>
              <a:t>	Um estudante empurra um trenó carregado, cuja massa m é 240 kg por uma distância d = 2,3 m sobre uma superfície sem atrito de um lago congelado. Ele exerce uma força horizontal de 130 N para deslocar o trenó. Se o trenó parte do repouso, qual será sua velocidade final? 	</a:t>
            </a:r>
            <a:r>
              <a:rPr lang="pt-BR" altLang="pt-BR" dirty="0">
                <a:solidFill>
                  <a:schemeClr val="tx1"/>
                </a:solidFill>
              </a:rPr>
              <a:t>a</a:t>
            </a:r>
            <a:r>
              <a:rPr lang="pt-BR" altLang="pt-BR" b="0" dirty="0">
                <a:solidFill>
                  <a:schemeClr val="tx1"/>
                </a:solidFill>
              </a:rPr>
              <a:t> = </a:t>
            </a:r>
            <a:r>
              <a:rPr lang="pt-BR" altLang="pt-BR" dirty="0">
                <a:solidFill>
                  <a:schemeClr val="tx1"/>
                </a:solidFill>
              </a:rPr>
              <a:t>F</a:t>
            </a:r>
            <a:r>
              <a:rPr lang="pt-BR" altLang="pt-BR" b="0" dirty="0">
                <a:solidFill>
                  <a:schemeClr val="tx1"/>
                </a:solidFill>
              </a:rPr>
              <a:t>/m;</a:t>
            </a:r>
          </a:p>
        </p:txBody>
      </p:sp>
      <p:pic>
        <p:nvPicPr>
          <p:cNvPr id="14339" name="Picture 13" descr="novo-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14"/>
          <a:stretch/>
        </p:blipFill>
        <p:spPr bwMode="auto">
          <a:xfrm>
            <a:off x="20030" y="1110498"/>
            <a:ext cx="3816350" cy="150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1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bIns="0" anchor="ctr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sp>
        <p:nvSpPr>
          <p:cNvPr id="6" name="Retângulo 5"/>
          <p:cNvSpPr/>
          <p:nvPr/>
        </p:nvSpPr>
        <p:spPr>
          <a:xfrm>
            <a:off x="500305" y="3089397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929913" y="3089397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/>
          <p:cNvCxnSpPr/>
          <p:nvPr/>
        </p:nvCxnSpPr>
        <p:spPr>
          <a:xfrm>
            <a:off x="731520" y="3300413"/>
            <a:ext cx="7053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731520" y="2930298"/>
            <a:ext cx="24558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38EDFE-50DA-4CFD-B7AA-DDE9920239F5}"/>
              </a:ext>
            </a:extLst>
          </p:cNvPr>
          <p:cNvSpPr txBox="1"/>
          <p:nvPr/>
        </p:nvSpPr>
        <p:spPr>
          <a:xfrm>
            <a:off x="1285205" y="2617310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 = ∆s = 2,3 m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9F995DE-CC16-418B-B7E1-93245FA5C9AA}"/>
              </a:ext>
            </a:extLst>
          </p:cNvPr>
          <p:cNvCxnSpPr>
            <a:cxnSpLocks/>
          </p:cNvCxnSpPr>
          <p:nvPr/>
        </p:nvCxnSpPr>
        <p:spPr>
          <a:xfrm flipH="1">
            <a:off x="2286000" y="1986420"/>
            <a:ext cx="1619398" cy="669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2A5E2F-1DAA-49F9-B39F-45FBB7DBE65A}"/>
              </a:ext>
            </a:extLst>
          </p:cNvPr>
          <p:cNvSpPr txBox="1"/>
          <p:nvPr/>
        </p:nvSpPr>
        <p:spPr>
          <a:xfrm>
            <a:off x="993664" y="326919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r>
              <a:rPr lang="pt-BR" baseline="-25000" dirty="0"/>
              <a:t>R</a:t>
            </a:r>
            <a:r>
              <a:rPr lang="pt-BR" dirty="0"/>
              <a:t> = 130 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010F98-A72B-4950-990F-862C86C8290C}"/>
              </a:ext>
            </a:extLst>
          </p:cNvPr>
          <p:cNvSpPr txBox="1"/>
          <p:nvPr/>
        </p:nvSpPr>
        <p:spPr>
          <a:xfrm>
            <a:off x="398789" y="3831193"/>
            <a:ext cx="1117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0</a:t>
            </a:r>
            <a:r>
              <a:rPr lang="pt-BR" dirty="0"/>
              <a:t> = 0 m/s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A48B5E-4268-4725-9881-21C3A90F6B36}"/>
              </a:ext>
            </a:extLst>
          </p:cNvPr>
          <p:cNvSpPr txBox="1"/>
          <p:nvPr/>
        </p:nvSpPr>
        <p:spPr>
          <a:xfrm>
            <a:off x="2633651" y="3831193"/>
            <a:ext cx="1117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1</a:t>
            </a:r>
            <a:r>
              <a:rPr lang="pt-BR" dirty="0"/>
              <a:t> = ? m/s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F031BF2-6116-490E-8792-EF4CE11066DC}"/>
              </a:ext>
            </a:extLst>
          </p:cNvPr>
          <p:cNvSpPr txBox="1"/>
          <p:nvPr/>
        </p:nvSpPr>
        <p:spPr>
          <a:xfrm>
            <a:off x="2535513" y="4926758"/>
            <a:ext cx="1243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87B3120-8B18-4411-B923-BF35C7ECC53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157158" y="4246685"/>
            <a:ext cx="3825" cy="680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8">
            <a:extLst>
              <a:ext uri="{FF2B5EF4-FFF2-40B4-BE49-F238E27FC236}">
                <a16:creationId xmlns:a16="http://schemas.microsoft.com/office/drawing/2014/main" id="{2B8FFD16-C125-42CD-B1DD-6FDAEAFDB8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7504" y="1339790"/>
          <a:ext cx="1612199" cy="2298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193760" imgH="1701720" progId="Equation.3">
                  <p:embed/>
                </p:oleObj>
              </mc:Choice>
              <mc:Fallback>
                <p:oleObj name="Equação" r:id="rId3" imgW="1193760" imgH="1701720" progId="Equation.3">
                  <p:embed/>
                  <p:pic>
                    <p:nvPicPr>
                      <p:cNvPr id="22" name="Object 8">
                        <a:extLst>
                          <a:ext uri="{FF2B5EF4-FFF2-40B4-BE49-F238E27FC236}">
                            <a16:creationId xmlns:a16="http://schemas.microsoft.com/office/drawing/2014/main" id="{2B8FFD16-C125-42CD-B1DD-6FDAEAFDB8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504" y="1339790"/>
                        <a:ext cx="1612199" cy="2298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tângulo 19">
            <a:extLst>
              <a:ext uri="{FF2B5EF4-FFF2-40B4-BE49-F238E27FC236}">
                <a16:creationId xmlns:a16="http://schemas.microsoft.com/office/drawing/2014/main" id="{AB07A4F2-23B4-42CF-8E5F-B9EDB42528A6}"/>
              </a:ext>
            </a:extLst>
          </p:cNvPr>
          <p:cNvSpPr/>
          <p:nvPr/>
        </p:nvSpPr>
        <p:spPr>
          <a:xfrm>
            <a:off x="6725393" y="2217419"/>
            <a:ext cx="1836420" cy="335275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4D79653-511A-4AA9-B099-99C5E49D54F1}"/>
              </a:ext>
            </a:extLst>
          </p:cNvPr>
          <p:cNvCxnSpPr/>
          <p:nvPr/>
        </p:nvCxnSpPr>
        <p:spPr>
          <a:xfrm flipH="1">
            <a:off x="6042660" y="2385056"/>
            <a:ext cx="541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B93468E4-C4A7-4007-9F07-8FE9D28DF874}"/>
                  </a:ext>
                </a:extLst>
              </p:cNvPr>
              <p:cNvSpPr txBox="1"/>
              <p:nvPr/>
            </p:nvSpPr>
            <p:spPr bwMode="auto">
              <a:xfrm>
                <a:off x="3905398" y="1339850"/>
                <a:ext cx="2378419" cy="229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:br>
                  <a:rPr lang="pt-B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sup/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br>
                  <a:rPr lang="pt-B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pt-BR" dirty="0"/>
              </a:p>
            </p:txBody>
          </p:sp>
        </mc:Choice>
        <mc:Fallback xmlns=""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B93468E4-C4A7-4007-9F07-8FE9D28DF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5398" y="1339850"/>
                <a:ext cx="2378419" cy="2298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tângulo 30">
            <a:extLst>
              <a:ext uri="{FF2B5EF4-FFF2-40B4-BE49-F238E27FC236}">
                <a16:creationId xmlns:a16="http://schemas.microsoft.com/office/drawing/2014/main" id="{23B35625-5343-45CE-905C-F94DF7C300E8}"/>
              </a:ext>
            </a:extLst>
          </p:cNvPr>
          <p:cNvSpPr/>
          <p:nvPr/>
        </p:nvSpPr>
        <p:spPr>
          <a:xfrm>
            <a:off x="3973715" y="1986420"/>
            <a:ext cx="1836420" cy="398636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5AA43FF4-866A-4190-9C80-795F22C64BEC}"/>
              </a:ext>
            </a:extLst>
          </p:cNvPr>
          <p:cNvCxnSpPr>
            <a:cxnSpLocks/>
          </p:cNvCxnSpPr>
          <p:nvPr/>
        </p:nvCxnSpPr>
        <p:spPr>
          <a:xfrm flipH="1">
            <a:off x="5801097" y="2465536"/>
            <a:ext cx="9038" cy="1954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8">
                <a:extLst>
                  <a:ext uri="{FF2B5EF4-FFF2-40B4-BE49-F238E27FC236}">
                    <a16:creationId xmlns:a16="http://schemas.microsoft.com/office/drawing/2014/main" id="{24E44074-9CA3-400A-88A2-BFE6C3133E9B}"/>
                  </a:ext>
                </a:extLst>
              </p:cNvPr>
              <p:cNvSpPr txBox="1"/>
              <p:nvPr/>
            </p:nvSpPr>
            <p:spPr bwMode="auto">
              <a:xfrm>
                <a:off x="3973512" y="2709862"/>
                <a:ext cx="2015807" cy="12449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b="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130</m:t>
                        </m:r>
                      </m:num>
                      <m:den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</m:oMath>
                </a14:m>
                <a:endParaRPr lang="pt-BR" dirty="0">
                  <a:solidFill>
                    <a:srgbClr val="000000"/>
                  </a:solidFill>
                </a:endParaRPr>
              </a:p>
              <a:p>
                <a:endParaRPr lang="pt-BR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b="0" dirty="0">
                    <a:solidFill>
                      <a:srgbClr val="000000"/>
                    </a:solidFill>
                  </a:rPr>
                  <a:t>0,54 m/s</a:t>
                </a:r>
                <a:r>
                  <a:rPr lang="pt-BR" b="0" baseline="30000" dirty="0">
                    <a:solidFill>
                      <a:srgbClr val="00000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34" name="Object 8">
                <a:extLst>
                  <a:ext uri="{FF2B5EF4-FFF2-40B4-BE49-F238E27FC236}">
                    <a16:creationId xmlns:a16="http://schemas.microsoft.com/office/drawing/2014/main" id="{24E44074-9CA3-400A-88A2-BFE6C3133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3512" y="2709862"/>
                <a:ext cx="2015807" cy="1244917"/>
              </a:xfrm>
              <a:prstGeom prst="rect">
                <a:avLst/>
              </a:prstGeom>
              <a:blipFill>
                <a:blip r:embed="rId6"/>
                <a:stretch>
                  <a:fillRect b="-53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tângulo 40">
            <a:extLst>
              <a:ext uri="{FF2B5EF4-FFF2-40B4-BE49-F238E27FC236}">
                <a16:creationId xmlns:a16="http://schemas.microsoft.com/office/drawing/2014/main" id="{F6EDB138-62E7-4097-B64B-32F2556864E9}"/>
              </a:ext>
            </a:extLst>
          </p:cNvPr>
          <p:cNvSpPr/>
          <p:nvPr/>
        </p:nvSpPr>
        <p:spPr>
          <a:xfrm>
            <a:off x="4026819" y="3544740"/>
            <a:ext cx="1332702" cy="398635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8">
                <a:extLst>
                  <a:ext uri="{FF2B5EF4-FFF2-40B4-BE49-F238E27FC236}">
                    <a16:creationId xmlns:a16="http://schemas.microsoft.com/office/drawing/2014/main" id="{C1F7F113-285F-42C6-96C2-4AED27D8F61E}"/>
                  </a:ext>
                </a:extLst>
              </p:cNvPr>
              <p:cNvSpPr txBox="1"/>
              <p:nvPr/>
            </p:nvSpPr>
            <p:spPr bwMode="auto">
              <a:xfrm>
                <a:off x="4009172" y="4368800"/>
                <a:ext cx="2378419" cy="229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20000"/>
              </a:bodyPr>
              <a:lstStyle/>
              <a:p>
                <a:pPr/>
                <a:br>
                  <a:rPr lang="pt-B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sup/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pt-B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sup/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baseline="30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.0,54.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,3</m:t>
                      </m:r>
                    </m:oMath>
                  </m:oMathPara>
                </a14:m>
                <a:endParaRPr lang="pt-BR" b="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sup/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2,484</m:t>
                      </m:r>
                    </m:oMath>
                  </m:oMathPara>
                </a14:m>
                <a:endParaRPr lang="pt-BR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2,484</m:t>
                          </m:r>
                        </m:e>
                      </m:rad>
                    </m:oMath>
                  </m:oMathPara>
                </a14:m>
                <a:endParaRPr lang="pt-BR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pt-BR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=1,58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br>
                  <a:rPr lang="pt-B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pt-BR" dirty="0"/>
              </a:p>
            </p:txBody>
          </p:sp>
        </mc:Choice>
        <mc:Fallback xmlns="">
          <p:sp>
            <p:nvSpPr>
              <p:cNvPr id="44" name="Object 8">
                <a:extLst>
                  <a:ext uri="{FF2B5EF4-FFF2-40B4-BE49-F238E27FC236}">
                    <a16:creationId xmlns:a16="http://schemas.microsoft.com/office/drawing/2014/main" id="{C1F7F113-285F-42C6-96C2-4AED27D8F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9172" y="4368800"/>
                <a:ext cx="2378419" cy="2298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tângulo 44">
            <a:extLst>
              <a:ext uri="{FF2B5EF4-FFF2-40B4-BE49-F238E27FC236}">
                <a16:creationId xmlns:a16="http://schemas.microsoft.com/office/drawing/2014/main" id="{B0533F16-96A8-4385-9347-6B86DC51F088}"/>
              </a:ext>
            </a:extLst>
          </p:cNvPr>
          <p:cNvSpPr/>
          <p:nvPr/>
        </p:nvSpPr>
        <p:spPr>
          <a:xfrm>
            <a:off x="3836380" y="6268864"/>
            <a:ext cx="1836420" cy="398636"/>
          </a:xfrm>
          <a:prstGeom prst="rect">
            <a:avLst/>
          </a:prstGeom>
          <a:noFill/>
          <a:ln w="28575">
            <a:solidFill>
              <a:srgbClr val="F02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31729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ector de Seta Reta 36"/>
          <p:cNvCxnSpPr/>
          <p:nvPr/>
        </p:nvCxnSpPr>
        <p:spPr>
          <a:xfrm flipH="1">
            <a:off x="7193525" y="1987139"/>
            <a:ext cx="674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7325273" y="167971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endParaRPr lang="pt-BR" baseline="-25000" dirty="0"/>
          </a:p>
        </p:txBody>
      </p:sp>
      <p:cxnSp>
        <p:nvCxnSpPr>
          <p:cNvPr id="34" name="Conector de Seta Reta 33"/>
          <p:cNvCxnSpPr/>
          <p:nvPr/>
        </p:nvCxnSpPr>
        <p:spPr>
          <a:xfrm flipH="1">
            <a:off x="7206990" y="1681111"/>
            <a:ext cx="674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5687464" y="1796928"/>
            <a:ext cx="7476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2" name="Rectangle 5"/>
          <p:cNvSpPr>
            <a:spLocks noChangeArrowheads="1"/>
          </p:cNvSpPr>
          <p:nvPr/>
        </p:nvSpPr>
        <p:spPr bwMode="auto">
          <a:xfrm>
            <a:off x="1" y="32483"/>
            <a:ext cx="9144000" cy="1241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dirty="0">
                <a:solidFill>
                  <a:schemeClr val="tx1"/>
                </a:solidFill>
              </a:rPr>
              <a:t>02)</a:t>
            </a:r>
            <a:r>
              <a:rPr lang="pt-BR" altLang="pt-BR" b="0" dirty="0">
                <a:solidFill>
                  <a:schemeClr val="tx1"/>
                </a:solidFill>
              </a:rPr>
              <a:t>	O estudante do exercício 01 deseja inverter o sentido da velocidade do trenó em 4,5 s. Com que força constante ele deverá empurrar o trenó para que isto ocorra? a = </a:t>
            </a:r>
            <a:r>
              <a:rPr lang="el-GR" altLang="pt-BR" b="0" dirty="0">
                <a:solidFill>
                  <a:schemeClr val="tx1"/>
                </a:solidFill>
                <a:cs typeface="Arial" panose="020B0604020202020204" pitchFamily="34" charset="0"/>
              </a:rPr>
              <a:t>Δ</a:t>
            </a:r>
            <a:r>
              <a:rPr lang="pt-BR" altLang="pt-BR" b="0" dirty="0">
                <a:solidFill>
                  <a:schemeClr val="tx1"/>
                </a:solidFill>
                <a:cs typeface="Arial" panose="020B0604020202020204" pitchFamily="34" charset="0"/>
              </a:rPr>
              <a:t>v/ </a:t>
            </a:r>
            <a:r>
              <a:rPr lang="el-GR" altLang="pt-BR" b="0" dirty="0">
                <a:solidFill>
                  <a:schemeClr val="tx1"/>
                </a:solidFill>
              </a:rPr>
              <a:t>Δ</a:t>
            </a:r>
            <a:r>
              <a:rPr lang="pt-BR" altLang="pt-BR" b="0" dirty="0">
                <a:solidFill>
                  <a:schemeClr val="tx1"/>
                </a:solidFill>
              </a:rPr>
              <a:t>t ou v = v</a:t>
            </a:r>
            <a:r>
              <a:rPr lang="pt-BR" altLang="pt-BR" b="0" baseline="-25000" dirty="0">
                <a:solidFill>
                  <a:schemeClr val="tx1"/>
                </a:solidFill>
              </a:rPr>
              <a:t>0</a:t>
            </a:r>
            <a:r>
              <a:rPr lang="pt-BR" altLang="pt-BR" b="0" dirty="0">
                <a:solidFill>
                  <a:schemeClr val="tx1"/>
                </a:solidFill>
              </a:rPr>
              <a:t> + at.</a:t>
            </a:r>
            <a:endParaRPr lang="el-GR" altLang="pt-BR" b="0" dirty="0">
              <a:solidFill>
                <a:schemeClr val="tx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00305" y="1585913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/>
              <p:cNvSpPr txBox="1"/>
              <p:nvPr/>
            </p:nvSpPr>
            <p:spPr bwMode="auto">
              <a:xfrm>
                <a:off x="156549" y="2245420"/>
                <a:ext cx="1295400" cy="1885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=13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=24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549" y="2245420"/>
                <a:ext cx="1295400" cy="1885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2929913" y="1585913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/>
              <p:cNvSpPr txBox="1"/>
              <p:nvPr/>
            </p:nvSpPr>
            <p:spPr bwMode="auto">
              <a:xfrm>
                <a:off x="2293379" y="2262188"/>
                <a:ext cx="1932472" cy="18875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1,5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=24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3379" y="2262188"/>
                <a:ext cx="1932472" cy="1887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/>
          <p:cNvCxnSpPr/>
          <p:nvPr/>
        </p:nvCxnSpPr>
        <p:spPr>
          <a:xfrm>
            <a:off x="720111" y="1796928"/>
            <a:ext cx="7476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7661814" y="1585913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/>
          <p:cNvCxnSpPr/>
          <p:nvPr/>
        </p:nvCxnSpPr>
        <p:spPr>
          <a:xfrm flipH="1">
            <a:off x="4920405" y="1796928"/>
            <a:ext cx="674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V="1">
            <a:off x="5687464" y="1256463"/>
            <a:ext cx="2061123" cy="2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5467657" y="1569145"/>
            <a:ext cx="439615" cy="4220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/>
          <p:cNvSpPr/>
          <p:nvPr/>
        </p:nvSpPr>
        <p:spPr>
          <a:xfrm>
            <a:off x="3986577" y="1704096"/>
            <a:ext cx="174172" cy="18566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4235094" y="1704096"/>
            <a:ext cx="174172" cy="18566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4483611" y="1704096"/>
            <a:ext cx="174172" cy="18566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5997846" y="135072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2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074016" y="134708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7250698" y="122797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3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4809326" y="844732"/>
            <a:ext cx="3751200" cy="315116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/>
          <p:cNvSpPr txBox="1"/>
          <p:nvPr/>
        </p:nvSpPr>
        <p:spPr>
          <a:xfrm>
            <a:off x="3184652" y="398812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/>
              <a:t>+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A85D3EF1-2FFA-43C2-AE9C-B6474CEC7220}"/>
              </a:ext>
            </a:extLst>
          </p:cNvPr>
          <p:cNvCxnSpPr>
            <a:cxnSpLocks/>
          </p:cNvCxnSpPr>
          <p:nvPr/>
        </p:nvCxnSpPr>
        <p:spPr>
          <a:xfrm flipH="1">
            <a:off x="8384802" y="4056633"/>
            <a:ext cx="566339" cy="505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8">
                <a:extLst>
                  <a:ext uri="{FF2B5EF4-FFF2-40B4-BE49-F238E27FC236}">
                    <a16:creationId xmlns:a16="http://schemas.microsoft.com/office/drawing/2014/main" id="{CCCB310D-BC0C-4FF3-8977-8F52348B7BAD}"/>
                  </a:ext>
                </a:extLst>
              </p:cNvPr>
              <p:cNvSpPr txBox="1"/>
              <p:nvPr/>
            </p:nvSpPr>
            <p:spPr bwMode="auto">
              <a:xfrm>
                <a:off x="4874428" y="2108360"/>
                <a:ext cx="1932472" cy="18875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pt-B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1,5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=24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Object 8">
                <a:extLst>
                  <a:ext uri="{FF2B5EF4-FFF2-40B4-BE49-F238E27FC236}">
                    <a16:creationId xmlns:a16="http://schemas.microsoft.com/office/drawing/2014/main" id="{CCCB310D-BC0C-4FF3-8977-8F52348B7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4428" y="2108360"/>
                <a:ext cx="1932472" cy="1887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8">
                <a:extLst>
                  <a:ext uri="{FF2B5EF4-FFF2-40B4-BE49-F238E27FC236}">
                    <a16:creationId xmlns:a16="http://schemas.microsoft.com/office/drawing/2014/main" id="{C8223FE7-A6B2-4E92-9834-FB9AFEABFC53}"/>
                  </a:ext>
                </a:extLst>
              </p:cNvPr>
              <p:cNvSpPr txBox="1"/>
              <p:nvPr/>
            </p:nvSpPr>
            <p:spPr bwMode="auto">
              <a:xfrm>
                <a:off x="6700025" y="2047875"/>
                <a:ext cx="1932472" cy="18875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pt-B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+4,5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1,5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=24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Object 8">
                <a:extLst>
                  <a:ext uri="{FF2B5EF4-FFF2-40B4-BE49-F238E27FC236}">
                    <a16:creationId xmlns:a16="http://schemas.microsoft.com/office/drawing/2014/main" id="{C8223FE7-A6B2-4E92-9834-FB9AFEABF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0025" y="2047875"/>
                <a:ext cx="1932472" cy="1887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A84DE248-4962-4971-A14C-D9EDD641FBC3}"/>
              </a:ext>
            </a:extLst>
          </p:cNvPr>
          <p:cNvCxnSpPr>
            <a:cxnSpLocks/>
          </p:cNvCxnSpPr>
          <p:nvPr/>
        </p:nvCxnSpPr>
        <p:spPr>
          <a:xfrm flipV="1">
            <a:off x="3088089" y="4059825"/>
            <a:ext cx="4879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8553D82-A900-4FDD-B810-3E9711B7F3E5}"/>
              </a:ext>
            </a:extLst>
          </p:cNvPr>
          <p:cNvSpPr txBox="1"/>
          <p:nvPr/>
        </p:nvSpPr>
        <p:spPr>
          <a:xfrm>
            <a:off x="98466" y="4146108"/>
            <a:ext cx="1519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 F</a:t>
            </a:r>
            <a:r>
              <a:rPr lang="pt-BR" b="1" baseline="-25000" dirty="0">
                <a:solidFill>
                  <a:srgbClr val="FF000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8">
                <a:extLst>
                  <a:ext uri="{FF2B5EF4-FFF2-40B4-BE49-F238E27FC236}">
                    <a16:creationId xmlns:a16="http://schemas.microsoft.com/office/drawing/2014/main" id="{42C266B1-EF4E-4C2B-9AA2-9A38FB0CB0B5}"/>
                  </a:ext>
                </a:extLst>
              </p:cNvPr>
              <p:cNvSpPr txBox="1"/>
              <p:nvPr/>
            </p:nvSpPr>
            <p:spPr bwMode="auto">
              <a:xfrm>
                <a:off x="98466" y="4587364"/>
                <a:ext cx="2908894" cy="1427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dirty="0">
                  <a:solidFill>
                    <a:srgbClr val="000000"/>
                  </a:solidFill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240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−0,7</m:t>
                          </m:r>
                        </m:e>
                      </m:d>
                    </m:oMath>
                  </m:oMathPara>
                </a14:m>
                <a:endParaRPr lang="pt-BR" b="0" dirty="0">
                  <a:solidFill>
                    <a:srgbClr val="000000"/>
                  </a:solidFill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−168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Object 8">
                <a:extLst>
                  <a:ext uri="{FF2B5EF4-FFF2-40B4-BE49-F238E27FC236}">
                    <a16:creationId xmlns:a16="http://schemas.microsoft.com/office/drawing/2014/main" id="{42C266B1-EF4E-4C2B-9AA2-9A38FB0CB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466" y="4587364"/>
                <a:ext cx="2908894" cy="14273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tângulo 45">
            <a:extLst>
              <a:ext uri="{FF2B5EF4-FFF2-40B4-BE49-F238E27FC236}">
                <a16:creationId xmlns:a16="http://schemas.microsoft.com/office/drawing/2014/main" id="{6FE30793-29A8-44E8-9472-61E649A5F23A}"/>
              </a:ext>
            </a:extLst>
          </p:cNvPr>
          <p:cNvSpPr/>
          <p:nvPr/>
        </p:nvSpPr>
        <p:spPr>
          <a:xfrm>
            <a:off x="1309880" y="4594795"/>
            <a:ext cx="1190889" cy="411828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8">
                <a:extLst>
                  <a:ext uri="{FF2B5EF4-FFF2-40B4-BE49-F238E27FC236}">
                    <a16:creationId xmlns:a16="http://schemas.microsoft.com/office/drawing/2014/main" id="{51A1A0AE-553C-4E78-9E0F-B823E5173784}"/>
                  </a:ext>
                </a:extLst>
              </p:cNvPr>
              <p:cNvSpPr txBox="1"/>
              <p:nvPr/>
            </p:nvSpPr>
            <p:spPr bwMode="auto">
              <a:xfrm>
                <a:off x="2892198" y="4452663"/>
                <a:ext cx="2537101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Object 8">
                <a:extLst>
                  <a:ext uri="{FF2B5EF4-FFF2-40B4-BE49-F238E27FC236}">
                    <a16:creationId xmlns:a16="http://schemas.microsoft.com/office/drawing/2014/main" id="{51A1A0AE-553C-4E78-9E0F-B823E5173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2198" y="4452663"/>
                <a:ext cx="2537101" cy="7699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tângulo 49">
            <a:extLst>
              <a:ext uri="{FF2B5EF4-FFF2-40B4-BE49-F238E27FC236}">
                <a16:creationId xmlns:a16="http://schemas.microsoft.com/office/drawing/2014/main" id="{A84D2548-D758-409C-B964-8133390057FA}"/>
              </a:ext>
            </a:extLst>
          </p:cNvPr>
          <p:cNvSpPr/>
          <p:nvPr/>
        </p:nvSpPr>
        <p:spPr>
          <a:xfrm>
            <a:off x="3975252" y="4468659"/>
            <a:ext cx="1190889" cy="662183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8">
                <a:extLst>
                  <a:ext uri="{FF2B5EF4-FFF2-40B4-BE49-F238E27FC236}">
                    <a16:creationId xmlns:a16="http://schemas.microsoft.com/office/drawing/2014/main" id="{B87FCB1E-CF59-4125-82EA-E8E572F3E113}"/>
                  </a:ext>
                </a:extLst>
              </p:cNvPr>
              <p:cNvSpPr txBox="1"/>
              <p:nvPr/>
            </p:nvSpPr>
            <p:spPr bwMode="auto">
              <a:xfrm>
                <a:off x="5429299" y="4454170"/>
                <a:ext cx="3360071" cy="21272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→3</m:t>
                              </m:r>
                            </m:sub>
                          </m:sSub>
                        </m:den>
                      </m:f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1,58−</m:t>
                          </m:r>
                          <m: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,58</m:t>
                          </m:r>
                        </m:num>
                        <m:den>
                          <m: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+4,5)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3,16</m:t>
                        </m:r>
                      </m:num>
                      <m:den>
                        <m: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,5</m:t>
                        </m:r>
                      </m:den>
                    </m:f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−0,7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b="0" i="1" baseline="30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pt-BR" baseline="3000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51" name="Object 8">
                <a:extLst>
                  <a:ext uri="{FF2B5EF4-FFF2-40B4-BE49-F238E27FC236}">
                    <a16:creationId xmlns:a16="http://schemas.microsoft.com/office/drawing/2014/main" id="{B87FCB1E-CF59-4125-82EA-E8E572F3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9299" y="4454170"/>
                <a:ext cx="3360071" cy="2127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tângulo 51">
            <a:extLst>
              <a:ext uri="{FF2B5EF4-FFF2-40B4-BE49-F238E27FC236}">
                <a16:creationId xmlns:a16="http://schemas.microsoft.com/office/drawing/2014/main" id="{3CB7C619-4FB5-4FAF-BC18-8C8DA1B4577D}"/>
              </a:ext>
            </a:extLst>
          </p:cNvPr>
          <p:cNvSpPr/>
          <p:nvPr/>
        </p:nvSpPr>
        <p:spPr>
          <a:xfrm>
            <a:off x="6684926" y="6158774"/>
            <a:ext cx="1591808" cy="392912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5A43A22F-8232-409F-BD39-BFE050EE59E1}"/>
              </a:ext>
            </a:extLst>
          </p:cNvPr>
          <p:cNvSpPr/>
          <p:nvPr/>
        </p:nvSpPr>
        <p:spPr>
          <a:xfrm>
            <a:off x="156549" y="5610795"/>
            <a:ext cx="1295400" cy="41182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469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"/>
          <p:cNvSpPr>
            <a:spLocks noChangeArrowheads="1"/>
          </p:cNvSpPr>
          <p:nvPr/>
        </p:nvSpPr>
        <p:spPr bwMode="auto">
          <a:xfrm>
            <a:off x="0" y="6106"/>
            <a:ext cx="9144000" cy="12988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03)</a:t>
            </a:r>
            <a:r>
              <a:rPr lang="pt-BR" altLang="pt-BR" sz="1400" b="0" dirty="0">
                <a:solidFill>
                  <a:schemeClr val="tx1"/>
                </a:solidFill>
              </a:rPr>
              <a:t>	Uma carga de massa igual a 360 kg está na carroceria de um caminhão que se move com velocidade v</a:t>
            </a:r>
            <a:r>
              <a:rPr lang="pt-BR" altLang="pt-BR" sz="1400" b="0" baseline="-25000" dirty="0">
                <a:solidFill>
                  <a:schemeClr val="tx1"/>
                </a:solidFill>
              </a:rPr>
              <a:t>0</a:t>
            </a:r>
            <a:r>
              <a:rPr lang="pt-BR" altLang="pt-BR" sz="1400" b="0" dirty="0">
                <a:solidFill>
                  <a:schemeClr val="tx1"/>
                </a:solidFill>
              </a:rPr>
              <a:t> de 120 km/h. O motorista aciona os freios e reduz a velocidade para 62 km/h em 17s. Que força (supostamente constante) agiu sobre a carga durante este intervalo de tempo? Suponha que a carga não tenha escorregado na carroceria do caminhão. a = </a:t>
            </a:r>
            <a:r>
              <a:rPr lang="el-GR" altLang="pt-BR" sz="1400" b="0" dirty="0">
                <a:solidFill>
                  <a:schemeClr val="tx1"/>
                </a:solidFill>
              </a:rPr>
              <a:t>Δ</a:t>
            </a:r>
            <a:r>
              <a:rPr lang="pt-BR" altLang="pt-BR" sz="1400" b="0" dirty="0">
                <a:solidFill>
                  <a:schemeClr val="tx1"/>
                </a:solidFill>
              </a:rPr>
              <a:t>v/ </a:t>
            </a:r>
            <a:r>
              <a:rPr lang="el-GR" altLang="pt-BR" sz="1400" b="0" dirty="0">
                <a:solidFill>
                  <a:schemeClr val="tx1"/>
                </a:solidFill>
              </a:rPr>
              <a:t>Δ</a:t>
            </a:r>
            <a:r>
              <a:rPr lang="pt-BR" altLang="pt-BR" sz="1400" b="0" dirty="0">
                <a:solidFill>
                  <a:schemeClr val="tx1"/>
                </a:solidFill>
              </a:rPr>
              <a:t>t ou v = v</a:t>
            </a:r>
            <a:r>
              <a:rPr lang="pt-BR" altLang="pt-BR" sz="1400" b="0" baseline="-25000" dirty="0">
                <a:solidFill>
                  <a:schemeClr val="tx1"/>
                </a:solidFill>
              </a:rPr>
              <a:t>0</a:t>
            </a:r>
            <a:r>
              <a:rPr lang="pt-BR" altLang="pt-BR" sz="1400" b="0" dirty="0">
                <a:solidFill>
                  <a:schemeClr val="tx1"/>
                </a:solidFill>
              </a:rPr>
              <a:t> + at.</a:t>
            </a:r>
            <a:endParaRPr lang="el-GR" altLang="pt-BR" sz="1400" b="0" dirty="0">
              <a:solidFill>
                <a:schemeClr val="tx1"/>
              </a:solidFill>
            </a:endParaRPr>
          </a:p>
        </p:txBody>
      </p:sp>
      <p:pic>
        <p:nvPicPr>
          <p:cNvPr id="16387" name="Picture 11" descr="novo-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1" y="1408967"/>
            <a:ext cx="3415456" cy="202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489707" y="1993394"/>
            <a:ext cx="677007" cy="518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489707" y="1465303"/>
            <a:ext cx="711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Carga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38744" y="1993394"/>
            <a:ext cx="677007" cy="518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538744" y="1465303"/>
            <a:ext cx="711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Carga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3901440" y="2252767"/>
            <a:ext cx="943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061533" y="191482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200846" y="1852202"/>
            <a:ext cx="2337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FA01C52-14B5-4CFD-B0A3-9924B20FCFD7}"/>
              </a:ext>
            </a:extLst>
          </p:cNvPr>
          <p:cNvCxnSpPr>
            <a:cxnSpLocks/>
          </p:cNvCxnSpPr>
          <p:nvPr/>
        </p:nvCxnSpPr>
        <p:spPr>
          <a:xfrm flipH="1">
            <a:off x="6369796" y="2512140"/>
            <a:ext cx="193842" cy="5179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C38DF4-D8A6-4196-A2AD-2E43DB852F88}"/>
              </a:ext>
            </a:extLst>
          </p:cNvPr>
          <p:cNvSpPr txBox="1"/>
          <p:nvPr/>
        </p:nvSpPr>
        <p:spPr>
          <a:xfrm>
            <a:off x="107951" y="3833446"/>
            <a:ext cx="14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472C416E-15F1-4114-9636-366788041264}"/>
                  </a:ext>
                </a:extLst>
              </p:cNvPr>
              <p:cNvSpPr txBox="1"/>
              <p:nvPr/>
            </p:nvSpPr>
            <p:spPr bwMode="auto">
              <a:xfrm>
                <a:off x="107951" y="4336284"/>
                <a:ext cx="2537101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472C416E-15F1-4114-9636-366788041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1" y="4336284"/>
                <a:ext cx="2537101" cy="769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140EE957-FDC0-4C5A-BB51-30C8BB803158}"/>
              </a:ext>
            </a:extLst>
          </p:cNvPr>
          <p:cNvCxnSpPr>
            <a:cxnSpLocks/>
          </p:cNvCxnSpPr>
          <p:nvPr/>
        </p:nvCxnSpPr>
        <p:spPr>
          <a:xfrm flipV="1">
            <a:off x="397600" y="4715428"/>
            <a:ext cx="277462" cy="5243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D69F448-41E4-4104-96AF-E7E842407664}"/>
              </a:ext>
            </a:extLst>
          </p:cNvPr>
          <p:cNvSpPr txBox="1"/>
          <p:nvPr/>
        </p:nvSpPr>
        <p:spPr>
          <a:xfrm>
            <a:off x="-3312" y="530071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360 kg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EE538499-F48E-4E47-B998-18D7684CBDD3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1074028" y="4666609"/>
            <a:ext cx="302474" cy="439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800CE43-5AF2-4845-BA7E-A36A72552848}"/>
              </a:ext>
            </a:extLst>
          </p:cNvPr>
          <p:cNvSpPr txBox="1"/>
          <p:nvPr/>
        </p:nvSpPr>
        <p:spPr>
          <a:xfrm>
            <a:off x="1310686" y="5100205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8">
                <a:extLst>
                  <a:ext uri="{FF2B5EF4-FFF2-40B4-BE49-F238E27FC236}">
                    <a16:creationId xmlns:a16="http://schemas.microsoft.com/office/drawing/2014/main" id="{D99DDFCA-D72C-4CFC-A69D-B604B1594E0D}"/>
                  </a:ext>
                </a:extLst>
              </p:cNvPr>
              <p:cNvSpPr txBox="1"/>
              <p:nvPr/>
            </p:nvSpPr>
            <p:spPr bwMode="auto">
              <a:xfrm>
                <a:off x="2442694" y="3591983"/>
                <a:ext cx="3074186" cy="15082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16,11</m:t>
                        </m:r>
                      </m:num>
                      <m:den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-0,95 m/s2</a:t>
                </a:r>
              </a:p>
            </p:txBody>
          </p:sp>
        </mc:Choice>
        <mc:Fallback xmlns="">
          <p:sp>
            <p:nvSpPr>
              <p:cNvPr id="24" name="Object 8">
                <a:extLst>
                  <a:ext uri="{FF2B5EF4-FFF2-40B4-BE49-F238E27FC236}">
                    <a16:creationId xmlns:a16="http://schemas.microsoft.com/office/drawing/2014/main" id="{D99DDFCA-D72C-4CFC-A69D-B604B1594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2694" y="3591983"/>
                <a:ext cx="3074186" cy="15082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8">
                <a:extLst>
                  <a:ext uri="{FF2B5EF4-FFF2-40B4-BE49-F238E27FC236}">
                    <a16:creationId xmlns:a16="http://schemas.microsoft.com/office/drawing/2014/main" id="{ABF875F9-F42C-4735-84CF-CBCFC6B47749}"/>
                  </a:ext>
                </a:extLst>
              </p:cNvPr>
              <p:cNvSpPr txBox="1"/>
              <p:nvPr/>
            </p:nvSpPr>
            <p:spPr bwMode="auto">
              <a:xfrm>
                <a:off x="6157257" y="3047697"/>
                <a:ext cx="2537101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=17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5" name="Object 8">
                <a:extLst>
                  <a:ext uri="{FF2B5EF4-FFF2-40B4-BE49-F238E27FC236}">
                    <a16:creationId xmlns:a16="http://schemas.microsoft.com/office/drawing/2014/main" id="{ABF875F9-F42C-4735-84CF-CBCFC6B47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7257" y="3047697"/>
                <a:ext cx="2537101" cy="7699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8">
                <a:extLst>
                  <a:ext uri="{FF2B5EF4-FFF2-40B4-BE49-F238E27FC236}">
                    <a16:creationId xmlns:a16="http://schemas.microsoft.com/office/drawing/2014/main" id="{C526B433-5A5C-4745-99DF-99514D9546F8}"/>
                  </a:ext>
                </a:extLst>
              </p:cNvPr>
              <p:cNvSpPr txBox="1"/>
              <p:nvPr/>
            </p:nvSpPr>
            <p:spPr bwMode="auto">
              <a:xfrm>
                <a:off x="5848168" y="4854768"/>
                <a:ext cx="3270203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=17,22 −33,33</m:t>
                      </m:r>
                    </m:oMath>
                  </m:oMathPara>
                </a14:m>
                <a:endParaRPr lang="pt-BR" b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=−16,11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7" name="Object 8">
                <a:extLst>
                  <a:ext uri="{FF2B5EF4-FFF2-40B4-BE49-F238E27FC236}">
                    <a16:creationId xmlns:a16="http://schemas.microsoft.com/office/drawing/2014/main" id="{C526B433-5A5C-4745-99DF-99514D954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8168" y="4854768"/>
                <a:ext cx="3270203" cy="7699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6487E893-69A2-4CE6-BE79-0F71F724B0DD}"/>
                  </a:ext>
                </a:extLst>
              </p:cNvPr>
              <p:cNvSpPr txBox="1"/>
              <p:nvPr/>
            </p:nvSpPr>
            <p:spPr bwMode="auto">
              <a:xfrm>
                <a:off x="5848167" y="4173412"/>
                <a:ext cx="3225774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= 120 km/h = 33,33 m/s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pt-BR" dirty="0"/>
                  <a:t> = 62 km/h   = 17,22 m/s</a:t>
                </a:r>
              </a:p>
            </p:txBody>
          </p:sp>
        </mc:Choice>
        <mc:Fallback xmlns=""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6487E893-69A2-4CE6-BE79-0F71F724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8167" y="4173412"/>
                <a:ext cx="3225774" cy="769957"/>
              </a:xfrm>
              <a:prstGeom prst="rect">
                <a:avLst/>
              </a:prstGeom>
              <a:blipFill>
                <a:blip r:embed="rId7"/>
                <a:stretch>
                  <a:fillRect t="-47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8">
                <a:extLst>
                  <a:ext uri="{FF2B5EF4-FFF2-40B4-BE49-F238E27FC236}">
                    <a16:creationId xmlns:a16="http://schemas.microsoft.com/office/drawing/2014/main" id="{22C61D4D-10D3-4059-880C-9B5226E8289B}"/>
                  </a:ext>
                </a:extLst>
              </p:cNvPr>
              <p:cNvSpPr txBox="1"/>
              <p:nvPr/>
            </p:nvSpPr>
            <p:spPr bwMode="auto">
              <a:xfrm>
                <a:off x="7025629" y="3703603"/>
                <a:ext cx="1452662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÷3,6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9" name="Object 8">
                <a:extLst>
                  <a:ext uri="{FF2B5EF4-FFF2-40B4-BE49-F238E27FC236}">
                    <a16:creationId xmlns:a16="http://schemas.microsoft.com/office/drawing/2014/main" id="{22C61D4D-10D3-4059-880C-9B5226E82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5629" y="3703603"/>
                <a:ext cx="1452662" cy="7699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4121003C-486D-458C-8EB4-10D8E8596F82}"/>
              </a:ext>
            </a:extLst>
          </p:cNvPr>
          <p:cNvCxnSpPr/>
          <p:nvPr/>
        </p:nvCxnSpPr>
        <p:spPr>
          <a:xfrm>
            <a:off x="7353579" y="4088581"/>
            <a:ext cx="0" cy="201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7A7BBBC8-1615-486A-AA78-70C4A402614E}"/>
              </a:ext>
            </a:extLst>
          </p:cNvPr>
          <p:cNvSpPr/>
          <p:nvPr/>
        </p:nvSpPr>
        <p:spPr>
          <a:xfrm>
            <a:off x="5848168" y="5193792"/>
            <a:ext cx="1983947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F626B8A-13BC-41F1-9A42-F906C878BBF5}"/>
              </a:ext>
            </a:extLst>
          </p:cNvPr>
          <p:cNvSpPr/>
          <p:nvPr/>
        </p:nvSpPr>
        <p:spPr>
          <a:xfrm>
            <a:off x="3740772" y="4473560"/>
            <a:ext cx="1511745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7FE63484-25A8-47A0-8966-DD810F35977F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1602754" y="4819009"/>
            <a:ext cx="2093588" cy="465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8">
                <a:extLst>
                  <a:ext uri="{FF2B5EF4-FFF2-40B4-BE49-F238E27FC236}">
                    <a16:creationId xmlns:a16="http://schemas.microsoft.com/office/drawing/2014/main" id="{45C2E037-E938-4522-9AB4-E9819DB39F7A}"/>
                  </a:ext>
                </a:extLst>
              </p:cNvPr>
              <p:cNvSpPr txBox="1"/>
              <p:nvPr/>
            </p:nvSpPr>
            <p:spPr bwMode="auto">
              <a:xfrm>
                <a:off x="107951" y="5997833"/>
                <a:ext cx="2537101" cy="7699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=360.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−0,95</m:t>
                          </m:r>
                        </m:e>
                      </m:d>
                    </m:oMath>
                  </m:oMathPara>
                </a14:m>
                <a:endParaRPr lang="pt-BR" b="0" dirty="0">
                  <a:solidFill>
                    <a:srgbClr val="000000"/>
                  </a:solidFill>
                </a:endParaRPr>
              </a:p>
              <a:p>
                <a:endParaRPr lang="pt-BR" b="0" dirty="0">
                  <a:solidFill>
                    <a:srgbClr val="000000"/>
                  </a:solidFill>
                </a:endParaRPr>
              </a:p>
              <a:p>
                <a:r>
                  <a:rPr lang="pt-BR" dirty="0">
                    <a:solidFill>
                      <a:srgbClr val="000000"/>
                    </a:solidFill>
                  </a:rPr>
                  <a:t>F = -342N</a:t>
                </a:r>
                <a:endParaRPr lang="pt-BR" b="0" dirty="0">
                  <a:solidFill>
                    <a:srgbClr val="000000"/>
                  </a:solidFill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7" name="Object 8">
                <a:extLst>
                  <a:ext uri="{FF2B5EF4-FFF2-40B4-BE49-F238E27FC236}">
                    <a16:creationId xmlns:a16="http://schemas.microsoft.com/office/drawing/2014/main" id="{45C2E037-E938-4522-9AB4-E9819DB39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1" y="5997833"/>
                <a:ext cx="2537101" cy="769957"/>
              </a:xfrm>
              <a:prstGeom prst="rect">
                <a:avLst/>
              </a:prstGeom>
              <a:blipFill>
                <a:blip r:embed="rId9"/>
                <a:stretch>
                  <a:fillRect l="-1683" b="-11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tângulo 37">
            <a:extLst>
              <a:ext uri="{FF2B5EF4-FFF2-40B4-BE49-F238E27FC236}">
                <a16:creationId xmlns:a16="http://schemas.microsoft.com/office/drawing/2014/main" id="{B29B5AC2-40F7-49E9-9B99-5103D225BAFF}"/>
              </a:ext>
            </a:extLst>
          </p:cNvPr>
          <p:cNvSpPr/>
          <p:nvPr/>
        </p:nvSpPr>
        <p:spPr>
          <a:xfrm>
            <a:off x="91009" y="6401389"/>
            <a:ext cx="1219677" cy="366571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FB2B2D0D-D917-414C-8C56-6A37D2A75085}"/>
              </a:ext>
            </a:extLst>
          </p:cNvPr>
          <p:cNvCxnSpPr>
            <a:cxnSpLocks/>
          </p:cNvCxnSpPr>
          <p:nvPr/>
        </p:nvCxnSpPr>
        <p:spPr>
          <a:xfrm>
            <a:off x="3997765" y="3071099"/>
            <a:ext cx="9628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88" name="CaixaDeTexto 16387">
            <a:extLst>
              <a:ext uri="{FF2B5EF4-FFF2-40B4-BE49-F238E27FC236}">
                <a16:creationId xmlns:a16="http://schemas.microsoft.com/office/drawing/2014/main" id="{7FF696AD-BAC9-4443-8D34-D1561CBC558C}"/>
              </a:ext>
            </a:extLst>
          </p:cNvPr>
          <p:cNvSpPr txBox="1"/>
          <p:nvPr/>
        </p:nvSpPr>
        <p:spPr>
          <a:xfrm>
            <a:off x="4355482" y="27650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173241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BB07E3B9-02F9-47AC-83B1-37643E5302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1559" y="496633"/>
          <a:ext cx="3279531" cy="391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5112134" imgH="6105175" progId="CorelDraw.Graphic.18">
                  <p:embed/>
                </p:oleObj>
              </mc:Choice>
              <mc:Fallback>
                <p:oleObj name="CorelDRAW" r:id="rId2" imgW="5112134" imgH="6105175" progId="CorelDraw.Graphic.18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BB07E3B9-02F9-47AC-83B1-37643E5302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1559" y="496633"/>
                        <a:ext cx="3279531" cy="3917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57403000-FF4A-40C8-9379-8E118767F508}"/>
              </a:ext>
            </a:extLst>
          </p:cNvPr>
          <p:cNvSpPr txBox="1"/>
          <p:nvPr/>
        </p:nvSpPr>
        <p:spPr>
          <a:xfrm>
            <a:off x="0" y="3505441"/>
            <a:ext cx="44805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Como queremos uma força que está toda alinhada com o eixo y, e portanto possui apenas componente em y, começaremos estudando o equilíbrio de forças em y: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10421C-9208-4DCA-9BE0-7A771D8C524A}"/>
              </a:ext>
            </a:extLst>
          </p:cNvPr>
          <p:cNvSpPr txBox="1"/>
          <p:nvPr/>
        </p:nvSpPr>
        <p:spPr>
          <a:xfrm>
            <a:off x="6200" y="4306479"/>
            <a:ext cx="1526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Soma das forças</a:t>
            </a:r>
          </a:p>
          <a:p>
            <a:pPr algn="ctr"/>
            <a:r>
              <a:rPr lang="pt-BR" sz="1600" dirty="0"/>
              <a:t>para cima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AE6E05-6E36-424C-A7C4-10C99F9F418C}"/>
              </a:ext>
            </a:extLst>
          </p:cNvPr>
          <p:cNvSpPr txBox="1"/>
          <p:nvPr/>
        </p:nvSpPr>
        <p:spPr>
          <a:xfrm>
            <a:off x="1521755" y="447575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=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B078CB-AA10-4533-9940-699B7025BFD1}"/>
              </a:ext>
            </a:extLst>
          </p:cNvPr>
          <p:cNvSpPr txBox="1"/>
          <p:nvPr/>
        </p:nvSpPr>
        <p:spPr>
          <a:xfrm>
            <a:off x="1809013" y="4331430"/>
            <a:ext cx="1526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Soma das forças</a:t>
            </a:r>
          </a:p>
          <a:p>
            <a:pPr algn="ctr"/>
            <a:r>
              <a:rPr lang="pt-BR" sz="1600" dirty="0"/>
              <a:t>para baixo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F3D0634C-B704-45FB-8573-9F14F2A65FA4}"/>
                  </a:ext>
                </a:extLst>
              </p:cNvPr>
              <p:cNvSpPr txBox="1"/>
              <p:nvPr/>
            </p:nvSpPr>
            <p:spPr bwMode="auto">
              <a:xfrm>
                <a:off x="472799" y="4916205"/>
                <a:ext cx="3661565" cy="19417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60,6+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𝑠𝑒𝑛𝑑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.170=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160,6</m:t>
                      </m:r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(28,36).170</m:t>
                      </m:r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160,6</m:t>
                      </m:r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0,48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.170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242,2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F3D0634C-B704-45FB-8573-9F14F2A65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99" y="4916205"/>
                <a:ext cx="3661565" cy="19417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8">
                <a:extLst>
                  <a:ext uri="{FF2B5EF4-FFF2-40B4-BE49-F238E27FC236}">
                    <a16:creationId xmlns:a16="http://schemas.microsoft.com/office/drawing/2014/main" id="{90E9B24B-55AF-4F93-AFA5-E856840CA186}"/>
                  </a:ext>
                </a:extLst>
              </p:cNvPr>
              <p:cNvSpPr txBox="1"/>
              <p:nvPr/>
            </p:nvSpPr>
            <p:spPr bwMode="auto">
              <a:xfrm>
                <a:off x="6200" y="130761"/>
                <a:ext cx="2670965" cy="12375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𝑠𝑒𝑛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h𝑖𝑝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→0,73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=0,73.</m:t>
                    </m:r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0,73.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220</m:t>
                    </m:r>
                  </m:oMath>
                </a14:m>
                <a:endParaRPr lang="pt-BR" b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=160,6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Object 8">
                <a:extLst>
                  <a:ext uri="{FF2B5EF4-FFF2-40B4-BE49-F238E27FC236}">
                    <a16:creationId xmlns:a16="http://schemas.microsoft.com/office/drawing/2014/main" id="{90E9B24B-55AF-4F93-AFA5-E856840CA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00" y="130761"/>
                <a:ext cx="2670965" cy="1237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CC267CBD-1A8A-4637-BBDE-48F755F4B5F7}"/>
              </a:ext>
            </a:extLst>
          </p:cNvPr>
          <p:cNvCxnSpPr>
            <a:cxnSpLocks/>
          </p:cNvCxnSpPr>
          <p:nvPr/>
        </p:nvCxnSpPr>
        <p:spPr>
          <a:xfrm flipH="1" flipV="1">
            <a:off x="2022232" y="1010789"/>
            <a:ext cx="1397976" cy="502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5F30EB15-0899-4BDA-BE48-EE8C746B4F04}"/>
              </a:ext>
            </a:extLst>
          </p:cNvPr>
          <p:cNvCxnSpPr>
            <a:cxnSpLocks/>
          </p:cNvCxnSpPr>
          <p:nvPr/>
        </p:nvCxnSpPr>
        <p:spPr>
          <a:xfrm flipV="1">
            <a:off x="4475631" y="748518"/>
            <a:ext cx="1256954" cy="1335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8">
                <a:extLst>
                  <a:ext uri="{FF2B5EF4-FFF2-40B4-BE49-F238E27FC236}">
                    <a16:creationId xmlns:a16="http://schemas.microsoft.com/office/drawing/2014/main" id="{3D665B76-9A82-40FB-824F-875EE042D46C}"/>
                  </a:ext>
                </a:extLst>
              </p:cNvPr>
              <p:cNvSpPr txBox="1"/>
              <p:nvPr/>
            </p:nvSpPr>
            <p:spPr bwMode="auto">
              <a:xfrm>
                <a:off x="5833604" y="129727"/>
                <a:ext cx="3047539" cy="12375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𝑠𝑒𝑛𝑑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h𝑖𝑝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𝑠𝑒𝑛𝑑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𝑠𝑒𝑛𝑑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𝑠𝑒𝑛𝑑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.170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1" name="Object 8">
                <a:extLst>
                  <a:ext uri="{FF2B5EF4-FFF2-40B4-BE49-F238E27FC236}">
                    <a16:creationId xmlns:a16="http://schemas.microsoft.com/office/drawing/2014/main" id="{3D665B76-9A82-40FB-824F-875EE042D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3604" y="129727"/>
                <a:ext cx="3047539" cy="12375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tângulo 31">
            <a:extLst>
              <a:ext uri="{FF2B5EF4-FFF2-40B4-BE49-F238E27FC236}">
                <a16:creationId xmlns:a16="http://schemas.microsoft.com/office/drawing/2014/main" id="{36E5605A-7302-41F9-9284-32464F574543}"/>
              </a:ext>
            </a:extLst>
          </p:cNvPr>
          <p:cNvSpPr/>
          <p:nvPr/>
        </p:nvSpPr>
        <p:spPr>
          <a:xfrm>
            <a:off x="472799" y="4978579"/>
            <a:ext cx="1983947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126A0B5-EB34-4174-BED8-D4495A5953EA}"/>
              </a:ext>
            </a:extLst>
          </p:cNvPr>
          <p:cNvSpPr/>
          <p:nvPr/>
        </p:nvSpPr>
        <p:spPr>
          <a:xfrm>
            <a:off x="22243" y="985837"/>
            <a:ext cx="1235058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7E98E26-A82A-4EA6-898D-4FBBAF872FA6}"/>
              </a:ext>
            </a:extLst>
          </p:cNvPr>
          <p:cNvSpPr/>
          <p:nvPr/>
        </p:nvSpPr>
        <p:spPr>
          <a:xfrm>
            <a:off x="7357372" y="776218"/>
            <a:ext cx="1422241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C2FCEE0-4982-4261-B264-10F332A0BFD7}"/>
              </a:ext>
            </a:extLst>
          </p:cNvPr>
          <p:cNvSpPr txBox="1"/>
          <p:nvPr/>
        </p:nvSpPr>
        <p:spPr>
          <a:xfrm>
            <a:off x="4882661" y="3129973"/>
            <a:ext cx="4261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Para tentar encontrar o valor do ângulo d, vamos estudar o equilíbrio de forças em x.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2847B71-EFE3-4033-B385-5BE784FFD9C4}"/>
              </a:ext>
            </a:extLst>
          </p:cNvPr>
          <p:cNvSpPr txBox="1"/>
          <p:nvPr/>
        </p:nvSpPr>
        <p:spPr>
          <a:xfrm>
            <a:off x="5561995" y="3748229"/>
            <a:ext cx="1526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Soma das forças</a:t>
            </a:r>
          </a:p>
          <a:p>
            <a:pPr algn="ctr"/>
            <a:r>
              <a:rPr lang="pt-BR" sz="1600" dirty="0"/>
              <a:t>para a esquerda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01996FB-4B86-466C-A08B-C2A39D266C1E}"/>
              </a:ext>
            </a:extLst>
          </p:cNvPr>
          <p:cNvSpPr txBox="1"/>
          <p:nvPr/>
        </p:nvSpPr>
        <p:spPr>
          <a:xfrm>
            <a:off x="7077550" y="391750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=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8C8F6FA-F52C-44F2-AAC7-1DBE19B29F26}"/>
              </a:ext>
            </a:extLst>
          </p:cNvPr>
          <p:cNvSpPr txBox="1"/>
          <p:nvPr/>
        </p:nvSpPr>
        <p:spPr>
          <a:xfrm>
            <a:off x="7364808" y="3773180"/>
            <a:ext cx="1526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Soma das forças</a:t>
            </a:r>
          </a:p>
          <a:p>
            <a:pPr algn="ctr"/>
            <a:r>
              <a:rPr lang="pt-BR" sz="1600" dirty="0"/>
              <a:t>para a direita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8">
                <a:extLst>
                  <a:ext uri="{FF2B5EF4-FFF2-40B4-BE49-F238E27FC236}">
                    <a16:creationId xmlns:a16="http://schemas.microsoft.com/office/drawing/2014/main" id="{F531B0DC-5244-4203-97B0-092178A5BC75}"/>
                  </a:ext>
                </a:extLst>
              </p:cNvPr>
              <p:cNvSpPr txBox="1"/>
              <p:nvPr/>
            </p:nvSpPr>
            <p:spPr bwMode="auto">
              <a:xfrm>
                <a:off x="6623799" y="4304798"/>
                <a:ext cx="2047402" cy="17124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49,6=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𝑜𝑠𝑑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.170</m:t>
                      </m:r>
                    </m:oMath>
                  </m:oMathPara>
                </a14:m>
                <a:endParaRPr lang="pt-BR" b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𝑜𝑠𝑑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149,6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170</m:t>
                          </m:r>
                        </m:den>
                      </m:f>
                    </m:oMath>
                  </m:oMathPara>
                </a14:m>
                <a:endParaRPr lang="pt-BR" b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𝑜𝑠𝑑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=0,88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3" name="Object 8">
                <a:extLst>
                  <a:ext uri="{FF2B5EF4-FFF2-40B4-BE49-F238E27FC236}">
                    <a16:creationId xmlns:a16="http://schemas.microsoft.com/office/drawing/2014/main" id="{F531B0DC-5244-4203-97B0-092178A5B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3799" y="4304798"/>
                <a:ext cx="2047402" cy="17124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8">
                <a:extLst>
                  <a:ext uri="{FF2B5EF4-FFF2-40B4-BE49-F238E27FC236}">
                    <a16:creationId xmlns:a16="http://schemas.microsoft.com/office/drawing/2014/main" id="{6814B203-20C7-44A1-8DA8-0F85E263886E}"/>
                  </a:ext>
                </a:extLst>
              </p:cNvPr>
              <p:cNvSpPr txBox="1"/>
              <p:nvPr/>
            </p:nvSpPr>
            <p:spPr bwMode="auto">
              <a:xfrm>
                <a:off x="22243" y="1541000"/>
                <a:ext cx="2670965" cy="12375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𝑐𝑎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h𝑖𝑝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→0,68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=0,68.</m:t>
                    </m:r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68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220</m:t>
                    </m:r>
                  </m:oMath>
                </a14:m>
                <a:endParaRPr lang="pt-BR" b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=149,6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Object 8">
                <a:extLst>
                  <a:ext uri="{FF2B5EF4-FFF2-40B4-BE49-F238E27FC236}">
                    <a16:creationId xmlns:a16="http://schemas.microsoft.com/office/drawing/2014/main" id="{6814B203-20C7-44A1-8DA8-0F85E263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43" y="1541000"/>
                <a:ext cx="2670965" cy="12375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B7E4A702-173F-4D42-8684-BC6A9732DCEC}"/>
              </a:ext>
            </a:extLst>
          </p:cNvPr>
          <p:cNvCxnSpPr>
            <a:cxnSpLocks/>
          </p:cNvCxnSpPr>
          <p:nvPr/>
        </p:nvCxnSpPr>
        <p:spPr>
          <a:xfrm flipH="1" flipV="1">
            <a:off x="2456746" y="2392878"/>
            <a:ext cx="1271192" cy="3426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FE0B38F6-D93B-463E-B5D2-4ABFEFE2A480}"/>
              </a:ext>
            </a:extLst>
          </p:cNvPr>
          <p:cNvSpPr/>
          <p:nvPr/>
        </p:nvSpPr>
        <p:spPr>
          <a:xfrm>
            <a:off x="13594" y="2399233"/>
            <a:ext cx="1235058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8">
                <a:extLst>
                  <a:ext uri="{FF2B5EF4-FFF2-40B4-BE49-F238E27FC236}">
                    <a16:creationId xmlns:a16="http://schemas.microsoft.com/office/drawing/2014/main" id="{08B3C828-7EB5-403E-8311-B8269104B663}"/>
                  </a:ext>
                </a:extLst>
              </p:cNvPr>
              <p:cNvSpPr txBox="1"/>
              <p:nvPr/>
            </p:nvSpPr>
            <p:spPr bwMode="auto">
              <a:xfrm>
                <a:off x="6096461" y="1327640"/>
                <a:ext cx="3047539" cy="12375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𝑐𝑜𝑠𝑑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𝑐𝑎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h𝑖𝑝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𝑐𝑜𝑠𝑑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𝑐𝑜𝑠𝑑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.170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58" name="Object 8">
                <a:extLst>
                  <a:ext uri="{FF2B5EF4-FFF2-40B4-BE49-F238E27FC236}">
                    <a16:creationId xmlns:a16="http://schemas.microsoft.com/office/drawing/2014/main" id="{08B3C828-7EB5-403E-8311-B8269104B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461" y="1327640"/>
                <a:ext cx="3047539" cy="12375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305E5FE4-6B09-43F0-8031-14F0C9E0F15A}"/>
              </a:ext>
            </a:extLst>
          </p:cNvPr>
          <p:cNvCxnSpPr>
            <a:cxnSpLocks/>
          </p:cNvCxnSpPr>
          <p:nvPr/>
        </p:nvCxnSpPr>
        <p:spPr>
          <a:xfrm flipV="1">
            <a:off x="5330463" y="1816608"/>
            <a:ext cx="789721" cy="9188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tângulo 62">
            <a:extLst>
              <a:ext uri="{FF2B5EF4-FFF2-40B4-BE49-F238E27FC236}">
                <a16:creationId xmlns:a16="http://schemas.microsoft.com/office/drawing/2014/main" id="{3210DAF1-D9CC-42A9-A8CE-B74DF6E9F920}"/>
              </a:ext>
            </a:extLst>
          </p:cNvPr>
          <p:cNvSpPr/>
          <p:nvPr/>
        </p:nvSpPr>
        <p:spPr>
          <a:xfrm>
            <a:off x="7594545" y="2002857"/>
            <a:ext cx="1422241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0C367132-ED84-444D-A0D5-6BCE0D972AAD}"/>
              </a:ext>
            </a:extLst>
          </p:cNvPr>
          <p:cNvCxnSpPr>
            <a:cxnSpLocks/>
          </p:cNvCxnSpPr>
          <p:nvPr/>
        </p:nvCxnSpPr>
        <p:spPr>
          <a:xfrm flipH="1">
            <a:off x="7636824" y="2533076"/>
            <a:ext cx="330648" cy="1892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846A5A04-023B-4C09-8374-2BE6CC41323A}"/>
              </a:ext>
            </a:extLst>
          </p:cNvPr>
          <p:cNvCxnSpPr>
            <a:cxnSpLocks/>
          </p:cNvCxnSpPr>
          <p:nvPr/>
        </p:nvCxnSpPr>
        <p:spPr>
          <a:xfrm>
            <a:off x="1407371" y="2660259"/>
            <a:ext cx="5249788" cy="18730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tângulo 73">
            <a:extLst>
              <a:ext uri="{FF2B5EF4-FFF2-40B4-BE49-F238E27FC236}">
                <a16:creationId xmlns:a16="http://schemas.microsoft.com/office/drawing/2014/main" id="{01BD9EF4-5CEE-4362-9783-F52F2CAA1E62}"/>
              </a:ext>
            </a:extLst>
          </p:cNvPr>
          <p:cNvSpPr/>
          <p:nvPr/>
        </p:nvSpPr>
        <p:spPr>
          <a:xfrm>
            <a:off x="6631365" y="5600877"/>
            <a:ext cx="1104460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3D119327-D8FC-43E8-A416-3F76098BE1F9}"/>
              </a:ext>
            </a:extLst>
          </p:cNvPr>
          <p:cNvCxnSpPr/>
          <p:nvPr/>
        </p:nvCxnSpPr>
        <p:spPr>
          <a:xfrm>
            <a:off x="7174992" y="6077712"/>
            <a:ext cx="0" cy="213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8">
                <a:extLst>
                  <a:ext uri="{FF2B5EF4-FFF2-40B4-BE49-F238E27FC236}">
                    <a16:creationId xmlns:a16="http://schemas.microsoft.com/office/drawing/2014/main" id="{67D4F359-E7F1-437A-B70E-8C7EC0AC53DC}"/>
                  </a:ext>
                </a:extLst>
              </p:cNvPr>
              <p:cNvSpPr txBox="1"/>
              <p:nvPr/>
            </p:nvSpPr>
            <p:spPr bwMode="auto">
              <a:xfrm>
                <a:off x="6533906" y="6409812"/>
                <a:ext cx="1534586" cy="448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=28,36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Object 8">
                <a:extLst>
                  <a:ext uri="{FF2B5EF4-FFF2-40B4-BE49-F238E27FC236}">
                    <a16:creationId xmlns:a16="http://schemas.microsoft.com/office/drawing/2014/main" id="{67D4F359-E7F1-437A-B70E-8C7EC0AC5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3906" y="6409812"/>
                <a:ext cx="1534586" cy="4481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tângulo 77">
            <a:extLst>
              <a:ext uri="{FF2B5EF4-FFF2-40B4-BE49-F238E27FC236}">
                <a16:creationId xmlns:a16="http://schemas.microsoft.com/office/drawing/2014/main" id="{68188F3A-AC8C-441F-BB77-20A057D33D77}"/>
              </a:ext>
            </a:extLst>
          </p:cNvPr>
          <p:cNvSpPr/>
          <p:nvPr/>
        </p:nvSpPr>
        <p:spPr>
          <a:xfrm>
            <a:off x="6622762" y="6365591"/>
            <a:ext cx="1104460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79" name="Conector de Seta Reta 78">
            <a:extLst>
              <a:ext uri="{FF2B5EF4-FFF2-40B4-BE49-F238E27FC236}">
                <a16:creationId xmlns:a16="http://schemas.microsoft.com/office/drawing/2014/main" id="{0FAC788E-3BA0-4E88-BD1D-20B58F90C7FD}"/>
              </a:ext>
            </a:extLst>
          </p:cNvPr>
          <p:cNvCxnSpPr>
            <a:cxnSpLocks/>
          </p:cNvCxnSpPr>
          <p:nvPr/>
        </p:nvCxnSpPr>
        <p:spPr>
          <a:xfrm flipV="1">
            <a:off x="6118901" y="6184392"/>
            <a:ext cx="970050" cy="107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bject 8">
                <a:extLst>
                  <a:ext uri="{FF2B5EF4-FFF2-40B4-BE49-F238E27FC236}">
                    <a16:creationId xmlns:a16="http://schemas.microsoft.com/office/drawing/2014/main" id="{4812E35A-187D-4478-B6C4-86378FAD8E52}"/>
                  </a:ext>
                </a:extLst>
              </p:cNvPr>
              <p:cNvSpPr txBox="1"/>
              <p:nvPr/>
            </p:nvSpPr>
            <p:spPr bwMode="auto">
              <a:xfrm>
                <a:off x="4813831" y="6009801"/>
                <a:ext cx="1306550" cy="3491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𝑎𝑐𝑜𝑠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2" name="Object 8">
                <a:extLst>
                  <a:ext uri="{FF2B5EF4-FFF2-40B4-BE49-F238E27FC236}">
                    <a16:creationId xmlns:a16="http://schemas.microsoft.com/office/drawing/2014/main" id="{4812E35A-187D-4478-B6C4-86378FAD8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3831" y="6009801"/>
                <a:ext cx="1306550" cy="3491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749DFFB-4CCC-440A-8627-3E9997E57695}"/>
              </a:ext>
            </a:extLst>
          </p:cNvPr>
          <p:cNvCxnSpPr>
            <a:cxnSpLocks/>
          </p:cNvCxnSpPr>
          <p:nvPr/>
        </p:nvCxnSpPr>
        <p:spPr>
          <a:xfrm flipH="1" flipV="1">
            <a:off x="5096843" y="5251695"/>
            <a:ext cx="801496" cy="3491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Object 8">
                <a:extLst>
                  <a:ext uri="{FF2B5EF4-FFF2-40B4-BE49-F238E27FC236}">
                    <a16:creationId xmlns:a16="http://schemas.microsoft.com/office/drawing/2014/main" id="{8E538E3E-BA17-4847-8028-7B4CD3F98FAC}"/>
                  </a:ext>
                </a:extLst>
              </p:cNvPr>
              <p:cNvSpPr txBox="1"/>
              <p:nvPr/>
            </p:nvSpPr>
            <p:spPr bwMode="auto">
              <a:xfrm>
                <a:off x="3534029" y="4883452"/>
                <a:ext cx="1752383" cy="584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242,2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Object 8">
                <a:extLst>
                  <a:ext uri="{FF2B5EF4-FFF2-40B4-BE49-F238E27FC236}">
                    <a16:creationId xmlns:a16="http://schemas.microsoft.com/office/drawing/2014/main" id="{8E538E3E-BA17-4847-8028-7B4CD3F98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4029" y="4883452"/>
                <a:ext cx="17523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tângulo 87">
            <a:extLst>
              <a:ext uri="{FF2B5EF4-FFF2-40B4-BE49-F238E27FC236}">
                <a16:creationId xmlns:a16="http://schemas.microsoft.com/office/drawing/2014/main" id="{9404E8E9-15BF-4F66-839A-62196A4B1572}"/>
              </a:ext>
            </a:extLst>
          </p:cNvPr>
          <p:cNvSpPr/>
          <p:nvPr/>
        </p:nvSpPr>
        <p:spPr>
          <a:xfrm>
            <a:off x="2693208" y="6270916"/>
            <a:ext cx="1441156" cy="3665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99ADCE48-A5D7-4E07-A7BE-C000D373CF31}"/>
              </a:ext>
            </a:extLst>
          </p:cNvPr>
          <p:cNvSpPr/>
          <p:nvPr/>
        </p:nvSpPr>
        <p:spPr>
          <a:xfrm>
            <a:off x="3505025" y="4891254"/>
            <a:ext cx="1441156" cy="366571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202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132929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altLang="pt-BR" dirty="0"/>
              <a:t>HALLIDAY, David; RESNICK, Robert;  WALKER, Jearl. Fundamentos de Física: gravitação, ondas e termodinâmica. Vol 1. Rio de Janeiro: LTC, 2006. </a:t>
            </a:r>
            <a:r>
              <a:rPr lang="pt-BR" altLang="pt-BR" dirty="0">
                <a:solidFill>
                  <a:srgbClr val="FF0000"/>
                </a:solidFill>
              </a:rPr>
              <a:t>CAP. 5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941097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1009</TotalTime>
  <Words>1845</Words>
  <Application>Microsoft Office PowerPoint</Application>
  <PresentationFormat>Apresentação na tela (4:3)</PresentationFormat>
  <Paragraphs>216</Paragraphs>
  <Slides>28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28</vt:i4>
      </vt:variant>
    </vt:vector>
  </HeadingPairs>
  <TitlesOfParts>
    <vt:vector size="44" baseType="lpstr">
      <vt:lpstr>Arial</vt:lpstr>
      <vt:lpstr>Calibri</vt:lpstr>
      <vt:lpstr>Cambria Math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Equation</vt:lpstr>
      <vt:lpstr>Equação</vt:lpstr>
      <vt:lpstr>CorelDRAW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224</cp:revision>
  <dcterms:created xsi:type="dcterms:W3CDTF">2015-02-07T21:24:47Z</dcterms:created>
  <dcterms:modified xsi:type="dcterms:W3CDTF">2024-08-26T20:40:25Z</dcterms:modified>
</cp:coreProperties>
</file>