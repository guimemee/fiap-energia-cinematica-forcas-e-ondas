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  <p:sldMasterId id="2147483739" r:id="rId3"/>
    <p:sldMasterId id="2147483751" r:id="rId4"/>
  </p:sldMasterIdLst>
  <p:notesMasterIdLst>
    <p:notesMasterId r:id="rId16"/>
  </p:notesMasterIdLst>
  <p:handoutMasterIdLst>
    <p:handoutMasterId r:id="rId17"/>
  </p:handoutMasterIdLst>
  <p:sldIdLst>
    <p:sldId id="256" r:id="rId5"/>
    <p:sldId id="266" r:id="rId6"/>
    <p:sldId id="258" r:id="rId7"/>
    <p:sldId id="338" r:id="rId8"/>
    <p:sldId id="329" r:id="rId9"/>
    <p:sldId id="330" r:id="rId10"/>
    <p:sldId id="339" r:id="rId11"/>
    <p:sldId id="331" r:id="rId12"/>
    <p:sldId id="332" r:id="rId13"/>
    <p:sldId id="333" r:id="rId14"/>
    <p:sldId id="334" r:id="rId15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265D"/>
    <a:srgbClr val="020000"/>
    <a:srgbClr val="F6F6F6"/>
    <a:srgbClr val="EBAFB5"/>
    <a:srgbClr val="F4D3D6"/>
    <a:srgbClr val="F9E8EA"/>
    <a:srgbClr val="30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824" autoAdjust="0"/>
    <p:restoredTop sz="94660"/>
  </p:normalViewPr>
  <p:slideViewPr>
    <p:cSldViewPr snapToGrid="0" snapToObjects="1">
      <p:cViewPr>
        <p:scale>
          <a:sx n="75" d="100"/>
          <a:sy n="75" d="100"/>
        </p:scale>
        <p:origin x="49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75" d="100"/>
          <a:sy n="75" d="100"/>
        </p:scale>
        <p:origin x="2094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1A63A9-F13B-46F1-A93F-27AA737FD7E7}" type="datetimeFigureOut">
              <a:rPr lang="pt-BR" smtClean="0"/>
              <a:pPr/>
              <a:t>20/10/2022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2F50FE-E718-42E3-9D8A-946F780C799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71391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98697-E7EB-B84D-9726-13965ED94444}" type="datetimeFigureOut">
              <a:rPr lang="en-US" smtClean="0"/>
              <a:pPr/>
              <a:t>10/20/2022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C6CD5E-26BD-9B45-BB2F-78648736C277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88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427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7394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2570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63938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8766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78823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873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09993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06891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0985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581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9902"/>
            <a:ext cx="7392202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10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56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Imagem 10"/>
          <p:cNvSpPr>
            <a:spLocks noGrp="1"/>
          </p:cNvSpPr>
          <p:nvPr>
            <p:ph type="pic" sz="quarter" idx="13"/>
          </p:nvPr>
        </p:nvSpPr>
        <p:spPr>
          <a:xfrm>
            <a:off x="914400" y="1600199"/>
            <a:ext cx="2875280" cy="4249172"/>
          </a:xfrm>
        </p:spPr>
        <p:txBody>
          <a:bodyPr/>
          <a:lstStyle/>
          <a:p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8114" y="1600200"/>
            <a:ext cx="4207871" cy="2933299"/>
          </a:xfrm>
        </p:spPr>
        <p:txBody>
          <a:bodyPr>
            <a:normAutofit/>
          </a:bodyPr>
          <a:lstStyle>
            <a:lvl1pPr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9"/>
          <p:cNvSpPr txBox="1"/>
          <p:nvPr userDrawn="1"/>
        </p:nvSpPr>
        <p:spPr>
          <a:xfrm>
            <a:off x="947124" y="748343"/>
            <a:ext cx="4870522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SHORT </a:t>
            </a: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ok"/>
              </a:rPr>
              <a:t>BIO</a:t>
            </a:r>
          </a:p>
        </p:txBody>
      </p:sp>
      <p:sp>
        <p:nvSpPr>
          <p:cNvPr id="8" name="Rectangle 19"/>
          <p:cNvSpPr/>
          <p:nvPr userDrawn="1"/>
        </p:nvSpPr>
        <p:spPr>
          <a:xfrm>
            <a:off x="3789680" y="4672530"/>
            <a:ext cx="4576305" cy="119609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  <p:sp>
        <p:nvSpPr>
          <p:cNvPr id="10" name="Espaço Reservado para Texto 9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090988" y="4792663"/>
            <a:ext cx="3868737" cy="828675"/>
          </a:xfr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Gotham-Bold"/>
              </a:defRPr>
            </a:lvl1pPr>
            <a:lvl2pPr>
              <a:defRPr sz="1800">
                <a:solidFill>
                  <a:schemeClr val="bg1"/>
                </a:solidFill>
                <a:latin typeface="Gotham-Bold"/>
              </a:defRPr>
            </a:lvl2pPr>
          </a:lstStyle>
          <a:p>
            <a:pPr lvl="0"/>
            <a:r>
              <a:rPr lang="pt-BR" dirty="0"/>
              <a:t>Prof. nome</a:t>
            </a:r>
          </a:p>
          <a:p>
            <a:pPr lvl="0"/>
            <a:r>
              <a:rPr lang="pt-BR" dirty="0" err="1"/>
              <a:t>Email</a:t>
            </a:r>
            <a:endParaRPr lang="pt-BR" dirty="0"/>
          </a:p>
        </p:txBody>
      </p:sp>
      <p:sp>
        <p:nvSpPr>
          <p:cNvPr id="13" name="Isosceles Triangle 2"/>
          <p:cNvSpPr/>
          <p:nvPr userDrawn="1"/>
        </p:nvSpPr>
        <p:spPr>
          <a:xfrm rot="16200000">
            <a:off x="3493922" y="4970503"/>
            <a:ext cx="358752" cy="241676"/>
          </a:xfrm>
          <a:prstGeom prst="triangle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</p:spTree>
    <p:extLst>
      <p:ext uri="{BB962C8B-B14F-4D97-AF65-F5344CB8AC3E}">
        <p14:creationId xmlns:p14="http://schemas.microsoft.com/office/powerpoint/2010/main" val="2458548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Texto 9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1750228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4"/>
          </p:nvPr>
        </p:nvSpPr>
        <p:spPr>
          <a:xfrm>
            <a:off x="914400" y="2319338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5" name="Espaço Reservado para Texto 9"/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4215012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6" name="Espaço Reservado para Texto 11"/>
          <p:cNvSpPr>
            <a:spLocks noGrp="1"/>
          </p:cNvSpPr>
          <p:nvPr>
            <p:ph type="body" sz="quarter" idx="16"/>
          </p:nvPr>
        </p:nvSpPr>
        <p:spPr>
          <a:xfrm>
            <a:off x="914400" y="4784122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9" name="TextBox 15"/>
          <p:cNvSpPr txBox="1"/>
          <p:nvPr userDrawn="1"/>
        </p:nvSpPr>
        <p:spPr>
          <a:xfrm>
            <a:off x="947124" y="745668"/>
            <a:ext cx="4870522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ECFO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28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24539" y="2857500"/>
            <a:ext cx="6294922" cy="1143000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tx1"/>
                </a:solidFill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9" name="Rectangle 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292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33654" y="749165"/>
            <a:ext cx="7315197" cy="397308"/>
          </a:xfrm>
        </p:spPr>
        <p:txBody>
          <a:bodyPr>
            <a:no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65379" y="1316730"/>
            <a:ext cx="7483472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379" y="2174875"/>
            <a:ext cx="7618230" cy="3951288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6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823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8"/>
          <p:cNvSpPr>
            <a:spLocks noGrp="1"/>
          </p:cNvSpPr>
          <p:nvPr>
            <p:ph type="body" sz="quarter" idx="13"/>
          </p:nvPr>
        </p:nvSpPr>
        <p:spPr>
          <a:xfrm>
            <a:off x="3868103" y="1421810"/>
            <a:ext cx="4380748" cy="4873112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8001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2573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7145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1717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pic>
        <p:nvPicPr>
          <p:cNvPr id="10" name="Picture 3" descr="caomputador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34" y="1421810"/>
            <a:ext cx="3062891" cy="2733630"/>
          </a:xfrm>
          <a:prstGeom prst="rect">
            <a:avLst/>
          </a:prstGeom>
        </p:spPr>
      </p:pic>
      <p:pic>
        <p:nvPicPr>
          <p:cNvPr id="11" name="Picture 4" descr="chicara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76259">
            <a:off x="2055756" y="3444240"/>
            <a:ext cx="1559560" cy="1650015"/>
          </a:xfrm>
          <a:prstGeom prst="rect">
            <a:avLst/>
          </a:prstGeom>
        </p:spPr>
      </p:pic>
      <p:pic>
        <p:nvPicPr>
          <p:cNvPr id="12" name="Picture 6" descr="livros.png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87626">
            <a:off x="648591" y="4397170"/>
            <a:ext cx="2064240" cy="1700934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947123" y="736043"/>
            <a:ext cx="6801557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REFERÊNCIAS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8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95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0277"/>
            <a:ext cx="7469188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half" idx="2"/>
          </p:nvPr>
        </p:nvSpPr>
        <p:spPr>
          <a:xfrm>
            <a:off x="914400" y="4677443"/>
            <a:ext cx="7469188" cy="1251719"/>
          </a:xfrm>
        </p:spPr>
        <p:txBody>
          <a:bodyPr>
            <a:normAutofit/>
          </a:bodyPr>
          <a:lstStyle>
            <a:lvl1pPr>
              <a:buFont typeface="Wingdings" panose="05000000000000000000" pitchFamily="2" charset="2"/>
              <a:buChar char="§"/>
              <a:defRPr sz="1200">
                <a:latin typeface="Gotham-Book"/>
              </a:defRPr>
            </a:lvl1pPr>
            <a:lvl2pPr>
              <a:buFont typeface="Wingdings" panose="05000000000000000000" pitchFamily="2" charset="2"/>
              <a:buChar char="§"/>
              <a:defRPr sz="1200">
                <a:latin typeface="Gotham-Book"/>
              </a:defRPr>
            </a:lvl2pPr>
            <a:lvl3pPr>
              <a:buFont typeface="Wingdings" panose="05000000000000000000" pitchFamily="2" charset="2"/>
              <a:buChar char="§"/>
              <a:defRPr sz="1200">
                <a:latin typeface="Gotham-Book"/>
              </a:defRPr>
            </a:lvl3pPr>
            <a:lvl4pPr>
              <a:buFont typeface="Wingdings" panose="05000000000000000000" pitchFamily="2" charset="2"/>
              <a:buChar char="§"/>
              <a:defRPr sz="1200">
                <a:latin typeface="Gotham-Book"/>
              </a:defRPr>
            </a:lvl4pPr>
            <a:lvl5pPr>
              <a:buFont typeface="Wingdings" panose="05000000000000000000" pitchFamily="2" charset="2"/>
              <a:buChar char="§"/>
              <a:defRPr sz="12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10" name="Espaço Reservado para Tabela 9"/>
          <p:cNvSpPr>
            <a:spLocks noGrp="1"/>
          </p:cNvSpPr>
          <p:nvPr>
            <p:ph type="tbl" sz="quarter" idx="13"/>
          </p:nvPr>
        </p:nvSpPr>
        <p:spPr>
          <a:xfrm>
            <a:off x="914400" y="1568450"/>
            <a:ext cx="7469188" cy="2589213"/>
          </a:xfrm>
        </p:spPr>
        <p:txBody>
          <a:bodyPr>
            <a:normAutofit/>
          </a:bodyPr>
          <a:lstStyle>
            <a:lvl1pPr>
              <a:defRPr sz="1200">
                <a:latin typeface="Gotham HTF Book" pitchFamily="2" charset="0"/>
              </a:defRPr>
            </a:lvl1pPr>
          </a:lstStyle>
          <a:p>
            <a:endParaRPr lang="pt-BR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29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914399" y="721027"/>
            <a:ext cx="7305575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4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339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3752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0491383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ítulo 11"/>
          <p:cNvSpPr>
            <a:spLocks noGrp="1"/>
          </p:cNvSpPr>
          <p:nvPr>
            <p:ph type="title" hasCustomPrompt="1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Font typeface="+mj-lt"/>
              <a:buNone/>
              <a:defRPr>
                <a:latin typeface="Gotham HTF" pitchFamily="2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11529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image" Target="../media/image3.emf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4"/>
          <p:cNvPicPr>
            <a:picLocks noChangeAspect="1"/>
          </p:cNvPicPr>
          <p:nvPr userDrawn="1"/>
        </p:nvPicPr>
        <p:blipFill rotWithShape="1">
          <a:blip r:embed="rId3"/>
          <a:srcRect l="21776" r="21704"/>
          <a:stretch/>
        </p:blipFill>
        <p:spPr>
          <a:xfrm>
            <a:off x="1" y="2615134"/>
            <a:ext cx="9155650" cy="2789855"/>
          </a:xfrm>
          <a:prstGeom prst="rect">
            <a:avLst/>
          </a:prstGeom>
        </p:spPr>
      </p:pic>
      <p:sp>
        <p:nvSpPr>
          <p:cNvPr id="13" name="Rectangle 3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" name="Rectangle 1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1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1" name="Rectangle 22"/>
          <p:cNvSpPr/>
          <p:nvPr userDrawn="1"/>
        </p:nvSpPr>
        <p:spPr>
          <a:xfrm flipH="1">
            <a:off x="759004" y="3423920"/>
            <a:ext cx="45719" cy="12903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5"/>
          <p:cNvSpPr txBox="1"/>
          <p:nvPr userDrawn="1"/>
        </p:nvSpPr>
        <p:spPr>
          <a:xfrm>
            <a:off x="1011882" y="3341906"/>
            <a:ext cx="7166918" cy="543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b="1" dirty="0">
                <a:solidFill>
                  <a:srgbClr val="FFFFFF"/>
                </a:solidFill>
                <a:latin typeface="Gotham HTF" pitchFamily="2" charset="0"/>
                <a:cs typeface="Gotham-Bold"/>
              </a:rPr>
              <a:t>ENGENHARIA</a:t>
            </a:r>
            <a:r>
              <a:rPr lang="en-US" sz="3200" b="1" baseline="0" dirty="0">
                <a:solidFill>
                  <a:srgbClr val="FFFFFF"/>
                </a:solidFill>
                <a:latin typeface="Gotham HTF" pitchFamily="2" charset="0"/>
                <a:cs typeface="Gotham-Bold"/>
              </a:rPr>
              <a:t> DE COMPUTAÇÃO</a:t>
            </a:r>
            <a:endParaRPr lang="en-US" sz="3200" b="1" dirty="0">
              <a:solidFill>
                <a:srgbClr val="FFFFFF"/>
              </a:solidFill>
              <a:latin typeface="Gotham HTF" pitchFamily="2" charset="0"/>
              <a:cs typeface="Gotham-Bold"/>
            </a:endParaRPr>
          </a:p>
        </p:txBody>
      </p:sp>
      <p:sp>
        <p:nvSpPr>
          <p:cNvPr id="17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kern="1200">
          <a:solidFill>
            <a:schemeClr val="bg1"/>
          </a:solidFill>
          <a:latin typeface="Gotham-Bold"/>
          <a:ea typeface="+mn-ea"/>
          <a:cs typeface="+mn-cs"/>
        </a:defRPr>
      </a:lvl1pPr>
      <a:lvl2pPr marL="4572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2pPr>
      <a:lvl3pPr marL="9144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3652" y="697656"/>
            <a:ext cx="7443468" cy="5852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3651" y="1600200"/>
            <a:ext cx="744346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7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9" name="Rectangle 11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06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54" r:id="rId10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Gotham HTF" pitchFamily="2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2pPr>
      <a:lvl3pPr marL="12573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9" name="Rectangle 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11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2" name="Espaço Reservado para Título 11"/>
          <p:cNvSpPr>
            <a:spLocks noGrp="1"/>
          </p:cNvSpPr>
          <p:nvPr>
            <p:ph type="title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540331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Gotham HTF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12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5198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 xmlns:mv="urn:schemas-microsoft-com:mac:vml">
      <mp:transition xmlns:mp="http://schemas.microsoft.com/office/mac/powerpoint/2008/main"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1"/>
          <p:cNvSpPr txBox="1"/>
          <p:nvPr/>
        </p:nvSpPr>
        <p:spPr>
          <a:xfrm>
            <a:off x="1042704" y="4485205"/>
            <a:ext cx="498979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rgbClr val="FFFFFF"/>
                </a:solidFill>
                <a:latin typeface="Gotham-Bold"/>
                <a:cs typeface="Gotham-Bold"/>
              </a:rPr>
              <a:t>PROF. Dr. NIVALDO ZAFALON JUNIOR</a:t>
            </a:r>
          </a:p>
        </p:txBody>
      </p:sp>
      <p:sp>
        <p:nvSpPr>
          <p:cNvPr id="6" name="TextBox 20">
            <a:extLst>
              <a:ext uri="{FF2B5EF4-FFF2-40B4-BE49-F238E27FC236}">
                <a16:creationId xmlns:a16="http://schemas.microsoft.com/office/drawing/2014/main" id="{59DE286C-8C28-41D2-AE6E-1E1D6EA53C8C}"/>
              </a:ext>
            </a:extLst>
          </p:cNvPr>
          <p:cNvSpPr txBox="1"/>
          <p:nvPr/>
        </p:nvSpPr>
        <p:spPr>
          <a:xfrm>
            <a:off x="1042704" y="3898936"/>
            <a:ext cx="3183688" cy="4026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200" dirty="0">
                <a:solidFill>
                  <a:srgbClr val="FFFFFF"/>
                </a:solidFill>
                <a:latin typeface="Gotham-Book"/>
                <a:cs typeface="Gotham-Book"/>
              </a:rPr>
              <a:t>ECFO</a:t>
            </a:r>
          </a:p>
        </p:txBody>
      </p:sp>
    </p:spTree>
    <p:extLst>
      <p:ext uri="{BB962C8B-B14F-4D97-AF65-F5344CB8AC3E}">
        <p14:creationId xmlns:p14="http://schemas.microsoft.com/office/powerpoint/2010/main" val="1418144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pt-BR" dirty="0"/>
              <a:t>	Graduação em Tecnologia em Saúde (FATEC-SO), em Física (IFGW), mestrado e doutorado em Engenharia Elétrica (FEEC - UNICAMP). Atualmente é professor da FIAP. Atuação em Biofísica, propagação elétrica em membranas celulares, estimulação elétrica, desenvolvimento de projetos baseados em microcontroladores e eletrônica para sistemas embarcados.</a:t>
            </a:r>
          </a:p>
        </p:txBody>
      </p:sp>
      <p:sp>
        <p:nvSpPr>
          <p:cNvPr id="19" name="TextBox 10"/>
          <p:cNvSpPr txBox="1"/>
          <p:nvPr/>
        </p:nvSpPr>
        <p:spPr>
          <a:xfrm>
            <a:off x="4163412" y="4867582"/>
            <a:ext cx="4097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000" dirty="0">
                <a:solidFill>
                  <a:srgbClr val="FFFFFF"/>
                </a:solidFill>
                <a:latin typeface="Gotham-Bold"/>
                <a:cs typeface="Gotham-Bold"/>
              </a:rPr>
              <a:t>PROF. Dr. NIVALDO ZAFALON Jr.</a:t>
            </a:r>
          </a:p>
        </p:txBody>
      </p:sp>
      <p:sp>
        <p:nvSpPr>
          <p:cNvPr id="22" name="TextBox 15"/>
          <p:cNvSpPr txBox="1"/>
          <p:nvPr/>
        </p:nvSpPr>
        <p:spPr>
          <a:xfrm>
            <a:off x="4177606" y="5262363"/>
            <a:ext cx="2380780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rgbClr val="FFFFFF"/>
                </a:solidFill>
                <a:latin typeface="Gotham-Bold"/>
                <a:cs typeface="Gotham-Bold"/>
              </a:rPr>
              <a:t>nivaldex@gmail.com</a:t>
            </a:r>
          </a:p>
        </p:txBody>
      </p:sp>
      <p:pic>
        <p:nvPicPr>
          <p:cNvPr id="6" name="Espaço Reservado para Imagem 5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717" t="4139" r="13421" b="4139"/>
          <a:stretch/>
        </p:blipFill>
        <p:spPr>
          <a:xfrm>
            <a:off x="355600" y="685800"/>
            <a:ext cx="3403600" cy="5164138"/>
          </a:xfrm>
        </p:spPr>
      </p:pic>
      <p:sp>
        <p:nvSpPr>
          <p:cNvPr id="10" name="Isosceles Triangle 2"/>
          <p:cNvSpPr/>
          <p:nvPr/>
        </p:nvSpPr>
        <p:spPr>
          <a:xfrm rot="16200000">
            <a:off x="3493922" y="4970503"/>
            <a:ext cx="358752" cy="241676"/>
          </a:xfrm>
          <a:prstGeom prst="triangle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</p:spTree>
    <p:extLst>
      <p:ext uri="{BB962C8B-B14F-4D97-AF65-F5344CB8AC3E}">
        <p14:creationId xmlns:p14="http://schemas.microsoft.com/office/powerpoint/2010/main" val="1827764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 xmlns:mv="urn:schemas-microsoft-com:mac:vml">
      <mp:transition xmlns:mp="http://schemas.microsoft.com/office/mac/powerpoint/2008/main"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DAF58DB8-664A-4E85-A744-A018989B8C73}"/>
              </a:ext>
            </a:extLst>
          </p:cNvPr>
          <p:cNvSpPr txBox="1"/>
          <p:nvPr/>
        </p:nvSpPr>
        <p:spPr>
          <a:xfrm>
            <a:off x="0" y="860991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1)</a:t>
            </a:r>
            <a:r>
              <a:rPr lang="pt-B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Um corpo com massa de 0,6 kg foi empurrado por uma força que lhe comunicou uma aceleração de 3 m/s</a:t>
            </a:r>
            <a:r>
              <a:rPr lang="pt-BR" sz="1800" baseline="30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</a:t>
            </a:r>
            <a:r>
              <a:rPr lang="pt-B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 Qual o valor da força?</a:t>
            </a:r>
            <a:endParaRPr lang="pt-BR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Object 3">
                <a:extLst>
                  <a:ext uri="{FF2B5EF4-FFF2-40B4-BE49-F238E27FC236}">
                    <a16:creationId xmlns:a16="http://schemas.microsoft.com/office/drawing/2014/main" id="{55C650AE-EF28-4062-819F-1423A1E21983}"/>
                  </a:ext>
                </a:extLst>
              </p:cNvPr>
              <p:cNvSpPr txBox="1"/>
              <p:nvPr/>
            </p:nvSpPr>
            <p:spPr bwMode="auto">
              <a:xfrm>
                <a:off x="1568502" y="4663763"/>
                <a:ext cx="2028825" cy="454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4" name="Object 3">
                <a:extLst>
                  <a:ext uri="{FF2B5EF4-FFF2-40B4-BE49-F238E27FC236}">
                    <a16:creationId xmlns:a16="http://schemas.microsoft.com/office/drawing/2014/main" id="{55C650AE-EF28-4062-819F-1423A1E219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68502" y="4663763"/>
                <a:ext cx="2028825" cy="4540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tângulo 4">
            <a:extLst>
              <a:ext uri="{FF2B5EF4-FFF2-40B4-BE49-F238E27FC236}">
                <a16:creationId xmlns:a16="http://schemas.microsoft.com/office/drawing/2014/main" id="{380E4547-E485-4C62-837F-8D09AB968C89}"/>
              </a:ext>
            </a:extLst>
          </p:cNvPr>
          <p:cNvSpPr/>
          <p:nvPr/>
        </p:nvSpPr>
        <p:spPr>
          <a:xfrm>
            <a:off x="3799002" y="2915238"/>
            <a:ext cx="650450" cy="49962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F017AF99-29E3-4031-A64A-824B95AC3ACF}"/>
              </a:ext>
            </a:extLst>
          </p:cNvPr>
          <p:cNvCxnSpPr/>
          <p:nvPr/>
        </p:nvCxnSpPr>
        <p:spPr>
          <a:xfrm>
            <a:off x="2733773" y="3174474"/>
            <a:ext cx="106522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13B1467B-ED27-4DF4-9769-F470EE1C4CF2}"/>
              </a:ext>
            </a:extLst>
          </p:cNvPr>
          <p:cNvSpPr txBox="1"/>
          <p:nvPr/>
        </p:nvSpPr>
        <p:spPr>
          <a:xfrm>
            <a:off x="3103522" y="2712809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F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7CF06B0-298B-41DD-8045-E732C6A9831F}"/>
              </a:ext>
            </a:extLst>
          </p:cNvPr>
          <p:cNvSpPr txBox="1"/>
          <p:nvPr/>
        </p:nvSpPr>
        <p:spPr>
          <a:xfrm>
            <a:off x="3550191" y="2429707"/>
            <a:ext cx="1148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 = 0,6 kg</a:t>
            </a:r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9DC9684A-31C4-45E6-9E5E-21B3CF5FBFCC}"/>
              </a:ext>
            </a:extLst>
          </p:cNvPr>
          <p:cNvCxnSpPr>
            <a:cxnSpLocks/>
          </p:cNvCxnSpPr>
          <p:nvPr/>
        </p:nvCxnSpPr>
        <p:spPr>
          <a:xfrm>
            <a:off x="3882271" y="3920763"/>
            <a:ext cx="48391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8BA4633-93F6-429F-B660-B0397CC76481}"/>
              </a:ext>
            </a:extLst>
          </p:cNvPr>
          <p:cNvSpPr txBox="1"/>
          <p:nvPr/>
        </p:nvSpPr>
        <p:spPr>
          <a:xfrm>
            <a:off x="3597327" y="3549910"/>
            <a:ext cx="1162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 = 3 m/s2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0D7A7B9-2AE0-4CC9-86BC-7D10F6B4F18A}"/>
              </a:ext>
            </a:extLst>
          </p:cNvPr>
          <p:cNvSpPr txBox="1"/>
          <p:nvPr/>
        </p:nvSpPr>
        <p:spPr>
          <a:xfrm>
            <a:off x="486548" y="3886829"/>
            <a:ext cx="1401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Queremos: F</a:t>
            </a:r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3970177B-5FE7-4697-91EE-D18B8018564E}"/>
              </a:ext>
            </a:extLst>
          </p:cNvPr>
          <p:cNvCxnSpPr>
            <a:cxnSpLocks/>
          </p:cNvCxnSpPr>
          <p:nvPr/>
        </p:nvCxnSpPr>
        <p:spPr>
          <a:xfrm flipV="1">
            <a:off x="1568502" y="5000682"/>
            <a:ext cx="133298" cy="5520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D335E2AC-2833-46BC-BEBF-FE9629DB811F}"/>
              </a:ext>
            </a:extLst>
          </p:cNvPr>
          <p:cNvSpPr txBox="1"/>
          <p:nvPr/>
        </p:nvSpPr>
        <p:spPr>
          <a:xfrm>
            <a:off x="989562" y="5539548"/>
            <a:ext cx="12911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Queremos</a:t>
            </a:r>
            <a:endParaRPr lang="pt-BR" dirty="0"/>
          </a:p>
        </p:txBody>
      </p: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E6A08335-EC10-4B10-BE85-F147C5BE59C3}"/>
              </a:ext>
            </a:extLst>
          </p:cNvPr>
          <p:cNvCxnSpPr>
            <a:cxnSpLocks/>
          </p:cNvCxnSpPr>
          <p:nvPr/>
        </p:nvCxnSpPr>
        <p:spPr>
          <a:xfrm flipH="1">
            <a:off x="2238920" y="4384233"/>
            <a:ext cx="83640" cy="2936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24">
            <a:extLst>
              <a:ext uri="{FF2B5EF4-FFF2-40B4-BE49-F238E27FC236}">
                <a16:creationId xmlns:a16="http://schemas.microsoft.com/office/drawing/2014/main" id="{B653E773-FB4F-4959-B5BE-64C410CBD943}"/>
              </a:ext>
            </a:extLst>
          </p:cNvPr>
          <p:cNvCxnSpPr>
            <a:cxnSpLocks/>
          </p:cNvCxnSpPr>
          <p:nvPr/>
        </p:nvCxnSpPr>
        <p:spPr>
          <a:xfrm flipH="1">
            <a:off x="2488459" y="4384233"/>
            <a:ext cx="83640" cy="2936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A003D630-713F-45A1-8C42-9F1A853BD2F7}"/>
              </a:ext>
            </a:extLst>
          </p:cNvPr>
          <p:cNvSpPr txBox="1"/>
          <p:nvPr/>
        </p:nvSpPr>
        <p:spPr>
          <a:xfrm>
            <a:off x="2138074" y="4024998"/>
            <a:ext cx="12911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Temos</a:t>
            </a:r>
          </a:p>
        </p:txBody>
      </p:sp>
      <p:cxnSp>
        <p:nvCxnSpPr>
          <p:cNvPr id="29" name="Conector de Seta Reta 28">
            <a:extLst>
              <a:ext uri="{FF2B5EF4-FFF2-40B4-BE49-F238E27FC236}">
                <a16:creationId xmlns:a16="http://schemas.microsoft.com/office/drawing/2014/main" id="{FF1069C0-5B6F-4353-BCD0-FC48F53A2CAC}"/>
              </a:ext>
            </a:extLst>
          </p:cNvPr>
          <p:cNvCxnSpPr>
            <a:cxnSpLocks/>
          </p:cNvCxnSpPr>
          <p:nvPr/>
        </p:nvCxnSpPr>
        <p:spPr>
          <a:xfrm>
            <a:off x="3014808" y="4890775"/>
            <a:ext cx="48391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Object 3">
                <a:extLst>
                  <a:ext uri="{FF2B5EF4-FFF2-40B4-BE49-F238E27FC236}">
                    <a16:creationId xmlns:a16="http://schemas.microsoft.com/office/drawing/2014/main" id="{A30D2919-53E9-4747-A87F-775E879BD667}"/>
                  </a:ext>
                </a:extLst>
              </p:cNvPr>
              <p:cNvSpPr txBox="1"/>
              <p:nvPr/>
            </p:nvSpPr>
            <p:spPr bwMode="auto">
              <a:xfrm>
                <a:off x="3763226" y="4640374"/>
                <a:ext cx="3304324" cy="454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=0,6.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=1,8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30" name="Object 3">
                <a:extLst>
                  <a:ext uri="{FF2B5EF4-FFF2-40B4-BE49-F238E27FC236}">
                    <a16:creationId xmlns:a16="http://schemas.microsoft.com/office/drawing/2014/main" id="{A30D2919-53E9-4747-A87F-775E879BD6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63226" y="4640374"/>
                <a:ext cx="3304324" cy="4540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tângulo 30">
            <a:extLst>
              <a:ext uri="{FF2B5EF4-FFF2-40B4-BE49-F238E27FC236}">
                <a16:creationId xmlns:a16="http://schemas.microsoft.com/office/drawing/2014/main" id="{F8A6A3F5-648C-47D5-A285-C5F215F5DBE8}"/>
              </a:ext>
            </a:extLst>
          </p:cNvPr>
          <p:cNvSpPr/>
          <p:nvPr/>
        </p:nvSpPr>
        <p:spPr>
          <a:xfrm>
            <a:off x="5829300" y="4640375"/>
            <a:ext cx="882650" cy="360308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CB5C71F8-BB04-46C4-9AC1-225A80F3077F}"/>
              </a:ext>
            </a:extLst>
          </p:cNvPr>
          <p:cNvSpPr txBox="1"/>
          <p:nvPr/>
        </p:nvSpPr>
        <p:spPr>
          <a:xfrm>
            <a:off x="5714748" y="4271043"/>
            <a:ext cx="12911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Resposta</a:t>
            </a:r>
          </a:p>
        </p:txBody>
      </p:sp>
    </p:spTree>
    <p:extLst>
      <p:ext uri="{BB962C8B-B14F-4D97-AF65-F5344CB8AC3E}">
        <p14:creationId xmlns:p14="http://schemas.microsoft.com/office/powerpoint/2010/main" val="3721122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>
            <a:extLst>
              <a:ext uri="{FF2B5EF4-FFF2-40B4-BE49-F238E27FC236}">
                <a16:creationId xmlns:a16="http://schemas.microsoft.com/office/drawing/2014/main" id="{C63BD76F-0CCC-4B1C-BBD2-44B4E3BC85C8}"/>
              </a:ext>
            </a:extLst>
          </p:cNvPr>
          <p:cNvSpPr txBox="1"/>
          <p:nvPr/>
        </p:nvSpPr>
        <p:spPr>
          <a:xfrm>
            <a:off x="0" y="839233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2)</a:t>
            </a:r>
            <a:r>
              <a:rPr lang="pt-B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Sobre um corpo de 2 kg atua uma força horizontal de 8 N. Qual a aceleração que ele adquire?</a:t>
            </a:r>
            <a:endParaRPr lang="pt-BR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98CAED7-9756-4052-AB67-CECA67AA7EE5}"/>
              </a:ext>
            </a:extLst>
          </p:cNvPr>
          <p:cNvSpPr/>
          <p:nvPr/>
        </p:nvSpPr>
        <p:spPr>
          <a:xfrm>
            <a:off x="3799002" y="2915238"/>
            <a:ext cx="650450" cy="49962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71333046-E454-4136-B6B2-F1E248390A6B}"/>
              </a:ext>
            </a:extLst>
          </p:cNvPr>
          <p:cNvCxnSpPr/>
          <p:nvPr/>
        </p:nvCxnSpPr>
        <p:spPr>
          <a:xfrm>
            <a:off x="2733773" y="3174474"/>
            <a:ext cx="106522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361E3E2D-8535-46EB-9AD1-94306DADEAB9}"/>
              </a:ext>
            </a:extLst>
          </p:cNvPr>
          <p:cNvSpPr txBox="1"/>
          <p:nvPr/>
        </p:nvSpPr>
        <p:spPr>
          <a:xfrm>
            <a:off x="2728889" y="2712809"/>
            <a:ext cx="971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F = 8N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72F24C5-DE47-4F36-AE5C-565EE91304FA}"/>
              </a:ext>
            </a:extLst>
          </p:cNvPr>
          <p:cNvSpPr txBox="1"/>
          <p:nvPr/>
        </p:nvSpPr>
        <p:spPr>
          <a:xfrm>
            <a:off x="3550191" y="2429707"/>
            <a:ext cx="973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 = 2 kg</a:t>
            </a:r>
          </a:p>
        </p:txBody>
      </p: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664B7CA9-25AF-421D-B037-7EAE0282D83C}"/>
              </a:ext>
            </a:extLst>
          </p:cNvPr>
          <p:cNvCxnSpPr>
            <a:cxnSpLocks/>
          </p:cNvCxnSpPr>
          <p:nvPr/>
        </p:nvCxnSpPr>
        <p:spPr>
          <a:xfrm>
            <a:off x="3882271" y="3920763"/>
            <a:ext cx="48391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7C479F15-C06B-41DB-A9A8-34E4CEC14FD3}"/>
              </a:ext>
            </a:extLst>
          </p:cNvPr>
          <p:cNvSpPr txBox="1"/>
          <p:nvPr/>
        </p:nvSpPr>
        <p:spPr>
          <a:xfrm>
            <a:off x="3976589" y="3522350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A16E3178-C941-4E29-A08E-9F36B0A8747D}"/>
              </a:ext>
            </a:extLst>
          </p:cNvPr>
          <p:cNvSpPr txBox="1"/>
          <p:nvPr/>
        </p:nvSpPr>
        <p:spPr>
          <a:xfrm>
            <a:off x="5744348" y="1776021"/>
            <a:ext cx="1401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Queremos: 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Object 3">
                <a:extLst>
                  <a:ext uri="{FF2B5EF4-FFF2-40B4-BE49-F238E27FC236}">
                    <a16:creationId xmlns:a16="http://schemas.microsoft.com/office/drawing/2014/main" id="{9FF3B79D-0AF3-463B-931E-9548FD5A626C}"/>
                  </a:ext>
                </a:extLst>
              </p:cNvPr>
              <p:cNvSpPr txBox="1"/>
              <p:nvPr/>
            </p:nvSpPr>
            <p:spPr bwMode="auto">
              <a:xfrm>
                <a:off x="1568502" y="4663763"/>
                <a:ext cx="2028825" cy="454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25" name="Object 3">
                <a:extLst>
                  <a:ext uri="{FF2B5EF4-FFF2-40B4-BE49-F238E27FC236}">
                    <a16:creationId xmlns:a16="http://schemas.microsoft.com/office/drawing/2014/main" id="{9FF3B79D-0AF3-463B-931E-9548FD5A62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68502" y="4663763"/>
                <a:ext cx="2028825" cy="4540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A951363D-27B1-4F9F-A706-81A7B6B6B6C8}"/>
              </a:ext>
            </a:extLst>
          </p:cNvPr>
          <p:cNvCxnSpPr>
            <a:cxnSpLocks/>
          </p:cNvCxnSpPr>
          <p:nvPr/>
        </p:nvCxnSpPr>
        <p:spPr>
          <a:xfrm flipV="1">
            <a:off x="1568502" y="5000682"/>
            <a:ext cx="133298" cy="5520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3C2FE1D0-002D-4D99-BB4A-4A49CE1B183C}"/>
              </a:ext>
            </a:extLst>
          </p:cNvPr>
          <p:cNvSpPr txBox="1"/>
          <p:nvPr/>
        </p:nvSpPr>
        <p:spPr>
          <a:xfrm>
            <a:off x="2649563" y="5513552"/>
            <a:ext cx="12911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Queremos</a:t>
            </a:r>
            <a:endParaRPr lang="pt-BR" dirty="0"/>
          </a:p>
        </p:txBody>
      </p: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FAF5A625-FFAB-4578-8DBC-D1D422D38C20}"/>
              </a:ext>
            </a:extLst>
          </p:cNvPr>
          <p:cNvCxnSpPr>
            <a:cxnSpLocks/>
          </p:cNvCxnSpPr>
          <p:nvPr/>
        </p:nvCxnSpPr>
        <p:spPr>
          <a:xfrm flipH="1">
            <a:off x="2238920" y="4384233"/>
            <a:ext cx="83640" cy="2936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>
            <a:extLst>
              <a:ext uri="{FF2B5EF4-FFF2-40B4-BE49-F238E27FC236}">
                <a16:creationId xmlns:a16="http://schemas.microsoft.com/office/drawing/2014/main" id="{7EF1D554-1C08-4876-88B3-1141A20C7980}"/>
              </a:ext>
            </a:extLst>
          </p:cNvPr>
          <p:cNvCxnSpPr>
            <a:cxnSpLocks/>
          </p:cNvCxnSpPr>
          <p:nvPr/>
        </p:nvCxnSpPr>
        <p:spPr>
          <a:xfrm flipH="1" flipV="1">
            <a:off x="2529348" y="4973923"/>
            <a:ext cx="240430" cy="5988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895EBBA8-F7B2-4745-B1BA-F173BF9C7EFC}"/>
              </a:ext>
            </a:extLst>
          </p:cNvPr>
          <p:cNvSpPr txBox="1"/>
          <p:nvPr/>
        </p:nvSpPr>
        <p:spPr>
          <a:xfrm>
            <a:off x="2138074" y="4024998"/>
            <a:ext cx="12911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Temos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1959DD97-8177-43B1-9596-DC8B9969B1DC}"/>
              </a:ext>
            </a:extLst>
          </p:cNvPr>
          <p:cNvSpPr txBox="1"/>
          <p:nvPr/>
        </p:nvSpPr>
        <p:spPr>
          <a:xfrm>
            <a:off x="1056210" y="5520351"/>
            <a:ext cx="12911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Temos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Object 3">
                <a:extLst>
                  <a:ext uri="{FF2B5EF4-FFF2-40B4-BE49-F238E27FC236}">
                    <a16:creationId xmlns:a16="http://schemas.microsoft.com/office/drawing/2014/main" id="{8CFE3400-B8F7-4AE9-9918-4879DE153A05}"/>
                  </a:ext>
                </a:extLst>
              </p:cNvPr>
              <p:cNvSpPr txBox="1"/>
              <p:nvPr/>
            </p:nvSpPr>
            <p:spPr bwMode="auto">
              <a:xfrm>
                <a:off x="3315239" y="4571353"/>
                <a:ext cx="3673994" cy="7018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num>
                        <m:den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32" name="Object 3">
                <a:extLst>
                  <a:ext uri="{FF2B5EF4-FFF2-40B4-BE49-F238E27FC236}">
                    <a16:creationId xmlns:a16="http://schemas.microsoft.com/office/drawing/2014/main" id="{8CFE3400-B8F7-4AE9-9918-4879DE153A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15239" y="4571353"/>
                <a:ext cx="3673994" cy="7018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Conector de Seta Reta 32">
            <a:extLst>
              <a:ext uri="{FF2B5EF4-FFF2-40B4-BE49-F238E27FC236}">
                <a16:creationId xmlns:a16="http://schemas.microsoft.com/office/drawing/2014/main" id="{3A5C2651-3373-4DF9-8B1A-AF1CCEB4C1CB}"/>
              </a:ext>
            </a:extLst>
          </p:cNvPr>
          <p:cNvCxnSpPr>
            <a:cxnSpLocks/>
          </p:cNvCxnSpPr>
          <p:nvPr/>
        </p:nvCxnSpPr>
        <p:spPr>
          <a:xfrm>
            <a:off x="2728889" y="4857605"/>
            <a:ext cx="48391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tângulo 33">
            <a:extLst>
              <a:ext uri="{FF2B5EF4-FFF2-40B4-BE49-F238E27FC236}">
                <a16:creationId xmlns:a16="http://schemas.microsoft.com/office/drawing/2014/main" id="{1669539D-864D-42D6-9E3B-26918F7A945F}"/>
              </a:ext>
            </a:extLst>
          </p:cNvPr>
          <p:cNvSpPr/>
          <p:nvPr/>
        </p:nvSpPr>
        <p:spPr>
          <a:xfrm>
            <a:off x="5875831" y="4663763"/>
            <a:ext cx="1113401" cy="360308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D3E40025-F665-4ACE-817B-88E556D7FD27}"/>
              </a:ext>
            </a:extLst>
          </p:cNvPr>
          <p:cNvSpPr txBox="1"/>
          <p:nvPr/>
        </p:nvSpPr>
        <p:spPr>
          <a:xfrm>
            <a:off x="5761280" y="4294431"/>
            <a:ext cx="12911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Resposta</a:t>
            </a:r>
          </a:p>
        </p:txBody>
      </p:sp>
    </p:spTree>
    <p:extLst>
      <p:ext uri="{BB962C8B-B14F-4D97-AF65-F5344CB8AC3E}">
        <p14:creationId xmlns:p14="http://schemas.microsoft.com/office/powerpoint/2010/main" val="1695217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8902F0B-EA49-4AEF-BC22-C1C8EE70BD24}"/>
              </a:ext>
            </a:extLst>
          </p:cNvPr>
          <p:cNvSpPr txBox="1"/>
          <p:nvPr/>
        </p:nvSpPr>
        <p:spPr>
          <a:xfrm>
            <a:off x="0" y="841570"/>
            <a:ext cx="91439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3)</a:t>
            </a:r>
            <a:r>
              <a:rPr lang="pt-B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Uma força de12 N é aplicada em um corpo de massa 50 kg. A) Qual é a aceleração produzida por essa força? B) Se a velocidade do corpo era 3 m/s quando se iniciou a ação da força, qual será o seu valor 5 s depois?</a:t>
            </a:r>
            <a:endParaRPr lang="pt-BR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2BCA5C5-C6BE-4EAF-AB81-0632F9DD8A84}"/>
              </a:ext>
            </a:extLst>
          </p:cNvPr>
          <p:cNvSpPr/>
          <p:nvPr/>
        </p:nvSpPr>
        <p:spPr>
          <a:xfrm>
            <a:off x="2778802" y="3087111"/>
            <a:ext cx="650450" cy="49962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162AD4D5-25A2-4D1E-8AF6-3F5ECC31CA8E}"/>
              </a:ext>
            </a:extLst>
          </p:cNvPr>
          <p:cNvCxnSpPr/>
          <p:nvPr/>
        </p:nvCxnSpPr>
        <p:spPr>
          <a:xfrm>
            <a:off x="1713573" y="3346347"/>
            <a:ext cx="106522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8B4CB139-05ED-4F27-8CB9-116B75F414D7}"/>
              </a:ext>
            </a:extLst>
          </p:cNvPr>
          <p:cNvSpPr txBox="1"/>
          <p:nvPr/>
        </p:nvSpPr>
        <p:spPr>
          <a:xfrm>
            <a:off x="1651570" y="2903598"/>
            <a:ext cx="11272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F = 12N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5570F5D-4AB2-4364-B1DC-15B6A0366B20}"/>
              </a:ext>
            </a:extLst>
          </p:cNvPr>
          <p:cNvSpPr txBox="1"/>
          <p:nvPr/>
        </p:nvSpPr>
        <p:spPr>
          <a:xfrm>
            <a:off x="2529991" y="2601580"/>
            <a:ext cx="1090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 = 50 kg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A223D6D4-54AC-4900-A738-EB22443434DF}"/>
              </a:ext>
            </a:extLst>
          </p:cNvPr>
          <p:cNvCxnSpPr>
            <a:cxnSpLocks/>
          </p:cNvCxnSpPr>
          <p:nvPr/>
        </p:nvCxnSpPr>
        <p:spPr>
          <a:xfrm>
            <a:off x="2862071" y="4092636"/>
            <a:ext cx="48391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7545356E-0E66-4A71-B253-E199D1475813}"/>
              </a:ext>
            </a:extLst>
          </p:cNvPr>
          <p:cNvSpPr txBox="1"/>
          <p:nvPr/>
        </p:nvSpPr>
        <p:spPr>
          <a:xfrm>
            <a:off x="2956389" y="3694223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EE283A7-96A3-4A8D-83EE-E4723847AC03}"/>
              </a:ext>
            </a:extLst>
          </p:cNvPr>
          <p:cNvSpPr txBox="1"/>
          <p:nvPr/>
        </p:nvSpPr>
        <p:spPr>
          <a:xfrm>
            <a:off x="4724148" y="1947894"/>
            <a:ext cx="1720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(a) Queremos: 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Object 3">
                <a:extLst>
                  <a:ext uri="{FF2B5EF4-FFF2-40B4-BE49-F238E27FC236}">
                    <a16:creationId xmlns:a16="http://schemas.microsoft.com/office/drawing/2014/main" id="{E3A0F344-F3F4-49C9-9838-3A4DAF63D697}"/>
                  </a:ext>
                </a:extLst>
              </p:cNvPr>
              <p:cNvSpPr txBox="1"/>
              <p:nvPr/>
            </p:nvSpPr>
            <p:spPr bwMode="auto">
              <a:xfrm>
                <a:off x="548302" y="4835636"/>
                <a:ext cx="2028825" cy="454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11" name="Object 3">
                <a:extLst>
                  <a:ext uri="{FF2B5EF4-FFF2-40B4-BE49-F238E27FC236}">
                    <a16:creationId xmlns:a16="http://schemas.microsoft.com/office/drawing/2014/main" id="{E3A0F344-F3F4-49C9-9838-3A4DAF63D6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8302" y="4835636"/>
                <a:ext cx="2028825" cy="4540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D5B346C1-A173-4108-9C56-83E1CA3E8C77}"/>
              </a:ext>
            </a:extLst>
          </p:cNvPr>
          <p:cNvCxnSpPr>
            <a:cxnSpLocks/>
          </p:cNvCxnSpPr>
          <p:nvPr/>
        </p:nvCxnSpPr>
        <p:spPr>
          <a:xfrm flipV="1">
            <a:off x="548302" y="5172555"/>
            <a:ext cx="133298" cy="5520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5656028-9D85-4FE2-A000-66898C6596F3}"/>
              </a:ext>
            </a:extLst>
          </p:cNvPr>
          <p:cNvSpPr txBox="1"/>
          <p:nvPr/>
        </p:nvSpPr>
        <p:spPr>
          <a:xfrm>
            <a:off x="1629363" y="5685425"/>
            <a:ext cx="12911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Queremos</a:t>
            </a:r>
            <a:endParaRPr lang="pt-BR" dirty="0"/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71372117-E96A-4105-8C34-0B3CAF3DA910}"/>
              </a:ext>
            </a:extLst>
          </p:cNvPr>
          <p:cNvCxnSpPr>
            <a:cxnSpLocks/>
          </p:cNvCxnSpPr>
          <p:nvPr/>
        </p:nvCxnSpPr>
        <p:spPr>
          <a:xfrm flipH="1">
            <a:off x="1218720" y="4556106"/>
            <a:ext cx="83640" cy="2936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F5F00565-15B6-4FF0-A103-66BC45F2D0CF}"/>
              </a:ext>
            </a:extLst>
          </p:cNvPr>
          <p:cNvCxnSpPr>
            <a:cxnSpLocks/>
          </p:cNvCxnSpPr>
          <p:nvPr/>
        </p:nvCxnSpPr>
        <p:spPr>
          <a:xfrm flipH="1" flipV="1">
            <a:off x="1509148" y="5145796"/>
            <a:ext cx="240430" cy="5988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00824FD-B617-4F13-B33D-FCB4BE1FEBB7}"/>
              </a:ext>
            </a:extLst>
          </p:cNvPr>
          <p:cNvSpPr txBox="1"/>
          <p:nvPr/>
        </p:nvSpPr>
        <p:spPr>
          <a:xfrm>
            <a:off x="1117874" y="4196871"/>
            <a:ext cx="12911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Temos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406EE75A-D648-4ABB-A917-4C7D49374A7C}"/>
              </a:ext>
            </a:extLst>
          </p:cNvPr>
          <p:cNvSpPr txBox="1"/>
          <p:nvPr/>
        </p:nvSpPr>
        <p:spPr>
          <a:xfrm>
            <a:off x="36010" y="5692224"/>
            <a:ext cx="12911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Temos</a:t>
            </a:r>
          </a:p>
        </p:txBody>
      </p: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65CFF76F-76E7-493B-98FE-D35104BB3E6D}"/>
              </a:ext>
            </a:extLst>
          </p:cNvPr>
          <p:cNvCxnSpPr>
            <a:cxnSpLocks/>
          </p:cNvCxnSpPr>
          <p:nvPr/>
        </p:nvCxnSpPr>
        <p:spPr>
          <a:xfrm>
            <a:off x="1708689" y="5029478"/>
            <a:ext cx="48391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Object 3">
                <a:extLst>
                  <a:ext uri="{FF2B5EF4-FFF2-40B4-BE49-F238E27FC236}">
                    <a16:creationId xmlns:a16="http://schemas.microsoft.com/office/drawing/2014/main" id="{B4CE5FB7-EFA1-4DB2-9D3C-FB023795B8C0}"/>
                  </a:ext>
                </a:extLst>
              </p:cNvPr>
              <p:cNvSpPr txBox="1"/>
              <p:nvPr/>
            </p:nvSpPr>
            <p:spPr bwMode="auto">
              <a:xfrm>
                <a:off x="2409052" y="4742194"/>
                <a:ext cx="3673994" cy="7018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num>
                        <m:den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0,24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20" name="Object 3">
                <a:extLst>
                  <a:ext uri="{FF2B5EF4-FFF2-40B4-BE49-F238E27FC236}">
                    <a16:creationId xmlns:a16="http://schemas.microsoft.com/office/drawing/2014/main" id="{B4CE5FB7-EFA1-4DB2-9D3C-FB023795B8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09052" y="4742194"/>
                <a:ext cx="3673994" cy="7018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tângulo 20">
            <a:extLst>
              <a:ext uri="{FF2B5EF4-FFF2-40B4-BE49-F238E27FC236}">
                <a16:creationId xmlns:a16="http://schemas.microsoft.com/office/drawing/2014/main" id="{1C31E7D9-78E2-4D65-B081-7CCBBBA9CF9D}"/>
              </a:ext>
            </a:extLst>
          </p:cNvPr>
          <p:cNvSpPr/>
          <p:nvPr/>
        </p:nvSpPr>
        <p:spPr>
          <a:xfrm>
            <a:off x="4724148" y="4834604"/>
            <a:ext cx="1358897" cy="360308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72BFEBB5-DBCA-4BAD-AB49-18995CFE953A}"/>
              </a:ext>
            </a:extLst>
          </p:cNvPr>
          <p:cNvSpPr txBox="1"/>
          <p:nvPr/>
        </p:nvSpPr>
        <p:spPr>
          <a:xfrm>
            <a:off x="4855093" y="4465272"/>
            <a:ext cx="12911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Resposta</a:t>
            </a:r>
          </a:p>
        </p:txBody>
      </p:sp>
    </p:spTree>
    <p:extLst>
      <p:ext uri="{BB962C8B-B14F-4D97-AF65-F5344CB8AC3E}">
        <p14:creationId xmlns:p14="http://schemas.microsoft.com/office/powerpoint/2010/main" val="1000798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8902F0B-EA49-4AEF-BC22-C1C8EE70BD24}"/>
              </a:ext>
            </a:extLst>
          </p:cNvPr>
          <p:cNvSpPr txBox="1"/>
          <p:nvPr/>
        </p:nvSpPr>
        <p:spPr>
          <a:xfrm>
            <a:off x="0" y="841570"/>
            <a:ext cx="91439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3)</a:t>
            </a:r>
            <a:r>
              <a:rPr lang="pt-B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Uma força de12 N é aplicada em um corpo de massa 50 kg. A) Qual é a aceleração produzida por essa força? B) Se a velocidade do corpo era 3 m/s quando se iniciou a ação da força, qual será o seu valor 5 s depois?</a:t>
            </a:r>
            <a:endParaRPr lang="pt-BR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2BCA5C5-C6BE-4EAF-AB81-0632F9DD8A84}"/>
              </a:ext>
            </a:extLst>
          </p:cNvPr>
          <p:cNvSpPr/>
          <p:nvPr/>
        </p:nvSpPr>
        <p:spPr>
          <a:xfrm>
            <a:off x="2778802" y="3087111"/>
            <a:ext cx="650450" cy="49962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162AD4D5-25A2-4D1E-8AF6-3F5ECC31CA8E}"/>
              </a:ext>
            </a:extLst>
          </p:cNvPr>
          <p:cNvCxnSpPr/>
          <p:nvPr/>
        </p:nvCxnSpPr>
        <p:spPr>
          <a:xfrm>
            <a:off x="1713573" y="3346347"/>
            <a:ext cx="106522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8B4CB139-05ED-4F27-8CB9-116B75F414D7}"/>
              </a:ext>
            </a:extLst>
          </p:cNvPr>
          <p:cNvSpPr txBox="1"/>
          <p:nvPr/>
        </p:nvSpPr>
        <p:spPr>
          <a:xfrm>
            <a:off x="1651570" y="2903598"/>
            <a:ext cx="11272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F = 12N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5570F5D-4AB2-4364-B1DC-15B6A0366B20}"/>
              </a:ext>
            </a:extLst>
          </p:cNvPr>
          <p:cNvSpPr txBox="1"/>
          <p:nvPr/>
        </p:nvSpPr>
        <p:spPr>
          <a:xfrm>
            <a:off x="2529991" y="2601580"/>
            <a:ext cx="1090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 = 50 kg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A223D6D4-54AC-4900-A738-EB22443434DF}"/>
              </a:ext>
            </a:extLst>
          </p:cNvPr>
          <p:cNvCxnSpPr>
            <a:cxnSpLocks/>
          </p:cNvCxnSpPr>
          <p:nvPr/>
        </p:nvCxnSpPr>
        <p:spPr>
          <a:xfrm>
            <a:off x="2862071" y="4092636"/>
            <a:ext cx="48391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7545356E-0E66-4A71-B253-E199D1475813}"/>
              </a:ext>
            </a:extLst>
          </p:cNvPr>
          <p:cNvSpPr txBox="1"/>
          <p:nvPr/>
        </p:nvSpPr>
        <p:spPr>
          <a:xfrm>
            <a:off x="2778802" y="3694223"/>
            <a:ext cx="1477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 = 0,24 m/s2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EE283A7-96A3-4A8D-83EE-E4723847AC03}"/>
              </a:ext>
            </a:extLst>
          </p:cNvPr>
          <p:cNvSpPr txBox="1"/>
          <p:nvPr/>
        </p:nvSpPr>
        <p:spPr>
          <a:xfrm>
            <a:off x="4724148" y="1947894"/>
            <a:ext cx="2370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(b) Queremos: v(t = 5s)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Object 3">
                <a:extLst>
                  <a:ext uri="{FF2B5EF4-FFF2-40B4-BE49-F238E27FC236}">
                    <a16:creationId xmlns:a16="http://schemas.microsoft.com/office/drawing/2014/main" id="{E3A0F344-F3F4-49C9-9838-3A4DAF63D697}"/>
                  </a:ext>
                </a:extLst>
              </p:cNvPr>
              <p:cNvSpPr txBox="1"/>
              <p:nvPr/>
            </p:nvSpPr>
            <p:spPr bwMode="auto">
              <a:xfrm>
                <a:off x="548302" y="4810185"/>
                <a:ext cx="2028825" cy="454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:r>
                  <a:rPr lang="pt-BR" b="0" dirty="0">
                    <a:solidFill>
                      <a:srgbClr val="000000"/>
                    </a:solidFill>
                  </a:rPr>
                  <a:t>v(t)=v0+a</a:t>
                </a:r>
                <a14:m>
                  <m:oMath xmlns:m="http://schemas.openxmlformats.org/officeDocument/2006/math">
                    <m:r>
                      <a:rPr lang="pt-B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pt-BR" dirty="0"/>
              </a:p>
            </p:txBody>
          </p:sp>
        </mc:Choice>
        <mc:Fallback>
          <p:sp>
            <p:nvSpPr>
              <p:cNvPr id="11" name="Object 3">
                <a:extLst>
                  <a:ext uri="{FF2B5EF4-FFF2-40B4-BE49-F238E27FC236}">
                    <a16:creationId xmlns:a16="http://schemas.microsoft.com/office/drawing/2014/main" id="{E3A0F344-F3F4-49C9-9838-3A4DAF63D6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8302" y="4810185"/>
                <a:ext cx="2028825" cy="454025"/>
              </a:xfrm>
              <a:prstGeom prst="rect">
                <a:avLst/>
              </a:prstGeom>
              <a:blipFill>
                <a:blip r:embed="rId3"/>
                <a:stretch>
                  <a:fillRect l="-2703" t="-6667" b="-1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65CFF76F-76E7-493B-98FE-D35104BB3E6D}"/>
              </a:ext>
            </a:extLst>
          </p:cNvPr>
          <p:cNvCxnSpPr>
            <a:cxnSpLocks/>
          </p:cNvCxnSpPr>
          <p:nvPr/>
        </p:nvCxnSpPr>
        <p:spPr>
          <a:xfrm>
            <a:off x="1708689" y="5029478"/>
            <a:ext cx="48391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tângulo 20">
            <a:extLst>
              <a:ext uri="{FF2B5EF4-FFF2-40B4-BE49-F238E27FC236}">
                <a16:creationId xmlns:a16="http://schemas.microsoft.com/office/drawing/2014/main" id="{1C31E7D9-78E2-4D65-B081-7CCBBBA9CF9D}"/>
              </a:ext>
            </a:extLst>
          </p:cNvPr>
          <p:cNvSpPr/>
          <p:nvPr/>
        </p:nvSpPr>
        <p:spPr>
          <a:xfrm>
            <a:off x="5006505" y="4746415"/>
            <a:ext cx="1358897" cy="360308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72BFEBB5-DBCA-4BAD-AB49-18995CFE953A}"/>
              </a:ext>
            </a:extLst>
          </p:cNvPr>
          <p:cNvSpPr txBox="1"/>
          <p:nvPr/>
        </p:nvSpPr>
        <p:spPr>
          <a:xfrm>
            <a:off x="5137450" y="4377083"/>
            <a:ext cx="12911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Resposta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884FEB58-2283-489B-A25A-6BFC1E0444F0}"/>
              </a:ext>
            </a:extLst>
          </p:cNvPr>
          <p:cNvSpPr txBox="1"/>
          <p:nvPr/>
        </p:nvSpPr>
        <p:spPr>
          <a:xfrm>
            <a:off x="2778802" y="2147670"/>
            <a:ext cx="1156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v0 = 3 m/s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A08C20E6-93CC-4237-8627-662DBD225DEC}"/>
              </a:ext>
            </a:extLst>
          </p:cNvPr>
          <p:cNvSpPr/>
          <p:nvPr/>
        </p:nvSpPr>
        <p:spPr>
          <a:xfrm>
            <a:off x="5778454" y="3082193"/>
            <a:ext cx="650450" cy="49962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C3EE54AC-E9B1-4F6C-9B9D-F9062D7AFE9B}"/>
              </a:ext>
            </a:extLst>
          </p:cNvPr>
          <p:cNvSpPr txBox="1"/>
          <p:nvPr/>
        </p:nvSpPr>
        <p:spPr>
          <a:xfrm>
            <a:off x="5500682" y="2455798"/>
            <a:ext cx="1157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v(t=5s) = 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Object 3">
                <a:extLst>
                  <a:ext uri="{FF2B5EF4-FFF2-40B4-BE49-F238E27FC236}">
                    <a16:creationId xmlns:a16="http://schemas.microsoft.com/office/drawing/2014/main" id="{3FC5BDC5-D1D8-4116-A4A3-1B1FF17E3EB4}"/>
                  </a:ext>
                </a:extLst>
              </p:cNvPr>
              <p:cNvSpPr txBox="1"/>
              <p:nvPr/>
            </p:nvSpPr>
            <p:spPr bwMode="auto">
              <a:xfrm>
                <a:off x="2192599" y="4836582"/>
                <a:ext cx="4465772" cy="454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85000" lnSpcReduction="10000"/>
              </a:bodyPr>
              <a:lstStyle/>
              <a:p>
                <a:pPr/>
                <a:r>
                  <a:rPr lang="pt-BR" b="0" dirty="0">
                    <a:solidFill>
                      <a:srgbClr val="000000"/>
                    </a:solidFill>
                  </a:rPr>
                  <a:t>v(t)=3+0</a:t>
                </a:r>
                <a14:m>
                  <m:oMath xmlns:m="http://schemas.openxmlformats.org/officeDocument/2006/math">
                    <m:r>
                      <a:rPr lang="pt-BR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,24</m:t>
                    </m:r>
                    <m:r>
                      <a:rPr lang="pt-B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pt-B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pt-BR" dirty="0">
                        <a:solidFill>
                          <a:srgbClr val="000000"/>
                        </a:solidFill>
                      </a:rPr>
                      <m:t>v</m:t>
                    </m:r>
                    <m:r>
                      <m:rPr>
                        <m:nor/>
                      </m:rPr>
                      <a:rPr lang="pt-BR" dirty="0">
                        <a:solidFill>
                          <a:srgbClr val="000000"/>
                        </a:solidFill>
                      </a:rPr>
                      <m:t>(</m:t>
                    </m:r>
                    <m:r>
                      <m:rPr>
                        <m:nor/>
                      </m:rPr>
                      <a:rPr lang="pt-BR" dirty="0">
                        <a:solidFill>
                          <a:srgbClr val="000000"/>
                        </a:solidFill>
                      </a:rPr>
                      <m:t>t</m:t>
                    </m:r>
                    <m:r>
                      <m:rPr>
                        <m:nor/>
                      </m:rPr>
                      <a:rPr lang="pt-BR" b="0" i="0" dirty="0" smtClean="0">
                        <a:solidFill>
                          <a:srgbClr val="000000"/>
                        </a:solidFill>
                      </a:rPr>
                      <m:t>=5</m:t>
                    </m:r>
                    <m:r>
                      <m:rPr>
                        <m:nor/>
                      </m:rPr>
                      <a:rPr lang="pt-BR" dirty="0">
                        <a:solidFill>
                          <a:srgbClr val="000000"/>
                        </a:solidFill>
                      </a:rPr>
                      <m:t>)=3+0</m:t>
                    </m:r>
                    <m:r>
                      <a:rPr lang="pt-BR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,24</m:t>
                    </m:r>
                    <m:r>
                      <a:rPr lang="pt-B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.5</m:t>
                    </m:r>
                    <m:r>
                      <a:rPr lang="pt-BR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pt-BR" dirty="0">
                        <a:solidFill>
                          <a:srgbClr val="000000"/>
                        </a:solidFill>
                      </a:rPr>
                      <m:t>v</m:t>
                    </m:r>
                    <m:r>
                      <m:rPr>
                        <m:nor/>
                      </m:rPr>
                      <a:rPr lang="pt-BR" dirty="0">
                        <a:solidFill>
                          <a:srgbClr val="000000"/>
                        </a:solidFill>
                      </a:rPr>
                      <m:t>(</m:t>
                    </m:r>
                    <m:r>
                      <m:rPr>
                        <m:nor/>
                      </m:rPr>
                      <a:rPr lang="pt-BR" dirty="0">
                        <a:solidFill>
                          <a:srgbClr val="000000"/>
                        </a:solidFill>
                      </a:rPr>
                      <m:t>t</m:t>
                    </m:r>
                    <m:r>
                      <m:rPr>
                        <m:nor/>
                      </m:rPr>
                      <a:rPr lang="pt-BR" dirty="0">
                        <a:solidFill>
                          <a:srgbClr val="000000"/>
                        </a:solidFill>
                      </a:rPr>
                      <m:t>=5)=4,2</m:t>
                    </m:r>
                    <m:r>
                      <m:rPr>
                        <m:nor/>
                      </m:rPr>
                      <a:rPr lang="pt-BR" b="0" i="0" dirty="0" smtClean="0">
                        <a:solidFill>
                          <a:srgbClr val="000000"/>
                        </a:solidFill>
                      </a:rPr>
                      <m:t>m</m:t>
                    </m:r>
                    <m:r>
                      <m:rPr>
                        <m:nor/>
                      </m:rPr>
                      <a:rPr lang="pt-BR" b="0" i="0" dirty="0" smtClean="0">
                        <a:solidFill>
                          <a:srgbClr val="000000"/>
                        </a:solidFill>
                      </a:rPr>
                      <m:t>/</m:t>
                    </m:r>
                    <m:r>
                      <m:rPr>
                        <m:nor/>
                      </m:rPr>
                      <a:rPr lang="pt-BR" b="0" i="0" dirty="0" smtClean="0">
                        <a:solidFill>
                          <a:srgbClr val="000000"/>
                        </a:solidFill>
                      </a:rPr>
                      <m:t>s</m:t>
                    </m:r>
                  </m:oMath>
                </a14:m>
                <a:endParaRPr lang="pt-BR" dirty="0"/>
              </a:p>
            </p:txBody>
          </p:sp>
        </mc:Choice>
        <mc:Fallback>
          <p:sp>
            <p:nvSpPr>
              <p:cNvPr id="26" name="Object 3">
                <a:extLst>
                  <a:ext uri="{FF2B5EF4-FFF2-40B4-BE49-F238E27FC236}">
                    <a16:creationId xmlns:a16="http://schemas.microsoft.com/office/drawing/2014/main" id="{3FC5BDC5-D1D8-4116-A4A3-1B1FF17E3E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92599" y="4836582"/>
                <a:ext cx="4465772" cy="454025"/>
              </a:xfrm>
              <a:prstGeom prst="rect">
                <a:avLst/>
              </a:prstGeom>
              <a:blipFill>
                <a:blip r:embed="rId4"/>
                <a:stretch>
                  <a:fillRect l="-546" t="-6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3416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92ADD8B3-996D-4EA8-BE5F-2738943FB116}"/>
              </a:ext>
            </a:extLst>
          </p:cNvPr>
          <p:cNvSpPr txBox="1"/>
          <p:nvPr/>
        </p:nvSpPr>
        <p:spPr>
          <a:xfrm>
            <a:off x="0" y="841570"/>
            <a:ext cx="9144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4)	</a:t>
            </a:r>
            <a:r>
              <a:rPr lang="pt-B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Um corpo de massa igual a 3,0 kg está sob a ação de uma força horizontal constante. Ele se desloca num plano horizontal, sem atrito e sua velocidade aumenta de 2,0 m/s em 4,0s. Quanto vale a intensidade da força?</a:t>
            </a:r>
            <a:endParaRPr lang="pt-BR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A47FD3F-249E-4F73-9365-D891E7DC18F3}"/>
              </a:ext>
            </a:extLst>
          </p:cNvPr>
          <p:cNvSpPr/>
          <p:nvPr/>
        </p:nvSpPr>
        <p:spPr>
          <a:xfrm>
            <a:off x="2778802" y="3087111"/>
            <a:ext cx="650450" cy="49962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E76283A4-2B72-41D2-B110-661C1CACD289}"/>
              </a:ext>
            </a:extLst>
          </p:cNvPr>
          <p:cNvCxnSpPr/>
          <p:nvPr/>
        </p:nvCxnSpPr>
        <p:spPr>
          <a:xfrm>
            <a:off x="1713573" y="3346347"/>
            <a:ext cx="106522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03C1CE3B-52AA-4373-B599-0CBDE03DB6EE}"/>
              </a:ext>
            </a:extLst>
          </p:cNvPr>
          <p:cNvSpPr txBox="1"/>
          <p:nvPr/>
        </p:nvSpPr>
        <p:spPr>
          <a:xfrm>
            <a:off x="2034092" y="2919638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F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0A183F4-714B-4DA1-B15F-E3503A1325B8}"/>
              </a:ext>
            </a:extLst>
          </p:cNvPr>
          <p:cNvSpPr txBox="1"/>
          <p:nvPr/>
        </p:nvSpPr>
        <p:spPr>
          <a:xfrm>
            <a:off x="2529991" y="2601580"/>
            <a:ext cx="973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 = 3 kg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850CD3DE-D647-4E7D-A80D-5B8BE909B710}"/>
              </a:ext>
            </a:extLst>
          </p:cNvPr>
          <p:cNvCxnSpPr>
            <a:cxnSpLocks/>
          </p:cNvCxnSpPr>
          <p:nvPr/>
        </p:nvCxnSpPr>
        <p:spPr>
          <a:xfrm>
            <a:off x="2862071" y="4092636"/>
            <a:ext cx="48391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E867D24C-AF67-4CE6-8557-3FC57CC1EB5E}"/>
              </a:ext>
            </a:extLst>
          </p:cNvPr>
          <p:cNvSpPr txBox="1"/>
          <p:nvPr/>
        </p:nvSpPr>
        <p:spPr>
          <a:xfrm>
            <a:off x="2927535" y="3694223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BA6D7902-C9E7-4FCF-937C-9E2E879E313D}"/>
              </a:ext>
            </a:extLst>
          </p:cNvPr>
          <p:cNvSpPr/>
          <p:nvPr/>
        </p:nvSpPr>
        <p:spPr>
          <a:xfrm>
            <a:off x="5778454" y="3082193"/>
            <a:ext cx="650450" cy="49962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2BD92B57-AD2B-4A70-B492-0BC727517E3B}"/>
              </a:ext>
            </a:extLst>
          </p:cNvPr>
          <p:cNvCxnSpPr>
            <a:cxnSpLocks/>
          </p:cNvCxnSpPr>
          <p:nvPr/>
        </p:nvCxnSpPr>
        <p:spPr>
          <a:xfrm>
            <a:off x="3738371" y="2970912"/>
            <a:ext cx="175437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Object 3">
                <a:extLst>
                  <a:ext uri="{FF2B5EF4-FFF2-40B4-BE49-F238E27FC236}">
                    <a16:creationId xmlns:a16="http://schemas.microsoft.com/office/drawing/2014/main" id="{E44FD076-DBDE-4713-A757-FB624F69FBCE}"/>
                  </a:ext>
                </a:extLst>
              </p:cNvPr>
              <p:cNvSpPr txBox="1"/>
              <p:nvPr/>
            </p:nvSpPr>
            <p:spPr bwMode="auto">
              <a:xfrm>
                <a:off x="4056895" y="2601580"/>
                <a:ext cx="1030210" cy="454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17" name="Object 3">
                <a:extLst>
                  <a:ext uri="{FF2B5EF4-FFF2-40B4-BE49-F238E27FC236}">
                    <a16:creationId xmlns:a16="http://schemas.microsoft.com/office/drawing/2014/main" id="{E44FD076-DBDE-4713-A757-FB624F69FB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56895" y="2601580"/>
                <a:ext cx="1030210" cy="4540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5E83C290-7F47-4732-85B1-43A9D75CF2AD}"/>
              </a:ext>
            </a:extLst>
          </p:cNvPr>
          <p:cNvCxnSpPr>
            <a:cxnSpLocks/>
          </p:cNvCxnSpPr>
          <p:nvPr/>
        </p:nvCxnSpPr>
        <p:spPr>
          <a:xfrm>
            <a:off x="3738370" y="3332003"/>
            <a:ext cx="175437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Object 3">
                <a:extLst>
                  <a:ext uri="{FF2B5EF4-FFF2-40B4-BE49-F238E27FC236}">
                    <a16:creationId xmlns:a16="http://schemas.microsoft.com/office/drawing/2014/main" id="{BFABAE0C-62D4-4851-9F31-78B17D997057}"/>
                  </a:ext>
                </a:extLst>
              </p:cNvPr>
              <p:cNvSpPr txBox="1"/>
              <p:nvPr/>
            </p:nvSpPr>
            <p:spPr bwMode="auto">
              <a:xfrm>
                <a:off x="4044950" y="3381389"/>
                <a:ext cx="1221274" cy="454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19" name="Object 3">
                <a:extLst>
                  <a:ext uri="{FF2B5EF4-FFF2-40B4-BE49-F238E27FC236}">
                    <a16:creationId xmlns:a16="http://schemas.microsoft.com/office/drawing/2014/main" id="{BFABAE0C-62D4-4851-9F31-78B17D9970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44950" y="3381389"/>
                <a:ext cx="1221274" cy="4540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CaixaDeTexto 19">
            <a:extLst>
              <a:ext uri="{FF2B5EF4-FFF2-40B4-BE49-F238E27FC236}">
                <a16:creationId xmlns:a16="http://schemas.microsoft.com/office/drawing/2014/main" id="{F5178EDB-C0D7-4FEF-A3B7-9E6AC5E07B2D}"/>
              </a:ext>
            </a:extLst>
          </p:cNvPr>
          <p:cNvSpPr txBox="1"/>
          <p:nvPr/>
        </p:nvSpPr>
        <p:spPr>
          <a:xfrm>
            <a:off x="5744348" y="1776021"/>
            <a:ext cx="1401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Queremos: F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Object 3">
                <a:extLst>
                  <a:ext uri="{FF2B5EF4-FFF2-40B4-BE49-F238E27FC236}">
                    <a16:creationId xmlns:a16="http://schemas.microsoft.com/office/drawing/2014/main" id="{B6D34C9F-722D-4AF0-AA02-BD1106EDFC6E}"/>
                  </a:ext>
                </a:extLst>
              </p:cNvPr>
              <p:cNvSpPr txBox="1"/>
              <p:nvPr/>
            </p:nvSpPr>
            <p:spPr bwMode="auto">
              <a:xfrm>
                <a:off x="548302" y="4835636"/>
                <a:ext cx="2028825" cy="454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21" name="Object 3">
                <a:extLst>
                  <a:ext uri="{FF2B5EF4-FFF2-40B4-BE49-F238E27FC236}">
                    <a16:creationId xmlns:a16="http://schemas.microsoft.com/office/drawing/2014/main" id="{B6D34C9F-722D-4AF0-AA02-BD1106EDFC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8302" y="4835636"/>
                <a:ext cx="2028825" cy="4540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14BA9325-DEF1-4014-9903-C82A8015EA97}"/>
              </a:ext>
            </a:extLst>
          </p:cNvPr>
          <p:cNvCxnSpPr>
            <a:cxnSpLocks/>
          </p:cNvCxnSpPr>
          <p:nvPr/>
        </p:nvCxnSpPr>
        <p:spPr>
          <a:xfrm flipV="1">
            <a:off x="548302" y="5172555"/>
            <a:ext cx="133298" cy="5520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4A4EF9AF-9639-488D-92DE-DA1FDDE3136B}"/>
              </a:ext>
            </a:extLst>
          </p:cNvPr>
          <p:cNvSpPr txBox="1"/>
          <p:nvPr/>
        </p:nvSpPr>
        <p:spPr>
          <a:xfrm>
            <a:off x="-30638" y="5647098"/>
            <a:ext cx="12911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Queremos</a:t>
            </a:r>
            <a:endParaRPr lang="pt-BR" dirty="0"/>
          </a:p>
        </p:txBody>
      </p: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D158A0E4-AE3F-4EF5-95FF-A1BCEAB7E70A}"/>
              </a:ext>
            </a:extLst>
          </p:cNvPr>
          <p:cNvCxnSpPr>
            <a:cxnSpLocks/>
          </p:cNvCxnSpPr>
          <p:nvPr/>
        </p:nvCxnSpPr>
        <p:spPr>
          <a:xfrm flipH="1">
            <a:off x="1218720" y="4556106"/>
            <a:ext cx="83640" cy="2936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24">
            <a:extLst>
              <a:ext uri="{FF2B5EF4-FFF2-40B4-BE49-F238E27FC236}">
                <a16:creationId xmlns:a16="http://schemas.microsoft.com/office/drawing/2014/main" id="{3D89EDDB-3EC3-4680-A93E-E7535BD58C78}"/>
              </a:ext>
            </a:extLst>
          </p:cNvPr>
          <p:cNvCxnSpPr>
            <a:cxnSpLocks/>
          </p:cNvCxnSpPr>
          <p:nvPr/>
        </p:nvCxnSpPr>
        <p:spPr>
          <a:xfrm flipH="1" flipV="1">
            <a:off x="1509148" y="5145796"/>
            <a:ext cx="240430" cy="5988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AE7391C7-BD5A-40AC-98E8-0AB8955AF328}"/>
              </a:ext>
            </a:extLst>
          </p:cNvPr>
          <p:cNvSpPr txBox="1"/>
          <p:nvPr/>
        </p:nvSpPr>
        <p:spPr>
          <a:xfrm>
            <a:off x="1117874" y="4196871"/>
            <a:ext cx="12911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Temos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005BB21D-C45A-40C9-901D-12AD16E26085}"/>
              </a:ext>
            </a:extLst>
          </p:cNvPr>
          <p:cNvSpPr txBox="1"/>
          <p:nvPr/>
        </p:nvSpPr>
        <p:spPr>
          <a:xfrm>
            <a:off x="1193891" y="5647098"/>
            <a:ext cx="12911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Precisamos</a:t>
            </a:r>
          </a:p>
        </p:txBody>
      </p: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8E1C78DD-883E-48BC-8B6B-D099F955A21F}"/>
              </a:ext>
            </a:extLst>
          </p:cNvPr>
          <p:cNvCxnSpPr>
            <a:cxnSpLocks/>
          </p:cNvCxnSpPr>
          <p:nvPr/>
        </p:nvCxnSpPr>
        <p:spPr>
          <a:xfrm>
            <a:off x="1708689" y="5029478"/>
            <a:ext cx="280616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9C88EE68-131C-4284-B6C8-6226F0794C95}"/>
              </a:ext>
            </a:extLst>
          </p:cNvPr>
          <p:cNvCxnSpPr/>
          <p:nvPr/>
        </p:nvCxnSpPr>
        <p:spPr>
          <a:xfrm flipV="1">
            <a:off x="3073400" y="5172555"/>
            <a:ext cx="0" cy="7710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Object 3">
                <a:extLst>
                  <a:ext uri="{FF2B5EF4-FFF2-40B4-BE49-F238E27FC236}">
                    <a16:creationId xmlns:a16="http://schemas.microsoft.com/office/drawing/2014/main" id="{EB492423-8D43-49ED-A1FE-41957AFA9A37}"/>
                  </a:ext>
                </a:extLst>
              </p:cNvPr>
              <p:cNvSpPr txBox="1"/>
              <p:nvPr/>
            </p:nvSpPr>
            <p:spPr bwMode="auto">
              <a:xfrm>
                <a:off x="2574017" y="5996530"/>
                <a:ext cx="2423433" cy="7824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=0,5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32" name="Object 3">
                <a:extLst>
                  <a:ext uri="{FF2B5EF4-FFF2-40B4-BE49-F238E27FC236}">
                    <a16:creationId xmlns:a16="http://schemas.microsoft.com/office/drawing/2014/main" id="{EB492423-8D43-49ED-A1FE-41957AFA9A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74017" y="5996530"/>
                <a:ext cx="2423433" cy="78241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Object 3">
                <a:extLst>
                  <a:ext uri="{FF2B5EF4-FFF2-40B4-BE49-F238E27FC236}">
                    <a16:creationId xmlns:a16="http://schemas.microsoft.com/office/drawing/2014/main" id="{139DC3DF-DA67-4258-95A8-32FA661844A0}"/>
                  </a:ext>
                </a:extLst>
              </p:cNvPr>
              <p:cNvSpPr txBox="1"/>
              <p:nvPr/>
            </p:nvSpPr>
            <p:spPr bwMode="auto">
              <a:xfrm>
                <a:off x="4514850" y="4831967"/>
                <a:ext cx="2540000" cy="454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pt-B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pt-B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=3.0,5→</m:t>
                    </m:r>
                    <m:r>
                      <a:rPr lang="pt-B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pt-B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pt-BR" dirty="0"/>
                  <a:t>1,5N</a:t>
                </a:r>
              </a:p>
            </p:txBody>
          </p:sp>
        </mc:Choice>
        <mc:Fallback>
          <p:sp>
            <p:nvSpPr>
              <p:cNvPr id="33" name="Object 3">
                <a:extLst>
                  <a:ext uri="{FF2B5EF4-FFF2-40B4-BE49-F238E27FC236}">
                    <a16:creationId xmlns:a16="http://schemas.microsoft.com/office/drawing/2014/main" id="{139DC3DF-DA67-4258-95A8-32FA661844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14850" y="4831967"/>
                <a:ext cx="2540000" cy="454025"/>
              </a:xfrm>
              <a:prstGeom prst="rect">
                <a:avLst/>
              </a:prstGeom>
              <a:blipFill>
                <a:blip r:embed="rId7"/>
                <a:stretch>
                  <a:fillRect t="-8108" b="-270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tângulo 33">
            <a:extLst>
              <a:ext uri="{FF2B5EF4-FFF2-40B4-BE49-F238E27FC236}">
                <a16:creationId xmlns:a16="http://schemas.microsoft.com/office/drawing/2014/main" id="{F9504C18-FE3B-449B-B703-6D08416B81E7}"/>
              </a:ext>
            </a:extLst>
          </p:cNvPr>
          <p:cNvSpPr/>
          <p:nvPr/>
        </p:nvSpPr>
        <p:spPr>
          <a:xfrm>
            <a:off x="5789617" y="4845312"/>
            <a:ext cx="1358897" cy="360308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D904C9F7-3E16-46FE-A235-93B17B1188A5}"/>
              </a:ext>
            </a:extLst>
          </p:cNvPr>
          <p:cNvSpPr txBox="1"/>
          <p:nvPr/>
        </p:nvSpPr>
        <p:spPr>
          <a:xfrm>
            <a:off x="5920562" y="4475980"/>
            <a:ext cx="12911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Resposta</a:t>
            </a:r>
          </a:p>
        </p:txBody>
      </p:sp>
    </p:spTree>
    <p:extLst>
      <p:ext uri="{BB962C8B-B14F-4D97-AF65-F5344CB8AC3E}">
        <p14:creationId xmlns:p14="http://schemas.microsoft.com/office/powerpoint/2010/main" val="555546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B492AA62-C25D-4DD5-98D1-C88D87FAA4BA}"/>
              </a:ext>
            </a:extLst>
          </p:cNvPr>
          <p:cNvSpPr txBox="1"/>
          <p:nvPr/>
        </p:nvSpPr>
        <p:spPr>
          <a:xfrm>
            <a:off x="0" y="838515"/>
            <a:ext cx="9144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7)</a:t>
            </a:r>
            <a:r>
              <a:rPr lang="pt-B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Veja a figura abaixo: nela há um bloco de massa </a:t>
            </a:r>
            <a:r>
              <a:rPr lang="pt-BR" sz="1800" i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</a:t>
            </a:r>
            <a:r>
              <a:rPr lang="pt-B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= 2,5 kg. Suponha que o bloco esteja submetido a duas forças horizontais de intensidades </a:t>
            </a:r>
            <a:r>
              <a:rPr lang="pt-BR" sz="1800" i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</a:t>
            </a:r>
            <a:r>
              <a:rPr lang="pt-BR" sz="1800" i="1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</a:t>
            </a:r>
            <a:r>
              <a:rPr lang="pt-B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= 100 N e </a:t>
            </a:r>
            <a:r>
              <a:rPr lang="pt-BR" sz="1800" i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</a:t>
            </a:r>
            <a:r>
              <a:rPr lang="pt-BR" sz="1800" i="1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</a:t>
            </a:r>
            <a:r>
              <a:rPr lang="pt-B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= 75 N. Determine a aceleração adquirida pelo bloco, nas unidades do SI.</a:t>
            </a:r>
            <a:endParaRPr lang="pt-BR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36609DB-0B54-4CB6-A31C-FFB7B87D79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1938845"/>
            <a:ext cx="3265487" cy="104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EA3980B0-FD2B-4507-989A-8D96F62BD798}"/>
              </a:ext>
            </a:extLst>
          </p:cNvPr>
          <p:cNvSpPr txBox="1"/>
          <p:nvPr/>
        </p:nvSpPr>
        <p:spPr>
          <a:xfrm>
            <a:off x="5744348" y="1776021"/>
            <a:ext cx="1401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Queremos: a</a:t>
            </a: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7AD0DA64-1002-43E9-9896-0BFAC555CA12}"/>
              </a:ext>
            </a:extLst>
          </p:cNvPr>
          <p:cNvCxnSpPr>
            <a:cxnSpLocks/>
          </p:cNvCxnSpPr>
          <p:nvPr/>
        </p:nvCxnSpPr>
        <p:spPr>
          <a:xfrm>
            <a:off x="1278368" y="3381833"/>
            <a:ext cx="48391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2D47309-0CB7-4AAA-BB93-D1A10006DF26}"/>
              </a:ext>
            </a:extLst>
          </p:cNvPr>
          <p:cNvSpPr txBox="1"/>
          <p:nvPr/>
        </p:nvSpPr>
        <p:spPr>
          <a:xfrm>
            <a:off x="1343832" y="2983420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Object 3">
                <a:extLst>
                  <a:ext uri="{FF2B5EF4-FFF2-40B4-BE49-F238E27FC236}">
                    <a16:creationId xmlns:a16="http://schemas.microsoft.com/office/drawing/2014/main" id="{888BBDC0-5006-4C13-80CB-785E40410BFF}"/>
                  </a:ext>
                </a:extLst>
              </p:cNvPr>
              <p:cNvSpPr txBox="1"/>
              <p:nvPr/>
            </p:nvSpPr>
            <p:spPr bwMode="auto">
              <a:xfrm>
                <a:off x="548302" y="4523578"/>
                <a:ext cx="6938348" cy="454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pt-B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pt-BR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75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2,5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pt-BR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pt-B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2,5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pt-BR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pt-BR" dirty="0"/>
              </a:p>
              <a:p>
                <a:pPr/>
                <a:endParaRPr lang="pt-BR" dirty="0"/>
              </a:p>
            </p:txBody>
          </p:sp>
        </mc:Choice>
        <mc:Fallback>
          <p:sp>
            <p:nvSpPr>
              <p:cNvPr id="11" name="Object 3">
                <a:extLst>
                  <a:ext uri="{FF2B5EF4-FFF2-40B4-BE49-F238E27FC236}">
                    <a16:creationId xmlns:a16="http://schemas.microsoft.com/office/drawing/2014/main" id="{888BBDC0-5006-4C13-80CB-785E40410B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8302" y="4523578"/>
                <a:ext cx="6938348" cy="4540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1216CCA5-2801-438F-90E7-ECD89C14B073}"/>
              </a:ext>
            </a:extLst>
          </p:cNvPr>
          <p:cNvCxnSpPr>
            <a:cxnSpLocks/>
          </p:cNvCxnSpPr>
          <p:nvPr/>
        </p:nvCxnSpPr>
        <p:spPr>
          <a:xfrm flipV="1">
            <a:off x="548302" y="4860497"/>
            <a:ext cx="133298" cy="5520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3CCD95C-90CE-424A-B453-9B9ED489348D}"/>
              </a:ext>
            </a:extLst>
          </p:cNvPr>
          <p:cNvSpPr txBox="1"/>
          <p:nvPr/>
        </p:nvSpPr>
        <p:spPr>
          <a:xfrm>
            <a:off x="1302360" y="5335040"/>
            <a:ext cx="12911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Queremos</a:t>
            </a:r>
            <a:endParaRPr lang="pt-BR" dirty="0"/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55D183EB-2771-4914-8F9C-C69F33E57575}"/>
              </a:ext>
            </a:extLst>
          </p:cNvPr>
          <p:cNvCxnSpPr>
            <a:cxnSpLocks/>
          </p:cNvCxnSpPr>
          <p:nvPr/>
        </p:nvCxnSpPr>
        <p:spPr>
          <a:xfrm flipH="1">
            <a:off x="1218720" y="4244048"/>
            <a:ext cx="83640" cy="2936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196DF913-6EF1-49E6-A180-188AB65D4FB9}"/>
              </a:ext>
            </a:extLst>
          </p:cNvPr>
          <p:cNvCxnSpPr>
            <a:cxnSpLocks/>
          </p:cNvCxnSpPr>
          <p:nvPr/>
        </p:nvCxnSpPr>
        <p:spPr>
          <a:xfrm flipH="1" flipV="1">
            <a:off x="1509148" y="4833738"/>
            <a:ext cx="240430" cy="5988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9FD40EB3-BFFD-4A31-8A46-77625BDFA11F}"/>
              </a:ext>
            </a:extLst>
          </p:cNvPr>
          <p:cNvSpPr txBox="1"/>
          <p:nvPr/>
        </p:nvSpPr>
        <p:spPr>
          <a:xfrm>
            <a:off x="-30638" y="5374374"/>
            <a:ext cx="12911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Precisamos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B29A4F4-C2A6-4990-B589-9E8078DABBD1}"/>
              </a:ext>
            </a:extLst>
          </p:cNvPr>
          <p:cNvSpPr txBox="1"/>
          <p:nvPr/>
        </p:nvSpPr>
        <p:spPr>
          <a:xfrm>
            <a:off x="941180" y="3845634"/>
            <a:ext cx="12911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Temos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Object 3">
                <a:extLst>
                  <a:ext uri="{FF2B5EF4-FFF2-40B4-BE49-F238E27FC236}">
                    <a16:creationId xmlns:a16="http://schemas.microsoft.com/office/drawing/2014/main" id="{A6B9357B-D890-46E0-AD4B-9469E4A8363E}"/>
                  </a:ext>
                </a:extLst>
              </p:cNvPr>
              <p:cNvSpPr txBox="1"/>
              <p:nvPr/>
            </p:nvSpPr>
            <p:spPr bwMode="auto">
              <a:xfrm>
                <a:off x="5624879" y="5071937"/>
                <a:ext cx="2580827" cy="923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</m:num>
                        <m:den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2,5</m:t>
                          </m:r>
                        </m:den>
                      </m:f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=10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19" name="Object 3">
                <a:extLst>
                  <a:ext uri="{FF2B5EF4-FFF2-40B4-BE49-F238E27FC236}">
                    <a16:creationId xmlns:a16="http://schemas.microsoft.com/office/drawing/2014/main" id="{A6B9357B-D890-46E0-AD4B-9469E4A836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24879" y="5071937"/>
                <a:ext cx="2580827" cy="9233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tângulo 19">
            <a:extLst>
              <a:ext uri="{FF2B5EF4-FFF2-40B4-BE49-F238E27FC236}">
                <a16:creationId xmlns:a16="http://schemas.microsoft.com/office/drawing/2014/main" id="{E9D1122D-47D6-4906-BC8B-BC3C0A3457C4}"/>
              </a:ext>
            </a:extLst>
          </p:cNvPr>
          <p:cNvSpPr/>
          <p:nvPr/>
        </p:nvSpPr>
        <p:spPr>
          <a:xfrm>
            <a:off x="6685287" y="5159454"/>
            <a:ext cx="1358897" cy="360308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57A6607F-3C0D-45C4-AA22-4E8E79C4021E}"/>
              </a:ext>
            </a:extLst>
          </p:cNvPr>
          <p:cNvSpPr txBox="1"/>
          <p:nvPr/>
        </p:nvSpPr>
        <p:spPr>
          <a:xfrm>
            <a:off x="6816232" y="4790122"/>
            <a:ext cx="12911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Resposta</a:t>
            </a:r>
          </a:p>
        </p:txBody>
      </p: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BA454B4C-DC28-4B52-801E-641AAA8E8061}"/>
              </a:ext>
            </a:extLst>
          </p:cNvPr>
          <p:cNvCxnSpPr>
            <a:cxnSpLocks/>
          </p:cNvCxnSpPr>
          <p:nvPr/>
        </p:nvCxnSpPr>
        <p:spPr>
          <a:xfrm>
            <a:off x="4961468" y="2624667"/>
            <a:ext cx="782880" cy="19130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6505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0DB6628-5160-4F28-B5BB-33702CDF33ED}"/>
              </a:ext>
            </a:extLst>
          </p:cNvPr>
          <p:cNvSpPr txBox="1"/>
          <p:nvPr/>
        </p:nvSpPr>
        <p:spPr>
          <a:xfrm>
            <a:off x="0" y="844603"/>
            <a:ext cx="9144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8)</a:t>
            </a:r>
            <a:r>
              <a:rPr lang="pt-B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Um homem tenta levantar uma caixa de 5kg, que está sobre uma mesa, aplicando uma força vertical de 10N. Nessa situação, qual o valor da força que a mesa aplica na caixa? (g=10m/s</a:t>
            </a:r>
            <a:r>
              <a:rPr lang="pt-BR" sz="1800" baseline="30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</a:t>
            </a:r>
            <a:r>
              <a:rPr lang="pt-B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).</a:t>
            </a:r>
            <a:endParaRPr lang="pt-BR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2ACE873-F55D-42EC-9422-6058A8C7D9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2026709"/>
            <a:ext cx="1828800" cy="149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810D27C9-3E9B-4BF2-A575-CFB22B8EE6A2}"/>
              </a:ext>
            </a:extLst>
          </p:cNvPr>
          <p:cNvCxnSpPr/>
          <p:nvPr/>
        </p:nvCxnSpPr>
        <p:spPr>
          <a:xfrm flipV="1">
            <a:off x="1021080" y="1889549"/>
            <a:ext cx="0" cy="508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65FE759A-36E7-4803-8625-EBFA43E7854D}"/>
              </a:ext>
            </a:extLst>
          </p:cNvPr>
          <p:cNvSpPr txBox="1"/>
          <p:nvPr/>
        </p:nvSpPr>
        <p:spPr>
          <a:xfrm>
            <a:off x="1031995" y="2028217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</a:t>
            </a:r>
            <a:r>
              <a:rPr lang="pt-BR" sz="18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H</a:t>
            </a:r>
            <a:r>
              <a:rPr lang="pt-BR" dirty="0"/>
              <a:t> = 10N</a:t>
            </a:r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BBC8B759-4C63-4C30-AE76-2B44B9419AD1}"/>
              </a:ext>
            </a:extLst>
          </p:cNvPr>
          <p:cNvCxnSpPr/>
          <p:nvPr/>
        </p:nvCxnSpPr>
        <p:spPr>
          <a:xfrm flipV="1">
            <a:off x="1294130" y="2549949"/>
            <a:ext cx="0" cy="508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3383961B-4F3A-44A8-BE71-B3B8263CF7CA}"/>
              </a:ext>
            </a:extLst>
          </p:cNvPr>
          <p:cNvSpPr txBox="1"/>
          <p:nvPr/>
        </p:nvSpPr>
        <p:spPr>
          <a:xfrm>
            <a:off x="1284976" y="2549949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</a:t>
            </a:r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2D78FCB6-0354-4F88-A1DE-B33CCA2FFAFA}"/>
              </a:ext>
            </a:extLst>
          </p:cNvPr>
          <p:cNvCxnSpPr>
            <a:cxnSpLocks/>
          </p:cNvCxnSpPr>
          <p:nvPr/>
        </p:nvCxnSpPr>
        <p:spPr>
          <a:xfrm>
            <a:off x="1064260" y="3153940"/>
            <a:ext cx="0" cy="11450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714320E-8D71-4541-8531-1B13920F43C0}"/>
              </a:ext>
            </a:extLst>
          </p:cNvPr>
          <p:cNvSpPr txBox="1"/>
          <p:nvPr/>
        </p:nvSpPr>
        <p:spPr>
          <a:xfrm>
            <a:off x="1074178" y="3677709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90BB0E96-1ACA-44EB-8413-3FE192286F7C}"/>
              </a:ext>
            </a:extLst>
          </p:cNvPr>
          <p:cNvSpPr txBox="1"/>
          <p:nvPr/>
        </p:nvSpPr>
        <p:spPr>
          <a:xfrm>
            <a:off x="3427835" y="2121748"/>
            <a:ext cx="14303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Queremos: N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36B3BF44-4848-47C1-8B52-6296C23EE3C4}"/>
              </a:ext>
            </a:extLst>
          </p:cNvPr>
          <p:cNvSpPr txBox="1"/>
          <p:nvPr/>
        </p:nvSpPr>
        <p:spPr>
          <a:xfrm>
            <a:off x="2353628" y="2726546"/>
            <a:ext cx="54959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Como a caixa está em equilíbrio, isto é, está parada, ficamos com: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Object 3">
                <a:extLst>
                  <a:ext uri="{FF2B5EF4-FFF2-40B4-BE49-F238E27FC236}">
                    <a16:creationId xmlns:a16="http://schemas.microsoft.com/office/drawing/2014/main" id="{5145474E-D691-467C-9BC9-61F754DAD3CC}"/>
                  </a:ext>
                </a:extLst>
              </p:cNvPr>
              <p:cNvSpPr txBox="1"/>
              <p:nvPr/>
            </p:nvSpPr>
            <p:spPr bwMode="auto">
              <a:xfrm>
                <a:off x="2307114" y="3349469"/>
                <a:ext cx="5681186" cy="7966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↑</m:t>
                          </m:r>
                        </m:e>
                      </m:nary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↑</m:t>
                          </m:r>
                        </m:e>
                      </m:nary>
                      <m:r>
                        <a:rPr lang="pt-B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pt-B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pt-B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pt-BR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pt-BR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18" name="Object 3">
                <a:extLst>
                  <a:ext uri="{FF2B5EF4-FFF2-40B4-BE49-F238E27FC236}">
                    <a16:creationId xmlns:a16="http://schemas.microsoft.com/office/drawing/2014/main" id="{5145474E-D691-467C-9BC9-61F754DAD3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07114" y="3349469"/>
                <a:ext cx="5681186" cy="7966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CaixaDeTexto 18">
            <a:extLst>
              <a:ext uri="{FF2B5EF4-FFF2-40B4-BE49-F238E27FC236}">
                <a16:creationId xmlns:a16="http://schemas.microsoft.com/office/drawing/2014/main" id="{506BD9AE-6AA3-4884-8D59-CA14B46B3D9F}"/>
              </a:ext>
            </a:extLst>
          </p:cNvPr>
          <p:cNvSpPr txBox="1"/>
          <p:nvPr/>
        </p:nvSpPr>
        <p:spPr>
          <a:xfrm>
            <a:off x="1109659" y="4279051"/>
            <a:ext cx="151177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Soma das forças que puxam a caixa para cima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CA5DE7C7-5A74-4DB5-BA9E-1E6E0F0BDA7A}"/>
              </a:ext>
            </a:extLst>
          </p:cNvPr>
          <p:cNvSpPr txBox="1"/>
          <p:nvPr/>
        </p:nvSpPr>
        <p:spPr>
          <a:xfrm>
            <a:off x="3346450" y="4331490"/>
            <a:ext cx="151177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Soma das forças que puxam a caixa para cima</a:t>
            </a:r>
          </a:p>
        </p:txBody>
      </p: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285803C4-772C-42E2-87D9-305FBB110247}"/>
              </a:ext>
            </a:extLst>
          </p:cNvPr>
          <p:cNvCxnSpPr/>
          <p:nvPr/>
        </p:nvCxnSpPr>
        <p:spPr>
          <a:xfrm flipV="1">
            <a:off x="2260600" y="4047041"/>
            <a:ext cx="222250" cy="2519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4EC17D8C-713F-4883-81D1-6BE75DBAA99B}"/>
              </a:ext>
            </a:extLst>
          </p:cNvPr>
          <p:cNvCxnSpPr>
            <a:cxnSpLocks/>
          </p:cNvCxnSpPr>
          <p:nvPr/>
        </p:nvCxnSpPr>
        <p:spPr>
          <a:xfrm flipH="1" flipV="1">
            <a:off x="3504570" y="4126619"/>
            <a:ext cx="174619" cy="2459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Object 3">
                <a:extLst>
                  <a:ext uri="{FF2B5EF4-FFF2-40B4-BE49-F238E27FC236}">
                    <a16:creationId xmlns:a16="http://schemas.microsoft.com/office/drawing/2014/main" id="{690BDA52-D4FE-46A8-BD6D-CA3F5595E62C}"/>
                  </a:ext>
                </a:extLst>
              </p:cNvPr>
              <p:cNvSpPr txBox="1"/>
              <p:nvPr/>
            </p:nvSpPr>
            <p:spPr bwMode="auto">
              <a:xfrm>
                <a:off x="6339364" y="4146132"/>
                <a:ext cx="1934686" cy="13656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pt-B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5.10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pt-BR" dirty="0"/>
              </a:p>
              <a:p>
                <a:pPr/>
                <a:endParaRPr lang="pt-BR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pt-B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=5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pt-B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−10</m:t>
                      </m:r>
                    </m:oMath>
                  </m:oMathPara>
                </a14:m>
                <a:endParaRPr lang="pt-BR" dirty="0">
                  <a:solidFill>
                    <a:srgbClr val="000000"/>
                  </a:solidFill>
                  <a:ea typeface="Cambria Math" panose="02040503050406030204" pitchFamily="18" charset="0"/>
                </a:endParaRPr>
              </a:p>
              <a:p>
                <a:pPr/>
                <a:endParaRPr lang="pt-BR" dirty="0"/>
              </a:p>
              <a:p>
                <a:pPr/>
                <a14:m>
                  <m:oMath xmlns:m="http://schemas.openxmlformats.org/officeDocument/2006/math">
                    <m:r>
                      <a:rPr lang="pt-BR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pt-BR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pt-BR" dirty="0"/>
                  <a:t>40N</a:t>
                </a:r>
              </a:p>
              <a:p>
                <a:pPr/>
                <a:endParaRPr lang="pt-BR" dirty="0"/>
              </a:p>
            </p:txBody>
          </p:sp>
        </mc:Choice>
        <mc:Fallback>
          <p:sp>
            <p:nvSpPr>
              <p:cNvPr id="27" name="Object 3">
                <a:extLst>
                  <a:ext uri="{FF2B5EF4-FFF2-40B4-BE49-F238E27FC236}">
                    <a16:creationId xmlns:a16="http://schemas.microsoft.com/office/drawing/2014/main" id="{690BDA52-D4FE-46A8-BD6D-CA3F5595E6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39364" y="4146132"/>
                <a:ext cx="1934686" cy="1365668"/>
              </a:xfrm>
              <a:prstGeom prst="rect">
                <a:avLst/>
              </a:prstGeom>
              <a:blipFill>
                <a:blip r:embed="rId5"/>
                <a:stretch>
                  <a:fillRect b="-223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4F52C4AE-DFBE-47D3-AD0B-867BDBFAC602}"/>
              </a:ext>
            </a:extLst>
          </p:cNvPr>
          <p:cNvCxnSpPr>
            <a:cxnSpLocks/>
          </p:cNvCxnSpPr>
          <p:nvPr/>
        </p:nvCxnSpPr>
        <p:spPr>
          <a:xfrm>
            <a:off x="6624319" y="3877733"/>
            <a:ext cx="0" cy="3111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tângulo 29">
            <a:extLst>
              <a:ext uri="{FF2B5EF4-FFF2-40B4-BE49-F238E27FC236}">
                <a16:creationId xmlns:a16="http://schemas.microsoft.com/office/drawing/2014/main" id="{911F59D8-0BE9-4E7E-8487-E507BE1DC520}"/>
              </a:ext>
            </a:extLst>
          </p:cNvPr>
          <p:cNvSpPr/>
          <p:nvPr/>
        </p:nvSpPr>
        <p:spPr>
          <a:xfrm>
            <a:off x="6339364" y="5087087"/>
            <a:ext cx="1031804" cy="360308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0B86C97E-E435-407A-AF74-FD69B37BA646}"/>
              </a:ext>
            </a:extLst>
          </p:cNvPr>
          <p:cNvSpPr txBox="1"/>
          <p:nvPr/>
        </p:nvSpPr>
        <p:spPr>
          <a:xfrm>
            <a:off x="6339364" y="5566410"/>
            <a:ext cx="12911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Resposta</a:t>
            </a:r>
          </a:p>
        </p:txBody>
      </p:sp>
    </p:spTree>
    <p:extLst>
      <p:ext uri="{BB962C8B-B14F-4D97-AF65-F5344CB8AC3E}">
        <p14:creationId xmlns:p14="http://schemas.microsoft.com/office/powerpoint/2010/main" val="20839411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20724B0F-8AD3-415B-8DD2-F972E157D39B}"/>
              </a:ext>
            </a:extLst>
          </p:cNvPr>
          <p:cNvSpPr txBox="1"/>
          <p:nvPr/>
        </p:nvSpPr>
        <p:spPr>
          <a:xfrm>
            <a:off x="0" y="6867"/>
            <a:ext cx="9144000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/>
            <a:r>
              <a:rPr lang="pt-BR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10)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No plano inclinado da figura abaixo, o bloco de massa M desce com aceleração dirigida para baixo e de módulo igual a 2,0m/s2, puxando o bloco de massa m. Sabendo que não há atrito de qualquer espécie, qual é o valor da razão M/m? Considere g = 10m/s</a:t>
            </a:r>
            <a:r>
              <a:rPr lang="pt-BR" sz="1800" baseline="30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lang="pt-BR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B10752F-9132-453A-89B1-AF6BEC6D2F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07" y="1504950"/>
            <a:ext cx="3005963" cy="192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7212897A-E2FF-4C9B-8B0B-EFAC5CF0BC96}"/>
              </a:ext>
            </a:extLst>
          </p:cNvPr>
          <p:cNvCxnSpPr>
            <a:cxnSpLocks/>
          </p:cNvCxnSpPr>
          <p:nvPr/>
        </p:nvCxnSpPr>
        <p:spPr>
          <a:xfrm flipV="1">
            <a:off x="3081185" y="3746068"/>
            <a:ext cx="1941016" cy="5625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DD5E4EB5-4926-4EF5-A2E3-BDE8B274AED8}"/>
              </a:ext>
            </a:extLst>
          </p:cNvPr>
          <p:cNvSpPr txBox="1"/>
          <p:nvPr/>
        </p:nvSpPr>
        <p:spPr>
          <a:xfrm>
            <a:off x="3825768" y="1320284"/>
            <a:ext cx="1752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Queremos: M/m</a:t>
            </a:r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7C3E0A3E-8AA8-4561-9E51-FB5AF9127490}"/>
              </a:ext>
            </a:extLst>
          </p:cNvPr>
          <p:cNvCxnSpPr>
            <a:cxnSpLocks/>
          </p:cNvCxnSpPr>
          <p:nvPr/>
        </p:nvCxnSpPr>
        <p:spPr>
          <a:xfrm>
            <a:off x="2854960" y="2758440"/>
            <a:ext cx="0" cy="5638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B8A01407-05A7-4BEB-ACB2-B13B9FBC6FB8}"/>
              </a:ext>
            </a:extLst>
          </p:cNvPr>
          <p:cNvCxnSpPr>
            <a:cxnSpLocks/>
          </p:cNvCxnSpPr>
          <p:nvPr/>
        </p:nvCxnSpPr>
        <p:spPr>
          <a:xfrm flipV="1">
            <a:off x="2865120" y="1813560"/>
            <a:ext cx="0" cy="9448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20AAD790-702A-4291-A8A8-87D8D13BE958}"/>
              </a:ext>
            </a:extLst>
          </p:cNvPr>
          <p:cNvSpPr/>
          <p:nvPr/>
        </p:nvSpPr>
        <p:spPr>
          <a:xfrm>
            <a:off x="2811780" y="2664460"/>
            <a:ext cx="106680" cy="10668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87F4391B-B9A7-4F71-81A1-7CECFA4A277E}"/>
              </a:ext>
            </a:extLst>
          </p:cNvPr>
          <p:cNvCxnSpPr>
            <a:cxnSpLocks/>
          </p:cNvCxnSpPr>
          <p:nvPr/>
        </p:nvCxnSpPr>
        <p:spPr>
          <a:xfrm>
            <a:off x="1026160" y="2664460"/>
            <a:ext cx="0" cy="21209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0E732C3C-0B9C-4E7B-9BD4-751F2D220568}"/>
              </a:ext>
            </a:extLst>
          </p:cNvPr>
          <p:cNvCxnSpPr/>
          <p:nvPr/>
        </p:nvCxnSpPr>
        <p:spPr>
          <a:xfrm flipV="1">
            <a:off x="1026160" y="2113280"/>
            <a:ext cx="756920" cy="5130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5A36CAF0-69B3-421D-BC71-9439A092C0AC}"/>
              </a:ext>
            </a:extLst>
          </p:cNvPr>
          <p:cNvCxnSpPr>
            <a:cxnSpLocks/>
          </p:cNvCxnSpPr>
          <p:nvPr/>
        </p:nvCxnSpPr>
        <p:spPr>
          <a:xfrm flipH="1">
            <a:off x="21590" y="2633980"/>
            <a:ext cx="1004570" cy="6502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Elipse 25">
            <a:extLst>
              <a:ext uri="{FF2B5EF4-FFF2-40B4-BE49-F238E27FC236}">
                <a16:creationId xmlns:a16="http://schemas.microsoft.com/office/drawing/2014/main" id="{06178386-AC6E-43B2-8B68-C04602C3FA70}"/>
              </a:ext>
            </a:extLst>
          </p:cNvPr>
          <p:cNvSpPr/>
          <p:nvPr/>
        </p:nvSpPr>
        <p:spPr>
          <a:xfrm>
            <a:off x="982979" y="2561590"/>
            <a:ext cx="106680" cy="10668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CB33D400-5C45-4641-ACEF-8A315B4AFEAF}"/>
              </a:ext>
            </a:extLst>
          </p:cNvPr>
          <p:cNvCxnSpPr>
            <a:cxnSpLocks/>
          </p:cNvCxnSpPr>
          <p:nvPr/>
        </p:nvCxnSpPr>
        <p:spPr>
          <a:xfrm>
            <a:off x="1098550" y="2668270"/>
            <a:ext cx="951258" cy="149225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2E8AE45C-C618-40D6-81AE-06BC3E231CF6}"/>
              </a:ext>
            </a:extLst>
          </p:cNvPr>
          <p:cNvCxnSpPr>
            <a:cxnSpLocks/>
          </p:cNvCxnSpPr>
          <p:nvPr/>
        </p:nvCxnSpPr>
        <p:spPr>
          <a:xfrm flipH="1">
            <a:off x="1036319" y="4135120"/>
            <a:ext cx="1004570" cy="6502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B79CD98C-FA03-474F-97CA-0604EC2E7784}"/>
              </a:ext>
            </a:extLst>
          </p:cNvPr>
          <p:cNvSpPr txBox="1"/>
          <p:nvPr/>
        </p:nvSpPr>
        <p:spPr>
          <a:xfrm>
            <a:off x="2929686" y="2952988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P</a:t>
            </a:r>
            <a:r>
              <a:rPr lang="pt-BR" sz="1800" baseline="-250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</a:t>
            </a:r>
            <a:endParaRPr lang="pt-BR" dirty="0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4730FB62-90C2-4F28-A366-85C7FFEA72E2}"/>
              </a:ext>
            </a:extLst>
          </p:cNvPr>
          <p:cNvSpPr txBox="1"/>
          <p:nvPr/>
        </p:nvSpPr>
        <p:spPr>
          <a:xfrm>
            <a:off x="614452" y="3630322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</a:t>
            </a:r>
            <a:r>
              <a:rPr lang="pt-BR" sz="18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</a:t>
            </a:r>
            <a:endParaRPr lang="pt-BR" dirty="0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F417E775-BE70-419F-B123-21BE31B4EBEC}"/>
              </a:ext>
            </a:extLst>
          </p:cNvPr>
          <p:cNvSpPr txBox="1"/>
          <p:nvPr/>
        </p:nvSpPr>
        <p:spPr>
          <a:xfrm>
            <a:off x="1524486" y="4417722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P</a:t>
            </a:r>
            <a:r>
              <a:rPr lang="pt-BR" sz="1800" baseline="-250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Mx</a:t>
            </a:r>
            <a:endParaRPr lang="pt-BR" dirty="0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4F031C4A-D86E-4780-8F25-C7F06A74A87C}"/>
              </a:ext>
            </a:extLst>
          </p:cNvPr>
          <p:cNvSpPr txBox="1"/>
          <p:nvPr/>
        </p:nvSpPr>
        <p:spPr>
          <a:xfrm>
            <a:off x="-95540" y="277114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P</a:t>
            </a:r>
            <a:r>
              <a:rPr lang="pt-BR" sz="1800" baseline="-250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Mx</a:t>
            </a:r>
            <a:endParaRPr lang="pt-BR" dirty="0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1319264A-84A6-45AB-A8F7-15763C7F3001}"/>
              </a:ext>
            </a:extLst>
          </p:cNvPr>
          <p:cNvSpPr txBox="1"/>
          <p:nvPr/>
        </p:nvSpPr>
        <p:spPr>
          <a:xfrm>
            <a:off x="2915308" y="2182040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9CA10737-AACD-47AE-8DC0-5E6697E023EC}"/>
              </a:ext>
            </a:extLst>
          </p:cNvPr>
          <p:cNvSpPr txBox="1"/>
          <p:nvPr/>
        </p:nvSpPr>
        <p:spPr>
          <a:xfrm>
            <a:off x="1372842" y="1967828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</a:t>
            </a:r>
          </a:p>
        </p:txBody>
      </p:sp>
      <p:cxnSp>
        <p:nvCxnSpPr>
          <p:cNvPr id="39" name="Conector de Seta Reta 38">
            <a:extLst>
              <a:ext uri="{FF2B5EF4-FFF2-40B4-BE49-F238E27FC236}">
                <a16:creationId xmlns:a16="http://schemas.microsoft.com/office/drawing/2014/main" id="{3C368918-9127-4A86-9826-FFB78A9AE649}"/>
              </a:ext>
            </a:extLst>
          </p:cNvPr>
          <p:cNvCxnSpPr/>
          <p:nvPr/>
        </p:nvCxnSpPr>
        <p:spPr>
          <a:xfrm flipV="1">
            <a:off x="3448952" y="2213852"/>
            <a:ext cx="0" cy="5862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ector de Seta Reta 40">
            <a:extLst>
              <a:ext uri="{FF2B5EF4-FFF2-40B4-BE49-F238E27FC236}">
                <a16:creationId xmlns:a16="http://schemas.microsoft.com/office/drawing/2014/main" id="{9806CCBD-2FE8-4375-A639-6E47E8C0BBB2}"/>
              </a:ext>
            </a:extLst>
          </p:cNvPr>
          <p:cNvCxnSpPr>
            <a:cxnSpLocks/>
          </p:cNvCxnSpPr>
          <p:nvPr/>
        </p:nvCxnSpPr>
        <p:spPr>
          <a:xfrm>
            <a:off x="3448952" y="2800134"/>
            <a:ext cx="54303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F38C2A34-DAFC-495E-B883-67B653EDE426}"/>
              </a:ext>
            </a:extLst>
          </p:cNvPr>
          <p:cNvSpPr txBox="1"/>
          <p:nvPr/>
        </p:nvSpPr>
        <p:spPr>
          <a:xfrm>
            <a:off x="3991984" y="2615468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x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E6E6E2C6-FE6F-4FD6-8F3E-641C1C6C0C40}"/>
              </a:ext>
            </a:extLst>
          </p:cNvPr>
          <p:cNvSpPr txBox="1"/>
          <p:nvPr/>
        </p:nvSpPr>
        <p:spPr>
          <a:xfrm>
            <a:off x="3322566" y="1891449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y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5FA54995-B3F3-4765-AF70-977CB0D97927}"/>
              </a:ext>
            </a:extLst>
          </p:cNvPr>
          <p:cNvSpPr txBox="1"/>
          <p:nvPr/>
        </p:nvSpPr>
        <p:spPr>
          <a:xfrm>
            <a:off x="150351" y="1956998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x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212C4C4B-61E7-4826-AA54-AFDCE8A9DB11}"/>
              </a:ext>
            </a:extLst>
          </p:cNvPr>
          <p:cNvSpPr txBox="1"/>
          <p:nvPr/>
        </p:nvSpPr>
        <p:spPr>
          <a:xfrm>
            <a:off x="237170" y="1530159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y</a:t>
            </a:r>
          </a:p>
        </p:txBody>
      </p:sp>
      <p:cxnSp>
        <p:nvCxnSpPr>
          <p:cNvPr id="50" name="Conector de Seta Reta 49">
            <a:extLst>
              <a:ext uri="{FF2B5EF4-FFF2-40B4-BE49-F238E27FC236}">
                <a16:creationId xmlns:a16="http://schemas.microsoft.com/office/drawing/2014/main" id="{CBC9DA84-9836-4DAD-8857-6F094A28C050}"/>
              </a:ext>
            </a:extLst>
          </p:cNvPr>
          <p:cNvCxnSpPr/>
          <p:nvPr/>
        </p:nvCxnSpPr>
        <p:spPr>
          <a:xfrm flipH="1">
            <a:off x="319273" y="1981769"/>
            <a:ext cx="428088" cy="3197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ector de Seta Reta 51">
            <a:extLst>
              <a:ext uri="{FF2B5EF4-FFF2-40B4-BE49-F238E27FC236}">
                <a16:creationId xmlns:a16="http://schemas.microsoft.com/office/drawing/2014/main" id="{70809F30-628D-4B55-82C5-31A4187244FA}"/>
              </a:ext>
            </a:extLst>
          </p:cNvPr>
          <p:cNvCxnSpPr/>
          <p:nvPr/>
        </p:nvCxnSpPr>
        <p:spPr>
          <a:xfrm flipH="1" flipV="1">
            <a:off x="381601" y="1524325"/>
            <a:ext cx="365760" cy="4694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703736D0-57F9-4446-A548-31BBF1805B7D}"/>
              </a:ext>
            </a:extLst>
          </p:cNvPr>
          <p:cNvSpPr txBox="1"/>
          <p:nvPr/>
        </p:nvSpPr>
        <p:spPr>
          <a:xfrm>
            <a:off x="1047395" y="304506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30</a:t>
            </a: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90999B3C-5DFB-4EBF-A700-735B5DB4660B}"/>
              </a:ext>
            </a:extLst>
          </p:cNvPr>
          <p:cNvSpPr txBox="1"/>
          <p:nvPr/>
        </p:nvSpPr>
        <p:spPr>
          <a:xfrm>
            <a:off x="4908243" y="1812708"/>
            <a:ext cx="3209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Estudando as forças em y em m: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BA305DD1-F6F6-4F2A-BEA5-C53981BC48B5}"/>
              </a:ext>
            </a:extLst>
          </p:cNvPr>
          <p:cNvSpPr txBox="1"/>
          <p:nvPr/>
        </p:nvSpPr>
        <p:spPr>
          <a:xfrm>
            <a:off x="5054600" y="4123927"/>
            <a:ext cx="3209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Estudando as forças em x em M: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Object 3">
                <a:extLst>
                  <a:ext uri="{FF2B5EF4-FFF2-40B4-BE49-F238E27FC236}">
                    <a16:creationId xmlns:a16="http://schemas.microsoft.com/office/drawing/2014/main" id="{E19675FD-9B52-4F64-82B5-687C0B93FE40}"/>
                  </a:ext>
                </a:extLst>
              </p:cNvPr>
              <p:cNvSpPr txBox="1"/>
              <p:nvPr/>
            </p:nvSpPr>
            <p:spPr bwMode="auto">
              <a:xfrm>
                <a:off x="4877731" y="2129776"/>
                <a:ext cx="3513666" cy="6067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𝑅𝑦</m:t>
                          </m:r>
                        </m:sub>
                      </m:sSub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60" name="Object 3">
                <a:extLst>
                  <a:ext uri="{FF2B5EF4-FFF2-40B4-BE49-F238E27FC236}">
                    <a16:creationId xmlns:a16="http://schemas.microsoft.com/office/drawing/2014/main" id="{E19675FD-9B52-4F64-82B5-687C0B93FE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77731" y="2129776"/>
                <a:ext cx="3513666" cy="6067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Object 3">
                <a:extLst>
                  <a:ext uri="{FF2B5EF4-FFF2-40B4-BE49-F238E27FC236}">
                    <a16:creationId xmlns:a16="http://schemas.microsoft.com/office/drawing/2014/main" id="{C6D2C5AA-AC72-43EE-9FB8-661D530DA8D8}"/>
                  </a:ext>
                </a:extLst>
              </p:cNvPr>
              <p:cNvSpPr txBox="1"/>
              <p:nvPr/>
            </p:nvSpPr>
            <p:spPr bwMode="auto">
              <a:xfrm>
                <a:off x="5030131" y="4572000"/>
                <a:ext cx="3513666" cy="6067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𝑅𝑥</m:t>
                          </m:r>
                        </m:sub>
                      </m:sSub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𝑀𝑥</m:t>
                          </m:r>
                        </m:sub>
                      </m:sSub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62" name="Object 3">
                <a:extLst>
                  <a:ext uri="{FF2B5EF4-FFF2-40B4-BE49-F238E27FC236}">
                    <a16:creationId xmlns:a16="http://schemas.microsoft.com/office/drawing/2014/main" id="{C6D2C5AA-AC72-43EE-9FB8-661D530DA8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30131" y="4572000"/>
                <a:ext cx="3513666" cy="6067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6486795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Opulento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Escritório Clássico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1329</TotalTime>
  <Words>888</Words>
  <Application>Microsoft Office PowerPoint</Application>
  <PresentationFormat>Apresentação na tela (4:3)</PresentationFormat>
  <Paragraphs>104</Paragraphs>
  <Slides>11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11</vt:i4>
      </vt:variant>
    </vt:vector>
  </HeadingPairs>
  <TitlesOfParts>
    <vt:vector size="24" baseType="lpstr">
      <vt:lpstr>Arial</vt:lpstr>
      <vt:lpstr>Calibri</vt:lpstr>
      <vt:lpstr>Cambria Math</vt:lpstr>
      <vt:lpstr>Gotham HTF</vt:lpstr>
      <vt:lpstr>Gotham HTF Book</vt:lpstr>
      <vt:lpstr>Gotham-Bold</vt:lpstr>
      <vt:lpstr>Gotham-Book</vt:lpstr>
      <vt:lpstr>Times New Roman</vt:lpstr>
      <vt:lpstr>Wingdings</vt:lpstr>
      <vt:lpstr>Default Theme</vt:lpstr>
      <vt:lpstr>1_Personalizar design</vt:lpstr>
      <vt:lpstr>Office Theme</vt:lpstr>
      <vt:lpstr>2_Personalizar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FIAP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Juliana Reyes</dc:creator>
  <cp:lastModifiedBy>Nivaldo Zafalon Junior</cp:lastModifiedBy>
  <cp:revision>243</cp:revision>
  <dcterms:created xsi:type="dcterms:W3CDTF">2015-02-07T21:24:47Z</dcterms:created>
  <dcterms:modified xsi:type="dcterms:W3CDTF">2022-10-20T12:44:16Z</dcterms:modified>
</cp:coreProperties>
</file>