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739" r:id="rId3"/>
    <p:sldMasterId id="2147483751" r:id="rId4"/>
    <p:sldMasterId id="2147483749" r:id="rId5"/>
  </p:sldMasterIdLst>
  <p:notesMasterIdLst>
    <p:notesMasterId r:id="rId51"/>
  </p:notesMasterIdLst>
  <p:handoutMasterIdLst>
    <p:handoutMasterId r:id="rId52"/>
  </p:handoutMasterIdLst>
  <p:sldIdLst>
    <p:sldId id="256" r:id="rId6"/>
    <p:sldId id="266" r:id="rId7"/>
    <p:sldId id="258" r:id="rId8"/>
    <p:sldId id="259"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41" r:id="rId27"/>
    <p:sldId id="321" r:id="rId28"/>
    <p:sldId id="342" r:id="rId29"/>
    <p:sldId id="322" r:id="rId30"/>
    <p:sldId id="323" r:id="rId31"/>
    <p:sldId id="324" r:id="rId32"/>
    <p:sldId id="325" r:id="rId33"/>
    <p:sldId id="326" r:id="rId34"/>
    <p:sldId id="327" r:id="rId35"/>
    <p:sldId id="328" r:id="rId36"/>
    <p:sldId id="329" r:id="rId37"/>
    <p:sldId id="330" r:id="rId38"/>
    <p:sldId id="331" r:id="rId39"/>
    <p:sldId id="332" r:id="rId40"/>
    <p:sldId id="333" r:id="rId41"/>
    <p:sldId id="334" r:id="rId42"/>
    <p:sldId id="335" r:id="rId43"/>
    <p:sldId id="336" r:id="rId44"/>
    <p:sldId id="337" r:id="rId45"/>
    <p:sldId id="338" r:id="rId46"/>
    <p:sldId id="339" r:id="rId47"/>
    <p:sldId id="340" r:id="rId48"/>
    <p:sldId id="263" r:id="rId49"/>
    <p:sldId id="265" r:id="rId50"/>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265D"/>
    <a:srgbClr val="020000"/>
    <a:srgbClr val="F6F6F6"/>
    <a:srgbClr val="EBAFB5"/>
    <a:srgbClr val="F4D3D6"/>
    <a:srgbClr val="F9E8EA"/>
    <a:srgbClr val="3030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88" autoAdjust="0"/>
    <p:restoredTop sz="94660"/>
  </p:normalViewPr>
  <p:slideViewPr>
    <p:cSldViewPr snapToGrid="0" snapToObjects="1">
      <p:cViewPr varScale="1">
        <p:scale>
          <a:sx n="47" d="100"/>
          <a:sy n="47" d="100"/>
        </p:scale>
        <p:origin x="1639" y="45"/>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75" d="100"/>
          <a:sy n="75" d="100"/>
        </p:scale>
        <p:origin x="2094"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1A63A9-F13B-46F1-A93F-27AA737FD7E7}" type="datetimeFigureOut">
              <a:rPr lang="pt-BR" smtClean="0"/>
              <a:pPr/>
              <a:t>13/05/2025</a:t>
            </a:fld>
            <a:endParaRPr lang="pt-BR"/>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2F50FE-E718-42E3-9D8A-946F780C799B}" type="slidenum">
              <a:rPr lang="pt-BR" smtClean="0"/>
              <a:pPr/>
              <a:t>‹nº›</a:t>
            </a:fld>
            <a:endParaRPr lang="pt-BR"/>
          </a:p>
        </p:txBody>
      </p:sp>
    </p:spTree>
    <p:extLst>
      <p:ext uri="{BB962C8B-B14F-4D97-AF65-F5344CB8AC3E}">
        <p14:creationId xmlns:p14="http://schemas.microsoft.com/office/powerpoint/2010/main" val="31571391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498697-E7EB-B84D-9726-13965ED94444}" type="datetimeFigureOut">
              <a:rPr lang="en-US" smtClean="0"/>
              <a:pPr/>
              <a:t>5/13/2025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C6CD5E-26BD-9B45-BB2F-78648736C277}" type="slidenum">
              <a:rPr lang="en-US" smtClean="0"/>
              <a:pPr/>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2</a:t>
            </a:fld>
            <a:endParaRPr lang="en-US"/>
          </a:p>
        </p:txBody>
      </p:sp>
    </p:spTree>
    <p:extLst>
      <p:ext uri="{BB962C8B-B14F-4D97-AF65-F5344CB8AC3E}">
        <p14:creationId xmlns:p14="http://schemas.microsoft.com/office/powerpoint/2010/main" val="250942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3</a:t>
            </a:fld>
            <a:endParaRPr lang="en-US"/>
          </a:p>
        </p:txBody>
      </p:sp>
    </p:spTree>
    <p:extLst>
      <p:ext uri="{BB962C8B-B14F-4D97-AF65-F5344CB8AC3E}">
        <p14:creationId xmlns:p14="http://schemas.microsoft.com/office/powerpoint/2010/main" val="1384739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4</a:t>
            </a:fld>
            <a:endParaRPr lang="en-US"/>
          </a:p>
        </p:txBody>
      </p:sp>
    </p:spTree>
    <p:extLst>
      <p:ext uri="{BB962C8B-B14F-4D97-AF65-F5344CB8AC3E}">
        <p14:creationId xmlns:p14="http://schemas.microsoft.com/office/powerpoint/2010/main" val="2511614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pt-BR">
              <a:latin typeface="Arial" panose="020B0604020202020204" pitchFamily="34" charset="0"/>
            </a:endParaRPr>
          </a:p>
        </p:txBody>
      </p:sp>
    </p:spTree>
    <p:extLst>
      <p:ext uri="{BB962C8B-B14F-4D97-AF65-F5344CB8AC3E}">
        <p14:creationId xmlns:p14="http://schemas.microsoft.com/office/powerpoint/2010/main" val="3671527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44</a:t>
            </a:fld>
            <a:endParaRPr lang="en-US"/>
          </a:p>
        </p:txBody>
      </p:sp>
    </p:spTree>
    <p:extLst>
      <p:ext uri="{BB962C8B-B14F-4D97-AF65-F5344CB8AC3E}">
        <p14:creationId xmlns:p14="http://schemas.microsoft.com/office/powerpoint/2010/main" val="897201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6CD5E-26BD-9B45-BB2F-78648736C277}" type="slidenum">
              <a:rPr lang="en-US" smtClean="0"/>
              <a:pPr/>
              <a:t>45</a:t>
            </a:fld>
            <a:endParaRPr lang="en-US"/>
          </a:p>
        </p:txBody>
      </p:sp>
    </p:spTree>
    <p:extLst>
      <p:ext uri="{BB962C8B-B14F-4D97-AF65-F5344CB8AC3E}">
        <p14:creationId xmlns:p14="http://schemas.microsoft.com/office/powerpoint/2010/main" val="3144727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2" name="Picture 2"/>
          <p:cNvPicPr>
            <a:picLocks noChangeAspect="1"/>
          </p:cNvPicPr>
          <p:nvPr userDrawn="1"/>
        </p:nvPicPr>
        <p:blipFill>
          <a:blip r:embed="rId2"/>
          <a:stretch>
            <a:fillRect/>
          </a:stretch>
        </p:blipFill>
        <p:spPr>
          <a:xfrm>
            <a:off x="1674039" y="3081534"/>
            <a:ext cx="5783223" cy="682232"/>
          </a:xfrm>
          <a:prstGeom prst="rect">
            <a:avLst/>
          </a:prstGeom>
        </p:spPr>
      </p:pic>
    </p:spTree>
    <p:extLst>
      <p:ext uri="{BB962C8B-B14F-4D97-AF65-F5344CB8AC3E}">
        <p14:creationId xmlns:p14="http://schemas.microsoft.com/office/powerpoint/2010/main" val="3489581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9" name="Title 1"/>
          <p:cNvSpPr>
            <a:spLocks noGrp="1"/>
          </p:cNvSpPr>
          <p:nvPr>
            <p:ph type="title" hasCustomPrompt="1"/>
          </p:nvPr>
        </p:nvSpPr>
        <p:spPr>
          <a:xfrm>
            <a:off x="914400" y="749902"/>
            <a:ext cx="7392202"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10"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Espaço Reservado para Imagem 10"/>
          <p:cNvSpPr>
            <a:spLocks noGrp="1"/>
          </p:cNvSpPr>
          <p:nvPr>
            <p:ph type="pic" sz="quarter" idx="13"/>
          </p:nvPr>
        </p:nvSpPr>
        <p:spPr>
          <a:xfrm>
            <a:off x="914400" y="1600199"/>
            <a:ext cx="2875280" cy="4249172"/>
          </a:xfrm>
        </p:spPr>
        <p:txBody>
          <a:bodyPr/>
          <a:lstStyle/>
          <a:p>
            <a:endParaRPr lang="pt-BR"/>
          </a:p>
        </p:txBody>
      </p:sp>
      <p:sp>
        <p:nvSpPr>
          <p:cNvPr id="3" name="Content Placeholder 2"/>
          <p:cNvSpPr>
            <a:spLocks noGrp="1"/>
          </p:cNvSpPr>
          <p:nvPr>
            <p:ph idx="1"/>
          </p:nvPr>
        </p:nvSpPr>
        <p:spPr>
          <a:xfrm>
            <a:off x="4158114" y="1600200"/>
            <a:ext cx="4207871" cy="2933299"/>
          </a:xfrm>
        </p:spPr>
        <p:txBody>
          <a:bodyPr>
            <a:normAutofit/>
          </a:bodyPr>
          <a:lstStyle>
            <a:lvl1pPr>
              <a:defRPr sz="1600">
                <a:latin typeface="Gotham-Book"/>
              </a:defRPr>
            </a:lvl1pPr>
            <a:lvl2pPr>
              <a:defRPr sz="1600">
                <a:latin typeface="Gotham-Book"/>
              </a:defRPr>
            </a:lvl2pPr>
            <a:lvl3pPr>
              <a:defRPr sz="1600">
                <a:latin typeface="Gotham-Book"/>
              </a:defRPr>
            </a:lvl3pPr>
            <a:lvl4pPr>
              <a:defRPr sz="1600">
                <a:latin typeface="Gotham-Book"/>
              </a:defRPr>
            </a:lvl4pPr>
            <a:lvl5pPr>
              <a:defRPr sz="1600">
                <a:latin typeface="Gotham-Book"/>
              </a:defRPr>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9"/>
          <p:cNvSpPr txBox="1"/>
          <p:nvPr userDrawn="1"/>
        </p:nvSpPr>
        <p:spPr>
          <a:xfrm>
            <a:off x="947124" y="748343"/>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SHORT </a:t>
            </a:r>
            <a:r>
              <a:rPr lang="en-US" sz="2800" b="1" dirty="0">
                <a:solidFill>
                  <a:srgbClr val="303030"/>
                </a:solidFill>
                <a:latin typeface="Gotham HTF" pitchFamily="2" charset="0"/>
                <a:cs typeface="Gotham-Book"/>
              </a:rPr>
              <a:t>BIO</a:t>
            </a:r>
          </a:p>
        </p:txBody>
      </p:sp>
      <p:sp>
        <p:nvSpPr>
          <p:cNvPr id="8" name="Rectangle 19"/>
          <p:cNvSpPr/>
          <p:nvPr userDrawn="1"/>
        </p:nvSpPr>
        <p:spPr>
          <a:xfrm>
            <a:off x="3789680" y="4672530"/>
            <a:ext cx="4576305" cy="119609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
        <p:nvSpPr>
          <p:cNvPr id="10" name="Espaço Reservado para Texto 9"/>
          <p:cNvSpPr>
            <a:spLocks noGrp="1"/>
          </p:cNvSpPr>
          <p:nvPr userDrawn="1">
            <p:ph type="body" sz="quarter" idx="14" hasCustomPrompt="1"/>
          </p:nvPr>
        </p:nvSpPr>
        <p:spPr>
          <a:xfrm>
            <a:off x="4090988" y="4792663"/>
            <a:ext cx="3868737" cy="828675"/>
          </a:xfrm>
        </p:spPr>
        <p:txBody>
          <a:bodyPr/>
          <a:lstStyle>
            <a:lvl1pPr marL="0" indent="0">
              <a:buNone/>
              <a:defRPr sz="2000" baseline="0">
                <a:solidFill>
                  <a:schemeClr val="bg1"/>
                </a:solidFill>
                <a:latin typeface="Gotham-Bold"/>
              </a:defRPr>
            </a:lvl1pPr>
            <a:lvl2pPr>
              <a:defRPr sz="1800">
                <a:solidFill>
                  <a:schemeClr val="bg1"/>
                </a:solidFill>
                <a:latin typeface="Gotham-Bold"/>
              </a:defRPr>
            </a:lvl2pPr>
          </a:lstStyle>
          <a:p>
            <a:pPr lvl="0"/>
            <a:r>
              <a:rPr lang="pt-BR" dirty="0"/>
              <a:t>Prof. nome</a:t>
            </a:r>
          </a:p>
          <a:p>
            <a:pPr lvl="0"/>
            <a:r>
              <a:rPr lang="pt-BR" dirty="0" err="1"/>
              <a:t>Email</a:t>
            </a:r>
            <a:endParaRPr lang="pt-BR" dirty="0"/>
          </a:p>
        </p:txBody>
      </p:sp>
      <p:sp>
        <p:nvSpPr>
          <p:cNvPr id="13" name="Isosceles Triangle 2"/>
          <p:cNvSpPr/>
          <p:nvPr userDrawn="1"/>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Tree>
    <p:extLst>
      <p:ext uri="{BB962C8B-B14F-4D97-AF65-F5344CB8AC3E}">
        <p14:creationId xmlns:p14="http://schemas.microsoft.com/office/powerpoint/2010/main" val="245854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Espaço Reservado para Texto 9"/>
          <p:cNvSpPr>
            <a:spLocks noGrp="1"/>
          </p:cNvSpPr>
          <p:nvPr>
            <p:ph type="body" sz="quarter" idx="13" hasCustomPrompt="1"/>
          </p:nvPr>
        </p:nvSpPr>
        <p:spPr>
          <a:xfrm>
            <a:off x="914400" y="1750228"/>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2" name="Espaço Reservado para Texto 11"/>
          <p:cNvSpPr>
            <a:spLocks noGrp="1"/>
          </p:cNvSpPr>
          <p:nvPr>
            <p:ph type="body" sz="quarter" idx="14"/>
          </p:nvPr>
        </p:nvSpPr>
        <p:spPr>
          <a:xfrm>
            <a:off x="914400" y="2319338"/>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15" name="Espaço Reservado para Texto 9"/>
          <p:cNvSpPr>
            <a:spLocks noGrp="1"/>
          </p:cNvSpPr>
          <p:nvPr>
            <p:ph type="body" sz="quarter" idx="15" hasCustomPrompt="1"/>
          </p:nvPr>
        </p:nvSpPr>
        <p:spPr>
          <a:xfrm>
            <a:off x="914400" y="4215012"/>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6" name="Espaço Reservado para Texto 11"/>
          <p:cNvSpPr>
            <a:spLocks noGrp="1"/>
          </p:cNvSpPr>
          <p:nvPr>
            <p:ph type="body" sz="quarter" idx="16"/>
          </p:nvPr>
        </p:nvSpPr>
        <p:spPr>
          <a:xfrm>
            <a:off x="914400" y="4784122"/>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11"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15"/>
          <p:cNvSpPr txBox="1"/>
          <p:nvPr userDrawn="1"/>
        </p:nvSpPr>
        <p:spPr>
          <a:xfrm>
            <a:off x="947124" y="745668"/>
            <a:ext cx="7326438" cy="487313"/>
          </a:xfrm>
          <a:prstGeom prst="rect">
            <a:avLst/>
          </a:prstGeom>
          <a:noFill/>
        </p:spPr>
        <p:txBody>
          <a:bodyPr wrap="square" rtlCol="0">
            <a:spAutoFit/>
          </a:bodyPr>
          <a:lstStyle/>
          <a:p>
            <a:pPr>
              <a:lnSpc>
                <a:spcPct val="90000"/>
              </a:lnSpc>
            </a:pPr>
            <a:r>
              <a:rPr lang="en-US" sz="2800" b="1" dirty="0" err="1">
                <a:solidFill>
                  <a:srgbClr val="303030"/>
                </a:solidFill>
                <a:latin typeface="Gotham HTF" pitchFamily="2" charset="0"/>
                <a:cs typeface="Gotham-Bold"/>
              </a:rPr>
              <a:t>Energia</a:t>
            </a:r>
            <a:r>
              <a:rPr lang="en-US" sz="2800" b="1" baseline="0" dirty="0">
                <a:solidFill>
                  <a:srgbClr val="303030"/>
                </a:solidFill>
                <a:latin typeface="Gotham HTF" pitchFamily="2" charset="0"/>
                <a:cs typeface="Gotham-Bold"/>
              </a:rPr>
              <a:t>, </a:t>
            </a:r>
            <a:r>
              <a:rPr lang="en-US" sz="2800" b="1" baseline="0" dirty="0" err="1">
                <a:solidFill>
                  <a:srgbClr val="303030"/>
                </a:solidFill>
                <a:latin typeface="Gotham HTF" pitchFamily="2" charset="0"/>
                <a:cs typeface="Gotham-Bold"/>
              </a:rPr>
              <a:t>Cinemática</a:t>
            </a:r>
            <a:r>
              <a:rPr lang="en-US" sz="2800" b="1" baseline="0" dirty="0">
                <a:solidFill>
                  <a:srgbClr val="303030"/>
                </a:solidFill>
                <a:latin typeface="Gotham HTF" pitchFamily="2" charset="0"/>
                <a:cs typeface="Gotham-Bold"/>
              </a:rPr>
              <a:t>, </a:t>
            </a:r>
            <a:r>
              <a:rPr lang="en-US" sz="2800" b="1" baseline="0" dirty="0" err="1">
                <a:solidFill>
                  <a:srgbClr val="303030"/>
                </a:solidFill>
                <a:latin typeface="Gotham HTF" pitchFamily="2" charset="0"/>
                <a:cs typeface="Gotham-Bold"/>
              </a:rPr>
              <a:t>Força</a:t>
            </a:r>
            <a:r>
              <a:rPr lang="en-US" sz="2800" b="1" baseline="0" dirty="0">
                <a:solidFill>
                  <a:srgbClr val="303030"/>
                </a:solidFill>
                <a:latin typeface="Gotham HTF" pitchFamily="2" charset="0"/>
                <a:cs typeface="Gotham-Bold"/>
              </a:rPr>
              <a:t> e </a:t>
            </a:r>
            <a:r>
              <a:rPr lang="en-US" sz="2800" b="1" baseline="0" dirty="0" err="1">
                <a:solidFill>
                  <a:srgbClr val="303030"/>
                </a:solidFill>
                <a:latin typeface="Gotham HTF" pitchFamily="2" charset="0"/>
                <a:cs typeface="Gotham-Bold"/>
              </a:rPr>
              <a:t>Ondas</a:t>
            </a:r>
            <a:endParaRPr lang="en-US" sz="2800" b="1" dirty="0">
              <a:solidFill>
                <a:srgbClr val="303030"/>
              </a:solidFill>
              <a:latin typeface="Gotham HTF" pitchFamily="2" charset="0"/>
              <a:cs typeface="Gotham-Book"/>
            </a:endParaRPr>
          </a:p>
        </p:txBody>
      </p:sp>
    </p:spTree>
    <p:extLst>
      <p:ext uri="{BB962C8B-B14F-4D97-AF65-F5344CB8AC3E}">
        <p14:creationId xmlns:p14="http://schemas.microsoft.com/office/powerpoint/2010/main" val="1043828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4539" y="2857500"/>
            <a:ext cx="6294922" cy="1143000"/>
          </a:xfrm>
        </p:spPr>
        <p:txBody>
          <a:bodyPr>
            <a:noAutofit/>
          </a:bodyPr>
          <a:lstStyle>
            <a:lvl1pPr>
              <a:defRPr sz="3600" b="1">
                <a:solidFill>
                  <a:schemeClr val="tx1"/>
                </a:solidFill>
                <a:latin typeface="Gotham HTF" pitchFamily="2" charset="0"/>
              </a:defRPr>
            </a:lvl1pPr>
          </a:lstStyle>
          <a:p>
            <a:r>
              <a:rPr lang="x-none" dirty="0"/>
              <a:t>CLICK TO EDIT MASTER TITLE STYLE</a:t>
            </a:r>
            <a:endParaRPr lang="en-US" dirty="0"/>
          </a:p>
        </p:txBody>
      </p:sp>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8292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33654" y="749165"/>
            <a:ext cx="7315197" cy="397308"/>
          </a:xfrm>
        </p:spPr>
        <p:txBody>
          <a:bodyPr>
            <a:noAutofit/>
          </a:bodyPr>
          <a:lstStyle>
            <a:lvl1pPr algn="l">
              <a:defRPr sz="2800" b="1">
                <a:latin typeface="Gotham HTF" pitchFamily="2" charset="0"/>
              </a:defRPr>
            </a:lvl1pPr>
          </a:lstStyle>
          <a:p>
            <a:r>
              <a:rPr lang="x-none" dirty="0"/>
              <a:t>CLICK TO EDIT MASTER TITLE STYLE</a:t>
            </a:r>
            <a:endParaRPr lang="en-US" dirty="0"/>
          </a:p>
        </p:txBody>
      </p:sp>
      <p:sp>
        <p:nvSpPr>
          <p:cNvPr id="3" name="Text Placeholder 2"/>
          <p:cNvSpPr>
            <a:spLocks noGrp="1"/>
          </p:cNvSpPr>
          <p:nvPr>
            <p:ph type="body" idx="1" hasCustomPrompt="1"/>
          </p:nvPr>
        </p:nvSpPr>
        <p:spPr>
          <a:xfrm>
            <a:off x="765379" y="1316730"/>
            <a:ext cx="7483472" cy="639762"/>
          </a:xfrm>
        </p:spPr>
        <p:txBody>
          <a:bodyPr anchor="b">
            <a:normAutofit/>
          </a:bodyPr>
          <a:lstStyle>
            <a:lvl1pPr marL="0" indent="0">
              <a:buNone/>
              <a:defRPr sz="2000" b="1">
                <a:latin typeface="Gotham HTF"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765379" y="2174875"/>
            <a:ext cx="7618230" cy="3951288"/>
          </a:xfrm>
        </p:spPr>
        <p:txBody>
          <a:bodyPr>
            <a:normAutofit/>
          </a:bodyPr>
          <a:lstStyle>
            <a:lvl1pPr marL="342900" indent="-342900">
              <a:buFont typeface="Wingdings" panose="05000000000000000000" pitchFamily="2" charset="2"/>
              <a:buChar char="§"/>
              <a:defRPr sz="1600">
                <a:latin typeface="Gotham-Book"/>
              </a:defRPr>
            </a:lvl1pPr>
            <a:lvl2pPr>
              <a:defRPr sz="1600">
                <a:latin typeface="Gotham-Book"/>
              </a:defRPr>
            </a:lvl2pPr>
            <a:lvl3pPr marL="1143000" indent="-228600">
              <a:buFont typeface="Wingdings" panose="05000000000000000000" pitchFamily="2" charset="2"/>
              <a:buChar char="§"/>
              <a:defRPr sz="1600">
                <a:latin typeface="Gotham-Book"/>
              </a:defRPr>
            </a:lvl3pPr>
            <a:lvl4pPr>
              <a:defRPr sz="1600">
                <a:latin typeface="Gotham-Book"/>
              </a:defRPr>
            </a:lvl4pPr>
            <a:lvl5pPr>
              <a:defRPr sz="1600">
                <a:latin typeface="Gotham-Book"/>
              </a:defRPr>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6"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82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Espaço Reservado para Texto 8"/>
          <p:cNvSpPr>
            <a:spLocks noGrp="1"/>
          </p:cNvSpPr>
          <p:nvPr>
            <p:ph type="body" sz="quarter" idx="13"/>
          </p:nvPr>
        </p:nvSpPr>
        <p:spPr>
          <a:xfrm>
            <a:off x="3868103" y="1421810"/>
            <a:ext cx="4380748" cy="4873112"/>
          </a:xfrm>
        </p:spPr>
        <p:txBody>
          <a:bodyPr>
            <a:normAutofit/>
          </a:bodyPr>
          <a:lstStyle>
            <a:lvl1pPr marL="342900" indent="-342900">
              <a:buFont typeface="Wingdings" panose="05000000000000000000" pitchFamily="2" charset="2"/>
              <a:buChar char="§"/>
              <a:defRPr sz="1600">
                <a:latin typeface="Gotham-Book"/>
              </a:defRPr>
            </a:lvl1pPr>
            <a:lvl2pPr marL="800100" indent="-342900">
              <a:buFont typeface="Wingdings" panose="05000000000000000000" pitchFamily="2" charset="2"/>
              <a:buChar char="§"/>
              <a:defRPr sz="1600">
                <a:latin typeface="Gotham-Book"/>
              </a:defRPr>
            </a:lvl2pPr>
            <a:lvl3pPr marL="1257300" indent="-342900">
              <a:buFont typeface="Wingdings" panose="05000000000000000000" pitchFamily="2" charset="2"/>
              <a:buChar char="§"/>
              <a:defRPr sz="1600">
                <a:latin typeface="Gotham-Book"/>
              </a:defRPr>
            </a:lvl3pPr>
            <a:lvl4pPr marL="1714500" indent="-342900">
              <a:buFont typeface="Wingdings" panose="05000000000000000000" pitchFamily="2" charset="2"/>
              <a:buChar char="§"/>
              <a:defRPr sz="1600">
                <a:latin typeface="Gotham-Book"/>
              </a:defRPr>
            </a:lvl4pPr>
            <a:lvl5pPr marL="2171700" indent="-342900">
              <a:buFont typeface="Wingdings" panose="05000000000000000000" pitchFamily="2" charset="2"/>
              <a:buChar char="§"/>
              <a:defRPr sz="1600">
                <a:latin typeface="Gotham-Book"/>
              </a:defRPr>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pic>
        <p:nvPicPr>
          <p:cNvPr id="10" name="Picture 3" descr="caomputador.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97734" y="1421810"/>
            <a:ext cx="3062891" cy="2733630"/>
          </a:xfrm>
          <a:prstGeom prst="rect">
            <a:avLst/>
          </a:prstGeom>
        </p:spPr>
      </p:pic>
      <p:pic>
        <p:nvPicPr>
          <p:cNvPr id="11" name="Picture 4" descr="chicara.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rot="20276259">
            <a:off x="2055756" y="3444240"/>
            <a:ext cx="1559560" cy="1650015"/>
          </a:xfrm>
          <a:prstGeom prst="rect">
            <a:avLst/>
          </a:prstGeom>
        </p:spPr>
      </p:pic>
      <p:pic>
        <p:nvPicPr>
          <p:cNvPr id="12" name="Picture 6" descr="livros.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rot="1687626">
            <a:off x="648591" y="4397170"/>
            <a:ext cx="2064240" cy="1700934"/>
          </a:xfrm>
          <a:prstGeom prst="rect">
            <a:avLst/>
          </a:prstGeom>
        </p:spPr>
      </p:pic>
      <p:sp>
        <p:nvSpPr>
          <p:cNvPr id="13" name="TextBox 12"/>
          <p:cNvSpPr txBox="1"/>
          <p:nvPr userDrawn="1"/>
        </p:nvSpPr>
        <p:spPr>
          <a:xfrm>
            <a:off x="947123" y="736043"/>
            <a:ext cx="6801557"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REFERÊNCIAS</a:t>
            </a:r>
            <a:endParaRPr lang="en-US" sz="2800" b="1" dirty="0">
              <a:solidFill>
                <a:srgbClr val="303030"/>
              </a:solidFill>
              <a:latin typeface="Gotham HTF" pitchFamily="2" charset="0"/>
              <a:cs typeface="Gotham-Book"/>
            </a:endParaRPr>
          </a:p>
        </p:txBody>
      </p:sp>
      <p:sp>
        <p:nvSpPr>
          <p:cNvPr id="8"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395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914400" y="740277"/>
            <a:ext cx="7469188"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8" name="Content Placeholder 3"/>
          <p:cNvSpPr>
            <a:spLocks noGrp="1"/>
          </p:cNvSpPr>
          <p:nvPr>
            <p:ph sz="half" idx="2"/>
          </p:nvPr>
        </p:nvSpPr>
        <p:spPr>
          <a:xfrm>
            <a:off x="914400" y="4677443"/>
            <a:ext cx="7469188" cy="1251719"/>
          </a:xfrm>
        </p:spPr>
        <p:txBody>
          <a:bodyPr>
            <a:normAutofit/>
          </a:bodyPr>
          <a:lstStyle>
            <a:lvl1pPr>
              <a:buFont typeface="Wingdings" panose="05000000000000000000" pitchFamily="2" charset="2"/>
              <a:buChar char="§"/>
              <a:defRPr sz="1200">
                <a:latin typeface="Gotham-Book"/>
              </a:defRPr>
            </a:lvl1pPr>
            <a:lvl2pPr>
              <a:buFont typeface="Wingdings" panose="05000000000000000000" pitchFamily="2" charset="2"/>
              <a:buChar char="§"/>
              <a:defRPr sz="1200">
                <a:latin typeface="Gotham-Book"/>
              </a:defRPr>
            </a:lvl2pPr>
            <a:lvl3pPr>
              <a:buFont typeface="Wingdings" panose="05000000000000000000" pitchFamily="2" charset="2"/>
              <a:buChar char="§"/>
              <a:defRPr sz="1200">
                <a:latin typeface="Gotham-Book"/>
              </a:defRPr>
            </a:lvl3pPr>
            <a:lvl4pPr>
              <a:buFont typeface="Wingdings" panose="05000000000000000000" pitchFamily="2" charset="2"/>
              <a:buChar char="§"/>
              <a:defRPr sz="1200">
                <a:latin typeface="Gotham-Book"/>
              </a:defRPr>
            </a:lvl4pPr>
            <a:lvl5pPr>
              <a:buFont typeface="Wingdings" panose="05000000000000000000" pitchFamily="2" charset="2"/>
              <a:buChar char="§"/>
              <a:defRPr sz="1200">
                <a:latin typeface="Gotham-Book"/>
              </a:defRPr>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10" name="Espaço Reservado para Tabela 9"/>
          <p:cNvSpPr>
            <a:spLocks noGrp="1"/>
          </p:cNvSpPr>
          <p:nvPr>
            <p:ph type="tbl" sz="quarter" idx="13"/>
          </p:nvPr>
        </p:nvSpPr>
        <p:spPr>
          <a:xfrm>
            <a:off x="914400" y="1568450"/>
            <a:ext cx="7469188" cy="2589213"/>
          </a:xfrm>
        </p:spPr>
        <p:txBody>
          <a:bodyPr>
            <a:normAutofit/>
          </a:bodyPr>
          <a:lstStyle>
            <a:lvl1pPr>
              <a:defRPr sz="1200">
                <a:latin typeface="Gotham HTF Book" pitchFamily="2" charset="0"/>
              </a:defRPr>
            </a:lvl1pPr>
          </a:lstStyle>
          <a:p>
            <a:endParaRPr lang="pt-BR"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14399" y="721027"/>
            <a:ext cx="7305575"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4"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7339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752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28650" y="365125"/>
            <a:ext cx="7886700" cy="1325563"/>
          </a:xfrm>
          <a:prstGeom prst="rect">
            <a:avLst/>
          </a:prstGeom>
        </p:spPr>
        <p:txBody>
          <a:bodyPr/>
          <a:lstStyle/>
          <a:p>
            <a:r>
              <a:rPr lang="pt-BR"/>
              <a:t>Clique para editar o título mestre</a:t>
            </a:r>
          </a:p>
        </p:txBody>
      </p:sp>
      <p:sp>
        <p:nvSpPr>
          <p:cNvPr id="3" name="Espaço Reservado para Conteúdo 2"/>
          <p:cNvSpPr>
            <a:spLocks noGrp="1"/>
          </p:cNvSpPr>
          <p:nvPr>
            <p:ph idx="1"/>
          </p:nvPr>
        </p:nvSpPr>
        <p:spPr>
          <a:xfrm>
            <a:off x="628650" y="1825625"/>
            <a:ext cx="7886700" cy="4351338"/>
          </a:xfrm>
          <a:prstGeom prst="rect">
            <a:avLst/>
          </a:prstGeo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837627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údo">
    <p:spTree>
      <p:nvGrpSpPr>
        <p:cNvPr id="1" name=""/>
        <p:cNvGrpSpPr/>
        <p:nvPr/>
      </p:nvGrpSpPr>
      <p:grpSpPr>
        <a:xfrm>
          <a:off x="0" y="0"/>
          <a:ext cx="0" cy="0"/>
          <a:chOff x="0" y="0"/>
          <a:chExt cx="0" cy="0"/>
        </a:xfrm>
      </p:grpSpPr>
      <p:sp>
        <p:nvSpPr>
          <p:cNvPr id="2" name="Espaço Reservado para Conteúdo 1"/>
          <p:cNvSpPr>
            <a:spLocks noGrp="1"/>
          </p:cNvSpPr>
          <p:nvPr>
            <p:ph/>
          </p:nvPr>
        </p:nvSpPr>
        <p:spPr>
          <a:xfrm>
            <a:off x="457200" y="274638"/>
            <a:ext cx="8229600" cy="5851525"/>
          </a:xfrm>
          <a:prstGeom prst="rect">
            <a:avLst/>
          </a:prstGeo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558668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a:prstGeom prst="rect">
            <a:avLst/>
          </a:prstGeom>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2333116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9" name="Espaço Reservado para Título 11"/>
          <p:cNvSpPr>
            <a:spLocks noGrp="1"/>
          </p:cNvSpPr>
          <p:nvPr>
            <p:ph type="title" hasCustomPrompt="1"/>
          </p:nvPr>
        </p:nvSpPr>
        <p:spPr>
          <a:xfrm>
            <a:off x="628650" y="2766219"/>
            <a:ext cx="7886700" cy="1325563"/>
          </a:xfrm>
          <a:prstGeom prst="rect">
            <a:avLst/>
          </a:prstGeom>
        </p:spPr>
        <p:txBody>
          <a:bodyPr vert="horz" lIns="91440" tIns="45720" rIns="91440" bIns="45720" rtlCol="0" anchor="ctr">
            <a:normAutofit/>
          </a:bodyPr>
          <a:lstStyle>
            <a:lvl1pPr marL="0" indent="0">
              <a:buFont typeface="+mj-lt"/>
              <a:buNone/>
              <a:defRPr>
                <a:latin typeface="Gotham HTF" pitchFamily="2" charset="0"/>
              </a:defRPr>
            </a:lvl1pPr>
          </a:lstStyle>
          <a:p>
            <a:r>
              <a:rPr lang="pt-BR" dirty="0"/>
              <a:t>CLIQUE PARA EDITAR O TÍTULO MESTRE</a:t>
            </a:r>
          </a:p>
        </p:txBody>
      </p:sp>
    </p:spTree>
    <p:extLst>
      <p:ext uri="{BB962C8B-B14F-4D97-AF65-F5344CB8AC3E}">
        <p14:creationId xmlns:p14="http://schemas.microsoft.com/office/powerpoint/2010/main" val="1115298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4433774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3.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3.emf"/></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4.xml"/><Relationship Id="rId1"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7" name="Picture 2"/>
          <p:cNvPicPr>
            <a:picLocks noChangeAspect="1"/>
          </p:cNvPicPr>
          <p:nvPr userDrawn="1"/>
        </p:nvPicPr>
        <p:blipFill>
          <a:blip r:embed="rId3"/>
          <a:stretch>
            <a:fillRect/>
          </a:stretch>
        </p:blipFill>
        <p:spPr>
          <a:xfrm>
            <a:off x="1674039" y="3081534"/>
            <a:ext cx="5783223" cy="682232"/>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 name="Picture 4"/>
          <p:cNvPicPr>
            <a:picLocks noChangeAspect="1"/>
          </p:cNvPicPr>
          <p:nvPr userDrawn="1"/>
        </p:nvPicPr>
        <p:blipFill rotWithShape="1">
          <a:blip r:embed="rId3"/>
          <a:srcRect l="21776" r="21704"/>
          <a:stretch/>
        </p:blipFill>
        <p:spPr>
          <a:xfrm>
            <a:off x="1" y="2615134"/>
            <a:ext cx="9155650" cy="2789855"/>
          </a:xfrm>
          <a:prstGeom prst="rect">
            <a:avLst/>
          </a:prstGeom>
        </p:spPr>
      </p:pic>
      <p:sp>
        <p:nvSpPr>
          <p:cNvPr id="13" name="Rectangle 3"/>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8" name="Rectangle 1"/>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18"/>
          <p:cNvPicPr>
            <a:picLocks noChangeAspect="1"/>
          </p:cNvPicPr>
          <p:nvPr userDrawn="1"/>
        </p:nvPicPr>
        <p:blipFill>
          <a:blip r:embed="rId4"/>
          <a:stretch>
            <a:fillRect/>
          </a:stretch>
        </p:blipFill>
        <p:spPr>
          <a:xfrm>
            <a:off x="7829017" y="329329"/>
            <a:ext cx="997107" cy="272893"/>
          </a:xfrm>
          <a:prstGeom prst="rect">
            <a:avLst/>
          </a:prstGeom>
        </p:spPr>
      </p:pic>
      <p:sp>
        <p:nvSpPr>
          <p:cNvPr id="11" name="Rectangle 22"/>
          <p:cNvSpPr/>
          <p:nvPr userDrawn="1"/>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5"/>
          <p:cNvSpPr txBox="1"/>
          <p:nvPr userDrawn="1"/>
        </p:nvSpPr>
        <p:spPr>
          <a:xfrm>
            <a:off x="1011882" y="3341906"/>
            <a:ext cx="7166918" cy="543739"/>
          </a:xfrm>
          <a:prstGeom prst="rect">
            <a:avLst/>
          </a:prstGeom>
          <a:noFill/>
        </p:spPr>
        <p:txBody>
          <a:bodyPr wrap="square" rtlCol="0">
            <a:spAutoFit/>
          </a:bodyPr>
          <a:lstStyle/>
          <a:p>
            <a:pPr>
              <a:lnSpc>
                <a:spcPct val="90000"/>
              </a:lnSpc>
            </a:pPr>
            <a:r>
              <a:rPr lang="en-US" sz="3200" b="1" dirty="0">
                <a:solidFill>
                  <a:srgbClr val="FFFFFF"/>
                </a:solidFill>
                <a:latin typeface="Gotham HTF" pitchFamily="2" charset="0"/>
                <a:cs typeface="Gotham-Bold"/>
              </a:rPr>
              <a:t>ENGENHARIA</a:t>
            </a:r>
            <a:r>
              <a:rPr lang="en-US" sz="3200" b="1" baseline="0" dirty="0">
                <a:solidFill>
                  <a:srgbClr val="FFFFFF"/>
                </a:solidFill>
                <a:latin typeface="Gotham HTF" pitchFamily="2" charset="0"/>
                <a:cs typeface="Gotham-Bold"/>
              </a:rPr>
              <a:t> DE COMPUTAÇÃO</a:t>
            </a:r>
            <a:endParaRPr lang="en-US" sz="3200" b="1" dirty="0">
              <a:solidFill>
                <a:srgbClr val="FFFFFF"/>
              </a:solidFill>
              <a:latin typeface="Gotham HTF" pitchFamily="2" charset="0"/>
              <a:cs typeface="Gotham-Bold"/>
            </a:endParaRPr>
          </a:p>
        </p:txBody>
      </p:sp>
      <p:sp>
        <p:nvSpPr>
          <p:cNvPr id="17"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 typeface="Arial" pitchFamily="34" charset="0"/>
        <a:buNone/>
        <a:defRPr sz="3200" kern="1200">
          <a:solidFill>
            <a:schemeClr val="bg1"/>
          </a:solidFill>
          <a:latin typeface="Gotham-Bold"/>
          <a:ea typeface="+mn-ea"/>
          <a:cs typeface="+mn-cs"/>
        </a:defRPr>
      </a:lvl1pPr>
      <a:lvl2pPr marL="4572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2pPr>
      <a:lvl3pPr marL="9144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3pPr>
      <a:lvl4pPr marL="16002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4pPr>
      <a:lvl5pPr marL="20574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3652" y="697656"/>
            <a:ext cx="7443468" cy="585229"/>
          </a:xfrm>
          <a:prstGeom prst="rect">
            <a:avLst/>
          </a:prstGeom>
        </p:spPr>
        <p:txBody>
          <a:bodyPr vert="horz" lIns="91440" tIns="45720" rIns="91440" bIns="45720" rtlCol="0" anchor="ctr">
            <a:normAutofit/>
          </a:bodyPr>
          <a:lstStyle/>
          <a:p>
            <a:r>
              <a:rPr lang="x-none" dirty="0"/>
              <a:t>CLICK TO EDIT MASTER TITLE STYLE</a:t>
            </a:r>
            <a:endParaRPr lang="en-US" dirty="0"/>
          </a:p>
        </p:txBody>
      </p:sp>
      <p:sp>
        <p:nvSpPr>
          <p:cNvPr id="3" name="Text Placeholder 2"/>
          <p:cNvSpPr>
            <a:spLocks noGrp="1"/>
          </p:cNvSpPr>
          <p:nvPr>
            <p:ph type="body" idx="1"/>
          </p:nvPr>
        </p:nvSpPr>
        <p:spPr>
          <a:xfrm>
            <a:off x="933651" y="1600200"/>
            <a:ext cx="7443468" cy="4525963"/>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15" name="Rectangle 14"/>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7"/>
          <p:cNvPicPr>
            <a:picLocks noChangeAspect="1"/>
          </p:cNvPicPr>
          <p:nvPr userDrawn="1"/>
        </p:nvPicPr>
        <p:blipFill>
          <a:blip r:embed="rId14"/>
          <a:stretch>
            <a:fillRect/>
          </a:stretch>
        </p:blipFill>
        <p:spPr>
          <a:xfrm>
            <a:off x="7829017" y="329329"/>
            <a:ext cx="997107" cy="272893"/>
          </a:xfrm>
          <a:prstGeom prst="rect">
            <a:avLst/>
          </a:prstGeom>
        </p:spPr>
      </p:pic>
      <p:sp>
        <p:nvSpPr>
          <p:cNvPr id="19"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1"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53" r:id="rId10"/>
    <p:sldLayoutId id="2147483754" r:id="rId11"/>
    <p:sldLayoutId id="2147483755" r:id="rId12"/>
  </p:sldLayoutIdLst>
  <p:hf hdr="0" ftr="0" dt="0"/>
  <p:txStyles>
    <p:titleStyle>
      <a:lvl1pPr algn="l" defTabSz="457200" rtl="0" eaLnBrk="1" latinLnBrk="0" hangingPunct="1">
        <a:spcBef>
          <a:spcPct val="0"/>
        </a:spcBef>
        <a:buNone/>
        <a:defRPr sz="2800" b="1" kern="1200">
          <a:solidFill>
            <a:schemeClr val="tx1"/>
          </a:solidFill>
          <a:latin typeface="Gotham HTF" pitchFamily="2" charset="0"/>
          <a:ea typeface="+mj-ea"/>
          <a:cs typeface="+mj-cs"/>
        </a:defRPr>
      </a:lvl1pPr>
    </p:titleStyle>
    <p:bodyStyle>
      <a:lvl1pPr marL="342900" indent="-342900" algn="l" defTabSz="457200" rtl="0" eaLnBrk="1" latinLnBrk="0" hangingPunct="1">
        <a:spcBef>
          <a:spcPct val="20000"/>
        </a:spcBef>
        <a:buFont typeface="Wingdings" panose="05000000000000000000" pitchFamily="2" charset="2"/>
        <a:buChar char="§"/>
        <a:defRPr sz="2800" kern="1200">
          <a:solidFill>
            <a:schemeClr val="tx1"/>
          </a:solidFill>
          <a:latin typeface="Gotham HTF Book" pitchFamily="2"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otham HTF Book" pitchFamily="2" charset="0"/>
          <a:ea typeface="+mn-ea"/>
          <a:cs typeface="+mn-cs"/>
        </a:defRPr>
      </a:lvl2pPr>
      <a:lvl3pPr marL="1257300" indent="-342900" algn="l" defTabSz="457200" rtl="0" eaLnBrk="1" latinLnBrk="0" hangingPunct="1">
        <a:spcBef>
          <a:spcPct val="20000"/>
        </a:spcBef>
        <a:buFont typeface="Wingdings" panose="05000000000000000000" pitchFamily="2" charset="2"/>
        <a:buChar char="§"/>
        <a:defRPr sz="2000" kern="1200">
          <a:solidFill>
            <a:schemeClr val="tx1"/>
          </a:solidFill>
          <a:latin typeface="Gotham HTF Book" pitchFamily="2"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8" name="Picture 15"/>
          <p:cNvPicPr>
            <a:picLocks noChangeAspect="1"/>
          </p:cNvPicPr>
          <p:nvPr userDrawn="1"/>
        </p:nvPicPr>
        <p:blipFill>
          <a:blip r:embed="rId3"/>
          <a:stretch>
            <a:fillRect/>
          </a:stretch>
        </p:blipFill>
        <p:spPr>
          <a:xfrm>
            <a:off x="7837508" y="333716"/>
            <a:ext cx="975616" cy="267011"/>
          </a:xfrm>
          <a:prstGeom prst="rect">
            <a:avLst/>
          </a:prstGeom>
        </p:spPr>
      </p:pic>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2" name="Espaço Reservado para Título 11"/>
          <p:cNvSpPr>
            <a:spLocks noGrp="1"/>
          </p:cNvSpPr>
          <p:nvPr>
            <p:ph type="title"/>
          </p:nvPr>
        </p:nvSpPr>
        <p:spPr>
          <a:xfrm>
            <a:off x="628650" y="2766219"/>
            <a:ext cx="7886700" cy="1325563"/>
          </a:xfrm>
          <a:prstGeom prst="rect">
            <a:avLst/>
          </a:prstGeom>
        </p:spPr>
        <p:txBody>
          <a:bodyPr vert="horz" lIns="91440" tIns="45720" rIns="91440" bIns="45720" rtlCol="0" anchor="ctr">
            <a:normAutofit/>
          </a:bodyPr>
          <a:lstStyle/>
          <a:p>
            <a:r>
              <a:rPr lang="pt-BR"/>
              <a:t>Clique para editar o título mestre</a:t>
            </a:r>
          </a:p>
        </p:txBody>
      </p:sp>
    </p:spTree>
    <p:extLst>
      <p:ext uri="{BB962C8B-B14F-4D97-AF65-F5344CB8AC3E}">
        <p14:creationId xmlns:p14="http://schemas.microsoft.com/office/powerpoint/2010/main" val="540331082"/>
      </p:ext>
    </p:extLst>
  </p:cSld>
  <p:clrMap bg1="lt1" tx1="dk1" bg2="lt2" tx2="dk2" accent1="accent1" accent2="accent2" accent3="accent3" accent4="accent4" accent5="accent5" accent6="accent6" hlink="hlink" folHlink="folHlink"/>
  <p:sldLayoutIdLst>
    <p:sldLayoutId id="2147483752" r:id="rId1"/>
  </p:sldLayoutIdLst>
  <p:txStyles>
    <p:titleStyle>
      <a:lvl1pPr algn="ctr" defTabSz="914400" rtl="0" eaLnBrk="1" latinLnBrk="0" hangingPunct="1">
        <a:lnSpc>
          <a:spcPct val="90000"/>
        </a:lnSpc>
        <a:spcBef>
          <a:spcPct val="0"/>
        </a:spcBef>
        <a:buNone/>
        <a:defRPr sz="4400" b="1" kern="1200">
          <a:solidFill>
            <a:schemeClr val="bg1"/>
          </a:solidFill>
          <a:latin typeface="Gotham HTF"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0265D"/>
        </a:solidFill>
        <a:effectLst/>
      </p:bgPr>
    </p:bg>
    <p:spTree>
      <p:nvGrpSpPr>
        <p:cNvPr id="1" name=""/>
        <p:cNvGrpSpPr/>
        <p:nvPr/>
      </p:nvGrpSpPr>
      <p:grpSpPr>
        <a:xfrm>
          <a:off x="0" y="0"/>
          <a:ext cx="0" cy="0"/>
          <a:chOff x="0" y="0"/>
          <a:chExt cx="0" cy="0"/>
        </a:xfrm>
      </p:grpSpPr>
      <p:sp>
        <p:nvSpPr>
          <p:cNvPr id="9" name="Rectangle 2"/>
          <p:cNvSpPr/>
          <p:nvPr userDrawn="1"/>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4"/>
          <p:cNvSpPr/>
          <p:nvPr userDrawn="1"/>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5"/>
          <p:cNvPicPr>
            <a:picLocks noChangeAspect="1"/>
          </p:cNvPicPr>
          <p:nvPr userDrawn="1"/>
        </p:nvPicPr>
        <p:blipFill>
          <a:blip r:embed="rId3"/>
          <a:stretch>
            <a:fillRect/>
          </a:stretch>
        </p:blipFill>
        <p:spPr>
          <a:xfrm>
            <a:off x="7837508" y="333716"/>
            <a:ext cx="975616" cy="267011"/>
          </a:xfrm>
          <a:prstGeom prst="rect">
            <a:avLst/>
          </a:prstGeom>
        </p:spPr>
      </p:pic>
      <p:sp>
        <p:nvSpPr>
          <p:cNvPr id="12" name="Rectangle 1026"/>
          <p:cNvSpPr>
            <a:spLocks noChangeArrowheads="1"/>
          </p:cNvSpPr>
          <p:nvPr userDrawn="1"/>
        </p:nvSpPr>
        <p:spPr bwMode="auto">
          <a:xfrm>
            <a:off x="1053372" y="3222882"/>
            <a:ext cx="6784136" cy="1459503"/>
          </a:xfrm>
          <a:prstGeom prst="rect">
            <a:avLst/>
          </a:prstGeom>
          <a:noFill/>
          <a:ln w="9525">
            <a:noFill/>
            <a:miter lim="800000"/>
            <a:headEnd/>
            <a:tailEnd/>
          </a:ln>
        </p:spPr>
        <p:txBody>
          <a:bodyPr wrap="square" lIns="92075" tIns="46038" rIns="92075" bIns="46038">
            <a:spAutoFit/>
          </a:bodyPr>
          <a:lstStyle/>
          <a:p>
            <a:pPr>
              <a:defRPr/>
            </a:pPr>
            <a:r>
              <a:rPr kumimoji="1" lang="en-US" sz="2000" b="1" dirty="0">
                <a:solidFill>
                  <a:schemeClr val="bg1"/>
                </a:solidFill>
                <a:latin typeface="Gotham HTF" pitchFamily="2" charset="0"/>
                <a:cs typeface="Gotham-Bold"/>
              </a:rPr>
              <a:t>Copyright © 2025  Prof. Dr. Nivaldo Zafalon Junior</a:t>
            </a:r>
          </a:p>
          <a:p>
            <a:pPr>
              <a:defRPr/>
            </a:pPr>
            <a:endParaRPr kumimoji="1" lang="en-US" sz="1600" dirty="0">
              <a:solidFill>
                <a:schemeClr val="bg1"/>
              </a:solidFill>
              <a:latin typeface="Gotham-Book"/>
              <a:cs typeface="Gotham-Book"/>
            </a:endParaRPr>
          </a:p>
          <a:p>
            <a:pPr>
              <a:lnSpc>
                <a:spcPct val="110000"/>
              </a:lnSpc>
              <a:defRPr/>
            </a:pPr>
            <a:r>
              <a:rPr kumimoji="1" lang="en-US" sz="1600" dirty="0" err="1">
                <a:solidFill>
                  <a:schemeClr val="bg1"/>
                </a:solidFill>
                <a:latin typeface="Gotham-Book"/>
                <a:cs typeface="Gotham-Book"/>
              </a:rPr>
              <a:t>Todos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direitos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reservados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Reprodução</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ou</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divulgação</a:t>
            </a:r>
            <a:r>
              <a:rPr kumimoji="1" lang="en-US" sz="1600" dirty="0">
                <a:solidFill>
                  <a:schemeClr val="bg1"/>
                </a:solidFill>
                <a:latin typeface="Gotham-Book"/>
                <a:cs typeface="Gotham-Book"/>
              </a:rPr>
              <a:t> total </a:t>
            </a:r>
            <a:r>
              <a:rPr kumimoji="1" lang="en-US" sz="1600" dirty="0" err="1">
                <a:solidFill>
                  <a:schemeClr val="bg1"/>
                </a:solidFill>
                <a:latin typeface="Gotham-Book"/>
                <a:cs typeface="Gotham-Book"/>
              </a:rPr>
              <a:t>ou</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parcial</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deste</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documento</a:t>
            </a:r>
            <a:r>
              <a:rPr kumimoji="1" lang="en-US" sz="1600" dirty="0">
                <a:solidFill>
                  <a:schemeClr val="bg1"/>
                </a:solidFill>
                <a:latin typeface="Gotham-Book"/>
                <a:cs typeface="Gotham-Book"/>
              </a:rPr>
              <a:t> é </a:t>
            </a:r>
            <a:r>
              <a:rPr kumimoji="1" lang="en-US" sz="1600" dirty="0" err="1">
                <a:solidFill>
                  <a:schemeClr val="bg1"/>
                </a:solidFill>
                <a:latin typeface="Gotham-Book"/>
                <a:cs typeface="Gotham-Book"/>
              </a:rPr>
              <a:t>expressamente</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proíbido</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sem</a:t>
            </a:r>
            <a:r>
              <a:rPr kumimoji="1" lang="en-US" sz="1600" dirty="0">
                <a:solidFill>
                  <a:schemeClr val="bg1"/>
                </a:solidFill>
                <a:latin typeface="Gotham-Book"/>
                <a:cs typeface="Gotham-Book"/>
              </a:rPr>
              <a:t> o </a:t>
            </a:r>
            <a:r>
              <a:rPr kumimoji="1" lang="pt-BR" sz="1600" dirty="0">
                <a:solidFill>
                  <a:schemeClr val="bg1"/>
                </a:solidFill>
                <a:latin typeface="Gotham-Book"/>
                <a:cs typeface="Gotham-Book"/>
              </a:rPr>
              <a:t>consentimento formal, por escrito,</a:t>
            </a:r>
            <a:r>
              <a:rPr kumimoji="1" lang="en-US" sz="1600" dirty="0">
                <a:solidFill>
                  <a:schemeClr val="bg1"/>
                </a:solidFill>
                <a:latin typeface="Gotham-Book"/>
                <a:cs typeface="Gotham-Book"/>
              </a:rPr>
              <a:t> do Professor (</a:t>
            </a:r>
            <a:r>
              <a:rPr kumimoji="1" lang="en-US" sz="1600" dirty="0" err="1">
                <a:solidFill>
                  <a:schemeClr val="bg1"/>
                </a:solidFill>
                <a:latin typeface="Gotham-Book"/>
                <a:cs typeface="Gotham-Book"/>
              </a:rPr>
              <a:t>autor</a:t>
            </a:r>
            <a:r>
              <a:rPr kumimoji="1" lang="en-US" sz="1600" dirty="0">
                <a:solidFill>
                  <a:schemeClr val="bg1"/>
                </a:solidFill>
                <a:latin typeface="Gotham-Book"/>
                <a:cs typeface="Gotham-Book"/>
              </a:rPr>
              <a:t>).</a:t>
            </a:r>
          </a:p>
        </p:txBody>
      </p:sp>
    </p:spTree>
    <p:extLst>
      <p:ext uri="{BB962C8B-B14F-4D97-AF65-F5344CB8AC3E}">
        <p14:creationId xmlns:p14="http://schemas.microsoft.com/office/powerpoint/2010/main" val="384478339"/>
      </p:ext>
    </p:extLst>
  </p:cSld>
  <p:clrMap bg1="lt1" tx1="dk1" bg2="lt2" tx2="dk2" accent1="accent1" accent2="accent2" accent3="accent3" accent4="accent4" accent5="accent5" accent6="accent6" hlink="hlink" folHlink="folHlink"/>
  <p:sldLayoutIdLst>
    <p:sldLayoutId id="2147483750"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2.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19.wmf"/><Relationship Id="rId5" Type="http://schemas.openxmlformats.org/officeDocument/2006/relationships/oleObject" Target="../embeddings/oleObject2.bin"/><Relationship Id="rId4" Type="http://schemas.openxmlformats.org/officeDocument/2006/relationships/image" Target="../media/image18.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20.png"/><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wmf"/></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2.xml"/><Relationship Id="rId5" Type="http://schemas.openxmlformats.org/officeDocument/2006/relationships/image" Target="../media/image32.jpe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2.xml"/><Relationship Id="rId4" Type="http://schemas.openxmlformats.org/officeDocument/2006/relationships/image" Target="../media/image41.jpeg"/></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12.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3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12.xml"/><Relationship Id="rId6" Type="http://schemas.openxmlformats.org/officeDocument/2006/relationships/image" Target="../media/image56.jpeg"/><Relationship Id="rId5" Type="http://schemas.openxmlformats.org/officeDocument/2006/relationships/image" Target="../media/image55.png"/><Relationship Id="rId4" Type="http://schemas.openxmlformats.org/officeDocument/2006/relationships/image" Target="../media/image54.jpeg"/></Relationships>
</file>

<file path=ppt/slides/_rels/slide3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66.wmf"/><Relationship Id="rId18" Type="http://schemas.openxmlformats.org/officeDocument/2006/relationships/oleObject" Target="../embeddings/oleObject12.bin"/><Relationship Id="rId3" Type="http://schemas.openxmlformats.org/officeDocument/2006/relationships/image" Target="../media/image61.wmf"/><Relationship Id="rId21" Type="http://schemas.openxmlformats.org/officeDocument/2006/relationships/image" Target="../media/image70.wmf"/><Relationship Id="rId7" Type="http://schemas.openxmlformats.org/officeDocument/2006/relationships/image" Target="../media/image63.wmf"/><Relationship Id="rId12" Type="http://schemas.openxmlformats.org/officeDocument/2006/relationships/oleObject" Target="../embeddings/oleObject9.bin"/><Relationship Id="rId17" Type="http://schemas.openxmlformats.org/officeDocument/2006/relationships/image" Target="../media/image68.wmf"/><Relationship Id="rId2" Type="http://schemas.openxmlformats.org/officeDocument/2006/relationships/oleObject" Target="../embeddings/oleObject4.bin"/><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slideLayout" Target="../slideLayouts/slideLayout12.xml"/><Relationship Id="rId6" Type="http://schemas.openxmlformats.org/officeDocument/2006/relationships/oleObject" Target="../embeddings/oleObject6.bin"/><Relationship Id="rId11" Type="http://schemas.openxmlformats.org/officeDocument/2006/relationships/image" Target="../media/image65.wmf"/><Relationship Id="rId5" Type="http://schemas.openxmlformats.org/officeDocument/2006/relationships/image" Target="../media/image62.wmf"/><Relationship Id="rId15" Type="http://schemas.openxmlformats.org/officeDocument/2006/relationships/image" Target="../media/image67.wmf"/><Relationship Id="rId23" Type="http://schemas.openxmlformats.org/officeDocument/2006/relationships/image" Target="../media/image71.wmf"/><Relationship Id="rId10" Type="http://schemas.openxmlformats.org/officeDocument/2006/relationships/oleObject" Target="../embeddings/oleObject8.bin"/><Relationship Id="rId19" Type="http://schemas.openxmlformats.org/officeDocument/2006/relationships/image" Target="../media/image69.wmf"/><Relationship Id="rId4" Type="http://schemas.openxmlformats.org/officeDocument/2006/relationships/oleObject" Target="../embeddings/oleObject5.bin"/><Relationship Id="rId9" Type="http://schemas.openxmlformats.org/officeDocument/2006/relationships/image" Target="../media/image64.wmf"/><Relationship Id="rId14" Type="http://schemas.openxmlformats.org/officeDocument/2006/relationships/oleObject" Target="../embeddings/oleObject10.bin"/><Relationship Id="rId22" Type="http://schemas.openxmlformats.org/officeDocument/2006/relationships/oleObject" Target="../embeddings/oleObject14.bin"/></Relationships>
</file>

<file path=ppt/slides/_rels/slide3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15.bin"/><Relationship Id="rId1" Type="http://schemas.openxmlformats.org/officeDocument/2006/relationships/slideLayout" Target="../slideLayouts/slideLayout12.xml"/><Relationship Id="rId4" Type="http://schemas.openxmlformats.org/officeDocument/2006/relationships/image" Target="../media/image76.jpe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1982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xmlns:mv="urn:schemas-microsoft-com:mac:vml">
      <mp:transition xmlns:mp="http://schemas.microsoft.com/office/mac/powerpoint/2008/mai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1"/>
          <p:cNvSpPr txBox="1"/>
          <p:nvPr/>
        </p:nvSpPr>
        <p:spPr>
          <a:xfrm>
            <a:off x="1042704" y="4485205"/>
            <a:ext cx="4989796" cy="341632"/>
          </a:xfrm>
          <a:prstGeom prst="rect">
            <a:avLst/>
          </a:prstGeom>
          <a:noFill/>
        </p:spPr>
        <p:txBody>
          <a:bodyPr wrap="square" rtlCol="0">
            <a:spAutoFit/>
          </a:bodyPr>
          <a:lstStyle/>
          <a:p>
            <a:pPr>
              <a:lnSpc>
                <a:spcPct val="90000"/>
              </a:lnSpc>
            </a:pPr>
            <a:r>
              <a:rPr lang="en-US" dirty="0">
                <a:solidFill>
                  <a:srgbClr val="FFFFFF"/>
                </a:solidFill>
                <a:latin typeface="Gotham-Bold"/>
                <a:cs typeface="Gotham-Bold"/>
              </a:rPr>
              <a:t>PROF. Dr. NIVALDO ZAFALON JUNIOR</a:t>
            </a:r>
          </a:p>
        </p:txBody>
      </p:sp>
      <p:sp>
        <p:nvSpPr>
          <p:cNvPr id="6" name="TextBox 20"/>
          <p:cNvSpPr txBox="1"/>
          <p:nvPr/>
        </p:nvSpPr>
        <p:spPr>
          <a:xfrm>
            <a:off x="1042703" y="3898936"/>
            <a:ext cx="4861707" cy="397032"/>
          </a:xfrm>
          <a:prstGeom prst="rect">
            <a:avLst/>
          </a:prstGeom>
          <a:noFill/>
        </p:spPr>
        <p:txBody>
          <a:bodyPr wrap="square" rtlCol="0">
            <a:spAutoFit/>
          </a:bodyPr>
          <a:lstStyle/>
          <a:p>
            <a:pPr>
              <a:lnSpc>
                <a:spcPct val="90000"/>
              </a:lnSpc>
            </a:pPr>
            <a:r>
              <a:rPr lang="en-US" sz="2200" dirty="0" err="1">
                <a:solidFill>
                  <a:srgbClr val="FFFFFF"/>
                </a:solidFill>
                <a:latin typeface="Gotham-Book"/>
                <a:cs typeface="Gotham-Book"/>
              </a:rPr>
              <a:t>Energia</a:t>
            </a:r>
            <a:r>
              <a:rPr lang="en-US" sz="2200" dirty="0">
                <a:solidFill>
                  <a:srgbClr val="FFFFFF"/>
                </a:solidFill>
                <a:latin typeface="Gotham-Book"/>
                <a:cs typeface="Gotham-Book"/>
              </a:rPr>
              <a:t>, </a:t>
            </a:r>
            <a:r>
              <a:rPr lang="en-US" sz="2200" dirty="0" err="1">
                <a:solidFill>
                  <a:srgbClr val="FFFFFF"/>
                </a:solidFill>
                <a:latin typeface="Gotham-Book"/>
                <a:cs typeface="Gotham-Book"/>
              </a:rPr>
              <a:t>Cinemática</a:t>
            </a:r>
            <a:r>
              <a:rPr lang="en-US" sz="2200" dirty="0">
                <a:solidFill>
                  <a:srgbClr val="FFFFFF"/>
                </a:solidFill>
                <a:latin typeface="Gotham-Book"/>
                <a:cs typeface="Gotham-Book"/>
              </a:rPr>
              <a:t>, </a:t>
            </a:r>
            <a:r>
              <a:rPr lang="en-US" sz="2200" dirty="0" err="1">
                <a:solidFill>
                  <a:srgbClr val="FFFFFF"/>
                </a:solidFill>
                <a:latin typeface="Gotham-Book"/>
                <a:cs typeface="Gotham-Book"/>
              </a:rPr>
              <a:t>Forças</a:t>
            </a:r>
            <a:r>
              <a:rPr lang="en-US" sz="2200" dirty="0">
                <a:solidFill>
                  <a:srgbClr val="FFFFFF"/>
                </a:solidFill>
                <a:latin typeface="Gotham-Book"/>
                <a:cs typeface="Gotham-Book"/>
              </a:rPr>
              <a:t> e </a:t>
            </a:r>
            <a:r>
              <a:rPr lang="en-US" sz="2200" dirty="0" err="1">
                <a:solidFill>
                  <a:srgbClr val="FFFFFF"/>
                </a:solidFill>
                <a:latin typeface="Gotham-Book"/>
                <a:cs typeface="Gotham-Book"/>
              </a:rPr>
              <a:t>Ondas</a:t>
            </a:r>
            <a:endParaRPr lang="en-US" sz="2200" dirty="0">
              <a:solidFill>
                <a:srgbClr val="FFFFFF"/>
              </a:solidFill>
              <a:latin typeface="Gotham-Book"/>
              <a:cs typeface="Gotham-Book"/>
            </a:endParaRPr>
          </a:p>
        </p:txBody>
      </p:sp>
    </p:spTree>
    <p:extLst>
      <p:ext uri="{BB962C8B-B14F-4D97-AF65-F5344CB8AC3E}">
        <p14:creationId xmlns:p14="http://schemas.microsoft.com/office/powerpoint/2010/main" val="1418144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Conteúdo 4"/>
          <p:cNvSpPr>
            <a:spLocks noGrp="1"/>
          </p:cNvSpPr>
          <p:nvPr>
            <p:ph idx="1"/>
          </p:nvPr>
        </p:nvSpPr>
        <p:spPr/>
        <p:txBody>
          <a:bodyPr/>
          <a:lstStyle/>
          <a:p>
            <a:pPr marL="0" indent="0" algn="just">
              <a:buNone/>
            </a:pPr>
            <a:r>
              <a:rPr lang="pt-BR" dirty="0"/>
              <a:t>	Graduação em Tecnologia em Saúde (FATEC-SO), em Física (IFGW), mestrado e doutorado em Engenharia Elétrica (FEEC - UNICAMP). Atualmente é professor da FIAP. Atuação em Biofísica, propagação elétrica em membranas celulares, estimulação elétrica, desenvolvimento de projetos baseados em microcontroladores e eletrônica para sistemas embarcados.</a:t>
            </a:r>
          </a:p>
        </p:txBody>
      </p:sp>
      <p:sp>
        <p:nvSpPr>
          <p:cNvPr id="19" name="TextBox 10"/>
          <p:cNvSpPr txBox="1"/>
          <p:nvPr/>
        </p:nvSpPr>
        <p:spPr>
          <a:xfrm>
            <a:off x="4163412" y="4867582"/>
            <a:ext cx="4097404" cy="369332"/>
          </a:xfrm>
          <a:prstGeom prst="rect">
            <a:avLst/>
          </a:prstGeom>
          <a:noFill/>
        </p:spPr>
        <p:txBody>
          <a:bodyPr wrap="none" rtlCol="0">
            <a:spAutoFit/>
          </a:bodyPr>
          <a:lstStyle/>
          <a:p>
            <a:pPr>
              <a:lnSpc>
                <a:spcPct val="90000"/>
              </a:lnSpc>
            </a:pPr>
            <a:r>
              <a:rPr lang="en-US" sz="2000" dirty="0">
                <a:solidFill>
                  <a:srgbClr val="FFFFFF"/>
                </a:solidFill>
                <a:latin typeface="Gotham-Bold"/>
                <a:cs typeface="Gotham-Bold"/>
              </a:rPr>
              <a:t>PROF. Dr. NIVALDO ZAFALON Jr.</a:t>
            </a:r>
          </a:p>
        </p:txBody>
      </p:sp>
      <p:sp>
        <p:nvSpPr>
          <p:cNvPr id="22" name="TextBox 15"/>
          <p:cNvSpPr txBox="1"/>
          <p:nvPr/>
        </p:nvSpPr>
        <p:spPr>
          <a:xfrm>
            <a:off x="4177606" y="5262363"/>
            <a:ext cx="2380780" cy="341632"/>
          </a:xfrm>
          <a:prstGeom prst="rect">
            <a:avLst/>
          </a:prstGeom>
          <a:noFill/>
        </p:spPr>
        <p:txBody>
          <a:bodyPr wrap="none" rtlCol="0">
            <a:spAutoFit/>
          </a:bodyPr>
          <a:lstStyle/>
          <a:p>
            <a:pPr>
              <a:lnSpc>
                <a:spcPct val="90000"/>
              </a:lnSpc>
            </a:pPr>
            <a:r>
              <a:rPr lang="en-US" dirty="0">
                <a:solidFill>
                  <a:srgbClr val="FFFFFF"/>
                </a:solidFill>
                <a:latin typeface="Gotham-Bold"/>
                <a:cs typeface="Gotham-Bold"/>
              </a:rPr>
              <a:t>nivaldex@gmail.com</a:t>
            </a:r>
          </a:p>
        </p:txBody>
      </p:sp>
      <p:pic>
        <p:nvPicPr>
          <p:cNvPr id="6" name="Espaço Reservado para Imagem 5"/>
          <p:cNvPicPr>
            <a:picLocks noGrp="1" noChangeAspect="1"/>
          </p:cNvPicPr>
          <p:nvPr>
            <p:ph type="pic" sz="quarter" idx="13"/>
          </p:nvPr>
        </p:nvPicPr>
        <p:blipFill rotWithShape="1">
          <a:blip r:embed="rId3" cstate="email">
            <a:extLst>
              <a:ext uri="{28A0092B-C50C-407E-A947-70E740481C1C}">
                <a14:useLocalDpi xmlns:a14="http://schemas.microsoft.com/office/drawing/2010/main" val="0"/>
              </a:ext>
            </a:extLst>
          </a:blip>
          <a:srcRect l="42717" t="4139" r="13421" b="4139"/>
          <a:stretch/>
        </p:blipFill>
        <p:spPr>
          <a:xfrm>
            <a:off x="355600" y="685800"/>
            <a:ext cx="3403600" cy="5164138"/>
          </a:xfrm>
        </p:spPr>
      </p:pic>
      <p:sp>
        <p:nvSpPr>
          <p:cNvPr id="10" name="Isosceles Triangle 2"/>
          <p:cNvSpPr/>
          <p:nvPr/>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Tree>
    <p:extLst>
      <p:ext uri="{BB962C8B-B14F-4D97-AF65-F5344CB8AC3E}">
        <p14:creationId xmlns:p14="http://schemas.microsoft.com/office/powerpoint/2010/main" val="18277647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v="urn:schemas-microsoft-com:mac:vml">
      <mp:transition xmlns:mp="http://schemas.microsoft.com/office/mac/powerpoint/2008/mai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Espaço Reservado para Texto 26"/>
          <p:cNvSpPr>
            <a:spLocks noGrp="1"/>
          </p:cNvSpPr>
          <p:nvPr>
            <p:ph type="body" sz="quarter" idx="13"/>
          </p:nvPr>
        </p:nvSpPr>
        <p:spPr>
          <a:xfrm>
            <a:off x="914400" y="1447800"/>
            <a:ext cx="7238198" cy="562778"/>
          </a:xfrm>
        </p:spPr>
        <p:txBody>
          <a:bodyPr/>
          <a:lstStyle/>
          <a:p>
            <a:r>
              <a:rPr lang="pt-BR" sz="4000" dirty="0">
                <a:solidFill>
                  <a:srgbClr val="FF0000"/>
                </a:solidFill>
              </a:rPr>
              <a:t>Conceitos Preliminares:</a:t>
            </a:r>
          </a:p>
        </p:txBody>
      </p:sp>
      <p:sp>
        <p:nvSpPr>
          <p:cNvPr id="28" name="Espaço Reservado para Texto 27"/>
          <p:cNvSpPr>
            <a:spLocks noGrp="1"/>
          </p:cNvSpPr>
          <p:nvPr>
            <p:ph type="body" sz="quarter" idx="14"/>
          </p:nvPr>
        </p:nvSpPr>
        <p:spPr/>
        <p:txBody>
          <a:bodyPr/>
          <a:lstStyle/>
          <a:p>
            <a:pPr marL="0" indent="0">
              <a:buNone/>
            </a:pPr>
            <a:r>
              <a:rPr lang="pt-BR" sz="2400" dirty="0">
                <a:solidFill>
                  <a:srgbClr val="FF0000"/>
                </a:solidFill>
              </a:rPr>
              <a:t>*	Física Clássica vs Física Moderna;</a:t>
            </a:r>
          </a:p>
          <a:p>
            <a:pPr marL="0" indent="0">
              <a:buNone/>
            </a:pPr>
            <a:r>
              <a:rPr lang="pt-BR" sz="2400" dirty="0">
                <a:solidFill>
                  <a:srgbClr val="FF0000"/>
                </a:solidFill>
              </a:rPr>
              <a:t>*	Experimento do Efeito Fotoelétrico;</a:t>
            </a:r>
          </a:p>
          <a:p>
            <a:pPr marL="0" indent="0">
              <a:buNone/>
            </a:pPr>
            <a:r>
              <a:rPr lang="pt-BR" sz="2400" dirty="0">
                <a:solidFill>
                  <a:srgbClr val="FF0000"/>
                </a:solidFill>
              </a:rPr>
              <a:t>*	Comprimento, tempo e massa.</a:t>
            </a:r>
          </a:p>
          <a:p>
            <a:pPr marL="0" indent="0">
              <a:buNone/>
            </a:pPr>
            <a:endParaRPr lang="pt-BR" dirty="0"/>
          </a:p>
        </p:txBody>
      </p:sp>
    </p:spTree>
    <p:extLst>
      <p:ext uri="{BB962C8B-B14F-4D97-AF65-F5344CB8AC3E}">
        <p14:creationId xmlns:p14="http://schemas.microsoft.com/office/powerpoint/2010/main" val="187264628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v="urn:schemas-microsoft-com:mac:vml">
      <mp:transition xmlns:mp="http://schemas.microsoft.com/office/mac/powerpoint/2008/mai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4"/>
          <p:cNvSpPr>
            <a:spLocks noChangeArrowheads="1"/>
          </p:cNvSpPr>
          <p:nvPr/>
        </p:nvSpPr>
        <p:spPr bwMode="auto">
          <a:xfrm>
            <a:off x="0" y="703263"/>
            <a:ext cx="9143999"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Física Clássica e Leis de Newton</a:t>
            </a:r>
          </a:p>
          <a:p>
            <a:pPr algn="just" eaLnBrk="1" hangingPunct="1"/>
            <a:endParaRPr lang="pt-BR" sz="1800" dirty="0">
              <a:solidFill>
                <a:srgbClr val="FF0000"/>
              </a:solidFill>
            </a:endParaRPr>
          </a:p>
          <a:p>
            <a:pPr algn="just" eaLnBrk="1" hangingPunct="1">
              <a:lnSpc>
                <a:spcPct val="150000"/>
              </a:lnSpc>
            </a:pPr>
            <a:r>
              <a:rPr lang="pt-BR" sz="1800" dirty="0"/>
              <a:t>	</a:t>
            </a:r>
            <a:r>
              <a:rPr lang="pt-BR" sz="1800" dirty="0">
                <a:solidFill>
                  <a:schemeClr val="tx1"/>
                </a:solidFill>
              </a:rPr>
              <a:t>Toda a chamada física clássica foi construída, principalmente, sob três pilares. Estes pilares são conhecidos como leis de Newton. Para a formulação de suas leis Newton aplicou suas teorias ao estudo do movimento dos corpos e, por isso, sempre que ouvimos falar das leis de Newton sempre lembramos do estudo dos movimentos.</a:t>
            </a:r>
          </a:p>
        </p:txBody>
      </p:sp>
    </p:spTree>
    <p:extLst>
      <p:ext uri="{BB962C8B-B14F-4D97-AF65-F5344CB8AC3E}">
        <p14:creationId xmlns:p14="http://schemas.microsoft.com/office/powerpoint/2010/main" val="770500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p:cNvSpPr txBox="1">
            <a:spLocks noChangeArrowheads="1"/>
          </p:cNvSpPr>
          <p:nvPr/>
        </p:nvSpPr>
        <p:spPr bwMode="auto">
          <a:xfrm>
            <a:off x="1949450" y="3228975"/>
            <a:ext cx="53911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3600" b="1" dirty="0">
                <a:solidFill>
                  <a:srgbClr val="FF0000"/>
                </a:solidFill>
              </a:rPr>
              <a:t>O que é física clássica?</a:t>
            </a:r>
          </a:p>
        </p:txBody>
      </p:sp>
    </p:spTree>
    <p:extLst>
      <p:ext uri="{BB962C8B-B14F-4D97-AF65-F5344CB8AC3E}">
        <p14:creationId xmlns:p14="http://schemas.microsoft.com/office/powerpoint/2010/main" val="2873822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36513" y="727075"/>
            <a:ext cx="8928100"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t>	</a:t>
            </a:r>
            <a:r>
              <a:rPr lang="pt-BR" b="1" dirty="0">
                <a:solidFill>
                  <a:schemeClr val="tx1"/>
                </a:solidFill>
              </a:rPr>
              <a:t>Resposta:</a:t>
            </a:r>
          </a:p>
          <a:p>
            <a:pPr algn="just" eaLnBrk="1" hangingPunct="1"/>
            <a:endParaRPr lang="pt-BR" sz="1800" dirty="0"/>
          </a:p>
          <a:p>
            <a:pPr algn="just">
              <a:lnSpc>
                <a:spcPct val="150000"/>
              </a:lnSpc>
            </a:pPr>
            <a:r>
              <a:rPr lang="pt-BR" sz="1600" dirty="0"/>
              <a:t>	</a:t>
            </a:r>
            <a:r>
              <a:rPr lang="pt-BR" sz="1600" dirty="0">
                <a:solidFill>
                  <a:schemeClr val="tx1"/>
                </a:solidFill>
              </a:rPr>
              <a:t>A física clássica, que vai de Galileu e Newton até meados do século XIX é uma física </a:t>
            </a:r>
            <a:r>
              <a:rPr lang="pt-BR" sz="1600" b="1" dirty="0">
                <a:solidFill>
                  <a:srgbClr val="FF0000"/>
                </a:solidFill>
              </a:rPr>
              <a:t>determinística</a:t>
            </a:r>
            <a:r>
              <a:rPr lang="pt-BR" sz="1600" dirty="0">
                <a:solidFill>
                  <a:schemeClr val="tx1"/>
                </a:solidFill>
              </a:rPr>
              <a:t>. Vejamos alguns exemplos deste determinismo em situações práticas estudadas e explicadas pela física clássica:</a:t>
            </a:r>
          </a:p>
        </p:txBody>
      </p:sp>
      <p:sp>
        <p:nvSpPr>
          <p:cNvPr id="9219" name="Rectangle 7"/>
          <p:cNvSpPr>
            <a:spLocks noChangeArrowheads="1"/>
          </p:cNvSpPr>
          <p:nvPr/>
        </p:nvSpPr>
        <p:spPr bwMode="auto">
          <a:xfrm>
            <a:off x="36513" y="2636838"/>
            <a:ext cx="4895850"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600" dirty="0">
                <a:solidFill>
                  <a:schemeClr val="tx1"/>
                </a:solidFill>
              </a:rPr>
              <a:t>	Em uma queda livre, por exemplo, se conhecermos a altura inicial do corpo, sua velocidade inicial e a aceleração da gravidade local, podemos determinar a velocidade do corpo em qualquer posição de sua trajetória e em qualquer instante. De forma análoga, se conhecermos a velocidade, podemos determinar sua posição em qualquer instante.</a:t>
            </a:r>
          </a:p>
        </p:txBody>
      </p:sp>
      <p:pic>
        <p:nvPicPr>
          <p:cNvPr id="9220" name="Picture 8" descr="Amy Winehouse - Talento em queda livre"/>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080125" y="2636838"/>
            <a:ext cx="2778125"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3988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ChangeArrowheads="1"/>
          </p:cNvSpPr>
          <p:nvPr/>
        </p:nvSpPr>
        <p:spPr bwMode="auto">
          <a:xfrm>
            <a:off x="36513" y="739775"/>
            <a:ext cx="5688012"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600" dirty="0"/>
              <a:t>	</a:t>
            </a:r>
            <a:r>
              <a:rPr lang="pt-BR" sz="1600" dirty="0">
                <a:solidFill>
                  <a:schemeClr val="tx1"/>
                </a:solidFill>
              </a:rPr>
              <a:t>Um outro exemplo seria um oscilador massa-mola ideal. Se fizermos com que a massa oscile entre as posições A e –A, passando pelo ponto 0 de equilíbrio, podemos determinar os valores de energia potencial armazenada no sistema em qualquer posição entre A e –A. Verificamos ainda que a energia potencial pode assumir </a:t>
            </a:r>
            <a:r>
              <a:rPr lang="pt-BR" sz="1600" b="1" dirty="0">
                <a:solidFill>
                  <a:srgbClr val="FF0000"/>
                </a:solidFill>
              </a:rPr>
              <a:t>qualquer valor </a:t>
            </a:r>
            <a:r>
              <a:rPr lang="pt-BR" sz="1600" dirty="0">
                <a:solidFill>
                  <a:schemeClr val="tx1"/>
                </a:solidFill>
              </a:rPr>
              <a:t>entre zero e   K.A</a:t>
            </a:r>
            <a:r>
              <a:rPr lang="pt-BR" sz="1600" baseline="30000" dirty="0">
                <a:solidFill>
                  <a:schemeClr val="tx1"/>
                </a:solidFill>
              </a:rPr>
              <a:t>2</a:t>
            </a:r>
            <a:r>
              <a:rPr lang="pt-BR" sz="1600" dirty="0">
                <a:solidFill>
                  <a:schemeClr val="tx1"/>
                </a:solidFill>
              </a:rPr>
              <a:t>/2. Isso corresponde a um espectro contínuo de energia.</a:t>
            </a:r>
          </a:p>
        </p:txBody>
      </p:sp>
      <p:pic>
        <p:nvPicPr>
          <p:cNvPr id="10243" name="Picture 5" descr="1205174750_eq056_0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888" y="1344613"/>
            <a:ext cx="2487612"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Imagem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4160838"/>
            <a:ext cx="4321175"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8281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36513" y="739775"/>
            <a:ext cx="89281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600" dirty="0"/>
              <a:t>	</a:t>
            </a:r>
            <a:r>
              <a:rPr lang="pt-BR" sz="1600" dirty="0">
                <a:solidFill>
                  <a:schemeClr val="tx1"/>
                </a:solidFill>
              </a:rPr>
              <a:t>Uma outra característica marcante do que chamamos de física clássica está no fato de que o</a:t>
            </a:r>
            <a:r>
              <a:rPr lang="pt-BR" sz="1600" dirty="0"/>
              <a:t> </a:t>
            </a:r>
            <a:r>
              <a:rPr lang="pt-BR" sz="1600" b="1" dirty="0">
                <a:solidFill>
                  <a:srgbClr val="FF0000"/>
                </a:solidFill>
              </a:rPr>
              <a:t>tempo</a:t>
            </a:r>
            <a:r>
              <a:rPr lang="pt-BR" sz="1600" dirty="0">
                <a:solidFill>
                  <a:schemeClr val="tx1"/>
                </a:solidFill>
              </a:rPr>
              <a:t>, a</a:t>
            </a:r>
            <a:r>
              <a:rPr lang="pt-BR" sz="1600" dirty="0"/>
              <a:t> </a:t>
            </a:r>
            <a:r>
              <a:rPr lang="pt-BR" sz="1600" b="1" dirty="0">
                <a:solidFill>
                  <a:srgbClr val="FF0000"/>
                </a:solidFill>
              </a:rPr>
              <a:t>massa</a:t>
            </a:r>
            <a:r>
              <a:rPr lang="pt-BR" sz="1600" dirty="0">
                <a:solidFill>
                  <a:schemeClr val="tx1"/>
                </a:solidFill>
              </a:rPr>
              <a:t> e a </a:t>
            </a:r>
            <a:r>
              <a:rPr lang="pt-BR" sz="1600" b="1" dirty="0">
                <a:solidFill>
                  <a:srgbClr val="FF0000"/>
                </a:solidFill>
              </a:rPr>
              <a:t>distância</a:t>
            </a:r>
            <a:r>
              <a:rPr lang="pt-BR" sz="1600" dirty="0"/>
              <a:t> </a:t>
            </a:r>
            <a:r>
              <a:rPr lang="pt-BR" sz="1600" dirty="0">
                <a:solidFill>
                  <a:schemeClr val="tx1"/>
                </a:solidFill>
              </a:rPr>
              <a:t>são consideradas </a:t>
            </a:r>
            <a:r>
              <a:rPr lang="pt-BR" sz="1600" b="1" dirty="0">
                <a:solidFill>
                  <a:srgbClr val="FF0000"/>
                </a:solidFill>
              </a:rPr>
              <a:t>grandezas absolutas</a:t>
            </a:r>
            <a:r>
              <a:rPr lang="pt-BR" sz="1600" dirty="0">
                <a:solidFill>
                  <a:schemeClr val="tx1"/>
                </a:solidFill>
              </a:rPr>
              <a:t>, isto é, não dependem do referencial adotado.</a:t>
            </a:r>
          </a:p>
        </p:txBody>
      </p:sp>
      <p:pic>
        <p:nvPicPr>
          <p:cNvPr id="11267" name="Picture 5" descr="Tempo"/>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7950" y="2276475"/>
            <a:ext cx="316865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6" descr="lua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730875" y="1844675"/>
            <a:ext cx="33782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7" descr="pesoscomerc"/>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348038" y="3783013"/>
            <a:ext cx="22320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 Box 8"/>
          <p:cNvSpPr txBox="1">
            <a:spLocks noChangeArrowheads="1"/>
          </p:cNvSpPr>
          <p:nvPr/>
        </p:nvSpPr>
        <p:spPr bwMode="auto">
          <a:xfrm>
            <a:off x="1130300" y="4724400"/>
            <a:ext cx="849313"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chemeClr val="tx1"/>
                </a:solidFill>
              </a:rPr>
              <a:t>Tempo</a:t>
            </a:r>
          </a:p>
        </p:txBody>
      </p:sp>
      <p:sp>
        <p:nvSpPr>
          <p:cNvPr id="11271" name="Text Box 9"/>
          <p:cNvSpPr txBox="1">
            <a:spLocks noChangeArrowheads="1"/>
          </p:cNvSpPr>
          <p:nvPr/>
        </p:nvSpPr>
        <p:spPr bwMode="auto">
          <a:xfrm>
            <a:off x="5148263" y="5734050"/>
            <a:ext cx="804862"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chemeClr val="tx1"/>
                </a:solidFill>
              </a:rPr>
              <a:t>Massa</a:t>
            </a:r>
          </a:p>
        </p:txBody>
      </p:sp>
      <p:sp>
        <p:nvSpPr>
          <p:cNvPr id="11272" name="Text Box 10"/>
          <p:cNvSpPr txBox="1">
            <a:spLocks noChangeArrowheads="1"/>
          </p:cNvSpPr>
          <p:nvPr/>
        </p:nvSpPr>
        <p:spPr bwMode="auto">
          <a:xfrm>
            <a:off x="6804025" y="4437063"/>
            <a:ext cx="1087438"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chemeClr val="tx1"/>
                </a:solidFill>
              </a:rPr>
              <a:t>Distância</a:t>
            </a:r>
          </a:p>
        </p:txBody>
      </p:sp>
    </p:spTree>
    <p:extLst>
      <p:ext uri="{BB962C8B-B14F-4D97-AF65-F5344CB8AC3E}">
        <p14:creationId xmlns:p14="http://schemas.microsoft.com/office/powerpoint/2010/main" val="4115229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5"/>
          <p:cNvSpPr txBox="1">
            <a:spLocks noChangeArrowheads="1"/>
          </p:cNvSpPr>
          <p:nvPr/>
        </p:nvSpPr>
        <p:spPr bwMode="auto">
          <a:xfrm>
            <a:off x="34925" y="2644775"/>
            <a:ext cx="88566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2200" b="1">
                <a:solidFill>
                  <a:srgbClr val="FF0000"/>
                </a:solidFill>
              </a:rPr>
              <a:t>	A física clássica trata apenas do estudo de movimentos?</a:t>
            </a:r>
          </a:p>
        </p:txBody>
      </p:sp>
    </p:spTree>
    <p:extLst>
      <p:ext uri="{BB962C8B-B14F-4D97-AF65-F5344CB8AC3E}">
        <p14:creationId xmlns:p14="http://schemas.microsoft.com/office/powerpoint/2010/main" val="836881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ChangeArrowheads="1"/>
          </p:cNvSpPr>
          <p:nvPr/>
        </p:nvSpPr>
        <p:spPr bwMode="auto">
          <a:xfrm>
            <a:off x="36513" y="727075"/>
            <a:ext cx="8999537"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t>	</a:t>
            </a:r>
            <a:r>
              <a:rPr lang="pt-BR" b="1" dirty="0">
                <a:solidFill>
                  <a:schemeClr val="tx1"/>
                </a:solidFill>
              </a:rPr>
              <a:t>Resposta:</a:t>
            </a:r>
          </a:p>
          <a:p>
            <a:pPr algn="just" eaLnBrk="1" hangingPunct="1"/>
            <a:endParaRPr lang="pt-BR" sz="1000" dirty="0">
              <a:solidFill>
                <a:schemeClr val="tx1"/>
              </a:solidFill>
            </a:endParaRPr>
          </a:p>
          <a:p>
            <a:pPr algn="just">
              <a:lnSpc>
                <a:spcPct val="150000"/>
              </a:lnSpc>
            </a:pPr>
            <a:r>
              <a:rPr lang="pt-BR" sz="1600" dirty="0">
                <a:solidFill>
                  <a:schemeClr val="tx1"/>
                </a:solidFill>
              </a:rPr>
              <a:t>	Não, a física clássica pode ser usada para </a:t>
            </a:r>
            <a:r>
              <a:rPr lang="pt-BR" sz="1600" b="1" dirty="0">
                <a:solidFill>
                  <a:srgbClr val="FF0000"/>
                </a:solidFill>
              </a:rPr>
              <a:t>tentar</a:t>
            </a:r>
            <a:r>
              <a:rPr lang="pt-BR" sz="1600" dirty="0"/>
              <a:t> </a:t>
            </a:r>
            <a:r>
              <a:rPr lang="pt-BR" sz="1600" dirty="0">
                <a:solidFill>
                  <a:schemeClr val="tx1"/>
                </a:solidFill>
              </a:rPr>
              <a:t>explicar qualquer fenômeno físico. Desde fenômenos envolvendo eletricidade, magnetismo ou até transferência de massa ou fenômenos de transporte.</a:t>
            </a:r>
            <a:endParaRPr lang="pt-BR" sz="2000" b="1" dirty="0">
              <a:solidFill>
                <a:schemeClr val="tx1"/>
              </a:solidFill>
            </a:endParaRPr>
          </a:p>
        </p:txBody>
      </p:sp>
      <p:pic>
        <p:nvPicPr>
          <p:cNvPr id="13315" name="Picture 7" descr="gerador_eletrico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3025775"/>
            <a:ext cx="4176712"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8" descr="fig279"/>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907088" y="2852738"/>
            <a:ext cx="2986087"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1023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Imagem 7" descr="Atração e repulsão entre cargas - 01.png"/>
          <p:cNvPicPr>
            <a:picLocks noChangeAspect="1"/>
          </p:cNvPicPr>
          <p:nvPr/>
        </p:nvPicPr>
        <p:blipFill>
          <a:blip r:embed="rId2">
            <a:extLst>
              <a:ext uri="{28A0092B-C50C-407E-A947-70E740481C1C}">
                <a14:useLocalDpi xmlns:a14="http://schemas.microsoft.com/office/drawing/2010/main" val="0"/>
              </a:ext>
            </a:extLst>
          </a:blip>
          <a:srcRect b="26018"/>
          <a:stretch>
            <a:fillRect/>
          </a:stretch>
        </p:blipFill>
        <p:spPr bwMode="auto">
          <a:xfrm>
            <a:off x="34925" y="2781300"/>
            <a:ext cx="4868863"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339" name="Object 1"/>
          <p:cNvGraphicFramePr>
            <a:graphicFrameLocks noChangeAspect="1"/>
          </p:cNvGraphicFramePr>
          <p:nvPr/>
        </p:nvGraphicFramePr>
        <p:xfrm>
          <a:off x="5076825" y="2781300"/>
          <a:ext cx="2060575" cy="998538"/>
        </p:xfrm>
        <a:graphic>
          <a:graphicData uri="http://schemas.openxmlformats.org/presentationml/2006/ole">
            <mc:AlternateContent xmlns:mc="http://schemas.openxmlformats.org/markup-compatibility/2006">
              <mc:Choice xmlns:v="urn:schemas-microsoft-com:vml" Requires="v">
                <p:oleObj name="Equação" r:id="rId3" imgW="939392" imgH="444307" progId="Equation.3">
                  <p:embed/>
                </p:oleObj>
              </mc:Choice>
              <mc:Fallback>
                <p:oleObj name="Equação" r:id="rId3" imgW="939392" imgH="44430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2781300"/>
                        <a:ext cx="2060575"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0" name="Object 3"/>
          <p:cNvGraphicFramePr>
            <a:graphicFrameLocks noChangeAspect="1"/>
          </p:cNvGraphicFramePr>
          <p:nvPr/>
        </p:nvGraphicFramePr>
        <p:xfrm>
          <a:off x="5076825" y="3884613"/>
          <a:ext cx="1476375" cy="969962"/>
        </p:xfrm>
        <a:graphic>
          <a:graphicData uri="http://schemas.openxmlformats.org/presentationml/2006/ole">
            <mc:AlternateContent xmlns:mc="http://schemas.openxmlformats.org/markup-compatibility/2006">
              <mc:Choice xmlns:v="urn:schemas-microsoft-com:vml" Requires="v">
                <p:oleObj name="Equação" r:id="rId5" imgW="672808" imgH="431613" progId="Equation.3">
                  <p:embed/>
                </p:oleObj>
              </mc:Choice>
              <mc:Fallback>
                <p:oleObj name="Equação" r:id="rId5" imgW="672808" imgH="4316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3884613"/>
                        <a:ext cx="1476375"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1" name="Text Box 10"/>
          <p:cNvSpPr txBox="1">
            <a:spLocks noChangeArrowheads="1"/>
          </p:cNvSpPr>
          <p:nvPr/>
        </p:nvSpPr>
        <p:spPr bwMode="auto">
          <a:xfrm>
            <a:off x="34925" y="752475"/>
            <a:ext cx="341311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2400" b="1" dirty="0">
                <a:solidFill>
                  <a:schemeClr val="tx1"/>
                </a:solidFill>
              </a:rPr>
              <a:t>	Lei de Coulomb</a:t>
            </a:r>
          </a:p>
        </p:txBody>
      </p:sp>
    </p:spTree>
    <p:extLst>
      <p:ext uri="{BB962C8B-B14F-4D97-AF65-F5344CB8AC3E}">
        <p14:creationId xmlns:p14="http://schemas.microsoft.com/office/powerpoint/2010/main" val="1075813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ChangeArrowheads="1"/>
          </p:cNvSpPr>
          <p:nvPr/>
        </p:nvSpPr>
        <p:spPr bwMode="auto">
          <a:xfrm>
            <a:off x="36513" y="727075"/>
            <a:ext cx="889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O efeito fotoelétrico – A luz</a:t>
            </a:r>
          </a:p>
        </p:txBody>
      </p:sp>
      <p:pic>
        <p:nvPicPr>
          <p:cNvPr id="15363" name="Picture 7" descr="Ondas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1357313"/>
            <a:ext cx="5081588" cy="473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364"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 name="Imagem 6">
            <a:extLst>
              <a:ext uri="{FF2B5EF4-FFF2-40B4-BE49-F238E27FC236}">
                <a16:creationId xmlns:a16="http://schemas.microsoft.com/office/drawing/2014/main" id="{84113D89-91AE-4BB7-8387-0BD78BE6C97D}"/>
              </a:ext>
            </a:extLst>
          </p:cNvPr>
          <p:cNvPicPr>
            <a:picLocks noChangeAspect="1"/>
          </p:cNvPicPr>
          <p:nvPr/>
        </p:nvPicPr>
        <p:blipFill>
          <a:blip r:embed="rId5"/>
          <a:stretch>
            <a:fillRect/>
          </a:stretch>
        </p:blipFill>
        <p:spPr>
          <a:xfrm>
            <a:off x="3855564" y="4231085"/>
            <a:ext cx="5288436" cy="1750450"/>
          </a:xfrm>
          <a:prstGeom prst="rect">
            <a:avLst/>
          </a:prstGeom>
        </p:spPr>
      </p:pic>
    </p:spTree>
    <p:extLst>
      <p:ext uri="{BB962C8B-B14F-4D97-AF65-F5344CB8AC3E}">
        <p14:creationId xmlns:p14="http://schemas.microsoft.com/office/powerpoint/2010/main" val="2916003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0" y="733425"/>
            <a:ext cx="889317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O efeito fotoelétrico – Física Clássica</a:t>
            </a:r>
            <a:endParaRPr lang="pt-BR" b="1" dirty="0">
              <a:solidFill>
                <a:schemeClr val="tx1"/>
              </a:solidFill>
            </a:endParaRPr>
          </a:p>
          <a:p>
            <a:pPr algn="just" eaLnBrk="1" hangingPunct="1"/>
            <a:endParaRPr lang="pt-BR" sz="600" dirty="0">
              <a:solidFill>
                <a:schemeClr val="tx1"/>
              </a:solidFill>
            </a:endParaRPr>
          </a:p>
          <a:p>
            <a:pPr algn="just"/>
            <a:endParaRPr lang="pt-BR" sz="600" dirty="0">
              <a:solidFill>
                <a:schemeClr val="tx1"/>
              </a:solidFill>
            </a:endParaRPr>
          </a:p>
          <a:p>
            <a:pPr algn="just">
              <a:lnSpc>
                <a:spcPct val="150000"/>
              </a:lnSpc>
            </a:pPr>
            <a:r>
              <a:rPr lang="pt-BR" sz="1800" dirty="0">
                <a:solidFill>
                  <a:schemeClr val="tx1"/>
                </a:solidFill>
              </a:rPr>
              <a:t>	Vamos imaginar uma experiência onde uma luz incide sobre um material metálico. Experimentalmente pode-se observar  que elétrons desprendem-se do metal e isto é conhecido como efeito fotoelétrico.</a:t>
            </a:r>
          </a:p>
          <a:p>
            <a:pPr algn="just">
              <a:lnSpc>
                <a:spcPct val="150000"/>
              </a:lnSpc>
            </a:pPr>
            <a:r>
              <a:rPr lang="pt-BR" sz="1800" dirty="0">
                <a:solidFill>
                  <a:schemeClr val="tx1"/>
                </a:solidFill>
              </a:rPr>
              <a:t>	Vamos analisar este fenômeno sob o ponto de vista da física clássica, onde as quantidades são todas contínuas, ou seja, onde uma grandeza pode assumir qualquer valor entre dois valores quaisquer.</a:t>
            </a:r>
          </a:p>
        </p:txBody>
      </p:sp>
      <p:pic>
        <p:nvPicPr>
          <p:cNvPr id="16387" name="Picture 5" descr="222px-Photoelectric_effect"/>
          <p:cNvPicPr>
            <a:picLocks noChangeAspect="1" noChangeArrowheads="1"/>
          </p:cNvPicPr>
          <p:nvPr/>
        </p:nvPicPr>
        <p:blipFill>
          <a:blip r:embed="rId2">
            <a:extLst>
              <a:ext uri="{28A0092B-C50C-407E-A947-70E740481C1C}">
                <a14:useLocalDpi xmlns:a14="http://schemas.microsoft.com/office/drawing/2010/main" val="0"/>
              </a:ext>
            </a:extLst>
          </a:blip>
          <a:srcRect r="11368" b="10641"/>
          <a:stretch>
            <a:fillRect/>
          </a:stretch>
        </p:blipFill>
        <p:spPr bwMode="auto">
          <a:xfrm>
            <a:off x="4446587" y="3933825"/>
            <a:ext cx="363537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9019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0" y="758825"/>
            <a:ext cx="91440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600" b="1" dirty="0">
                <a:solidFill>
                  <a:schemeClr val="tx1"/>
                </a:solidFill>
              </a:rPr>
              <a:t>	a)</a:t>
            </a:r>
            <a:r>
              <a:rPr lang="pt-BR" sz="1600" dirty="0">
                <a:solidFill>
                  <a:schemeClr val="tx1"/>
                </a:solidFill>
              </a:rPr>
              <a:t>	Será que os elétrons deixariam o metal se nenhuma energia fosse lançada sobre eles?</a:t>
            </a:r>
          </a:p>
          <a:p>
            <a:pPr algn="just">
              <a:lnSpc>
                <a:spcPct val="150000"/>
              </a:lnSpc>
            </a:pPr>
            <a:endParaRPr lang="pt-BR" sz="1600" dirty="0">
              <a:solidFill>
                <a:schemeClr val="tx1"/>
              </a:solidFill>
            </a:endParaRPr>
          </a:p>
          <a:p>
            <a:pPr algn="just">
              <a:lnSpc>
                <a:spcPct val="150000"/>
              </a:lnSpc>
            </a:pPr>
            <a:endParaRPr lang="pt-BR" sz="1600" dirty="0">
              <a:solidFill>
                <a:schemeClr val="tx1"/>
              </a:solidFill>
            </a:endParaRPr>
          </a:p>
          <a:p>
            <a:pPr algn="just">
              <a:lnSpc>
                <a:spcPct val="150000"/>
              </a:lnSpc>
            </a:pPr>
            <a:endParaRPr lang="pt-BR" sz="1600" dirty="0">
              <a:solidFill>
                <a:schemeClr val="tx1"/>
              </a:solidFill>
            </a:endParaRPr>
          </a:p>
          <a:p>
            <a:pPr algn="just">
              <a:lnSpc>
                <a:spcPct val="150000"/>
              </a:lnSpc>
            </a:pPr>
            <a:endParaRPr lang="pt-BR" sz="1600" dirty="0">
              <a:solidFill>
                <a:schemeClr val="tx1"/>
              </a:solidFill>
            </a:endParaRPr>
          </a:p>
          <a:p>
            <a:pPr algn="just">
              <a:lnSpc>
                <a:spcPct val="150000"/>
              </a:lnSpc>
            </a:pPr>
            <a:endParaRPr lang="pt-BR" sz="1600" dirty="0">
              <a:solidFill>
                <a:schemeClr val="tx1"/>
              </a:solidFill>
            </a:endParaRPr>
          </a:p>
          <a:p>
            <a:pPr algn="just">
              <a:lnSpc>
                <a:spcPct val="150000"/>
              </a:lnSpc>
            </a:pPr>
            <a:endParaRPr lang="pt-BR" sz="1600" dirty="0">
              <a:solidFill>
                <a:schemeClr val="tx1"/>
              </a:solidFill>
            </a:endParaRPr>
          </a:p>
          <a:p>
            <a:pPr algn="just">
              <a:lnSpc>
                <a:spcPct val="150000"/>
              </a:lnSpc>
            </a:pPr>
            <a:endParaRPr lang="pt-BR" sz="1600" dirty="0">
              <a:solidFill>
                <a:schemeClr val="tx1"/>
              </a:solidFill>
            </a:endParaRPr>
          </a:p>
          <a:p>
            <a:pPr algn="just">
              <a:lnSpc>
                <a:spcPct val="150000"/>
              </a:lnSpc>
            </a:pPr>
            <a:r>
              <a:rPr lang="pt-BR" sz="1600" dirty="0">
                <a:solidFill>
                  <a:schemeClr val="tx1"/>
                </a:solidFill>
              </a:rPr>
              <a:t>	Então, é natural pensar que os elétrons precisam de uma energia mínima para deixar o metal (E</a:t>
            </a:r>
            <a:r>
              <a:rPr lang="pt-BR" sz="1600" baseline="-25000" dirty="0">
                <a:solidFill>
                  <a:schemeClr val="tx1"/>
                </a:solidFill>
              </a:rPr>
              <a:t>0</a:t>
            </a:r>
            <a:r>
              <a:rPr lang="pt-BR" sz="1600" dirty="0">
                <a:solidFill>
                  <a:schemeClr val="tx1"/>
                </a:solidFill>
              </a:rPr>
              <a:t>).</a:t>
            </a:r>
          </a:p>
        </p:txBody>
      </p:sp>
      <p:pic>
        <p:nvPicPr>
          <p:cNvPr id="17411" name="Imagem 4"/>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16238" y="1773238"/>
            <a:ext cx="3673475"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3661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0" y="815975"/>
            <a:ext cx="88931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r>
              <a:rPr lang="pt-BR" sz="1600" b="1" dirty="0">
                <a:solidFill>
                  <a:schemeClr val="tx1"/>
                </a:solidFill>
              </a:rPr>
              <a:t>	b)</a:t>
            </a:r>
            <a:r>
              <a:rPr lang="pt-BR" sz="1600" dirty="0">
                <a:solidFill>
                  <a:schemeClr val="tx1"/>
                </a:solidFill>
              </a:rPr>
              <a:t>	Qualquer cor de luz, na intensidade correta, pode ser capaz de arrancar os elétrons?</a:t>
            </a:r>
          </a:p>
        </p:txBody>
      </p:sp>
      <p:pic>
        <p:nvPicPr>
          <p:cNvPr id="18435" name="Imagem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50938" y="2565400"/>
            <a:ext cx="6950075" cy="316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6269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0" y="765175"/>
            <a:ext cx="88931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600" b="1" dirty="0">
                <a:solidFill>
                  <a:schemeClr val="tx1"/>
                </a:solidFill>
              </a:rPr>
              <a:t>	c)</a:t>
            </a:r>
            <a:r>
              <a:rPr lang="pt-BR" sz="1600" dirty="0">
                <a:solidFill>
                  <a:schemeClr val="tx1"/>
                </a:solidFill>
              </a:rPr>
              <a:t>	Se uma feixe de luz, de qualquer cor incidir sobre o metal e não retirar nenhum elétron, e razoável pensar que deixando esta luz por mais algum tempo até que uma quantidade de energia suficiente seja despejada sobre o metal, alguns elétrons começaram a deixar o metal?</a:t>
            </a:r>
          </a:p>
        </p:txBody>
      </p:sp>
      <p:pic>
        <p:nvPicPr>
          <p:cNvPr id="19459" name="Imagem 5"/>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87450" y="2708275"/>
            <a:ext cx="6994525"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6539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aixaDeTexto 6"/>
          <p:cNvSpPr txBox="1">
            <a:spLocks noChangeArrowheads="1"/>
          </p:cNvSpPr>
          <p:nvPr/>
        </p:nvSpPr>
        <p:spPr bwMode="auto">
          <a:xfrm>
            <a:off x="0" y="765175"/>
            <a:ext cx="8459788"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600" b="1" dirty="0">
                <a:solidFill>
                  <a:schemeClr val="tx1"/>
                </a:solidFill>
              </a:rPr>
              <a:t>	d)</a:t>
            </a:r>
            <a:r>
              <a:rPr lang="pt-BR" sz="1600" dirty="0">
                <a:solidFill>
                  <a:schemeClr val="tx1"/>
                </a:solidFill>
              </a:rPr>
              <a:t>	 Existe uma cor mais eficiente do que outra para causar o efeito? Considere que as cores sejam aplicadas na mesma intensidade.</a:t>
            </a:r>
          </a:p>
        </p:txBody>
      </p:sp>
      <p:pic>
        <p:nvPicPr>
          <p:cNvPr id="20483" name="Imagem 2"/>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55650" y="2636838"/>
            <a:ext cx="7510463"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8121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aixaDeTexto 6"/>
          <p:cNvSpPr txBox="1">
            <a:spLocks noChangeArrowheads="1"/>
          </p:cNvSpPr>
          <p:nvPr/>
        </p:nvSpPr>
        <p:spPr bwMode="auto">
          <a:xfrm>
            <a:off x="0" y="765175"/>
            <a:ext cx="8459788"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600" b="1" dirty="0">
                <a:solidFill>
                  <a:schemeClr val="tx1"/>
                </a:solidFill>
              </a:rPr>
              <a:t>	e)</a:t>
            </a:r>
            <a:r>
              <a:rPr lang="pt-BR" sz="1600" dirty="0">
                <a:solidFill>
                  <a:schemeClr val="tx1"/>
                </a:solidFill>
              </a:rPr>
              <a:t>	Digamos que uma determinada fonte de luz seja capaz de causar o efeito, será que o efeito pode ocorrer no exato instante em que o feixe de luz incide sobre o metal ou será que é necessário um intervalo de tempo mínimo para que possamos começar a observar o fenômeno?</a:t>
            </a:r>
          </a:p>
        </p:txBody>
      </p:sp>
      <p:pic>
        <p:nvPicPr>
          <p:cNvPr id="21507" name="Imagem 5"/>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87450" y="2781300"/>
            <a:ext cx="7186613"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Elipse 6">
            <a:extLst>
              <a:ext uri="{FF2B5EF4-FFF2-40B4-BE49-F238E27FC236}">
                <a16:creationId xmlns:a16="http://schemas.microsoft.com/office/drawing/2014/main" id="{D7CED1F1-73CC-4E35-8AEF-6AADDBB1A760}"/>
              </a:ext>
            </a:extLst>
          </p:cNvPr>
          <p:cNvSpPr/>
          <p:nvPr/>
        </p:nvSpPr>
        <p:spPr>
          <a:xfrm>
            <a:off x="3517900" y="2544233"/>
            <a:ext cx="173567" cy="4571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Elipse 9">
            <a:extLst>
              <a:ext uri="{FF2B5EF4-FFF2-40B4-BE49-F238E27FC236}">
                <a16:creationId xmlns:a16="http://schemas.microsoft.com/office/drawing/2014/main" id="{35957547-1D0B-4053-B382-540BB244FE22}"/>
              </a:ext>
            </a:extLst>
          </p:cNvPr>
          <p:cNvSpPr/>
          <p:nvPr/>
        </p:nvSpPr>
        <p:spPr>
          <a:xfrm>
            <a:off x="3670300" y="2696633"/>
            <a:ext cx="173567" cy="4571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Elipse 10">
            <a:extLst>
              <a:ext uri="{FF2B5EF4-FFF2-40B4-BE49-F238E27FC236}">
                <a16:creationId xmlns:a16="http://schemas.microsoft.com/office/drawing/2014/main" id="{40C4ED2E-846C-4F87-8312-3D143B236A0C}"/>
              </a:ext>
            </a:extLst>
          </p:cNvPr>
          <p:cNvSpPr/>
          <p:nvPr/>
        </p:nvSpPr>
        <p:spPr>
          <a:xfrm>
            <a:off x="3822700" y="2567092"/>
            <a:ext cx="173567" cy="4571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Elipse 11">
            <a:extLst>
              <a:ext uri="{FF2B5EF4-FFF2-40B4-BE49-F238E27FC236}">
                <a16:creationId xmlns:a16="http://schemas.microsoft.com/office/drawing/2014/main" id="{E29D6CB3-CCD4-4548-94A7-8B94438F8442}"/>
              </a:ext>
            </a:extLst>
          </p:cNvPr>
          <p:cNvSpPr/>
          <p:nvPr/>
        </p:nvSpPr>
        <p:spPr>
          <a:xfrm>
            <a:off x="3949700" y="2774525"/>
            <a:ext cx="173567" cy="4571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Elipse 12">
            <a:extLst>
              <a:ext uri="{FF2B5EF4-FFF2-40B4-BE49-F238E27FC236}">
                <a16:creationId xmlns:a16="http://schemas.microsoft.com/office/drawing/2014/main" id="{8EF0563D-1D12-4350-9A64-F45172637963}"/>
              </a:ext>
            </a:extLst>
          </p:cNvPr>
          <p:cNvSpPr/>
          <p:nvPr/>
        </p:nvSpPr>
        <p:spPr>
          <a:xfrm>
            <a:off x="3431116" y="2805003"/>
            <a:ext cx="173567" cy="4571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Elipse 13">
            <a:extLst>
              <a:ext uri="{FF2B5EF4-FFF2-40B4-BE49-F238E27FC236}">
                <a16:creationId xmlns:a16="http://schemas.microsoft.com/office/drawing/2014/main" id="{021D617E-E7C2-4C04-BCFB-832C9C75A9AF}"/>
              </a:ext>
            </a:extLst>
          </p:cNvPr>
          <p:cNvSpPr/>
          <p:nvPr/>
        </p:nvSpPr>
        <p:spPr>
          <a:xfrm>
            <a:off x="4195499" y="2591643"/>
            <a:ext cx="173567" cy="4571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Elipse 14">
            <a:extLst>
              <a:ext uri="{FF2B5EF4-FFF2-40B4-BE49-F238E27FC236}">
                <a16:creationId xmlns:a16="http://schemas.microsoft.com/office/drawing/2014/main" id="{C4D49552-104A-4685-8FC0-A4F7F72FE579}"/>
              </a:ext>
            </a:extLst>
          </p:cNvPr>
          <p:cNvSpPr/>
          <p:nvPr/>
        </p:nvSpPr>
        <p:spPr>
          <a:xfrm>
            <a:off x="2654566" y="4101465"/>
            <a:ext cx="173567" cy="4571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Elipse 7">
            <a:extLst>
              <a:ext uri="{FF2B5EF4-FFF2-40B4-BE49-F238E27FC236}">
                <a16:creationId xmlns:a16="http://schemas.microsoft.com/office/drawing/2014/main" id="{667167A0-394A-4FC4-AE42-F534AA1541BA}"/>
              </a:ext>
            </a:extLst>
          </p:cNvPr>
          <p:cNvSpPr/>
          <p:nvPr/>
        </p:nvSpPr>
        <p:spPr>
          <a:xfrm>
            <a:off x="2565400" y="3818467"/>
            <a:ext cx="359833" cy="69426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CaixaDeTexto 23">
            <a:extLst>
              <a:ext uri="{FF2B5EF4-FFF2-40B4-BE49-F238E27FC236}">
                <a16:creationId xmlns:a16="http://schemas.microsoft.com/office/drawing/2014/main" id="{612343B0-904A-4CC1-9BFF-F22E79BBC8DD}"/>
              </a:ext>
            </a:extLst>
          </p:cNvPr>
          <p:cNvSpPr txBox="1"/>
          <p:nvPr/>
        </p:nvSpPr>
        <p:spPr>
          <a:xfrm>
            <a:off x="4850296" y="2067339"/>
            <a:ext cx="817275" cy="369332"/>
          </a:xfrm>
          <a:prstGeom prst="rect">
            <a:avLst/>
          </a:prstGeom>
          <a:noFill/>
        </p:spPr>
        <p:txBody>
          <a:bodyPr wrap="none" rtlCol="0">
            <a:spAutoFit/>
          </a:bodyPr>
          <a:lstStyle/>
          <a:p>
            <a:r>
              <a:rPr lang="en-US" dirty="0" err="1"/>
              <a:t>Fótons</a:t>
            </a:r>
            <a:endParaRPr lang="en-US" dirty="0"/>
          </a:p>
        </p:txBody>
      </p:sp>
      <p:cxnSp>
        <p:nvCxnSpPr>
          <p:cNvPr id="27" name="Conector de Seta Reta 26">
            <a:extLst>
              <a:ext uri="{FF2B5EF4-FFF2-40B4-BE49-F238E27FC236}">
                <a16:creationId xmlns:a16="http://schemas.microsoft.com/office/drawing/2014/main" id="{BA72C5D5-F033-4F2A-84B5-1A8B43FD2C46}"/>
              </a:ext>
            </a:extLst>
          </p:cNvPr>
          <p:cNvCxnSpPr>
            <a:cxnSpLocks/>
          </p:cNvCxnSpPr>
          <p:nvPr/>
        </p:nvCxnSpPr>
        <p:spPr>
          <a:xfrm flipH="1">
            <a:off x="4508390" y="2333625"/>
            <a:ext cx="341908" cy="210608"/>
          </a:xfrm>
          <a:prstGeom prst="straightConnector1">
            <a:avLst/>
          </a:prstGeom>
          <a:ln w="38100">
            <a:solidFill>
              <a:srgbClr val="F0265D"/>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2477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36513" y="815975"/>
            <a:ext cx="8928100"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800" b="1" dirty="0">
                <a:solidFill>
                  <a:schemeClr val="tx1"/>
                </a:solidFill>
              </a:rPr>
              <a:t>	Verificações experimentais:</a:t>
            </a:r>
          </a:p>
          <a:p>
            <a:pPr algn="just" eaLnBrk="1" hangingPunct="1"/>
            <a:endParaRPr lang="pt-BR" sz="1800" b="1" dirty="0">
              <a:solidFill>
                <a:schemeClr val="tx1"/>
              </a:solidFill>
            </a:endParaRPr>
          </a:p>
          <a:p>
            <a:pPr algn="just" eaLnBrk="1" hangingPunct="1"/>
            <a:r>
              <a:rPr lang="pt-BR" sz="1600" b="1" dirty="0">
                <a:solidFill>
                  <a:schemeClr val="tx1"/>
                </a:solidFill>
              </a:rPr>
              <a:t>a)</a:t>
            </a:r>
            <a:r>
              <a:rPr lang="pt-BR" sz="1600" dirty="0">
                <a:solidFill>
                  <a:schemeClr val="tx1"/>
                </a:solidFill>
              </a:rPr>
              <a:t>	Apenas um comprimento de onda ou, de outro modo, apenas a luz de uma determinada cor é capaz de causar o efeito foto elétrico;</a:t>
            </a:r>
          </a:p>
          <a:p>
            <a:pPr algn="just" eaLnBrk="1" hangingPunct="1"/>
            <a:endParaRPr lang="pt-BR" sz="1600" dirty="0">
              <a:solidFill>
                <a:schemeClr val="tx1"/>
              </a:solidFill>
            </a:endParaRPr>
          </a:p>
          <a:p>
            <a:pPr algn="just" eaLnBrk="1" hangingPunct="1"/>
            <a:r>
              <a:rPr lang="pt-BR" sz="1600" b="1" dirty="0">
                <a:solidFill>
                  <a:schemeClr val="tx1"/>
                </a:solidFill>
              </a:rPr>
              <a:t>b)</a:t>
            </a:r>
            <a:r>
              <a:rPr lang="pt-BR" sz="1600" dirty="0">
                <a:solidFill>
                  <a:schemeClr val="tx1"/>
                </a:solidFill>
              </a:rPr>
              <a:t>	Qualquer outra cor, mesmo que em uma intensidade muito alta ou atuando por um longo período de tempo, não é capaz de ocasionar o fenômeno;</a:t>
            </a:r>
          </a:p>
          <a:p>
            <a:pPr algn="just" eaLnBrk="1" hangingPunct="1"/>
            <a:endParaRPr lang="pt-BR" sz="1600" dirty="0">
              <a:solidFill>
                <a:schemeClr val="tx1"/>
              </a:solidFill>
            </a:endParaRPr>
          </a:p>
          <a:p>
            <a:pPr algn="just" eaLnBrk="1" hangingPunct="1"/>
            <a:r>
              <a:rPr lang="pt-BR" sz="1600" b="1" dirty="0">
                <a:solidFill>
                  <a:schemeClr val="tx1"/>
                </a:solidFill>
              </a:rPr>
              <a:t>c)</a:t>
            </a:r>
            <a:r>
              <a:rPr lang="pt-BR" sz="1600" dirty="0">
                <a:solidFill>
                  <a:schemeClr val="tx1"/>
                </a:solidFill>
              </a:rPr>
              <a:t>	A cor certa quando emitida causa a ocorrência imediata o fenômeno e não exige qualquer intervalo de tempo para ter seu efeito observado.</a:t>
            </a:r>
          </a:p>
          <a:p>
            <a:pPr algn="just" eaLnBrk="1" hangingPunct="1"/>
            <a:endParaRPr lang="pt-BR" sz="1600" dirty="0">
              <a:solidFill>
                <a:schemeClr val="tx1"/>
              </a:solidFill>
            </a:endParaRPr>
          </a:p>
          <a:p>
            <a:pPr algn="just" eaLnBrk="1" hangingPunct="1"/>
            <a:endParaRPr lang="pt-BR" sz="1600" dirty="0">
              <a:solidFill>
                <a:schemeClr val="tx1"/>
              </a:solidFill>
            </a:endParaRPr>
          </a:p>
          <a:p>
            <a:pPr algn="just" eaLnBrk="1" hangingPunct="1">
              <a:lnSpc>
                <a:spcPct val="150000"/>
              </a:lnSpc>
            </a:pPr>
            <a:r>
              <a:rPr lang="pt-BR" sz="1600" dirty="0">
                <a:solidFill>
                  <a:schemeClr val="tx1"/>
                </a:solidFill>
              </a:rPr>
              <a:t>	O fenômeno fotoelétrico foi entendido e explicado somente no início do século passado (XX) através dos novos conceitos trazidos pela </a:t>
            </a:r>
            <a:r>
              <a:rPr lang="pt-BR" sz="1600" b="1" dirty="0">
                <a:solidFill>
                  <a:schemeClr val="tx1"/>
                </a:solidFill>
              </a:rPr>
              <a:t>física moderna</a:t>
            </a:r>
            <a:r>
              <a:rPr lang="pt-BR" sz="1600" dirty="0">
                <a:solidFill>
                  <a:schemeClr val="tx1"/>
                </a:solidFill>
              </a:rPr>
              <a:t>, sobretudo pelo segmento da física quântica. A explicação do efeito fotoelétrico coube à Albert Einstein, feito que lhe rendeu Prêmio Nobel! Para explicá-lo Einstein utilizou-se de conceitos quânticos a pouco tempo propostos por outros pesquisadores, e mesmo assim, continuou não acreditando na física quântica!</a:t>
            </a:r>
          </a:p>
        </p:txBody>
      </p:sp>
    </p:spTree>
    <p:extLst>
      <p:ext uri="{BB962C8B-B14F-4D97-AF65-F5344CB8AC3E}">
        <p14:creationId xmlns:p14="http://schemas.microsoft.com/office/powerpoint/2010/main" val="349281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descr="painel_solar_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268413"/>
            <a:ext cx="35433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5"/>
          <p:cNvSpPr>
            <a:spLocks noChangeArrowheads="1"/>
          </p:cNvSpPr>
          <p:nvPr/>
        </p:nvSpPr>
        <p:spPr bwMode="auto">
          <a:xfrm>
            <a:off x="36513" y="765175"/>
            <a:ext cx="8928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800" b="1" dirty="0">
                <a:solidFill>
                  <a:schemeClr val="tx1"/>
                </a:solidFill>
              </a:rPr>
              <a:t>	Aplicações do efeito fotoelétrico:</a:t>
            </a:r>
          </a:p>
        </p:txBody>
      </p:sp>
      <p:pic>
        <p:nvPicPr>
          <p:cNvPr id="23556" name="Picture 6" descr="62629073_1-Imagemns-de-Vendo-Maquina-Fotografica-Digital-Fuifilm-S2100-HD"/>
          <p:cNvPicPr>
            <a:picLocks noChangeAspect="1" noChangeArrowheads="1"/>
          </p:cNvPicPr>
          <p:nvPr/>
        </p:nvPicPr>
        <p:blipFill>
          <a:blip r:embed="rId3" cstate="email">
            <a:extLst>
              <a:ext uri="{28A0092B-C50C-407E-A947-70E740481C1C}">
                <a14:useLocalDpi xmlns:a14="http://schemas.microsoft.com/office/drawing/2010/main" val="0"/>
              </a:ext>
            </a:extLst>
          </a:blip>
          <a:srcRect l="12674" r="11334"/>
          <a:stretch>
            <a:fillRect/>
          </a:stretch>
        </p:blipFill>
        <p:spPr bwMode="auto">
          <a:xfrm>
            <a:off x="5103813" y="1052513"/>
            <a:ext cx="273685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descr="ccd"/>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904038" y="3500438"/>
            <a:ext cx="2132012" cy="160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8" descr="controle_remoto"/>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051050" y="3954463"/>
            <a:ext cx="316865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589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191589" y="2407138"/>
            <a:ext cx="8822480" cy="369332"/>
          </a:xfrm>
          <a:prstGeom prst="rect">
            <a:avLst/>
          </a:prstGeom>
          <a:noFill/>
        </p:spPr>
        <p:txBody>
          <a:bodyPr wrap="none" rtlCol="0">
            <a:spAutoFit/>
          </a:bodyPr>
          <a:lstStyle/>
          <a:p>
            <a:r>
              <a:rPr lang="pt-BR" dirty="0"/>
              <a:t>https://drive.google.com/drive/folders/1z6mTvgX7qjiDi9rNIKExhOvpm-Q1ZJ3q?usp=sharing</a:t>
            </a:r>
          </a:p>
        </p:txBody>
      </p:sp>
    </p:spTree>
    <p:extLst>
      <p:ext uri="{BB962C8B-B14F-4D97-AF65-F5344CB8AC3E}">
        <p14:creationId xmlns:p14="http://schemas.microsoft.com/office/powerpoint/2010/main" val="430526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34925" y="711200"/>
            <a:ext cx="8640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O efeito túnel</a:t>
            </a:r>
          </a:p>
        </p:txBody>
      </p:sp>
      <p:pic>
        <p:nvPicPr>
          <p:cNvPr id="24579" name="Picture 6" descr="Figura9"/>
          <p:cNvPicPr>
            <a:picLocks noChangeAspect="1" noChangeArrowheads="1"/>
          </p:cNvPicPr>
          <p:nvPr/>
        </p:nvPicPr>
        <p:blipFill>
          <a:blip r:embed="rId2" cstate="email">
            <a:extLst>
              <a:ext uri="{28A0092B-C50C-407E-A947-70E740481C1C}">
                <a14:useLocalDpi xmlns:a14="http://schemas.microsoft.com/office/drawing/2010/main" val="0"/>
              </a:ext>
            </a:extLst>
          </a:blip>
          <a:srcRect t="1331" b="8344"/>
          <a:stretch>
            <a:fillRect/>
          </a:stretch>
        </p:blipFill>
        <p:spPr bwMode="auto">
          <a:xfrm>
            <a:off x="2843213" y="1592263"/>
            <a:ext cx="3862387"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3459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34925" y="711200"/>
            <a:ext cx="8640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O efeito túnel</a:t>
            </a:r>
          </a:p>
        </p:txBody>
      </p:sp>
      <p:pic>
        <p:nvPicPr>
          <p:cNvPr id="24579" name="Picture 6" descr="Figura9"/>
          <p:cNvPicPr>
            <a:picLocks noChangeAspect="1" noChangeArrowheads="1"/>
          </p:cNvPicPr>
          <p:nvPr/>
        </p:nvPicPr>
        <p:blipFill>
          <a:blip r:embed="rId2" cstate="email">
            <a:extLst>
              <a:ext uri="{28A0092B-C50C-407E-A947-70E740481C1C}">
                <a14:useLocalDpi xmlns:a14="http://schemas.microsoft.com/office/drawing/2010/main" val="0"/>
              </a:ext>
            </a:extLst>
          </a:blip>
          <a:srcRect t="1331" b="8344"/>
          <a:stretch>
            <a:fillRect/>
          </a:stretch>
        </p:blipFill>
        <p:spPr bwMode="auto">
          <a:xfrm>
            <a:off x="2843213" y="1592263"/>
            <a:ext cx="3862387"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7427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34925" y="749300"/>
            <a:ext cx="8640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Transistores e Física Quântica: Efeito túnel</a:t>
            </a:r>
          </a:p>
        </p:txBody>
      </p:sp>
      <p:pic>
        <p:nvPicPr>
          <p:cNvPr id="25603" name="Picture 5" descr="Figura6"/>
          <p:cNvPicPr>
            <a:picLocks noChangeAspect="1" noChangeArrowheads="1"/>
          </p:cNvPicPr>
          <p:nvPr/>
        </p:nvPicPr>
        <p:blipFill>
          <a:blip r:embed="rId2" cstate="email">
            <a:extLst>
              <a:ext uri="{28A0092B-C50C-407E-A947-70E740481C1C}">
                <a14:useLocalDpi xmlns:a14="http://schemas.microsoft.com/office/drawing/2010/main" val="0"/>
              </a:ext>
            </a:extLst>
          </a:blip>
          <a:srcRect l="7272" r="19615" b="13637"/>
          <a:stretch>
            <a:fillRect/>
          </a:stretch>
        </p:blipFill>
        <p:spPr bwMode="auto">
          <a:xfrm>
            <a:off x="4284663" y="1412875"/>
            <a:ext cx="4354512"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3" descr="Transistor 0"/>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250825" y="1989138"/>
            <a:ext cx="3051175" cy="30972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Text Box 10"/>
          <p:cNvSpPr txBox="1">
            <a:spLocks noChangeArrowheads="1"/>
          </p:cNvSpPr>
          <p:nvPr/>
        </p:nvSpPr>
        <p:spPr bwMode="auto">
          <a:xfrm>
            <a:off x="250825" y="5086350"/>
            <a:ext cx="11763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chemeClr val="tx1"/>
                </a:solidFill>
              </a:rPr>
              <a:t>Transistor</a:t>
            </a:r>
          </a:p>
        </p:txBody>
      </p:sp>
    </p:spTree>
    <p:extLst>
      <p:ext uri="{BB962C8B-B14F-4D97-AF65-F5344CB8AC3E}">
        <p14:creationId xmlns:p14="http://schemas.microsoft.com/office/powerpoint/2010/main" val="2859610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Imagem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92725" y="3298825"/>
            <a:ext cx="2722563"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Imagem 4"/>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03350" y="1125538"/>
            <a:ext cx="31051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10"/>
          <p:cNvSpPr txBox="1">
            <a:spLocks noChangeArrowheads="1"/>
          </p:cNvSpPr>
          <p:nvPr/>
        </p:nvSpPr>
        <p:spPr bwMode="auto">
          <a:xfrm>
            <a:off x="1403350" y="4367213"/>
            <a:ext cx="20685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chemeClr val="tx1"/>
                </a:solidFill>
              </a:rPr>
              <a:t>Primeiro transistor</a:t>
            </a:r>
          </a:p>
        </p:txBody>
      </p:sp>
      <p:sp>
        <p:nvSpPr>
          <p:cNvPr id="26629" name="Text Box 10"/>
          <p:cNvSpPr txBox="1">
            <a:spLocks noChangeArrowheads="1"/>
          </p:cNvSpPr>
          <p:nvPr/>
        </p:nvSpPr>
        <p:spPr bwMode="auto">
          <a:xfrm>
            <a:off x="6650038" y="5589588"/>
            <a:ext cx="219310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dirty="0">
                <a:solidFill>
                  <a:schemeClr val="tx1"/>
                </a:solidFill>
              </a:rPr>
              <a:t>Transistor comercial</a:t>
            </a:r>
          </a:p>
        </p:txBody>
      </p:sp>
    </p:spTree>
    <p:extLst>
      <p:ext uri="{BB962C8B-B14F-4D97-AF65-F5344CB8AC3E}">
        <p14:creationId xmlns:p14="http://schemas.microsoft.com/office/powerpoint/2010/main" val="1808696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integrated-circuit-19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788" y="908050"/>
            <a:ext cx="5688012"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3"/>
          <p:cNvSpPr>
            <a:spLocks noChangeArrowheads="1"/>
          </p:cNvSpPr>
          <p:nvPr/>
        </p:nvSpPr>
        <p:spPr bwMode="auto">
          <a:xfrm>
            <a:off x="34925" y="4673600"/>
            <a:ext cx="8820150" cy="825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lnSpc>
                <a:spcPct val="150000"/>
              </a:lnSpc>
            </a:pPr>
            <a:r>
              <a:rPr lang="pt-BR" sz="1800" b="1">
                <a:solidFill>
                  <a:schemeClr val="tx1"/>
                </a:solidFill>
              </a:rPr>
              <a:t>Primeiro Circuito Integrado - Jack Kilby</a:t>
            </a:r>
            <a:r>
              <a:rPr lang="pt-BR" sz="1800">
                <a:solidFill>
                  <a:schemeClr val="tx1"/>
                </a:solidFill>
              </a:rPr>
              <a:t> - Texas Instruments – 1958. Jack Kilby recebeu o prêmio Nobel de Física em 2000 pela criação do circuito integrado.</a:t>
            </a:r>
          </a:p>
        </p:txBody>
      </p:sp>
    </p:spTree>
    <p:extLst>
      <p:ext uri="{BB962C8B-B14F-4D97-AF65-F5344CB8AC3E}">
        <p14:creationId xmlns:p14="http://schemas.microsoft.com/office/powerpoint/2010/main" val="3291123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Image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1062038"/>
            <a:ext cx="3311525"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Imagem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925" y="476250"/>
            <a:ext cx="431323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10"/>
          <p:cNvSpPr txBox="1">
            <a:spLocks noChangeArrowheads="1"/>
          </p:cNvSpPr>
          <p:nvPr/>
        </p:nvSpPr>
        <p:spPr bwMode="auto">
          <a:xfrm>
            <a:off x="3132138" y="620713"/>
            <a:ext cx="216693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chemeClr val="tx1"/>
                </a:solidFill>
              </a:rPr>
              <a:t>Processador gráfico</a:t>
            </a:r>
          </a:p>
        </p:txBody>
      </p:sp>
      <p:sp>
        <p:nvSpPr>
          <p:cNvPr id="28677" name="Text Box 10"/>
          <p:cNvSpPr txBox="1">
            <a:spLocks noChangeArrowheads="1"/>
          </p:cNvSpPr>
          <p:nvPr/>
        </p:nvSpPr>
        <p:spPr bwMode="auto">
          <a:xfrm>
            <a:off x="6372225" y="3784600"/>
            <a:ext cx="28749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chemeClr val="tx1"/>
                </a:solidFill>
              </a:rPr>
              <a:t>Núcleo de um processador</a:t>
            </a:r>
          </a:p>
        </p:txBody>
      </p:sp>
      <p:pic>
        <p:nvPicPr>
          <p:cNvPr id="28678" name="Imagem 11"/>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627188" y="3405188"/>
            <a:ext cx="3671887"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4931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36513" y="754063"/>
            <a:ext cx="89281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2200" b="1" dirty="0">
                <a:solidFill>
                  <a:srgbClr val="FF0000"/>
                </a:solidFill>
              </a:rPr>
              <a:t>	Quando podemos confiar nos resultados da física clássica?</a:t>
            </a:r>
            <a:endParaRPr lang="pt-BR" sz="2200" dirty="0">
              <a:solidFill>
                <a:srgbClr val="FF0000"/>
              </a:solidFill>
            </a:endParaRPr>
          </a:p>
        </p:txBody>
      </p:sp>
      <p:sp>
        <p:nvSpPr>
          <p:cNvPr id="462853" name="Rectangle 5"/>
          <p:cNvSpPr>
            <a:spLocks noChangeArrowheads="1"/>
          </p:cNvSpPr>
          <p:nvPr/>
        </p:nvSpPr>
        <p:spPr bwMode="auto">
          <a:xfrm>
            <a:off x="36513" y="1357313"/>
            <a:ext cx="8928100"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lnSpc>
                <a:spcPct val="150000"/>
              </a:lnSpc>
            </a:pPr>
            <a:r>
              <a:rPr lang="pt-BR" sz="1800" dirty="0">
                <a:solidFill>
                  <a:schemeClr val="tx1"/>
                </a:solidFill>
              </a:rPr>
              <a:t>	Quando lidamos com partículas ou sistemas suficientemente grandes e/ou se deslocando á velocidades baixas (quando comparadas á velocidade da luz). Exemplos:</a:t>
            </a:r>
          </a:p>
        </p:txBody>
      </p:sp>
      <p:pic>
        <p:nvPicPr>
          <p:cNvPr id="29700" name="Imagem 1"/>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27088" y="3270250"/>
            <a:ext cx="3917950"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Imagem 2"/>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148263" y="3417888"/>
            <a:ext cx="3524250" cy="264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Text Box 10"/>
          <p:cNvSpPr txBox="1">
            <a:spLocks noChangeArrowheads="1"/>
          </p:cNvSpPr>
          <p:nvPr/>
        </p:nvSpPr>
        <p:spPr bwMode="auto">
          <a:xfrm>
            <a:off x="4859338" y="2643188"/>
            <a:ext cx="3817937"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r>
              <a:rPr lang="pt-BR" sz="1600" b="1" dirty="0">
                <a:solidFill>
                  <a:schemeClr val="tx1"/>
                </a:solidFill>
              </a:rPr>
              <a:t>Todo o funcionamento de um automóvel é governado pela física clássica, </a:t>
            </a:r>
            <a:r>
              <a:rPr lang="pt-BR" sz="1600" b="1" dirty="0">
                <a:solidFill>
                  <a:srgbClr val="FF0000"/>
                </a:solidFill>
              </a:rPr>
              <a:t>exceto...</a:t>
            </a:r>
          </a:p>
        </p:txBody>
      </p:sp>
    </p:spTree>
    <p:extLst>
      <p:ext uri="{BB962C8B-B14F-4D97-AF65-F5344CB8AC3E}">
        <p14:creationId xmlns:p14="http://schemas.microsoft.com/office/powerpoint/2010/main" val="24779807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62853"/>
                                        </p:tgtEl>
                                        <p:attrNameLst>
                                          <p:attrName>style.visibility</p:attrName>
                                        </p:attrNameLst>
                                      </p:cBhvr>
                                      <p:to>
                                        <p:strVal val="visible"/>
                                      </p:to>
                                    </p:set>
                                    <p:animEffect transition="in" filter="box(in)">
                                      <p:cBhvr>
                                        <p:cTn id="7" dur="500"/>
                                        <p:tgtEl>
                                          <p:spTgt spid="462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Imagem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9475" y="1341438"/>
            <a:ext cx="7508875"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 Box 10"/>
          <p:cNvSpPr txBox="1">
            <a:spLocks noChangeArrowheads="1"/>
          </p:cNvSpPr>
          <p:nvPr/>
        </p:nvSpPr>
        <p:spPr bwMode="auto">
          <a:xfrm>
            <a:off x="107950" y="814388"/>
            <a:ext cx="649605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r>
              <a:rPr lang="pt-BR" sz="1600" b="1" dirty="0">
                <a:solidFill>
                  <a:schemeClr val="tx1"/>
                </a:solidFill>
              </a:rPr>
              <a:t>	O sistema solar é governado pela física clássica.</a:t>
            </a:r>
          </a:p>
        </p:txBody>
      </p:sp>
    </p:spTree>
    <p:extLst>
      <p:ext uri="{BB962C8B-B14F-4D97-AF65-F5344CB8AC3E}">
        <p14:creationId xmlns:p14="http://schemas.microsoft.com/office/powerpoint/2010/main" val="383006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76413" y="1585913"/>
            <a:ext cx="61912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 Box 10"/>
          <p:cNvSpPr txBox="1">
            <a:spLocks noChangeArrowheads="1"/>
          </p:cNvSpPr>
          <p:nvPr/>
        </p:nvSpPr>
        <p:spPr bwMode="auto">
          <a:xfrm>
            <a:off x="107950" y="801688"/>
            <a:ext cx="871855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r>
              <a:rPr lang="pt-BR" sz="1600" b="1" dirty="0">
                <a:solidFill>
                  <a:schemeClr val="tx1"/>
                </a:solidFill>
              </a:rPr>
              <a:t>	O controle de robôs em linhas de produção é governado pela física clássica.</a:t>
            </a:r>
          </a:p>
        </p:txBody>
      </p:sp>
    </p:spTree>
    <p:extLst>
      <p:ext uri="{BB962C8B-B14F-4D97-AF65-F5344CB8AC3E}">
        <p14:creationId xmlns:p14="http://schemas.microsoft.com/office/powerpoint/2010/main" val="3980060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Imagem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268538" y="1647825"/>
            <a:ext cx="638175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 Box 10"/>
          <p:cNvSpPr txBox="1">
            <a:spLocks noChangeArrowheads="1"/>
          </p:cNvSpPr>
          <p:nvPr/>
        </p:nvSpPr>
        <p:spPr bwMode="auto">
          <a:xfrm>
            <a:off x="107950" y="814388"/>
            <a:ext cx="885825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a:r>
              <a:rPr lang="pt-BR" sz="1600" b="1" dirty="0">
                <a:solidFill>
                  <a:schemeClr val="tx1"/>
                </a:solidFill>
              </a:rPr>
              <a:t>	A trajetória de um míssil é governada pela física clássica, </a:t>
            </a:r>
            <a:r>
              <a:rPr lang="pt-BR" sz="1600" b="1" dirty="0">
                <a:solidFill>
                  <a:srgbClr val="FF0000"/>
                </a:solidFill>
              </a:rPr>
              <a:t>exceto...</a:t>
            </a:r>
          </a:p>
        </p:txBody>
      </p:sp>
    </p:spTree>
    <p:extLst>
      <p:ext uri="{BB962C8B-B14F-4D97-AF65-F5344CB8AC3E}">
        <p14:creationId xmlns:p14="http://schemas.microsoft.com/office/powerpoint/2010/main" val="1036739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2" descr="2eca9c29d40801017a545db6655e8e5d"/>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7950" y="3368675"/>
            <a:ext cx="2160588" cy="199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 Box 13"/>
          <p:cNvSpPr txBox="1">
            <a:spLocks noChangeArrowheads="1"/>
          </p:cNvSpPr>
          <p:nvPr/>
        </p:nvSpPr>
        <p:spPr bwMode="auto">
          <a:xfrm>
            <a:off x="34925" y="5495925"/>
            <a:ext cx="21242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400">
                <a:solidFill>
                  <a:schemeClr val="tx1"/>
                </a:solidFill>
              </a:rPr>
              <a:t>Modelo atômico de Bohr</a:t>
            </a:r>
          </a:p>
        </p:txBody>
      </p:sp>
      <p:pic>
        <p:nvPicPr>
          <p:cNvPr id="33796" name="Picture 14" descr="Abb1_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11413" y="3351213"/>
            <a:ext cx="2265362"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 Box 15"/>
          <p:cNvSpPr txBox="1">
            <a:spLocks noChangeArrowheads="1"/>
          </p:cNvSpPr>
          <p:nvPr/>
        </p:nvSpPr>
        <p:spPr bwMode="auto">
          <a:xfrm>
            <a:off x="2444750" y="5318125"/>
            <a:ext cx="223202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ctr"/>
            <a:r>
              <a:rPr lang="pt-BR" sz="1400">
                <a:solidFill>
                  <a:schemeClr val="tx1"/>
                </a:solidFill>
              </a:rPr>
              <a:t>Modelo atômico mecânico-ondulatório</a:t>
            </a:r>
          </a:p>
        </p:txBody>
      </p:sp>
      <p:sp>
        <p:nvSpPr>
          <p:cNvPr id="33798" name="Text Box 10"/>
          <p:cNvSpPr txBox="1">
            <a:spLocks noChangeArrowheads="1"/>
          </p:cNvSpPr>
          <p:nvPr/>
        </p:nvSpPr>
        <p:spPr bwMode="auto">
          <a:xfrm>
            <a:off x="1042988" y="2882900"/>
            <a:ext cx="285687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400" b="1">
                <a:solidFill>
                  <a:schemeClr val="tx1"/>
                </a:solidFill>
              </a:rPr>
              <a:t>Estudo dos orbitais eletrônicos</a:t>
            </a:r>
          </a:p>
        </p:txBody>
      </p:sp>
      <p:pic>
        <p:nvPicPr>
          <p:cNvPr id="33799" name="Picture 11" descr="tunneling_atoms"/>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235825" y="2809875"/>
            <a:ext cx="1511300" cy="114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Text Box 12"/>
          <p:cNvSpPr txBox="1">
            <a:spLocks noChangeArrowheads="1"/>
          </p:cNvSpPr>
          <p:nvPr/>
        </p:nvSpPr>
        <p:spPr bwMode="auto">
          <a:xfrm>
            <a:off x="5991225" y="2809875"/>
            <a:ext cx="1173163" cy="1123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ctr"/>
            <a:r>
              <a:rPr lang="pt-BR" sz="1400">
                <a:solidFill>
                  <a:schemeClr val="tx1"/>
                </a:solidFill>
              </a:rPr>
              <a:t>Concepção artística de uma ponta de prova de um STM</a:t>
            </a:r>
          </a:p>
        </p:txBody>
      </p:sp>
      <p:sp>
        <p:nvSpPr>
          <p:cNvPr id="33801" name="Text Box 13"/>
          <p:cNvSpPr txBox="1">
            <a:spLocks noChangeArrowheads="1"/>
          </p:cNvSpPr>
          <p:nvPr/>
        </p:nvSpPr>
        <p:spPr bwMode="auto">
          <a:xfrm>
            <a:off x="5867400" y="2451100"/>
            <a:ext cx="327685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400" b="1">
                <a:solidFill>
                  <a:schemeClr val="tx1"/>
                </a:solidFill>
              </a:rPr>
              <a:t>Microscópio com resolução atômica</a:t>
            </a:r>
          </a:p>
        </p:txBody>
      </p:sp>
      <p:pic>
        <p:nvPicPr>
          <p:cNvPr id="33802" name="Picture 14" descr="lhc_hall_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292725" y="4713288"/>
            <a:ext cx="1871663"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3" name="Picture 15" descr="lhc1"/>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7308850" y="4694238"/>
            <a:ext cx="17272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4" name="Text Box 16"/>
          <p:cNvSpPr txBox="1">
            <a:spLocks noChangeArrowheads="1"/>
          </p:cNvSpPr>
          <p:nvPr/>
        </p:nvSpPr>
        <p:spPr bwMode="auto">
          <a:xfrm>
            <a:off x="5580063" y="4351338"/>
            <a:ext cx="303801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400" b="1">
                <a:solidFill>
                  <a:schemeClr val="tx1"/>
                </a:solidFill>
              </a:rPr>
              <a:t>Estudo de partículas elementares</a:t>
            </a:r>
          </a:p>
        </p:txBody>
      </p:sp>
      <p:sp>
        <p:nvSpPr>
          <p:cNvPr id="33805" name="Rectangle 4"/>
          <p:cNvSpPr>
            <a:spLocks noChangeArrowheads="1"/>
          </p:cNvSpPr>
          <p:nvPr/>
        </p:nvSpPr>
        <p:spPr bwMode="auto">
          <a:xfrm>
            <a:off x="36512" y="792163"/>
            <a:ext cx="91074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2200" b="1" dirty="0">
                <a:solidFill>
                  <a:srgbClr val="FF0000"/>
                </a:solidFill>
              </a:rPr>
              <a:t>	Quando não podemos confiar nos resultados da física clássica?</a:t>
            </a:r>
            <a:endParaRPr lang="pt-BR" sz="2200" dirty="0">
              <a:solidFill>
                <a:srgbClr val="FF0000"/>
              </a:solidFill>
            </a:endParaRPr>
          </a:p>
        </p:txBody>
      </p:sp>
      <p:sp>
        <p:nvSpPr>
          <p:cNvPr id="16" name="Rectangle 5"/>
          <p:cNvSpPr>
            <a:spLocks noChangeArrowheads="1"/>
          </p:cNvSpPr>
          <p:nvPr/>
        </p:nvSpPr>
        <p:spPr bwMode="auto">
          <a:xfrm>
            <a:off x="36513" y="1408113"/>
            <a:ext cx="9107486"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lnSpc>
                <a:spcPct val="150000"/>
              </a:lnSpc>
            </a:pPr>
            <a:r>
              <a:rPr lang="pt-BR" sz="1800" dirty="0">
                <a:solidFill>
                  <a:schemeClr val="tx1"/>
                </a:solidFill>
              </a:rPr>
              <a:t>	Quando lidamos com partículas ou sistemas suficientemente pequenos e/ou se deslocando á velocidades muito altas (quando comparadas á velocidade da luz). Exemplos:</a:t>
            </a:r>
          </a:p>
        </p:txBody>
      </p:sp>
    </p:spTree>
    <p:extLst>
      <p:ext uri="{BB962C8B-B14F-4D97-AF65-F5344CB8AC3E}">
        <p14:creationId xmlns:p14="http://schemas.microsoft.com/office/powerpoint/2010/main" val="3697931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ChangeArrowheads="1"/>
          </p:cNvSpPr>
          <p:nvPr/>
        </p:nvSpPr>
        <p:spPr bwMode="auto">
          <a:xfrm>
            <a:off x="34925" y="765175"/>
            <a:ext cx="9109075"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lnSpc>
                <a:spcPct val="150000"/>
              </a:lnSpc>
            </a:pPr>
            <a:r>
              <a:rPr lang="pt-BR" sz="1400" dirty="0"/>
              <a:t>	</a:t>
            </a:r>
            <a:r>
              <a:rPr lang="pt-BR" sz="1400" dirty="0">
                <a:solidFill>
                  <a:schemeClr val="tx1"/>
                </a:solidFill>
              </a:rPr>
              <a:t>Essencialmente a física surgiu, física clássica, com as tentativas de se explicar problemas relativos ao movimento dos corpos, fossem eles algo tão imediato quanto o movimento de um projétil lançado por uma catapulta, ou o movimento dos planetas e da lua. Estes conceitos foram usados posteriormente para explicar movimentos mais difíceis de serem imaginados como, por exemplo, aquele de uma partícula alfa lançada contra um núcleo atômico para o estudo das estruturas nucleares ou o movimento de átomos dentro de uma rede cristalina. </a:t>
            </a:r>
            <a:r>
              <a:rPr lang="pt-BR" sz="1400" b="1" dirty="0">
                <a:solidFill>
                  <a:srgbClr val="FF0000"/>
                </a:solidFill>
              </a:rPr>
              <a:t>Ou seja, estudar o movimento, além de ser importante para compreensão de fenômenos imediato, é também um meio natural e eficiente de começar a compreender a física.</a:t>
            </a:r>
          </a:p>
        </p:txBody>
      </p:sp>
      <p:pic>
        <p:nvPicPr>
          <p:cNvPr id="34819" name="Picture 6" descr="Catapulta-0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5575" y="3487738"/>
            <a:ext cx="1679575"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7" descr="sistema"/>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051050" y="4826000"/>
            <a:ext cx="2374900"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Text Box 9"/>
          <p:cNvSpPr txBox="1">
            <a:spLocks noChangeArrowheads="1"/>
          </p:cNvSpPr>
          <p:nvPr/>
        </p:nvSpPr>
        <p:spPr bwMode="auto">
          <a:xfrm>
            <a:off x="250825" y="5238750"/>
            <a:ext cx="1695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800">
                <a:solidFill>
                  <a:schemeClr val="tx1"/>
                </a:solidFill>
              </a:rPr>
              <a:t>Eng. Mecânica</a:t>
            </a:r>
          </a:p>
        </p:txBody>
      </p:sp>
      <p:sp>
        <p:nvSpPr>
          <p:cNvPr id="34822" name="Text Box 10"/>
          <p:cNvSpPr txBox="1">
            <a:spLocks noChangeArrowheads="1"/>
          </p:cNvSpPr>
          <p:nvPr/>
        </p:nvSpPr>
        <p:spPr bwMode="auto">
          <a:xfrm>
            <a:off x="2244725" y="4519613"/>
            <a:ext cx="20383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800">
                <a:solidFill>
                  <a:schemeClr val="tx1"/>
                </a:solidFill>
              </a:rPr>
              <a:t>Eng. Aeroespacial</a:t>
            </a:r>
          </a:p>
        </p:txBody>
      </p:sp>
      <p:sp>
        <p:nvSpPr>
          <p:cNvPr id="34823" name="Text Box 11"/>
          <p:cNvSpPr txBox="1">
            <a:spLocks noChangeArrowheads="1"/>
          </p:cNvSpPr>
          <p:nvPr/>
        </p:nvSpPr>
        <p:spPr bwMode="auto">
          <a:xfrm>
            <a:off x="7235825" y="5815013"/>
            <a:ext cx="1504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800">
                <a:solidFill>
                  <a:schemeClr val="tx1"/>
                </a:solidFill>
              </a:rPr>
              <a:t>Eng. Nuclear</a:t>
            </a:r>
          </a:p>
        </p:txBody>
      </p:sp>
      <p:pic>
        <p:nvPicPr>
          <p:cNvPr id="34824" name="Picture 12" descr="cristal"/>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380038" y="3543300"/>
            <a:ext cx="113665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5" name="Picture 13" descr="cristal"/>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784725" y="4432300"/>
            <a:ext cx="1162050"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6" name="Text Box 14"/>
          <p:cNvSpPr txBox="1">
            <a:spLocks noChangeArrowheads="1"/>
          </p:cNvSpPr>
          <p:nvPr/>
        </p:nvSpPr>
        <p:spPr bwMode="auto">
          <a:xfrm>
            <a:off x="4508500" y="5630863"/>
            <a:ext cx="17335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800">
                <a:solidFill>
                  <a:schemeClr val="tx1"/>
                </a:solidFill>
              </a:rPr>
              <a:t>Eng. Eletrônica</a:t>
            </a:r>
          </a:p>
        </p:txBody>
      </p:sp>
      <p:pic>
        <p:nvPicPr>
          <p:cNvPr id="34827" name="Picture 15" descr="rutherford01"/>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877050" y="3398838"/>
            <a:ext cx="2266950"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09501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ChangeArrowheads="1"/>
          </p:cNvSpPr>
          <p:nvPr/>
        </p:nvSpPr>
        <p:spPr bwMode="auto">
          <a:xfrm>
            <a:off x="36512" y="728663"/>
            <a:ext cx="9107487"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Leis de Newton</a:t>
            </a:r>
          </a:p>
          <a:p>
            <a:pPr algn="just" eaLnBrk="1" hangingPunct="1"/>
            <a:endParaRPr lang="pt-BR" sz="1800" dirty="0">
              <a:solidFill>
                <a:srgbClr val="FF0000"/>
              </a:solidFill>
            </a:endParaRPr>
          </a:p>
          <a:p>
            <a:pPr algn="just" eaLnBrk="1" hangingPunct="1"/>
            <a:r>
              <a:rPr lang="pt-BR" sz="1800" b="1" dirty="0">
                <a:solidFill>
                  <a:srgbClr val="000000"/>
                </a:solidFill>
              </a:rPr>
              <a:t>Princípio da Inércia (1ª Lei de Newton)</a:t>
            </a:r>
          </a:p>
          <a:p>
            <a:pPr algn="just" eaLnBrk="1" hangingPunct="1">
              <a:lnSpc>
                <a:spcPct val="150000"/>
              </a:lnSpc>
            </a:pPr>
            <a:r>
              <a:rPr lang="pt-BR" sz="1600" dirty="0">
                <a:solidFill>
                  <a:srgbClr val="000000"/>
                </a:solidFill>
              </a:rPr>
              <a:t>	“Todo corpo continua em seu estado de repouso ou de movimento uniforme em uma linha reta, a menos que seja forçado a mudar aquele estado por forças aplicadas sobre ele.”</a:t>
            </a:r>
            <a:endParaRPr lang="pt-BR" sz="1600" dirty="0"/>
          </a:p>
        </p:txBody>
      </p:sp>
      <p:pic>
        <p:nvPicPr>
          <p:cNvPr id="464906" name="Picture 10" descr="inercia--img-m0386a67aa4b234a438377b119c81f5b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3357563"/>
            <a:ext cx="3600450"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13137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4906"/>
                                        </p:tgtEl>
                                        <p:attrNameLst>
                                          <p:attrName>style.visibility</p:attrName>
                                        </p:attrNameLst>
                                      </p:cBhvr>
                                      <p:to>
                                        <p:strVal val="visible"/>
                                      </p:to>
                                    </p:set>
                                    <p:animEffect transition="in" filter="box(in)">
                                      <p:cBhvr>
                                        <p:cTn id="7" dur="500"/>
                                        <p:tgtEl>
                                          <p:spTgt spid="464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ChangeArrowheads="1"/>
          </p:cNvSpPr>
          <p:nvPr/>
        </p:nvSpPr>
        <p:spPr bwMode="auto">
          <a:xfrm>
            <a:off x="36512" y="804863"/>
            <a:ext cx="9107487"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800" b="1" dirty="0">
                <a:solidFill>
                  <a:srgbClr val="000000"/>
                </a:solidFill>
              </a:rPr>
              <a:t>	Princípio Fundamental da Dinâmica - </a:t>
            </a:r>
            <a:r>
              <a:rPr lang="pt-BR" sz="1800" b="1" i="1" dirty="0">
                <a:solidFill>
                  <a:srgbClr val="000000"/>
                </a:solidFill>
              </a:rPr>
              <a:t>Quantidade de Movimento</a:t>
            </a:r>
            <a:r>
              <a:rPr lang="pt-BR" sz="1800" b="1" dirty="0">
                <a:solidFill>
                  <a:srgbClr val="000000"/>
                </a:solidFill>
              </a:rPr>
              <a:t> (2ª Lei de Newton)</a:t>
            </a:r>
          </a:p>
          <a:p>
            <a:pPr algn="just" eaLnBrk="1" hangingPunct="1">
              <a:lnSpc>
                <a:spcPct val="150000"/>
              </a:lnSpc>
            </a:pPr>
            <a:r>
              <a:rPr lang="pt-BR" sz="1600" dirty="0">
                <a:solidFill>
                  <a:srgbClr val="000000"/>
                </a:solidFill>
              </a:rPr>
              <a:t>	“A mudança de movimento é proporcional à força motora imprimida, e é produzida na direção da linha reta na qual aquela força é imprimida.”</a:t>
            </a:r>
          </a:p>
          <a:p>
            <a:pPr algn="just" eaLnBrk="1" hangingPunct="1">
              <a:lnSpc>
                <a:spcPct val="150000"/>
              </a:lnSpc>
            </a:pPr>
            <a:endParaRPr lang="pt-BR" sz="1600" dirty="0">
              <a:solidFill>
                <a:srgbClr val="000000"/>
              </a:solidFill>
            </a:endParaRPr>
          </a:p>
          <a:p>
            <a:pPr algn="just" eaLnBrk="1" hangingPunct="1">
              <a:lnSpc>
                <a:spcPct val="150000"/>
              </a:lnSpc>
            </a:pPr>
            <a:r>
              <a:rPr lang="pt-BR" sz="1600" dirty="0">
                <a:solidFill>
                  <a:srgbClr val="000000"/>
                </a:solidFill>
              </a:rPr>
              <a:t>	A força resultante que age em um ponto material é igual ao produto da massa desse corpo pela sua aceleração.</a:t>
            </a:r>
          </a:p>
        </p:txBody>
      </p:sp>
      <p:pic>
        <p:nvPicPr>
          <p:cNvPr id="36867" name="Picture 5" descr="homem-que-empurra-o-trole-thumb1140019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43588" y="3500438"/>
            <a:ext cx="1681162"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6" descr="homem"/>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44575" y="3500438"/>
            <a:ext cx="3311525" cy="248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0605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36513" y="792163"/>
            <a:ext cx="8928100"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800" b="1" dirty="0">
                <a:solidFill>
                  <a:srgbClr val="000000"/>
                </a:solidFill>
              </a:rPr>
              <a:t>	Princípio da Ação e Reação (3ª Lei de Newton)</a:t>
            </a:r>
          </a:p>
          <a:p>
            <a:pPr algn="just" eaLnBrk="1" hangingPunct="1">
              <a:lnSpc>
                <a:spcPct val="150000"/>
              </a:lnSpc>
            </a:pPr>
            <a:endParaRPr lang="pt-BR" sz="1800" b="1" dirty="0">
              <a:solidFill>
                <a:srgbClr val="000000"/>
              </a:solidFill>
            </a:endParaRPr>
          </a:p>
          <a:p>
            <a:pPr algn="just" eaLnBrk="1" hangingPunct="1">
              <a:lnSpc>
                <a:spcPct val="150000"/>
              </a:lnSpc>
            </a:pPr>
            <a:r>
              <a:rPr lang="pt-BR" sz="1600" dirty="0">
                <a:solidFill>
                  <a:srgbClr val="000000"/>
                </a:solidFill>
              </a:rPr>
              <a:t>	“Quando um corpo A exerce uma força F</a:t>
            </a:r>
            <a:r>
              <a:rPr lang="pt-BR" sz="1600" baseline="-25000" dirty="0">
                <a:solidFill>
                  <a:srgbClr val="000000"/>
                </a:solidFill>
              </a:rPr>
              <a:t>AB</a:t>
            </a:r>
            <a:r>
              <a:rPr lang="pt-BR" sz="1600" dirty="0">
                <a:solidFill>
                  <a:srgbClr val="000000"/>
                </a:solidFill>
              </a:rPr>
              <a:t> no corpo B, este exerce imediatamente uma força F</a:t>
            </a:r>
            <a:r>
              <a:rPr lang="pt-BR" sz="1600" baseline="-25000" dirty="0">
                <a:solidFill>
                  <a:srgbClr val="000000"/>
                </a:solidFill>
              </a:rPr>
              <a:t>BA</a:t>
            </a:r>
            <a:r>
              <a:rPr lang="pt-BR" sz="1600" dirty="0">
                <a:solidFill>
                  <a:srgbClr val="000000"/>
                </a:solidFill>
              </a:rPr>
              <a:t> em A de mesmo módulo, mesma direção e sentido contrário.”</a:t>
            </a:r>
          </a:p>
        </p:txBody>
      </p:sp>
      <p:pic>
        <p:nvPicPr>
          <p:cNvPr id="37891" name="Picture 5" descr="caval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068638"/>
            <a:ext cx="619125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1160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36513" y="792163"/>
            <a:ext cx="9086850"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800" b="1" dirty="0">
                <a:solidFill>
                  <a:srgbClr val="000000"/>
                </a:solidFill>
              </a:rPr>
              <a:t>	Princípio Fundamental da Dinâmica - </a:t>
            </a:r>
            <a:r>
              <a:rPr lang="pt-BR" sz="1800" b="1" i="1" dirty="0">
                <a:solidFill>
                  <a:srgbClr val="000000"/>
                </a:solidFill>
              </a:rPr>
              <a:t>Quantidade de Movimento</a:t>
            </a:r>
            <a:r>
              <a:rPr lang="pt-BR" sz="1800" b="1" dirty="0">
                <a:solidFill>
                  <a:srgbClr val="000000"/>
                </a:solidFill>
              </a:rPr>
              <a:t> (2ª Lei de Newton)</a:t>
            </a:r>
          </a:p>
          <a:p>
            <a:pPr algn="just" eaLnBrk="1" hangingPunct="1"/>
            <a:endParaRPr lang="pt-BR" sz="1800" b="1" dirty="0">
              <a:solidFill>
                <a:srgbClr val="000000"/>
              </a:solidFill>
            </a:endParaRPr>
          </a:p>
          <a:p>
            <a:pPr algn="just" eaLnBrk="1" hangingPunct="1"/>
            <a:r>
              <a:rPr lang="pt-BR" sz="1600" dirty="0">
                <a:solidFill>
                  <a:srgbClr val="000000"/>
                </a:solidFill>
              </a:rPr>
              <a:t>	“A força resultante que age em um ponto material é igual ao produto da massa desse corpo pela sua aceleração.”</a:t>
            </a:r>
          </a:p>
          <a:p>
            <a:pPr algn="just" eaLnBrk="1" hangingPunct="1"/>
            <a:endParaRPr lang="pt-BR" sz="1200" dirty="0">
              <a:solidFill>
                <a:srgbClr val="000000"/>
              </a:solidFill>
            </a:endParaRPr>
          </a:p>
          <a:p>
            <a:pPr algn="just" eaLnBrk="1" hangingPunct="1"/>
            <a:endParaRPr lang="pt-BR" sz="1200" dirty="0">
              <a:solidFill>
                <a:srgbClr val="000000"/>
              </a:solidFill>
            </a:endParaRPr>
          </a:p>
          <a:p>
            <a:pPr algn="just" eaLnBrk="1" hangingPunct="1"/>
            <a:r>
              <a:rPr lang="pt-BR" sz="1600" dirty="0">
                <a:solidFill>
                  <a:srgbClr val="000000"/>
                </a:solidFill>
              </a:rPr>
              <a:t>Matematicamente:</a:t>
            </a:r>
          </a:p>
          <a:p>
            <a:pPr algn="just" eaLnBrk="1" hangingPunct="1"/>
            <a:endParaRPr lang="pt-BR" sz="1600" dirty="0">
              <a:solidFill>
                <a:srgbClr val="000000"/>
              </a:solidFill>
            </a:endParaRPr>
          </a:p>
          <a:p>
            <a:pPr algn="just" eaLnBrk="1" hangingPunct="1"/>
            <a:endParaRPr lang="pt-BR" sz="1600" dirty="0">
              <a:solidFill>
                <a:srgbClr val="000000"/>
              </a:solidFill>
            </a:endParaRPr>
          </a:p>
          <a:p>
            <a:pPr algn="just" eaLnBrk="1" hangingPunct="1"/>
            <a:r>
              <a:rPr lang="pt-BR" sz="1600" dirty="0">
                <a:solidFill>
                  <a:srgbClr val="000000"/>
                </a:solidFill>
              </a:rPr>
              <a:t>Por sua vez, a aceleração é dada por:</a:t>
            </a:r>
          </a:p>
          <a:p>
            <a:pPr algn="just" eaLnBrk="1" hangingPunct="1"/>
            <a:endParaRPr lang="pt-BR" sz="1600" dirty="0">
              <a:solidFill>
                <a:srgbClr val="000000"/>
              </a:solidFill>
            </a:endParaRPr>
          </a:p>
          <a:p>
            <a:pPr algn="just" eaLnBrk="1" hangingPunct="1"/>
            <a:endParaRPr lang="pt-BR" sz="1600" dirty="0">
              <a:solidFill>
                <a:srgbClr val="000000"/>
              </a:solidFill>
            </a:endParaRPr>
          </a:p>
          <a:p>
            <a:pPr algn="just" eaLnBrk="1" hangingPunct="1"/>
            <a:endParaRPr lang="pt-BR" sz="1600" dirty="0">
              <a:solidFill>
                <a:srgbClr val="000000"/>
              </a:solidFill>
            </a:endParaRPr>
          </a:p>
          <a:p>
            <a:pPr algn="just" eaLnBrk="1" hangingPunct="1"/>
            <a:endParaRPr lang="pt-BR" sz="1600" dirty="0">
              <a:solidFill>
                <a:srgbClr val="000000"/>
              </a:solidFill>
            </a:endParaRPr>
          </a:p>
          <a:p>
            <a:pPr algn="just" eaLnBrk="1" hangingPunct="1"/>
            <a:r>
              <a:rPr lang="pt-BR" sz="1600" dirty="0">
                <a:solidFill>
                  <a:srgbClr val="000000"/>
                </a:solidFill>
              </a:rPr>
              <a:t>	           ou		</a:t>
            </a:r>
          </a:p>
          <a:p>
            <a:pPr algn="just" eaLnBrk="1" hangingPunct="1"/>
            <a:endParaRPr lang="pt-BR" sz="1600" dirty="0">
              <a:solidFill>
                <a:srgbClr val="000000"/>
              </a:solidFill>
            </a:endParaRPr>
          </a:p>
          <a:p>
            <a:pPr algn="just" eaLnBrk="1" hangingPunct="1"/>
            <a:endParaRPr lang="pt-BR" sz="1600" dirty="0">
              <a:solidFill>
                <a:srgbClr val="000000"/>
              </a:solidFill>
            </a:endParaRPr>
          </a:p>
          <a:p>
            <a:pPr algn="just" eaLnBrk="1" hangingPunct="1"/>
            <a:r>
              <a:rPr lang="pt-BR" sz="1600" dirty="0">
                <a:solidFill>
                  <a:srgbClr val="000000"/>
                </a:solidFill>
              </a:rPr>
              <a:t>Por fim:</a:t>
            </a:r>
          </a:p>
          <a:p>
            <a:pPr algn="just" eaLnBrk="1" hangingPunct="1"/>
            <a:endParaRPr lang="pt-BR" sz="1600" dirty="0">
              <a:solidFill>
                <a:srgbClr val="000000"/>
              </a:solidFill>
            </a:endParaRPr>
          </a:p>
          <a:p>
            <a:pPr algn="just" eaLnBrk="1" hangingPunct="1"/>
            <a:endParaRPr lang="pt-BR" sz="800" dirty="0">
              <a:solidFill>
                <a:srgbClr val="000000"/>
              </a:solidFill>
            </a:endParaRPr>
          </a:p>
          <a:p>
            <a:pPr algn="just" eaLnBrk="1" hangingPunct="1"/>
            <a:r>
              <a:rPr lang="pt-BR" sz="1600" dirty="0">
                <a:solidFill>
                  <a:srgbClr val="000000"/>
                </a:solidFill>
              </a:rPr>
              <a:t>	            ou</a:t>
            </a:r>
          </a:p>
        </p:txBody>
      </p:sp>
      <p:graphicFrame>
        <p:nvGraphicFramePr>
          <p:cNvPr id="38915" name="Object 4"/>
          <p:cNvGraphicFramePr>
            <a:graphicFrameLocks noChangeAspect="1"/>
          </p:cNvGraphicFramePr>
          <p:nvPr/>
        </p:nvGraphicFramePr>
        <p:xfrm>
          <a:off x="2195513" y="2276475"/>
          <a:ext cx="1109662" cy="533400"/>
        </p:xfrm>
        <a:graphic>
          <a:graphicData uri="http://schemas.openxmlformats.org/presentationml/2006/ole">
            <mc:AlternateContent xmlns:mc="http://schemas.openxmlformats.org/markup-compatibility/2006">
              <mc:Choice xmlns:v="urn:schemas-microsoft-com:vml" Requires="v">
                <p:oleObj name="Equation" r:id="rId2" imgW="634725" imgH="304668" progId="Equation.3">
                  <p:embed/>
                </p:oleObj>
              </mc:Choice>
              <mc:Fallback>
                <p:oleObj name="Equation" r:id="rId2" imgW="634725" imgH="304668"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276475"/>
                        <a:ext cx="110966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5"/>
          <p:cNvGraphicFramePr>
            <a:graphicFrameLocks noChangeAspect="1"/>
          </p:cNvGraphicFramePr>
          <p:nvPr/>
        </p:nvGraphicFramePr>
        <p:xfrm>
          <a:off x="2760663" y="4221163"/>
          <a:ext cx="909637" cy="844550"/>
        </p:xfrm>
        <a:graphic>
          <a:graphicData uri="http://schemas.openxmlformats.org/presentationml/2006/ole">
            <mc:AlternateContent xmlns:mc="http://schemas.openxmlformats.org/markup-compatibility/2006">
              <mc:Choice xmlns:v="urn:schemas-microsoft-com:vml" Requires="v">
                <p:oleObj name="Equation" r:id="rId4" imgW="520474" imgH="482391" progId="Equation.3">
                  <p:embed/>
                </p:oleObj>
              </mc:Choice>
              <mc:Fallback>
                <p:oleObj name="Equation" r:id="rId4" imgW="520474" imgH="48239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0663" y="4221163"/>
                        <a:ext cx="909637"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6"/>
          <p:cNvGraphicFramePr>
            <a:graphicFrameLocks noChangeAspect="1"/>
          </p:cNvGraphicFramePr>
          <p:nvPr/>
        </p:nvGraphicFramePr>
        <p:xfrm>
          <a:off x="33338" y="4243388"/>
          <a:ext cx="822325" cy="688975"/>
        </p:xfrm>
        <a:graphic>
          <a:graphicData uri="http://schemas.openxmlformats.org/presentationml/2006/ole">
            <mc:AlternateContent xmlns:mc="http://schemas.openxmlformats.org/markup-compatibility/2006">
              <mc:Choice xmlns:v="urn:schemas-microsoft-com:vml" Requires="v">
                <p:oleObj name="Equation" r:id="rId6" imgW="469696" imgH="393529" progId="Equation.3">
                  <p:embed/>
                </p:oleObj>
              </mc:Choice>
              <mc:Fallback>
                <p:oleObj name="Equation" r:id="rId6" imgW="469696" imgH="39352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38" y="4243388"/>
                        <a:ext cx="822325"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7"/>
          <p:cNvGraphicFramePr>
            <a:graphicFrameLocks noChangeAspect="1"/>
          </p:cNvGraphicFramePr>
          <p:nvPr/>
        </p:nvGraphicFramePr>
        <p:xfrm>
          <a:off x="2782888" y="5373688"/>
          <a:ext cx="909637" cy="844550"/>
        </p:xfrm>
        <a:graphic>
          <a:graphicData uri="http://schemas.openxmlformats.org/presentationml/2006/ole">
            <mc:AlternateContent xmlns:mc="http://schemas.openxmlformats.org/markup-compatibility/2006">
              <mc:Choice xmlns:v="urn:schemas-microsoft-com:vml" Requires="v">
                <p:oleObj name="Equation" r:id="rId8" imgW="520474" imgH="482391" progId="Equation.3">
                  <p:embed/>
                </p:oleObj>
              </mc:Choice>
              <mc:Fallback>
                <p:oleObj name="Equation" r:id="rId8" imgW="520474" imgH="482391"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2888" y="5373688"/>
                        <a:ext cx="909637"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9" name="Object 8"/>
          <p:cNvGraphicFramePr>
            <a:graphicFrameLocks noChangeAspect="1"/>
          </p:cNvGraphicFramePr>
          <p:nvPr/>
        </p:nvGraphicFramePr>
        <p:xfrm>
          <a:off x="33338" y="5529263"/>
          <a:ext cx="800100" cy="688975"/>
        </p:xfrm>
        <a:graphic>
          <a:graphicData uri="http://schemas.openxmlformats.org/presentationml/2006/ole">
            <mc:AlternateContent xmlns:mc="http://schemas.openxmlformats.org/markup-compatibility/2006">
              <mc:Choice xmlns:v="urn:schemas-microsoft-com:vml" Requires="v">
                <p:oleObj name="Equation" r:id="rId10" imgW="457002" imgH="393529" progId="Equation.3">
                  <p:embed/>
                </p:oleObj>
              </mc:Choice>
              <mc:Fallback>
                <p:oleObj name="Equation" r:id="rId10" imgW="457002" imgH="393529"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338" y="5529263"/>
                        <a:ext cx="800100"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0" name="Text Box 10"/>
          <p:cNvSpPr txBox="1">
            <a:spLocks noChangeArrowheads="1"/>
          </p:cNvSpPr>
          <p:nvPr/>
        </p:nvSpPr>
        <p:spPr bwMode="auto">
          <a:xfrm>
            <a:off x="4518025" y="2132013"/>
            <a:ext cx="4605338" cy="273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dirty="0">
                <a:solidFill>
                  <a:schemeClr val="tx1"/>
                </a:solidFill>
              </a:rPr>
              <a:t>= força resultante – grandeza vetorial;</a:t>
            </a:r>
          </a:p>
          <a:p>
            <a:endParaRPr lang="pt-BR" sz="1600" dirty="0">
              <a:solidFill>
                <a:schemeClr val="tx1"/>
              </a:solidFill>
            </a:endParaRPr>
          </a:p>
          <a:p>
            <a:r>
              <a:rPr lang="pt-BR" sz="1600" dirty="0">
                <a:solidFill>
                  <a:schemeClr val="tx1"/>
                </a:solidFill>
              </a:rPr>
              <a:t>= massa – grandeza escalar;</a:t>
            </a:r>
          </a:p>
          <a:p>
            <a:endParaRPr lang="pt-BR" sz="1600" dirty="0">
              <a:solidFill>
                <a:schemeClr val="tx1"/>
              </a:solidFill>
            </a:endParaRPr>
          </a:p>
          <a:p>
            <a:r>
              <a:rPr lang="pt-BR" sz="1600" dirty="0">
                <a:solidFill>
                  <a:schemeClr val="tx1"/>
                </a:solidFill>
              </a:rPr>
              <a:t>= aceleração – grandeza vetorial;</a:t>
            </a:r>
          </a:p>
          <a:p>
            <a:endParaRPr lang="pt-BR" sz="1600" dirty="0">
              <a:solidFill>
                <a:schemeClr val="tx1"/>
              </a:solidFill>
            </a:endParaRPr>
          </a:p>
          <a:p>
            <a:r>
              <a:rPr lang="pt-BR" sz="1600" dirty="0">
                <a:solidFill>
                  <a:schemeClr val="tx1"/>
                </a:solidFill>
              </a:rPr>
              <a:t>= velocidade – grandeza vetorial;</a:t>
            </a:r>
          </a:p>
          <a:p>
            <a:endParaRPr lang="pt-BR" sz="1600" dirty="0">
              <a:solidFill>
                <a:schemeClr val="tx1"/>
              </a:solidFill>
            </a:endParaRPr>
          </a:p>
          <a:p>
            <a:r>
              <a:rPr lang="pt-BR" sz="1600" dirty="0">
                <a:solidFill>
                  <a:schemeClr val="tx1"/>
                </a:solidFill>
              </a:rPr>
              <a:t>= distância ou deslocamento – grandeza vetorial;</a:t>
            </a:r>
          </a:p>
          <a:p>
            <a:endParaRPr lang="pt-BR" sz="1600" dirty="0">
              <a:solidFill>
                <a:schemeClr val="tx1"/>
              </a:solidFill>
            </a:endParaRPr>
          </a:p>
          <a:p>
            <a:r>
              <a:rPr lang="pt-BR" sz="1600" dirty="0">
                <a:solidFill>
                  <a:schemeClr val="tx1"/>
                </a:solidFill>
              </a:rPr>
              <a:t>= tempo – grandeza escalar.</a:t>
            </a:r>
          </a:p>
        </p:txBody>
      </p:sp>
      <p:graphicFrame>
        <p:nvGraphicFramePr>
          <p:cNvPr id="38921" name="Object 11"/>
          <p:cNvGraphicFramePr>
            <a:graphicFrameLocks noChangeAspect="1"/>
          </p:cNvGraphicFramePr>
          <p:nvPr/>
        </p:nvGraphicFramePr>
        <p:xfrm>
          <a:off x="4140200" y="1989138"/>
          <a:ext cx="377825" cy="533400"/>
        </p:xfrm>
        <a:graphic>
          <a:graphicData uri="http://schemas.openxmlformats.org/presentationml/2006/ole">
            <mc:AlternateContent xmlns:mc="http://schemas.openxmlformats.org/markup-compatibility/2006">
              <mc:Choice xmlns:v="urn:schemas-microsoft-com:vml" Requires="v">
                <p:oleObj name="Equation" r:id="rId12" imgW="215713" imgH="304536" progId="Equation.3">
                  <p:embed/>
                </p:oleObj>
              </mc:Choice>
              <mc:Fallback>
                <p:oleObj name="Equation" r:id="rId12" imgW="215713" imgH="304536"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0200" y="1989138"/>
                        <a:ext cx="3778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2" name="Object 12"/>
          <p:cNvGraphicFramePr>
            <a:graphicFrameLocks noChangeAspect="1"/>
          </p:cNvGraphicFramePr>
          <p:nvPr/>
        </p:nvGraphicFramePr>
        <p:xfrm>
          <a:off x="4202113" y="2997200"/>
          <a:ext cx="244475" cy="488950"/>
        </p:xfrm>
        <a:graphic>
          <a:graphicData uri="http://schemas.openxmlformats.org/presentationml/2006/ole">
            <mc:AlternateContent xmlns:mc="http://schemas.openxmlformats.org/markup-compatibility/2006">
              <mc:Choice xmlns:v="urn:schemas-microsoft-com:vml" Requires="v">
                <p:oleObj name="Equation" r:id="rId14" imgW="139700" imgH="279400" progId="Equation.3">
                  <p:embed/>
                </p:oleObj>
              </mc:Choice>
              <mc:Fallback>
                <p:oleObj name="Equation" r:id="rId14" imgW="139700" imgH="2794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02113" y="2997200"/>
                        <a:ext cx="24447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3" name="Object 13"/>
          <p:cNvGraphicFramePr>
            <a:graphicFrameLocks noChangeAspect="1"/>
          </p:cNvGraphicFramePr>
          <p:nvPr/>
        </p:nvGraphicFramePr>
        <p:xfrm>
          <a:off x="4157663" y="2679700"/>
          <a:ext cx="288925" cy="244475"/>
        </p:xfrm>
        <a:graphic>
          <a:graphicData uri="http://schemas.openxmlformats.org/presentationml/2006/ole">
            <mc:AlternateContent xmlns:mc="http://schemas.openxmlformats.org/markup-compatibility/2006">
              <mc:Choice xmlns:v="urn:schemas-microsoft-com:vml" Requires="v">
                <p:oleObj name="Equation" r:id="rId16" imgW="164957" imgH="139579" progId="Equation.3">
                  <p:embed/>
                </p:oleObj>
              </mc:Choice>
              <mc:Fallback>
                <p:oleObj name="Equation" r:id="rId16" imgW="164957" imgH="139579"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57663" y="2679700"/>
                        <a:ext cx="288925"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4" name="Object 14"/>
          <p:cNvGraphicFramePr>
            <a:graphicFrameLocks noChangeAspect="1"/>
          </p:cNvGraphicFramePr>
          <p:nvPr/>
        </p:nvGraphicFramePr>
        <p:xfrm>
          <a:off x="4202113" y="3443288"/>
          <a:ext cx="244475" cy="488950"/>
        </p:xfrm>
        <a:graphic>
          <a:graphicData uri="http://schemas.openxmlformats.org/presentationml/2006/ole">
            <mc:AlternateContent xmlns:mc="http://schemas.openxmlformats.org/markup-compatibility/2006">
              <mc:Choice xmlns:v="urn:schemas-microsoft-com:vml" Requires="v">
                <p:oleObj name="Equation" r:id="rId18" imgW="139700" imgH="279400" progId="Equation.3">
                  <p:embed/>
                </p:oleObj>
              </mc:Choice>
              <mc:Fallback>
                <p:oleObj name="Equation" r:id="rId18" imgW="139700" imgH="2794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02113" y="3443288"/>
                        <a:ext cx="24447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5" name="Object 15"/>
          <p:cNvGraphicFramePr>
            <a:graphicFrameLocks noChangeAspect="1"/>
          </p:cNvGraphicFramePr>
          <p:nvPr/>
        </p:nvGraphicFramePr>
        <p:xfrm>
          <a:off x="4202113" y="3932238"/>
          <a:ext cx="244475" cy="466725"/>
        </p:xfrm>
        <a:graphic>
          <a:graphicData uri="http://schemas.openxmlformats.org/presentationml/2006/ole">
            <mc:AlternateContent xmlns:mc="http://schemas.openxmlformats.org/markup-compatibility/2006">
              <mc:Choice xmlns:v="urn:schemas-microsoft-com:vml" Requires="v">
                <p:oleObj name="Equation" r:id="rId20" imgW="139579" imgH="266469" progId="Equation.3">
                  <p:embed/>
                </p:oleObj>
              </mc:Choice>
              <mc:Fallback>
                <p:oleObj name="Equation" r:id="rId20" imgW="139579" imgH="266469"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02113" y="3932238"/>
                        <a:ext cx="24447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6" name="Object 17"/>
          <p:cNvGraphicFramePr>
            <a:graphicFrameLocks noChangeAspect="1"/>
          </p:cNvGraphicFramePr>
          <p:nvPr/>
        </p:nvGraphicFramePr>
        <p:xfrm>
          <a:off x="4219575" y="4581525"/>
          <a:ext cx="155575" cy="266700"/>
        </p:xfrm>
        <a:graphic>
          <a:graphicData uri="http://schemas.openxmlformats.org/presentationml/2006/ole">
            <mc:AlternateContent xmlns:mc="http://schemas.openxmlformats.org/markup-compatibility/2006">
              <mc:Choice xmlns:v="urn:schemas-microsoft-com:vml" Requires="v">
                <p:oleObj name="Equation" r:id="rId22" imgW="88746" imgH="152136" progId="Equation.3">
                  <p:embed/>
                </p:oleObj>
              </mc:Choice>
              <mc:Fallback>
                <p:oleObj name="Equation" r:id="rId22" imgW="88746" imgH="152136"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19575" y="4581525"/>
                        <a:ext cx="155575"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7" name="CaixaDeTexto 1"/>
          <p:cNvSpPr txBox="1">
            <a:spLocks noChangeArrowheads="1"/>
          </p:cNvSpPr>
          <p:nvPr/>
        </p:nvSpPr>
        <p:spPr bwMode="auto">
          <a:xfrm>
            <a:off x="250825" y="3594100"/>
            <a:ext cx="1587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rgbClr val="FF0000"/>
                </a:solidFill>
              </a:rPr>
              <a:t>Para crianças!</a:t>
            </a:r>
          </a:p>
        </p:txBody>
      </p:sp>
      <p:sp>
        <p:nvSpPr>
          <p:cNvPr id="38928" name="CaixaDeTexto 15"/>
          <p:cNvSpPr txBox="1">
            <a:spLocks noChangeArrowheads="1"/>
          </p:cNvSpPr>
          <p:nvPr/>
        </p:nvSpPr>
        <p:spPr bwMode="auto">
          <a:xfrm>
            <a:off x="1979613" y="3594100"/>
            <a:ext cx="19732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b="1">
                <a:solidFill>
                  <a:srgbClr val="FF0000"/>
                </a:solidFill>
              </a:rPr>
              <a:t>Para engenheiros!</a:t>
            </a:r>
          </a:p>
        </p:txBody>
      </p:sp>
      <p:cxnSp>
        <p:nvCxnSpPr>
          <p:cNvPr id="38929" name="Conector de seta reta 3"/>
          <p:cNvCxnSpPr>
            <a:cxnSpLocks noChangeShapeType="1"/>
          </p:cNvCxnSpPr>
          <p:nvPr/>
        </p:nvCxnSpPr>
        <p:spPr bwMode="auto">
          <a:xfrm flipH="1">
            <a:off x="755650" y="3932238"/>
            <a:ext cx="288925" cy="311150"/>
          </a:xfrm>
          <a:prstGeom prst="straightConnector1">
            <a:avLst/>
          </a:prstGeom>
          <a:noFill/>
          <a:ln w="19050" algn="ctr">
            <a:solidFill>
              <a:srgbClr val="FF0000"/>
            </a:solidFill>
            <a:round/>
            <a:headEnd/>
            <a:tailEnd type="triangle" w="med" len="med"/>
          </a:ln>
        </p:spPr>
      </p:cxnSp>
      <p:cxnSp>
        <p:nvCxnSpPr>
          <p:cNvPr id="38930" name="Conector de seta reta 18"/>
          <p:cNvCxnSpPr>
            <a:cxnSpLocks noChangeShapeType="1"/>
          </p:cNvCxnSpPr>
          <p:nvPr/>
        </p:nvCxnSpPr>
        <p:spPr bwMode="auto">
          <a:xfrm>
            <a:off x="2987675" y="3933825"/>
            <a:ext cx="317500" cy="1314036"/>
          </a:xfrm>
          <a:prstGeom prst="straightConnector1">
            <a:avLst/>
          </a:prstGeom>
          <a:noFill/>
          <a:ln w="19050" algn="ctr">
            <a:solidFill>
              <a:srgbClr val="FF0000"/>
            </a:solidFill>
            <a:round/>
            <a:headEnd/>
            <a:tailEnd type="triangle" w="med" len="med"/>
          </a:ln>
        </p:spPr>
      </p:cxnSp>
    </p:spTree>
    <p:extLst>
      <p:ext uri="{BB962C8B-B14F-4D97-AF65-F5344CB8AC3E}">
        <p14:creationId xmlns:p14="http://schemas.microsoft.com/office/powerpoint/2010/main" val="1150292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ChangeArrowheads="1"/>
          </p:cNvSpPr>
          <p:nvPr/>
        </p:nvSpPr>
        <p:spPr bwMode="auto">
          <a:xfrm>
            <a:off x="36512" y="715963"/>
            <a:ext cx="9107487"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b="1" dirty="0">
                <a:solidFill>
                  <a:srgbClr val="FF0000"/>
                </a:solidFill>
              </a:rPr>
              <a:t>	Definições</a:t>
            </a:r>
            <a:endParaRPr lang="pt-BR" b="1" dirty="0">
              <a:solidFill>
                <a:schemeClr val="tx1"/>
              </a:solidFill>
            </a:endParaRPr>
          </a:p>
          <a:p>
            <a:pPr algn="just" eaLnBrk="1" hangingPunct="1"/>
            <a:endParaRPr lang="pt-BR" sz="1600" dirty="0">
              <a:solidFill>
                <a:schemeClr val="tx1"/>
              </a:solidFill>
            </a:endParaRPr>
          </a:p>
          <a:p>
            <a:pPr algn="just" eaLnBrk="1" hangingPunct="1"/>
            <a:r>
              <a:rPr lang="pt-BR" sz="1800" b="1" dirty="0">
                <a:solidFill>
                  <a:schemeClr val="tx1"/>
                </a:solidFill>
              </a:rPr>
              <a:t>a)	Comprimento – distância:</a:t>
            </a:r>
          </a:p>
          <a:p>
            <a:pPr algn="just" eaLnBrk="1" hangingPunct="1"/>
            <a:endParaRPr lang="pt-BR" sz="1800" b="1" dirty="0">
              <a:solidFill>
                <a:schemeClr val="tx1"/>
              </a:solidFill>
            </a:endParaRPr>
          </a:p>
          <a:p>
            <a:pPr algn="just" eaLnBrk="1" hangingPunct="1"/>
            <a:r>
              <a:rPr lang="pt-BR" sz="1600" dirty="0">
                <a:solidFill>
                  <a:schemeClr val="tx1"/>
                </a:solidFill>
              </a:rPr>
              <a:t>	No sistema internacional de medidas comprimento é dado em metros (m).</a:t>
            </a:r>
          </a:p>
          <a:p>
            <a:pPr algn="just" eaLnBrk="1" hangingPunct="1"/>
            <a:endParaRPr lang="pt-BR" sz="1600" dirty="0">
              <a:solidFill>
                <a:schemeClr val="tx1"/>
              </a:solidFill>
            </a:endParaRPr>
          </a:p>
          <a:p>
            <a:pPr algn="just" eaLnBrk="1" hangingPunct="1"/>
            <a:r>
              <a:rPr lang="pt-BR" sz="1600" dirty="0">
                <a:solidFill>
                  <a:schemeClr val="tx1"/>
                </a:solidFill>
              </a:rPr>
              <a:t>	Atualmente o metro é definido como sendo "o comprimento do trajeto percorrido pela luz no vácuo, durante um intervalo de tempo de 1/299.792.458 de segundo“.</a:t>
            </a:r>
          </a:p>
          <a:p>
            <a:pPr algn="just" eaLnBrk="1" hangingPunct="1"/>
            <a:endParaRPr lang="pt-BR" sz="1600" dirty="0">
              <a:solidFill>
                <a:schemeClr val="tx1"/>
              </a:solidFill>
            </a:endParaRPr>
          </a:p>
          <a:p>
            <a:pPr algn="just" eaLnBrk="1" hangingPunct="1"/>
            <a:r>
              <a:rPr lang="pt-BR" sz="1600" dirty="0">
                <a:solidFill>
                  <a:schemeClr val="tx1"/>
                </a:solidFill>
              </a:rPr>
              <a:t>	De 1889 até 1960 era definido como o tamanho de uma barra padrão de platina.</a:t>
            </a:r>
          </a:p>
          <a:p>
            <a:pPr algn="just" eaLnBrk="1" hangingPunct="1"/>
            <a:endParaRPr lang="pt-BR" sz="1600" dirty="0">
              <a:solidFill>
                <a:schemeClr val="tx1"/>
              </a:solidFill>
            </a:endParaRPr>
          </a:p>
        </p:txBody>
      </p:sp>
      <p:pic>
        <p:nvPicPr>
          <p:cNvPr id="39939" name="Picture 7" descr="Platinum-Iridium_meter_b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735388"/>
            <a:ext cx="3024187" cy="196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Rectangle 8"/>
          <p:cNvSpPr>
            <a:spLocks noChangeArrowheads="1"/>
          </p:cNvSpPr>
          <p:nvPr/>
        </p:nvSpPr>
        <p:spPr bwMode="auto">
          <a:xfrm>
            <a:off x="5970588" y="5730875"/>
            <a:ext cx="313848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nchor="ct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600"/>
              <a:t>1 milha = 1,609344 quilômetros. </a:t>
            </a:r>
          </a:p>
        </p:txBody>
      </p:sp>
    </p:spTree>
    <p:extLst>
      <p:ext uri="{BB962C8B-B14F-4D97-AF65-F5344CB8AC3E}">
        <p14:creationId xmlns:p14="http://schemas.microsoft.com/office/powerpoint/2010/main" val="3435211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ChangeArrowheads="1"/>
          </p:cNvSpPr>
          <p:nvPr/>
        </p:nvSpPr>
        <p:spPr bwMode="auto">
          <a:xfrm>
            <a:off x="36512" y="754063"/>
            <a:ext cx="9107487"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800" b="1" dirty="0">
                <a:solidFill>
                  <a:schemeClr val="tx1"/>
                </a:solidFill>
              </a:rPr>
              <a:t>	b)	Tempo:</a:t>
            </a:r>
          </a:p>
          <a:p>
            <a:pPr algn="just" eaLnBrk="1" hangingPunct="1"/>
            <a:endParaRPr lang="pt-BR" sz="1800" b="1" dirty="0">
              <a:solidFill>
                <a:schemeClr val="tx1"/>
              </a:solidFill>
            </a:endParaRPr>
          </a:p>
          <a:p>
            <a:pPr algn="just" eaLnBrk="1" hangingPunct="1"/>
            <a:r>
              <a:rPr lang="pt-BR" sz="1600" dirty="0">
                <a:solidFill>
                  <a:schemeClr val="tx1"/>
                </a:solidFill>
              </a:rPr>
              <a:t>	Qualquer fenômeno periódico pode ser usado como padrão de tempo. Para atender à necessidade de um padrão de tempo mais preciso vários países desenvolveram os chamados relógios atômicos.</a:t>
            </a:r>
          </a:p>
          <a:p>
            <a:pPr algn="just" eaLnBrk="1" hangingPunct="1"/>
            <a:endParaRPr lang="pt-BR" sz="1600" dirty="0">
              <a:solidFill>
                <a:schemeClr val="tx1"/>
              </a:solidFill>
            </a:endParaRPr>
          </a:p>
          <a:p>
            <a:pPr algn="just" eaLnBrk="1" hangingPunct="1"/>
            <a:r>
              <a:rPr lang="pt-BR" sz="1600" dirty="0">
                <a:solidFill>
                  <a:schemeClr val="tx1"/>
                </a:solidFill>
              </a:rPr>
              <a:t>	Atualmente no sistema internacional de unidades tempo é dado em segundos e é definido como a duração de 9,192,631,770 períodos de radiação correspondente à transição entre dois níveis hiperfinos do estado fundamental do átomo de césio 133. </a:t>
            </a:r>
          </a:p>
        </p:txBody>
      </p:sp>
      <p:pic>
        <p:nvPicPr>
          <p:cNvPr id="40963" name="Picture 5" descr="relogio_atomico_bould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388" y="3484563"/>
            <a:ext cx="3744912" cy="292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6" descr="cesium_clock_energylevel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3484563"/>
            <a:ext cx="4257675"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65030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ChangeArrowheads="1"/>
          </p:cNvSpPr>
          <p:nvPr/>
        </p:nvSpPr>
        <p:spPr bwMode="auto">
          <a:xfrm>
            <a:off x="36512" y="792163"/>
            <a:ext cx="9107487" cy="17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800" b="1" dirty="0">
                <a:solidFill>
                  <a:schemeClr val="tx1"/>
                </a:solidFill>
              </a:rPr>
              <a:t>	c)	Massa:</a:t>
            </a:r>
          </a:p>
          <a:p>
            <a:pPr algn="just" eaLnBrk="1" hangingPunct="1"/>
            <a:endParaRPr lang="pt-BR" sz="1600" b="1" dirty="0">
              <a:solidFill>
                <a:schemeClr val="tx1"/>
              </a:solidFill>
            </a:endParaRPr>
          </a:p>
          <a:p>
            <a:pPr algn="just" eaLnBrk="1" hangingPunct="1"/>
            <a:r>
              <a:rPr lang="pt-BR" sz="1600" dirty="0">
                <a:solidFill>
                  <a:schemeClr val="tx1"/>
                </a:solidFill>
              </a:rPr>
              <a:t>	Em particular, a massa é frequentemente associada ao peso dos objetos. Esta associação não se mostra na maioria das vezes correta.</a:t>
            </a:r>
          </a:p>
          <a:p>
            <a:pPr algn="just" eaLnBrk="1" hangingPunct="1"/>
            <a:endParaRPr lang="pt-BR" sz="1000" dirty="0">
              <a:solidFill>
                <a:schemeClr val="tx1"/>
              </a:solidFill>
            </a:endParaRPr>
          </a:p>
          <a:p>
            <a:pPr algn="just" eaLnBrk="1" hangingPunct="1"/>
            <a:r>
              <a:rPr lang="pt-BR" sz="1600" dirty="0">
                <a:solidFill>
                  <a:schemeClr val="tx1"/>
                </a:solidFill>
              </a:rPr>
              <a:t>	A massa é uma medida direta da oposição que um corpo oferece à mudança em seu estado de movimento:</a:t>
            </a:r>
          </a:p>
        </p:txBody>
      </p:sp>
      <p:graphicFrame>
        <p:nvGraphicFramePr>
          <p:cNvPr id="41987" name="Object 5"/>
          <p:cNvGraphicFramePr>
            <a:graphicFrameLocks noChangeAspect="1"/>
          </p:cNvGraphicFramePr>
          <p:nvPr/>
        </p:nvGraphicFramePr>
        <p:xfrm>
          <a:off x="4572000" y="2205038"/>
          <a:ext cx="803275" cy="863600"/>
        </p:xfrm>
        <a:graphic>
          <a:graphicData uri="http://schemas.openxmlformats.org/presentationml/2006/ole">
            <mc:AlternateContent xmlns:mc="http://schemas.openxmlformats.org/markup-compatibility/2006">
              <mc:Choice xmlns:v="urn:schemas-microsoft-com:vml" Requires="v">
                <p:oleObj name="Equation" r:id="rId2" imgW="507780" imgH="545863" progId="Equation.3">
                  <p:embed/>
                </p:oleObj>
              </mc:Choice>
              <mc:Fallback>
                <p:oleObj name="Equation" r:id="rId2" imgW="507780" imgH="54586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205038"/>
                        <a:ext cx="80327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988" name="Picture 6" descr="padrodoquilo-thumb"/>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772275" y="3284538"/>
            <a:ext cx="2286000"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8"/>
          <p:cNvSpPr>
            <a:spLocks noChangeArrowheads="1"/>
          </p:cNvSpPr>
          <p:nvPr/>
        </p:nvSpPr>
        <p:spPr bwMode="auto">
          <a:xfrm>
            <a:off x="34925" y="3213100"/>
            <a:ext cx="6624638" cy="288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pPr algn="just" eaLnBrk="1" hangingPunct="1"/>
            <a:r>
              <a:rPr lang="pt-BR" sz="1600">
                <a:solidFill>
                  <a:srgbClr val="000000"/>
                </a:solidFill>
              </a:rPr>
              <a:t>	No Sistema internacional de unidades (SI), a medida da massa é o quilograma (kg). O quilograma-padrão, um protótipo internacional de platina iridiada (feito de irídio e platina) que se encontra conservado no Escritório Internacional de Pesos e Medidas (BIPM), situado no parque de Sant Cloud, nas proximidades de Paris, sendo o quilograma definido como a massa deste protótipo. Ele é um cilindro eqüilátero de 39 mm de altura por 39 mm de diâmetro.</a:t>
            </a:r>
          </a:p>
          <a:p>
            <a:pPr algn="just" eaLnBrk="1" hangingPunct="1"/>
            <a:endParaRPr lang="pt-BR" sz="1000">
              <a:solidFill>
                <a:srgbClr val="000000"/>
              </a:solidFill>
            </a:endParaRPr>
          </a:p>
          <a:p>
            <a:pPr algn="just" eaLnBrk="1" hangingPunct="1"/>
            <a:r>
              <a:rPr lang="pt-BR" sz="1600">
                <a:solidFill>
                  <a:srgbClr val="000000"/>
                </a:solidFill>
              </a:rPr>
              <a:t>	Unidade de massa atômica: Maneira mais conveniente de se quantificar e medir a massa dos átomos: 1u = 1,6605402 . 10</a:t>
            </a:r>
            <a:r>
              <a:rPr lang="pt-BR" sz="1600" baseline="30000">
                <a:solidFill>
                  <a:srgbClr val="000000"/>
                </a:solidFill>
              </a:rPr>
              <a:t>-27</a:t>
            </a:r>
            <a:r>
              <a:rPr lang="pt-BR" sz="1600">
                <a:solidFill>
                  <a:srgbClr val="000000"/>
                </a:solidFill>
              </a:rPr>
              <a:t> kg.</a:t>
            </a:r>
          </a:p>
          <a:p>
            <a:pPr algn="just" eaLnBrk="1" hangingPunct="1"/>
            <a:endParaRPr lang="pt-BR" sz="1600">
              <a:solidFill>
                <a:srgbClr val="000000"/>
              </a:solidFill>
            </a:endParaRPr>
          </a:p>
          <a:p>
            <a:pPr algn="just" eaLnBrk="1" hangingPunct="1"/>
            <a:r>
              <a:rPr lang="pt-BR" sz="1600">
                <a:solidFill>
                  <a:srgbClr val="000000"/>
                </a:solidFill>
              </a:rPr>
              <a:t>	A massa atômica de um átomo de </a:t>
            </a:r>
            <a:r>
              <a:rPr lang="pt-BR" sz="1600" baseline="30000">
                <a:solidFill>
                  <a:srgbClr val="000000"/>
                </a:solidFill>
              </a:rPr>
              <a:t>12</a:t>
            </a:r>
            <a:r>
              <a:rPr lang="pt-BR" sz="1600">
                <a:solidFill>
                  <a:srgbClr val="000000"/>
                </a:solidFill>
              </a:rPr>
              <a:t>C = 12u.</a:t>
            </a:r>
          </a:p>
        </p:txBody>
      </p:sp>
    </p:spTree>
    <p:extLst>
      <p:ext uri="{BB962C8B-B14F-4D97-AF65-F5344CB8AC3E}">
        <p14:creationId xmlns:p14="http://schemas.microsoft.com/office/powerpoint/2010/main" val="35107252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a:spLocks noChangeArrowheads="1"/>
          </p:cNvSpPr>
          <p:nvPr/>
        </p:nvSpPr>
        <p:spPr bwMode="auto">
          <a:xfrm>
            <a:off x="34925" y="799262"/>
            <a:ext cx="444224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nchor="ct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800" b="1" dirty="0">
                <a:solidFill>
                  <a:srgbClr val="000000"/>
                </a:solidFill>
              </a:rPr>
              <a:t>	Múltiplos e submúltiplos no SI</a:t>
            </a:r>
          </a:p>
          <a:p>
            <a:endParaRPr lang="pt-BR" sz="1800" b="1" dirty="0">
              <a:solidFill>
                <a:srgbClr val="000000"/>
              </a:solidFill>
            </a:endParaRPr>
          </a:p>
        </p:txBody>
      </p:sp>
      <p:pic>
        <p:nvPicPr>
          <p:cNvPr id="43011" name="Picture 6"/>
          <p:cNvPicPr>
            <a:picLocks noChangeAspect="1" noChangeArrowheads="1"/>
          </p:cNvPicPr>
          <p:nvPr/>
        </p:nvPicPr>
        <p:blipFill>
          <a:blip r:embed="rId2">
            <a:extLst>
              <a:ext uri="{28A0092B-C50C-407E-A947-70E740481C1C}">
                <a14:useLocalDpi xmlns:a14="http://schemas.microsoft.com/office/drawing/2010/main" val="0"/>
              </a:ext>
            </a:extLst>
          </a:blip>
          <a:srcRect l="12500" t="50000" r="55911" b="11250"/>
          <a:stretch>
            <a:fillRect/>
          </a:stretch>
        </p:blipFill>
        <p:spPr bwMode="auto">
          <a:xfrm>
            <a:off x="0" y="1530350"/>
            <a:ext cx="385127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7"/>
          <p:cNvSpPr>
            <a:spLocks noChangeArrowheads="1"/>
          </p:cNvSpPr>
          <p:nvPr/>
        </p:nvSpPr>
        <p:spPr bwMode="auto">
          <a:xfrm>
            <a:off x="5724525" y="1936750"/>
            <a:ext cx="20510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bIns="0" anchor="ctr">
            <a:spAutoFit/>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r>
              <a:rPr lang="pt-BR" sz="1800" b="1">
                <a:solidFill>
                  <a:srgbClr val="000000"/>
                </a:solidFill>
              </a:rPr>
              <a:t>Algumas massas</a:t>
            </a:r>
          </a:p>
        </p:txBody>
      </p:sp>
      <p:pic>
        <p:nvPicPr>
          <p:cNvPr id="43013" name="Picture 8"/>
          <p:cNvPicPr>
            <a:picLocks noChangeAspect="1" noChangeArrowheads="1"/>
          </p:cNvPicPr>
          <p:nvPr/>
        </p:nvPicPr>
        <p:blipFill>
          <a:blip r:embed="rId3">
            <a:extLst>
              <a:ext uri="{28A0092B-C50C-407E-A947-70E740481C1C}">
                <a14:useLocalDpi xmlns:a14="http://schemas.microsoft.com/office/drawing/2010/main" val="0"/>
              </a:ext>
            </a:extLst>
          </a:blip>
          <a:srcRect l="52357" t="33000" r="24609" b="39604"/>
          <a:stretch>
            <a:fillRect/>
          </a:stretch>
        </p:blipFill>
        <p:spPr bwMode="auto">
          <a:xfrm>
            <a:off x="4643438" y="2322513"/>
            <a:ext cx="4284662"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0555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ChangeArrowheads="1"/>
          </p:cNvSpPr>
          <p:nvPr/>
        </p:nvSpPr>
        <p:spPr bwMode="auto">
          <a:xfrm>
            <a:off x="3922713" y="2852738"/>
            <a:ext cx="2449512"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lvl1pPr>
              <a:tabLst>
                <a:tab pos="503238" algn="l"/>
              </a:tabLst>
              <a:defRPr sz="2800">
                <a:solidFill>
                  <a:schemeClr val="bg2"/>
                </a:solidFill>
                <a:latin typeface="Arial" panose="020B0604020202020204" pitchFamily="34" charset="0"/>
              </a:defRPr>
            </a:lvl1pPr>
            <a:lvl2pPr marL="742950" indent="-285750">
              <a:tabLst>
                <a:tab pos="503238" algn="l"/>
              </a:tabLst>
              <a:defRPr sz="2800">
                <a:solidFill>
                  <a:schemeClr val="bg2"/>
                </a:solidFill>
                <a:latin typeface="Arial" panose="020B0604020202020204" pitchFamily="34" charset="0"/>
              </a:defRPr>
            </a:lvl2pPr>
            <a:lvl3pPr marL="1143000" indent="-228600">
              <a:tabLst>
                <a:tab pos="503238" algn="l"/>
              </a:tabLst>
              <a:defRPr sz="2800">
                <a:solidFill>
                  <a:schemeClr val="bg2"/>
                </a:solidFill>
                <a:latin typeface="Arial" panose="020B0604020202020204" pitchFamily="34" charset="0"/>
              </a:defRPr>
            </a:lvl3pPr>
            <a:lvl4pPr marL="1600200" indent="-228600">
              <a:tabLst>
                <a:tab pos="503238" algn="l"/>
              </a:tabLst>
              <a:defRPr sz="2800">
                <a:solidFill>
                  <a:schemeClr val="bg2"/>
                </a:solidFill>
                <a:latin typeface="Arial" panose="020B0604020202020204" pitchFamily="34" charset="0"/>
              </a:defRPr>
            </a:lvl4pPr>
            <a:lvl5pPr marL="2057400" indent="-228600">
              <a:tabLst>
                <a:tab pos="503238" algn="l"/>
              </a:tabLst>
              <a:defRPr sz="2800">
                <a:solidFill>
                  <a:schemeClr val="bg2"/>
                </a:solidFill>
                <a:latin typeface="Arial" panose="020B0604020202020204" pitchFamily="34" charset="0"/>
              </a:defRPr>
            </a:lvl5pPr>
            <a:lvl6pPr marL="2514600" indent="-228600" eaLnBrk="0" fontAlgn="base" hangingPunct="0">
              <a:spcBef>
                <a:spcPct val="0"/>
              </a:spcBef>
              <a:spcAft>
                <a:spcPct val="0"/>
              </a:spcAft>
              <a:tabLst>
                <a:tab pos="503238" algn="l"/>
              </a:tabLst>
              <a:defRPr sz="2800">
                <a:solidFill>
                  <a:schemeClr val="bg2"/>
                </a:solidFill>
                <a:latin typeface="Arial" panose="020B0604020202020204" pitchFamily="34" charset="0"/>
              </a:defRPr>
            </a:lvl6pPr>
            <a:lvl7pPr marL="2971800" indent="-228600" eaLnBrk="0" fontAlgn="base" hangingPunct="0">
              <a:spcBef>
                <a:spcPct val="0"/>
              </a:spcBef>
              <a:spcAft>
                <a:spcPct val="0"/>
              </a:spcAft>
              <a:tabLst>
                <a:tab pos="503238" algn="l"/>
              </a:tabLst>
              <a:defRPr sz="2800">
                <a:solidFill>
                  <a:schemeClr val="bg2"/>
                </a:solidFill>
                <a:latin typeface="Arial" panose="020B0604020202020204" pitchFamily="34" charset="0"/>
              </a:defRPr>
            </a:lvl7pPr>
            <a:lvl8pPr marL="3429000" indent="-228600" eaLnBrk="0" fontAlgn="base" hangingPunct="0">
              <a:spcBef>
                <a:spcPct val="0"/>
              </a:spcBef>
              <a:spcAft>
                <a:spcPct val="0"/>
              </a:spcAft>
              <a:tabLst>
                <a:tab pos="503238" algn="l"/>
              </a:tabLst>
              <a:defRPr sz="2800">
                <a:solidFill>
                  <a:schemeClr val="bg2"/>
                </a:solidFill>
                <a:latin typeface="Arial" panose="020B0604020202020204" pitchFamily="34" charset="0"/>
              </a:defRPr>
            </a:lvl8pPr>
            <a:lvl9pPr marL="3886200" indent="-228600" eaLnBrk="0" fontAlgn="base" hangingPunct="0">
              <a:spcBef>
                <a:spcPct val="0"/>
              </a:spcBef>
              <a:spcAft>
                <a:spcPct val="0"/>
              </a:spcAft>
              <a:tabLst>
                <a:tab pos="503238" algn="l"/>
              </a:tabLst>
              <a:defRPr sz="2800">
                <a:solidFill>
                  <a:schemeClr val="bg2"/>
                </a:solidFill>
                <a:latin typeface="Arial" panose="020B0604020202020204" pitchFamily="34" charset="0"/>
              </a:defRPr>
            </a:lvl9pPr>
          </a:lstStyle>
          <a:p>
            <a:r>
              <a:rPr lang="pt-BR" sz="4000" b="1">
                <a:solidFill>
                  <a:srgbClr val="FF0000"/>
                </a:solidFill>
              </a:rPr>
              <a:t>Fim</a:t>
            </a:r>
          </a:p>
        </p:txBody>
      </p:sp>
    </p:spTree>
    <p:extLst>
      <p:ext uri="{BB962C8B-B14F-4D97-AF65-F5344CB8AC3E}">
        <p14:creationId xmlns:p14="http://schemas.microsoft.com/office/powerpoint/2010/main" val="25242363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Espaço Reservado para Texto 5"/>
          <p:cNvSpPr>
            <a:spLocks noGrp="1"/>
          </p:cNvSpPr>
          <p:nvPr>
            <p:ph type="body" sz="quarter" idx="13"/>
          </p:nvPr>
        </p:nvSpPr>
        <p:spPr/>
        <p:txBody>
          <a:bodyPr/>
          <a:lstStyle/>
          <a:p>
            <a:pPr algn="just"/>
            <a:r>
              <a:rPr lang="pt-BR" b="1" dirty="0">
                <a:solidFill>
                  <a:srgbClr val="FF0000"/>
                </a:solidFill>
              </a:rPr>
              <a:t>Capítulo 01:	</a:t>
            </a:r>
            <a:r>
              <a:rPr lang="pt-BR" dirty="0"/>
              <a:t>HALLIDAY, David; RESNICK, Robert;  WALKER, Jearl. Fundamentos de Física: mecânica. Vol 1. Rio de Janeiro: LTC, 2006.</a:t>
            </a:r>
          </a:p>
        </p:txBody>
      </p:sp>
    </p:spTree>
    <p:extLst>
      <p:ext uri="{BB962C8B-B14F-4D97-AF65-F5344CB8AC3E}">
        <p14:creationId xmlns:p14="http://schemas.microsoft.com/office/powerpoint/2010/main" val="22272663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v="urn:schemas-microsoft-com:mac:vml">
      <mp:transition xmlns:mp="http://schemas.microsoft.com/office/mac/powerpoint/2008/mai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1026"/>
          <p:cNvSpPr>
            <a:spLocks noChangeArrowheads="1"/>
          </p:cNvSpPr>
          <p:nvPr/>
        </p:nvSpPr>
        <p:spPr bwMode="auto">
          <a:xfrm>
            <a:off x="1053371" y="3387982"/>
            <a:ext cx="6880137" cy="1459503"/>
          </a:xfrm>
          <a:prstGeom prst="rect">
            <a:avLst/>
          </a:prstGeom>
          <a:noFill/>
          <a:ln w="9525">
            <a:noFill/>
            <a:miter lim="800000"/>
            <a:headEnd/>
            <a:tailEnd/>
          </a:ln>
        </p:spPr>
        <p:txBody>
          <a:bodyPr wrap="square" lIns="92075" tIns="46038" rIns="92075" bIns="46038">
            <a:spAutoFit/>
          </a:bodyPr>
          <a:lstStyle/>
          <a:p>
            <a:pPr>
              <a:defRPr/>
            </a:pPr>
            <a:r>
              <a:rPr kumimoji="1" lang="en-US" sz="2000" dirty="0">
                <a:solidFill>
                  <a:schemeClr val="bg1"/>
                </a:solidFill>
                <a:latin typeface="Gotham HTF" pitchFamily="2" charset="0"/>
                <a:cs typeface="Gotham-Bold"/>
              </a:rPr>
              <a:t>Copyright © 2025  Prof. Dr. Nivaldo Zafalon Junior</a:t>
            </a:r>
          </a:p>
          <a:p>
            <a:pPr>
              <a:defRPr/>
            </a:pPr>
            <a:endParaRPr kumimoji="1" lang="en-US" sz="1600" dirty="0">
              <a:solidFill>
                <a:schemeClr val="bg1"/>
              </a:solidFill>
              <a:latin typeface="Gotham-Book"/>
              <a:cs typeface="Gotham-Book"/>
            </a:endParaRPr>
          </a:p>
          <a:p>
            <a:pPr>
              <a:lnSpc>
                <a:spcPct val="110000"/>
              </a:lnSpc>
              <a:defRPr/>
            </a:pPr>
            <a:r>
              <a:rPr kumimoji="1" lang="en-US" sz="1600" dirty="0" err="1">
                <a:solidFill>
                  <a:schemeClr val="bg1"/>
                </a:solidFill>
                <a:latin typeface="Gotham HTF Book" pitchFamily="2" charset="0"/>
                <a:cs typeface="Gotham-Book"/>
              </a:rPr>
              <a:t>Todos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direitos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reservados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Reprodução</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ou</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divulgação</a:t>
            </a:r>
            <a:r>
              <a:rPr kumimoji="1" lang="en-US" sz="1600" dirty="0">
                <a:solidFill>
                  <a:schemeClr val="bg1"/>
                </a:solidFill>
                <a:latin typeface="Gotham HTF Book" pitchFamily="2" charset="0"/>
                <a:cs typeface="Gotham-Book"/>
              </a:rPr>
              <a:t> total </a:t>
            </a:r>
            <a:r>
              <a:rPr kumimoji="1" lang="en-US" sz="1600" dirty="0" err="1">
                <a:solidFill>
                  <a:schemeClr val="bg1"/>
                </a:solidFill>
                <a:latin typeface="Gotham HTF Book" pitchFamily="2" charset="0"/>
                <a:cs typeface="Gotham-Book"/>
              </a:rPr>
              <a:t>ou</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parcial</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deste</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documento</a:t>
            </a:r>
            <a:r>
              <a:rPr kumimoji="1" lang="en-US" sz="1600" dirty="0">
                <a:solidFill>
                  <a:schemeClr val="bg1"/>
                </a:solidFill>
                <a:latin typeface="Gotham HTF Book" pitchFamily="2" charset="0"/>
                <a:cs typeface="Gotham-Book"/>
              </a:rPr>
              <a:t> é </a:t>
            </a:r>
            <a:r>
              <a:rPr kumimoji="1" lang="en-US" sz="1600" dirty="0" err="1">
                <a:solidFill>
                  <a:schemeClr val="bg1"/>
                </a:solidFill>
                <a:latin typeface="Gotham HTF Book" pitchFamily="2" charset="0"/>
                <a:cs typeface="Gotham-Book"/>
              </a:rPr>
              <a:t>expressamente</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proíbido</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sem</a:t>
            </a:r>
            <a:r>
              <a:rPr kumimoji="1" lang="en-US" sz="1600" dirty="0">
                <a:solidFill>
                  <a:schemeClr val="bg1"/>
                </a:solidFill>
                <a:latin typeface="Gotham HTF Book" pitchFamily="2" charset="0"/>
                <a:cs typeface="Gotham-Book"/>
              </a:rPr>
              <a:t> o </a:t>
            </a:r>
            <a:r>
              <a:rPr kumimoji="1" lang="pt-BR" sz="1600" dirty="0">
                <a:solidFill>
                  <a:schemeClr val="bg1"/>
                </a:solidFill>
                <a:latin typeface="Gotham HTF Book" pitchFamily="2" charset="0"/>
                <a:cs typeface="Gotham-Book"/>
              </a:rPr>
              <a:t>consentimento formal, por escrito,</a:t>
            </a:r>
            <a:r>
              <a:rPr kumimoji="1" lang="en-US" sz="1600" dirty="0">
                <a:solidFill>
                  <a:schemeClr val="bg1"/>
                </a:solidFill>
                <a:latin typeface="Gotham HTF Book" pitchFamily="2" charset="0"/>
                <a:cs typeface="Gotham-Book"/>
              </a:rPr>
              <a:t> do Professor (</a:t>
            </a:r>
            <a:r>
              <a:rPr kumimoji="1" lang="en-US" sz="1600" dirty="0" err="1">
                <a:solidFill>
                  <a:schemeClr val="bg1"/>
                </a:solidFill>
                <a:latin typeface="Gotham HTF Book" pitchFamily="2" charset="0"/>
                <a:cs typeface="Gotham-Book"/>
              </a:rPr>
              <a:t>autor</a:t>
            </a:r>
            <a:r>
              <a:rPr kumimoji="1" lang="en-US" sz="1600" dirty="0">
                <a:solidFill>
                  <a:schemeClr val="bg1"/>
                </a:solidFill>
                <a:latin typeface="Gotham HTF Book" pitchFamily="2" charset="0"/>
                <a:cs typeface="Gotham-Book"/>
              </a:rPr>
              <a:t>).</a:t>
            </a:r>
          </a:p>
        </p:txBody>
      </p:sp>
      <p:sp>
        <p:nvSpPr>
          <p:cNvPr id="5" name="Rectangle 4"/>
          <p:cNvSpPr/>
          <p:nvPr/>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7837508" y="333716"/>
            <a:ext cx="975616" cy="267011"/>
          </a:xfrm>
          <a:prstGeom prst="rect">
            <a:avLst/>
          </a:prstGeom>
        </p:spPr>
      </p:pic>
    </p:spTree>
    <p:extLst>
      <p:ext uri="{BB962C8B-B14F-4D97-AF65-F5344CB8AC3E}">
        <p14:creationId xmlns:p14="http://schemas.microsoft.com/office/powerpoint/2010/main" val="6995947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v="urn:schemas-microsoft-com:mac:vml">
      <mp:transition xmlns:mp="http://schemas.microsoft.com/office/mac/powerpoint/2008/main" spd="slow"/>
    </mc:Fallback>
  </mc:AlternateContent>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Theme.thmx</Template>
  <TotalTime>1046</TotalTime>
  <Words>1945</Words>
  <Application>Microsoft Office PowerPoint</Application>
  <PresentationFormat>Apresentação na tela (4:3)</PresentationFormat>
  <Paragraphs>168</Paragraphs>
  <Slides>45</Slides>
  <Notes>6</Notes>
  <HiddenSlides>0</HiddenSlides>
  <MMClips>0</MMClips>
  <ScaleCrop>false</ScaleCrop>
  <HeadingPairs>
    <vt:vector size="8" baseType="variant">
      <vt:variant>
        <vt:lpstr>Fontes usadas</vt:lpstr>
      </vt:variant>
      <vt:variant>
        <vt:i4>7</vt:i4>
      </vt:variant>
      <vt:variant>
        <vt:lpstr>Tema</vt:lpstr>
      </vt:variant>
      <vt:variant>
        <vt:i4>5</vt:i4>
      </vt:variant>
      <vt:variant>
        <vt:lpstr>Servidores OLE inseridos</vt:lpstr>
      </vt:variant>
      <vt:variant>
        <vt:i4>2</vt:i4>
      </vt:variant>
      <vt:variant>
        <vt:lpstr>Títulos de slides</vt:lpstr>
      </vt:variant>
      <vt:variant>
        <vt:i4>45</vt:i4>
      </vt:variant>
    </vt:vector>
  </HeadingPairs>
  <TitlesOfParts>
    <vt:vector size="59" baseType="lpstr">
      <vt:lpstr>Arial</vt:lpstr>
      <vt:lpstr>Calibri</vt:lpstr>
      <vt:lpstr>Gotham HTF</vt:lpstr>
      <vt:lpstr>Gotham HTF Book</vt:lpstr>
      <vt:lpstr>Gotham-Bold</vt:lpstr>
      <vt:lpstr>Gotham-Book</vt:lpstr>
      <vt:lpstr>Wingdings</vt:lpstr>
      <vt:lpstr>Default Theme</vt:lpstr>
      <vt:lpstr>1_Personalizar design</vt:lpstr>
      <vt:lpstr>Office Theme</vt:lpstr>
      <vt:lpstr>2_Personalizar design</vt:lpstr>
      <vt:lpstr>Personalizar design</vt:lpstr>
      <vt:lpstr>Equação</vt:lpstr>
      <vt:lpstr>Equation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Nivaldo Zafalon Junior</cp:lastModifiedBy>
  <cp:revision>202</cp:revision>
  <dcterms:created xsi:type="dcterms:W3CDTF">2015-02-07T21:24:47Z</dcterms:created>
  <dcterms:modified xsi:type="dcterms:W3CDTF">2025-05-13T18:37:44Z</dcterms:modified>
</cp:coreProperties>
</file>