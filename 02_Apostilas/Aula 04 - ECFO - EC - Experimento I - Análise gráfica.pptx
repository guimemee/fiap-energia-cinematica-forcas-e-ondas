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29"/>
  </p:notesMasterIdLst>
  <p:handoutMasterIdLst>
    <p:handoutMasterId r:id="rId30"/>
  </p:handoutMasterIdLst>
  <p:sldIdLst>
    <p:sldId id="256" r:id="rId6"/>
    <p:sldId id="266" r:id="rId7"/>
    <p:sldId id="258" r:id="rId8"/>
    <p:sldId id="259" r:id="rId9"/>
    <p:sldId id="429" r:id="rId10"/>
    <p:sldId id="430" r:id="rId11"/>
    <p:sldId id="431" r:id="rId12"/>
    <p:sldId id="432" r:id="rId13"/>
    <p:sldId id="433" r:id="rId14"/>
    <p:sldId id="434" r:id="rId15"/>
    <p:sldId id="435" r:id="rId16"/>
    <p:sldId id="436" r:id="rId17"/>
    <p:sldId id="437" r:id="rId18"/>
    <p:sldId id="438" r:id="rId19"/>
    <p:sldId id="439" r:id="rId20"/>
    <p:sldId id="448" r:id="rId21"/>
    <p:sldId id="449" r:id="rId22"/>
    <p:sldId id="443" r:id="rId23"/>
    <p:sldId id="444" r:id="rId24"/>
    <p:sldId id="445" r:id="rId25"/>
    <p:sldId id="446" r:id="rId26"/>
    <p:sldId id="447" r:id="rId27"/>
    <p:sldId id="265" r:id="rId2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2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5" d="100"/>
          <a:sy n="55" d="100"/>
        </p:scale>
        <p:origin x="260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06/04/2025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4/6/2025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27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73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1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346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3" y="745668"/>
            <a:ext cx="616396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800" b="1" noProof="0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Energia,</a:t>
            </a:r>
            <a:r>
              <a:rPr lang="pt-BR" sz="2800" b="1" baseline="0" noProof="0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Cinemática, Força e Ondas</a:t>
            </a:r>
            <a:endParaRPr lang="pt-BR" sz="2800" b="1" noProof="0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37627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4913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DE COMPUTAÇÃO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3" r:id="rId10"/>
    <p:sldLayoutId id="2147483754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694934" cy="1455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2025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7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20.emf"/><Relationship Id="rId7" Type="http://schemas.openxmlformats.org/officeDocument/2006/relationships/oleObject" Target="../embeddings/oleObject6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1"/>
          <p:cNvSpPr txBox="1"/>
          <p:nvPr/>
        </p:nvSpPr>
        <p:spPr>
          <a:xfrm>
            <a:off x="1042704" y="4485205"/>
            <a:ext cx="498979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JUNIOR</a:t>
            </a:r>
          </a:p>
        </p:txBody>
      </p:sp>
      <p:sp>
        <p:nvSpPr>
          <p:cNvPr id="4" name="TextBox 20"/>
          <p:cNvSpPr txBox="1"/>
          <p:nvPr/>
        </p:nvSpPr>
        <p:spPr>
          <a:xfrm>
            <a:off x="1042704" y="3898936"/>
            <a:ext cx="498979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2200" dirty="0">
                <a:solidFill>
                  <a:srgbClr val="FFFFFF"/>
                </a:solidFill>
                <a:latin typeface="Gotham-Book"/>
                <a:cs typeface="Gotham-Book"/>
              </a:rPr>
              <a:t>Energia, Cinemática, Forças e Ondas</a:t>
            </a:r>
          </a:p>
        </p:txBody>
      </p:sp>
    </p:spTree>
    <p:extLst>
      <p:ext uri="{BB962C8B-B14F-4D97-AF65-F5344CB8AC3E}">
        <p14:creationId xmlns:p14="http://schemas.microsoft.com/office/powerpoint/2010/main" val="1418144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dirty="0"/>
              <a:t>	Graduação em Tecnologia em Saúde (FATEC-SO), em Física (IFGW), mestrado e doutorado em Engenharia Elétrica (FEEC - UNICAMP). Atualmente é professor da FIAP. Atuação em Biofísica, propagação elétrica em membranas celulares, estimulação elétrica, desenvolvimento de projetos baseados em microcontroladores e eletrônica para sistemas embarcados.</a:t>
            </a:r>
          </a:p>
        </p:txBody>
      </p:sp>
      <p:sp>
        <p:nvSpPr>
          <p:cNvPr id="19" name="TextBox 10"/>
          <p:cNvSpPr txBox="1"/>
          <p:nvPr/>
        </p:nvSpPr>
        <p:spPr>
          <a:xfrm>
            <a:off x="4163412" y="4867582"/>
            <a:ext cx="4097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FFFFFF"/>
                </a:solidFill>
                <a:latin typeface="Gotham-Bold"/>
                <a:cs typeface="Gotham-Bold"/>
              </a:rPr>
              <a:t>PROF. Dr. NIVALDO ZAFALON Jr.</a:t>
            </a:r>
          </a:p>
        </p:txBody>
      </p:sp>
      <p:sp>
        <p:nvSpPr>
          <p:cNvPr id="22" name="TextBox 15"/>
          <p:cNvSpPr txBox="1"/>
          <p:nvPr/>
        </p:nvSpPr>
        <p:spPr>
          <a:xfrm>
            <a:off x="4177606" y="5262363"/>
            <a:ext cx="2380780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nivaldex@gmail.com</a:t>
            </a:r>
          </a:p>
        </p:txBody>
      </p:sp>
      <p:pic>
        <p:nvPicPr>
          <p:cNvPr id="6" name="Espaço Reservado para Imagem 5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7" t="4139" r="13421" b="4139"/>
          <a:stretch/>
        </p:blipFill>
        <p:spPr>
          <a:xfrm>
            <a:off x="355600" y="685800"/>
            <a:ext cx="3403600" cy="5164138"/>
          </a:xfrm>
        </p:spPr>
      </p:pic>
      <p:sp>
        <p:nvSpPr>
          <p:cNvPr id="10" name="Isosceles Triangle 2"/>
          <p:cNvSpPr/>
          <p:nvPr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182776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0" y="2636838"/>
            <a:ext cx="914400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800" dirty="0">
                <a:solidFill>
                  <a:srgbClr val="FF0000"/>
                </a:solidFill>
              </a:rPr>
              <a:t>Análise Gráfica:</a:t>
            </a:r>
          </a:p>
          <a:p>
            <a:endParaRPr lang="pt-BR" sz="2800" dirty="0">
              <a:solidFill>
                <a:srgbClr val="FF0000"/>
              </a:solidFill>
            </a:endParaRPr>
          </a:p>
          <a:p>
            <a:r>
              <a:rPr lang="pt-BR" sz="2800" dirty="0">
                <a:solidFill>
                  <a:srgbClr val="FF0000"/>
                </a:solidFill>
              </a:rPr>
              <a:t>*	Método Empírico.</a:t>
            </a:r>
          </a:p>
        </p:txBody>
      </p:sp>
    </p:spTree>
    <p:extLst>
      <p:ext uri="{BB962C8B-B14F-4D97-AF65-F5344CB8AC3E}">
        <p14:creationId xmlns:p14="http://schemas.microsoft.com/office/powerpoint/2010/main" val="187264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4"/>
          <p:cNvSpPr>
            <a:spLocks noChangeArrowheads="1"/>
          </p:cNvSpPr>
          <p:nvPr/>
        </p:nvSpPr>
        <p:spPr bwMode="auto">
          <a:xfrm>
            <a:off x="0" y="754063"/>
            <a:ext cx="9143999" cy="488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O Método Empírico</a:t>
            </a:r>
          </a:p>
          <a:p>
            <a:pPr algn="just" eaLnBrk="1" hangingPunct="1"/>
            <a:endParaRPr lang="pt-BR" sz="1600" b="0" dirty="0"/>
          </a:p>
          <a:p>
            <a:pPr algn="just" eaLnBrk="1" hangingPunct="1"/>
            <a:r>
              <a:rPr lang="pt-BR" b="0" dirty="0"/>
              <a:t>	</a:t>
            </a:r>
            <a:r>
              <a:rPr lang="pt-BR" b="0" dirty="0">
                <a:solidFill>
                  <a:schemeClr val="tx1"/>
                </a:solidFill>
              </a:rPr>
              <a:t>Uma investigação cientifica basicamente pretende provar ou construir uma teoria para explicar algum fenômeno. Experimentos são essenciais para o desenvolvimento de uma investigação cientifica. A relação entre os experimentos e a construção da teoria pode seguir três caminhos, a saber:</a:t>
            </a: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dirty="0">
                <a:solidFill>
                  <a:schemeClr val="tx1"/>
                </a:solidFill>
              </a:rPr>
              <a:t>a)</a:t>
            </a:r>
            <a:r>
              <a:rPr lang="pt-BR" b="0" dirty="0">
                <a:solidFill>
                  <a:schemeClr val="tx1"/>
                </a:solidFill>
              </a:rPr>
              <a:t>	Os experimentos são usados para efetivamente construir as relações entre as variáveis, ou seja, as equações, este método de utilização dos resultados dos experimentos é conhecido como empírico;</a:t>
            </a: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dirty="0">
                <a:solidFill>
                  <a:schemeClr val="tx1"/>
                </a:solidFill>
              </a:rPr>
              <a:t>b)</a:t>
            </a:r>
            <a:r>
              <a:rPr lang="pt-BR" b="0" dirty="0">
                <a:solidFill>
                  <a:schemeClr val="tx1"/>
                </a:solidFill>
              </a:rPr>
              <a:t>	Os experimentos são usados para testar relações previamente propostas, este método de utilização dos experimentos é conhecido como teórico;</a:t>
            </a: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dirty="0">
                <a:solidFill>
                  <a:schemeClr val="tx1"/>
                </a:solidFill>
              </a:rPr>
              <a:t>c)</a:t>
            </a:r>
            <a:r>
              <a:rPr lang="pt-BR" b="0" dirty="0">
                <a:solidFill>
                  <a:schemeClr val="tx1"/>
                </a:solidFill>
              </a:rPr>
              <a:t>	Os experimentos são usados para realimentar as relações e orientarem as modificações, este método de utilização dos experimentos é conhecido como semi-empírico.</a:t>
            </a:r>
          </a:p>
        </p:txBody>
      </p:sp>
    </p:spTree>
    <p:extLst>
      <p:ext uri="{BB962C8B-B14F-4D97-AF65-F5344CB8AC3E}">
        <p14:creationId xmlns:p14="http://schemas.microsoft.com/office/powerpoint/2010/main" val="3530399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8" descr="Figura1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3" y="915988"/>
            <a:ext cx="1582737" cy="423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9" descr="Figura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915988"/>
            <a:ext cx="2195513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10" descr="Figura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538" y="908050"/>
            <a:ext cx="208915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6653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17" descr="Figura1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915988"/>
            <a:ext cx="1582737" cy="423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18" descr="Figura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0" y="915988"/>
            <a:ext cx="2195513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19" descr="Figura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738" y="908050"/>
            <a:ext cx="208915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673243" y="5641392"/>
            <a:ext cx="1924050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dirty="0">
                <a:solidFill>
                  <a:schemeClr val="tx1"/>
                </a:solidFill>
              </a:rPr>
              <a:t>Método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(     empírico     )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3338655" y="5671554"/>
            <a:ext cx="173355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>
                <a:solidFill>
                  <a:schemeClr val="tx1"/>
                </a:solidFill>
              </a:rPr>
              <a:t>Método</a:t>
            </a:r>
          </a:p>
          <a:p>
            <a:pPr algn="ctr"/>
            <a:r>
              <a:rPr lang="pt-BR">
                <a:solidFill>
                  <a:schemeClr val="tx1"/>
                </a:solidFill>
              </a:rPr>
              <a:t>(     teórico     )</a:t>
            </a: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6215205" y="5671554"/>
            <a:ext cx="188595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dirty="0">
                <a:solidFill>
                  <a:schemeClr val="tx1"/>
                </a:solidFill>
              </a:rPr>
              <a:t>Método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(semi-empírico)</a:t>
            </a:r>
          </a:p>
        </p:txBody>
      </p:sp>
    </p:spTree>
    <p:extLst>
      <p:ext uri="{BB962C8B-B14F-4D97-AF65-F5344CB8AC3E}">
        <p14:creationId xmlns:p14="http://schemas.microsoft.com/office/powerpoint/2010/main" val="2233011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1" y="739775"/>
            <a:ext cx="91440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Método Cientifico:</a:t>
            </a:r>
          </a:p>
          <a:p>
            <a:pPr algn="just" eaLnBrk="1" hangingPunct="1"/>
            <a:endParaRPr lang="pt-BR" sz="10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O método científico é um conjunto de regras básicas para desenvolver uma experiência a fim de produzir novo conhecimento, bem como corrigir e integrar conhecimentos pré-existentes.</a:t>
            </a:r>
          </a:p>
          <a:p>
            <a:pPr algn="just" eaLnBrk="1" hangingPunct="1">
              <a:lnSpc>
                <a:spcPct val="15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O método científico é composto dos seguintes elementos:</a:t>
            </a:r>
          </a:p>
          <a:p>
            <a:pPr>
              <a:lnSpc>
                <a:spcPct val="150000"/>
              </a:lnSpc>
            </a:pPr>
            <a:endParaRPr lang="pt-BR" b="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Caracterização</a:t>
            </a:r>
            <a:r>
              <a:rPr lang="pt-BR" b="0" dirty="0">
                <a:solidFill>
                  <a:schemeClr val="tx1"/>
                </a:solidFill>
              </a:rPr>
              <a:t> 	- Quantificações, observações e medidas;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Hipóteses</a:t>
            </a:r>
            <a:r>
              <a:rPr lang="pt-BR" b="0" dirty="0">
                <a:solidFill>
                  <a:schemeClr val="tx1"/>
                </a:solidFill>
              </a:rPr>
              <a:t> 	- Explicações hipotéticas das observações e medidas;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Previsões</a:t>
            </a:r>
            <a:r>
              <a:rPr lang="pt-BR" b="0" dirty="0">
                <a:solidFill>
                  <a:schemeClr val="tx1"/>
                </a:solidFill>
              </a:rPr>
              <a:t> 	- Deduções lógicas das hipóteses;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Experimentos</a:t>
            </a:r>
            <a:r>
              <a:rPr lang="pt-BR" b="0" dirty="0">
                <a:solidFill>
                  <a:schemeClr val="tx1"/>
                </a:solidFill>
              </a:rPr>
              <a:t> 	- Testes dos três elementos acima.</a:t>
            </a:r>
          </a:p>
        </p:txBody>
      </p:sp>
    </p:spTree>
    <p:extLst>
      <p:ext uri="{BB962C8B-B14F-4D97-AF65-F5344CB8AC3E}">
        <p14:creationId xmlns:p14="http://schemas.microsoft.com/office/powerpoint/2010/main" val="2657283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ChangeArrowheads="1"/>
          </p:cNvSpPr>
          <p:nvPr/>
        </p:nvSpPr>
        <p:spPr bwMode="auto">
          <a:xfrm>
            <a:off x="1" y="752475"/>
            <a:ext cx="9144000" cy="310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Objetivo:</a:t>
            </a:r>
          </a:p>
          <a:p>
            <a:pPr algn="just" eaLnBrk="1" hangingPunct="1"/>
            <a:endParaRPr lang="pt-BR" sz="1000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b="0" dirty="0"/>
              <a:t>	*	</a:t>
            </a:r>
            <a:r>
              <a:rPr lang="pt-BR" b="0" dirty="0">
                <a:solidFill>
                  <a:schemeClr val="tx1"/>
                </a:solidFill>
              </a:rPr>
              <a:t>Estudar a aplicação do método empírico para análise da relação entre o tempo de esvaziamento de uma garrafa Pet em função da altura (h) inicial da coluna de líquido na garrafa Pet  e o diâmetro do seu bico;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*	Construir e analisar o gráfico numa planilha eletrônica; e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*	Aplicar os conceitos de algarismos significativos, de erros e propagação de erros em uma medida, de linearização e de reta média.</a:t>
            </a:r>
          </a:p>
        </p:txBody>
      </p:sp>
    </p:spTree>
    <p:extLst>
      <p:ext uri="{BB962C8B-B14F-4D97-AF65-F5344CB8AC3E}">
        <p14:creationId xmlns:p14="http://schemas.microsoft.com/office/powerpoint/2010/main" val="1348272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ChangeArrowheads="1"/>
          </p:cNvSpPr>
          <p:nvPr/>
        </p:nvSpPr>
        <p:spPr bwMode="auto">
          <a:xfrm>
            <a:off x="0" y="736600"/>
            <a:ext cx="5308600" cy="4335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Material e Métodos:</a:t>
            </a:r>
          </a:p>
          <a:p>
            <a:pPr algn="just" eaLnBrk="1" hangingPunct="1"/>
            <a:endParaRPr lang="pt-BR" sz="600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a)	Material: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*	Garrafas Pets;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*	Régua;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*	Cronômetro;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*	Água.</a:t>
            </a:r>
            <a:endParaRPr lang="pt-BR" sz="400" b="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b)	Montagem experimental: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Para a realização do experimento a montagem mostrada na figura ao lado foi preparada.</a:t>
            </a:r>
          </a:p>
        </p:txBody>
      </p:sp>
      <p:pic>
        <p:nvPicPr>
          <p:cNvPr id="12291" name="Picture 8" descr="Figura4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947" t="-2403" r="-2457" b="-1566"/>
          <a:stretch>
            <a:fillRect/>
          </a:stretch>
        </p:blipFill>
        <p:spPr bwMode="auto">
          <a:xfrm>
            <a:off x="5410200" y="1457329"/>
            <a:ext cx="3660775" cy="280669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2" name="Rectangle 9"/>
          <p:cNvSpPr>
            <a:spLocks noChangeArrowheads="1"/>
          </p:cNvSpPr>
          <p:nvPr/>
        </p:nvSpPr>
        <p:spPr bwMode="auto">
          <a:xfrm>
            <a:off x="0" y="4933950"/>
            <a:ext cx="9143999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c)	Procedimento: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Várias garrafas com diâmetros de bicos diferentes (d) foram preenchidas com água até uma altura (h). O liquido foi liberado e o tempo de vazão foi medido com um cronômetro.</a:t>
            </a:r>
          </a:p>
        </p:txBody>
      </p:sp>
    </p:spTree>
    <p:extLst>
      <p:ext uri="{BB962C8B-B14F-4D97-AF65-F5344CB8AC3E}">
        <p14:creationId xmlns:p14="http://schemas.microsoft.com/office/powerpoint/2010/main" val="3671988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2"/>
          <p:cNvSpPr>
            <a:spLocks noChangeArrowheads="1"/>
          </p:cNvSpPr>
          <p:nvPr/>
        </p:nvSpPr>
        <p:spPr bwMode="auto">
          <a:xfrm>
            <a:off x="0" y="739775"/>
            <a:ext cx="91440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Resultados: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A tabela a seguir apresenta os resultados obtidos.</a:t>
            </a:r>
          </a:p>
        </p:txBody>
      </p:sp>
      <p:pic>
        <p:nvPicPr>
          <p:cNvPr id="13315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07" t="31104" r="11015" b="45271"/>
          <a:stretch>
            <a:fillRect/>
          </a:stretch>
        </p:blipFill>
        <p:spPr bwMode="auto">
          <a:xfrm>
            <a:off x="1044575" y="1989138"/>
            <a:ext cx="7056438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0908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/>
          <p:cNvSpPr>
            <a:spLocks noChangeArrowheads="1"/>
          </p:cNvSpPr>
          <p:nvPr/>
        </p:nvSpPr>
        <p:spPr bwMode="auto">
          <a:xfrm>
            <a:off x="0" y="752475"/>
            <a:ext cx="9144000" cy="554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Análise dos resultados:</a:t>
            </a:r>
          </a:p>
          <a:p>
            <a:pPr algn="just" eaLnBrk="1" hangingPunct="1"/>
            <a:r>
              <a:rPr lang="pt-BR" b="0" dirty="0">
                <a:solidFill>
                  <a:schemeClr val="tx1"/>
                </a:solidFill>
              </a:rPr>
              <a:t>	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A partir da tabela apresentada no item anterior, podemos fazer as seguintes observações:</a:t>
            </a:r>
          </a:p>
          <a:p>
            <a:pPr algn="just" eaLnBrk="1" hangingPunct="1"/>
            <a:endParaRPr lang="pt-BR" b="0" dirty="0"/>
          </a:p>
          <a:p>
            <a:pPr algn="just" eaLnBrk="1" hangingPunct="1"/>
            <a:endParaRPr lang="pt-BR" b="0" dirty="0"/>
          </a:p>
          <a:p>
            <a:pPr algn="just" eaLnBrk="1" hangingPunct="1"/>
            <a:endParaRPr lang="pt-BR" b="0" dirty="0"/>
          </a:p>
          <a:p>
            <a:pPr algn="just" eaLnBrk="1" hangingPunct="1"/>
            <a:endParaRPr lang="pt-BR" b="0" dirty="0"/>
          </a:p>
          <a:p>
            <a:pPr algn="just" eaLnBrk="1" hangingPunct="1"/>
            <a:endParaRPr lang="pt-BR" b="0" dirty="0"/>
          </a:p>
          <a:p>
            <a:pPr algn="just" eaLnBrk="1" hangingPunct="1"/>
            <a:endParaRPr lang="pt-BR" b="0" dirty="0"/>
          </a:p>
          <a:p>
            <a:pPr algn="just" eaLnBrk="1" hangingPunct="1"/>
            <a:endParaRPr lang="pt-BR" b="0" dirty="0"/>
          </a:p>
          <a:p>
            <a:pPr algn="just" eaLnBrk="1" hangingPunct="1"/>
            <a:endParaRPr lang="pt-BR" b="0" dirty="0"/>
          </a:p>
          <a:p>
            <a:pPr algn="just" eaLnBrk="1" hangingPunct="1"/>
            <a:endParaRPr lang="pt-BR" sz="1000" b="0" dirty="0"/>
          </a:p>
          <a:p>
            <a:pPr algn="just" eaLnBrk="1" hangingPunct="1"/>
            <a:endParaRPr lang="pt-BR" sz="1600" b="0" dirty="0"/>
          </a:p>
          <a:p>
            <a:pPr algn="just"/>
            <a:r>
              <a:rPr lang="pt-BR" dirty="0">
                <a:solidFill>
                  <a:schemeClr val="tx1"/>
                </a:solidFill>
              </a:rPr>
              <a:t>a)</a:t>
            </a:r>
            <a:r>
              <a:rPr lang="pt-BR" b="0" dirty="0">
                <a:solidFill>
                  <a:schemeClr val="tx1"/>
                </a:solidFill>
              </a:rPr>
              <a:t>	Para uma </a:t>
            </a:r>
            <a:r>
              <a:rPr lang="pt-BR" b="0" dirty="0">
                <a:solidFill>
                  <a:srgbClr val="FF0000"/>
                </a:solidFill>
              </a:rPr>
              <a:t>mesma altura</a:t>
            </a:r>
            <a:r>
              <a:rPr lang="pt-BR" b="0" dirty="0"/>
              <a:t> </a:t>
            </a:r>
            <a:r>
              <a:rPr lang="pt-BR" b="0" dirty="0">
                <a:solidFill>
                  <a:schemeClr val="tx1"/>
                </a:solidFill>
              </a:rPr>
              <a:t>(h) de coluna d’água, se </a:t>
            </a:r>
            <a:r>
              <a:rPr lang="pt-BR" b="0" dirty="0">
                <a:solidFill>
                  <a:srgbClr val="FF0000"/>
                </a:solidFill>
              </a:rPr>
              <a:t>d aumenta</a:t>
            </a:r>
            <a:r>
              <a:rPr lang="pt-BR" b="0" dirty="0">
                <a:solidFill>
                  <a:schemeClr val="tx1"/>
                </a:solidFill>
              </a:rPr>
              <a:t>, t diminui, então: t </a:t>
            </a:r>
            <a:r>
              <a:rPr lang="pt-BR" b="0" dirty="0">
                <a:solidFill>
                  <a:schemeClr val="tx1"/>
                </a:solidFill>
                <a:sym typeface="Symbol" panose="05050102010706020507" pitchFamily="18" charset="2"/>
              </a:rPr>
              <a:t> 1/d;</a:t>
            </a:r>
          </a:p>
          <a:p>
            <a:pPr algn="just"/>
            <a:endParaRPr lang="pt-BR" b="0" dirty="0"/>
          </a:p>
          <a:p>
            <a:pPr algn="just"/>
            <a:r>
              <a:rPr lang="pt-BR" dirty="0">
                <a:solidFill>
                  <a:schemeClr val="tx1"/>
                </a:solidFill>
              </a:rPr>
              <a:t>b)</a:t>
            </a:r>
            <a:r>
              <a:rPr lang="pt-BR" b="0" dirty="0">
                <a:solidFill>
                  <a:schemeClr val="tx1"/>
                </a:solidFill>
              </a:rPr>
              <a:t>	Para um </a:t>
            </a:r>
            <a:r>
              <a:rPr lang="pt-BR" b="0" dirty="0">
                <a:solidFill>
                  <a:srgbClr val="FF0000"/>
                </a:solidFill>
              </a:rPr>
              <a:t>mesmo diâmetro</a:t>
            </a:r>
            <a:r>
              <a:rPr lang="pt-BR" b="0" dirty="0"/>
              <a:t> </a:t>
            </a:r>
            <a:r>
              <a:rPr lang="pt-BR" b="0" dirty="0">
                <a:solidFill>
                  <a:schemeClr val="tx1"/>
                </a:solidFill>
              </a:rPr>
              <a:t>(d) de vazão, se </a:t>
            </a:r>
            <a:r>
              <a:rPr lang="pt-BR" b="0" dirty="0">
                <a:solidFill>
                  <a:srgbClr val="FF0000"/>
                </a:solidFill>
              </a:rPr>
              <a:t>h diminui</a:t>
            </a:r>
            <a:r>
              <a:rPr lang="pt-BR" b="0" dirty="0">
                <a:solidFill>
                  <a:schemeClr val="tx1"/>
                </a:solidFill>
              </a:rPr>
              <a:t>, t diminui, então: t </a:t>
            </a:r>
            <a:r>
              <a:rPr lang="pt-BR" b="0" dirty="0">
                <a:solidFill>
                  <a:schemeClr val="tx1"/>
                </a:solidFill>
                <a:sym typeface="Symbol" panose="05050102010706020507" pitchFamily="18" charset="2"/>
              </a:rPr>
              <a:t> h</a:t>
            </a:r>
            <a:r>
              <a:rPr lang="pt-BR" b="0" dirty="0">
                <a:solidFill>
                  <a:schemeClr val="tx1"/>
                </a:solidFill>
              </a:rPr>
              <a:t>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pt-BR" b="0" dirty="0"/>
          </a:p>
        </p:txBody>
      </p:sp>
      <p:pic>
        <p:nvPicPr>
          <p:cNvPr id="14339" name="Picture 6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07" t="31104" r="11015" b="45271"/>
          <a:stretch>
            <a:fillRect/>
          </a:stretch>
        </p:blipFill>
        <p:spPr bwMode="auto">
          <a:xfrm>
            <a:off x="107950" y="2840038"/>
            <a:ext cx="5399088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7" descr="Figura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0" y="1976438"/>
            <a:ext cx="3186113" cy="250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9937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0"/>
          <p:cNvSpPr>
            <a:spLocks noChangeArrowheads="1"/>
          </p:cNvSpPr>
          <p:nvPr/>
        </p:nvSpPr>
        <p:spPr bwMode="auto">
          <a:xfrm>
            <a:off x="-1588" y="752475"/>
            <a:ext cx="9145587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chemeClr val="tx1"/>
                </a:solidFill>
              </a:rPr>
              <a:t>	Analisando t como função apenas de d:</a:t>
            </a: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b="0" dirty="0">
                <a:solidFill>
                  <a:schemeClr val="tx1"/>
                </a:solidFill>
              </a:rPr>
              <a:t>	Estudando a relação de t como função de </a:t>
            </a:r>
            <a:r>
              <a:rPr lang="pt-BR" b="0" dirty="0">
                <a:solidFill>
                  <a:srgbClr val="FF0000"/>
                </a:solidFill>
              </a:rPr>
              <a:t>d</a:t>
            </a:r>
            <a:r>
              <a:rPr lang="pt-BR" b="0" baseline="30000" dirty="0">
                <a:solidFill>
                  <a:srgbClr val="FF0000"/>
                </a:solidFill>
              </a:rPr>
              <a:t>-X</a:t>
            </a:r>
            <a:r>
              <a:rPr lang="pt-BR" b="0" dirty="0">
                <a:solidFill>
                  <a:schemeClr val="tx1"/>
                </a:solidFill>
              </a:rPr>
              <a:t> para h constante.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pt-BR" b="0" dirty="0">
              <a:solidFill>
                <a:schemeClr val="tx1"/>
              </a:solidFill>
            </a:endParaRPr>
          </a:p>
        </p:txBody>
      </p:sp>
      <p:pic>
        <p:nvPicPr>
          <p:cNvPr id="15363" name="Picture 6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07" t="34805" r="43417" b="45271"/>
          <a:stretch>
            <a:fillRect/>
          </a:stretch>
        </p:blipFill>
        <p:spPr bwMode="auto">
          <a:xfrm>
            <a:off x="0" y="1903413"/>
            <a:ext cx="2376488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3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491851"/>
              </p:ext>
            </p:extLst>
          </p:nvPr>
        </p:nvGraphicFramePr>
        <p:xfrm>
          <a:off x="-1588" y="3055938"/>
          <a:ext cx="4429126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3" imgW="4429264" imgH="2771663" progId="Excel.Chart.8">
                  <p:embed/>
                </p:oleObj>
              </mc:Choice>
              <mc:Fallback>
                <p:oleObj name="Gráfico" r:id="rId3" imgW="4429264" imgH="2771663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588" y="3055938"/>
                        <a:ext cx="4429126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407742"/>
              </p:ext>
            </p:extLst>
          </p:nvPr>
        </p:nvGraphicFramePr>
        <p:xfrm>
          <a:off x="3973513" y="2047875"/>
          <a:ext cx="14859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447" imgH="393529" progId="Equation.3">
                  <p:embed/>
                </p:oleObj>
              </mc:Choice>
              <mc:Fallback>
                <p:oleObj name="Equation" r:id="rId5" imgW="81244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513" y="2047875"/>
                        <a:ext cx="14859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210264"/>
              </p:ext>
            </p:extLst>
          </p:nvPr>
        </p:nvGraphicFramePr>
        <p:xfrm>
          <a:off x="4716463" y="3055938"/>
          <a:ext cx="4429125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7" imgW="4429264" imgH="2771663" progId="Excel.Chart.8">
                  <p:embed/>
                </p:oleObj>
              </mc:Choice>
              <mc:Fallback>
                <p:oleObj name="Gráfico" r:id="rId7" imgW="4429264" imgH="2771663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055938"/>
                        <a:ext cx="4429125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Line 11"/>
          <p:cNvSpPr>
            <a:spLocks noChangeShapeType="1"/>
          </p:cNvSpPr>
          <p:nvPr/>
        </p:nvSpPr>
        <p:spPr bwMode="auto">
          <a:xfrm flipV="1">
            <a:off x="3924300" y="2624138"/>
            <a:ext cx="431800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5852" name="Text Box 12"/>
          <p:cNvSpPr txBox="1">
            <a:spLocks noChangeArrowheads="1"/>
          </p:cNvSpPr>
          <p:nvPr/>
        </p:nvSpPr>
        <p:spPr bwMode="auto">
          <a:xfrm>
            <a:off x="2484438" y="2047875"/>
            <a:ext cx="140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Eu escolho</a:t>
            </a:r>
          </a:p>
        </p:txBody>
      </p:sp>
      <p:sp>
        <p:nvSpPr>
          <p:cNvPr id="35853" name="Line 13"/>
          <p:cNvSpPr>
            <a:spLocks noChangeShapeType="1"/>
          </p:cNvSpPr>
          <p:nvPr/>
        </p:nvSpPr>
        <p:spPr bwMode="auto">
          <a:xfrm>
            <a:off x="3563938" y="2408238"/>
            <a:ext cx="503237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5854" name="Line 14"/>
          <p:cNvSpPr>
            <a:spLocks noChangeShapeType="1"/>
          </p:cNvSpPr>
          <p:nvPr/>
        </p:nvSpPr>
        <p:spPr bwMode="auto">
          <a:xfrm>
            <a:off x="5435600" y="2552700"/>
            <a:ext cx="576263" cy="5032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5855" name="Text Box 15"/>
          <p:cNvSpPr txBox="1">
            <a:spLocks noChangeArrowheads="1"/>
          </p:cNvSpPr>
          <p:nvPr/>
        </p:nvSpPr>
        <p:spPr bwMode="auto">
          <a:xfrm>
            <a:off x="5724525" y="2336800"/>
            <a:ext cx="18605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O Excel calcula</a:t>
            </a:r>
          </a:p>
        </p:txBody>
      </p:sp>
      <p:sp>
        <p:nvSpPr>
          <p:cNvPr id="35856" name="Text Box 16"/>
          <p:cNvSpPr txBox="1">
            <a:spLocks noChangeArrowheads="1"/>
          </p:cNvSpPr>
          <p:nvPr/>
        </p:nvSpPr>
        <p:spPr bwMode="auto">
          <a:xfrm>
            <a:off x="8151813" y="4249738"/>
            <a:ext cx="793750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dirty="0">
                <a:solidFill>
                  <a:srgbClr val="FF0000"/>
                </a:solidFill>
              </a:rPr>
              <a:t>Muito</a:t>
            </a:r>
          </a:p>
          <a:p>
            <a:r>
              <a:rPr lang="pt-BR" dirty="0">
                <a:solidFill>
                  <a:srgbClr val="FF0000"/>
                </a:solidFill>
              </a:rPr>
              <a:t>bom!</a:t>
            </a:r>
          </a:p>
        </p:txBody>
      </p:sp>
      <p:sp>
        <p:nvSpPr>
          <p:cNvPr id="35857" name="Line 17"/>
          <p:cNvSpPr>
            <a:spLocks noChangeShapeType="1"/>
          </p:cNvSpPr>
          <p:nvPr/>
        </p:nvSpPr>
        <p:spPr bwMode="auto">
          <a:xfrm flipH="1" flipV="1">
            <a:off x="7956550" y="4495800"/>
            <a:ext cx="215900" cy="730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5858" name="Text Box 18"/>
          <p:cNvSpPr txBox="1">
            <a:spLocks noChangeArrowheads="1"/>
          </p:cNvSpPr>
          <p:nvPr/>
        </p:nvSpPr>
        <p:spPr bwMode="auto">
          <a:xfrm>
            <a:off x="6856413" y="3530600"/>
            <a:ext cx="349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5859" name="Text Box 19"/>
          <p:cNvSpPr txBox="1">
            <a:spLocks noChangeArrowheads="1"/>
          </p:cNvSpPr>
          <p:nvPr/>
        </p:nvSpPr>
        <p:spPr bwMode="auto">
          <a:xfrm>
            <a:off x="8326438" y="3527425"/>
            <a:ext cx="3365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35860" name="Line 20"/>
          <p:cNvSpPr>
            <a:spLocks noChangeShapeType="1"/>
          </p:cNvSpPr>
          <p:nvPr/>
        </p:nvSpPr>
        <p:spPr bwMode="auto">
          <a:xfrm>
            <a:off x="7092950" y="3848100"/>
            <a:ext cx="215900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5861" name="Line 21"/>
          <p:cNvSpPr>
            <a:spLocks noChangeShapeType="1"/>
          </p:cNvSpPr>
          <p:nvPr/>
        </p:nvSpPr>
        <p:spPr bwMode="auto">
          <a:xfrm flipH="1">
            <a:off x="8027988" y="3848100"/>
            <a:ext cx="360362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025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5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35850" grpId="0"/>
      <p:bldP spid="35851" grpId="0" animBg="1"/>
      <p:bldP spid="35852" grpId="0"/>
      <p:bldP spid="35853" grpId="0" animBg="1"/>
      <p:bldP spid="35854" grpId="0" animBg="1"/>
      <p:bldP spid="35855" grpId="0"/>
      <p:bldP spid="35856" grpId="0"/>
      <p:bldP spid="35857" grpId="0" animBg="1"/>
      <p:bldP spid="35858" grpId="0"/>
      <p:bldP spid="35859" grpId="0"/>
      <p:bldP spid="35860" grpId="0" animBg="1"/>
      <p:bldP spid="3586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8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66386"/>
              </p:ext>
            </p:extLst>
          </p:nvPr>
        </p:nvGraphicFramePr>
        <p:xfrm>
          <a:off x="4643438" y="3105150"/>
          <a:ext cx="4429125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2" imgW="4429264" imgH="2771663" progId="Excel.Chart.8">
                  <p:embed/>
                </p:oleObj>
              </mc:Choice>
              <mc:Fallback>
                <p:oleObj name="Gráfico" r:id="rId2" imgW="4429264" imgH="2771663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105150"/>
                        <a:ext cx="4429125" cy="277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7" name="Rectangle 30"/>
          <p:cNvSpPr>
            <a:spLocks noChangeArrowheads="1"/>
          </p:cNvSpPr>
          <p:nvPr/>
        </p:nvSpPr>
        <p:spPr bwMode="auto">
          <a:xfrm>
            <a:off x="-11112" y="752475"/>
            <a:ext cx="9155112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chemeClr val="tx1"/>
                </a:solidFill>
              </a:rPr>
              <a:t>	Analisando t como função apenas de d:</a:t>
            </a: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b="0" dirty="0">
                <a:solidFill>
                  <a:schemeClr val="tx1"/>
                </a:solidFill>
              </a:rPr>
              <a:t>	Estudando a relação de t como função de </a:t>
            </a:r>
            <a:r>
              <a:rPr lang="pt-BR" b="0" dirty="0">
                <a:solidFill>
                  <a:srgbClr val="FF0000"/>
                </a:solidFill>
              </a:rPr>
              <a:t>d</a:t>
            </a:r>
            <a:r>
              <a:rPr lang="pt-BR" b="0" baseline="30000" dirty="0">
                <a:solidFill>
                  <a:srgbClr val="FF0000"/>
                </a:solidFill>
              </a:rPr>
              <a:t>-X</a:t>
            </a:r>
            <a:r>
              <a:rPr lang="pt-BR" b="0" dirty="0">
                <a:solidFill>
                  <a:schemeClr val="tx1"/>
                </a:solidFill>
              </a:rPr>
              <a:t> para h constante.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pt-BR" b="0" dirty="0">
              <a:solidFill>
                <a:schemeClr val="tx1"/>
              </a:solidFill>
            </a:endParaRPr>
          </a:p>
        </p:txBody>
      </p:sp>
      <p:pic>
        <p:nvPicPr>
          <p:cNvPr id="16388" name="Picture 6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07" t="34805" r="53067" b="45271"/>
          <a:stretch>
            <a:fillRect/>
          </a:stretch>
        </p:blipFill>
        <p:spPr bwMode="auto">
          <a:xfrm>
            <a:off x="0" y="1916113"/>
            <a:ext cx="147637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687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049573"/>
              </p:ext>
            </p:extLst>
          </p:nvPr>
        </p:nvGraphicFramePr>
        <p:xfrm>
          <a:off x="3973513" y="2060575"/>
          <a:ext cx="14859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447" imgH="393529" progId="Equation.3">
                  <p:embed/>
                </p:oleObj>
              </mc:Choice>
              <mc:Fallback>
                <p:oleObj name="Equation" r:id="rId5" imgW="81244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513" y="2060575"/>
                        <a:ext cx="14859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Line 9"/>
          <p:cNvSpPr>
            <a:spLocks noChangeShapeType="1"/>
          </p:cNvSpPr>
          <p:nvPr/>
        </p:nvSpPr>
        <p:spPr bwMode="auto">
          <a:xfrm flipV="1">
            <a:off x="3924300" y="2636838"/>
            <a:ext cx="431800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16391" name="Text Box 10"/>
          <p:cNvSpPr txBox="1">
            <a:spLocks noChangeArrowheads="1"/>
          </p:cNvSpPr>
          <p:nvPr/>
        </p:nvSpPr>
        <p:spPr bwMode="auto">
          <a:xfrm>
            <a:off x="2484438" y="2060575"/>
            <a:ext cx="140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Eu escolho</a:t>
            </a:r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3563938" y="2420938"/>
            <a:ext cx="503237" cy="3603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6876" name="Line 12"/>
          <p:cNvSpPr>
            <a:spLocks noChangeShapeType="1"/>
          </p:cNvSpPr>
          <p:nvPr/>
        </p:nvSpPr>
        <p:spPr bwMode="auto">
          <a:xfrm>
            <a:off x="5435600" y="2565400"/>
            <a:ext cx="576263" cy="5032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6877" name="Text Box 13"/>
          <p:cNvSpPr txBox="1">
            <a:spLocks noChangeArrowheads="1"/>
          </p:cNvSpPr>
          <p:nvPr/>
        </p:nvSpPr>
        <p:spPr bwMode="auto">
          <a:xfrm>
            <a:off x="5724525" y="2349500"/>
            <a:ext cx="18605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O Excel calcula</a:t>
            </a:r>
          </a:p>
        </p:txBody>
      </p:sp>
      <p:sp>
        <p:nvSpPr>
          <p:cNvPr id="36878" name="Text Box 14"/>
          <p:cNvSpPr txBox="1">
            <a:spLocks noChangeArrowheads="1"/>
          </p:cNvSpPr>
          <p:nvPr/>
        </p:nvSpPr>
        <p:spPr bwMode="auto">
          <a:xfrm>
            <a:off x="8101013" y="4292600"/>
            <a:ext cx="793750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dirty="0">
                <a:solidFill>
                  <a:srgbClr val="FF0000"/>
                </a:solidFill>
              </a:rPr>
              <a:t>Muito</a:t>
            </a:r>
          </a:p>
          <a:p>
            <a:r>
              <a:rPr lang="pt-BR" dirty="0">
                <a:solidFill>
                  <a:srgbClr val="FF0000"/>
                </a:solidFill>
              </a:rPr>
              <a:t>bom!</a:t>
            </a:r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 flipH="1" flipV="1">
            <a:off x="7905750" y="4538663"/>
            <a:ext cx="215900" cy="730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6880" name="Text Box 16"/>
          <p:cNvSpPr txBox="1">
            <a:spLocks noChangeArrowheads="1"/>
          </p:cNvSpPr>
          <p:nvPr/>
        </p:nvSpPr>
        <p:spPr bwMode="auto">
          <a:xfrm>
            <a:off x="6804025" y="3716338"/>
            <a:ext cx="349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6881" name="Text Box 17"/>
          <p:cNvSpPr txBox="1">
            <a:spLocks noChangeArrowheads="1"/>
          </p:cNvSpPr>
          <p:nvPr/>
        </p:nvSpPr>
        <p:spPr bwMode="auto">
          <a:xfrm>
            <a:off x="8243888" y="3644900"/>
            <a:ext cx="3365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36882" name="Line 18"/>
          <p:cNvSpPr>
            <a:spLocks noChangeShapeType="1"/>
          </p:cNvSpPr>
          <p:nvPr/>
        </p:nvSpPr>
        <p:spPr bwMode="auto">
          <a:xfrm>
            <a:off x="7040563" y="4033838"/>
            <a:ext cx="215900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 flipH="1">
            <a:off x="7945438" y="3965575"/>
            <a:ext cx="360362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pic>
        <p:nvPicPr>
          <p:cNvPr id="16401" name="Picture 6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58" t="34805" r="33766" b="45435"/>
          <a:stretch>
            <a:fillRect/>
          </a:stretch>
        </p:blipFill>
        <p:spPr bwMode="auto">
          <a:xfrm>
            <a:off x="1474788" y="1916113"/>
            <a:ext cx="865187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40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971142"/>
              </p:ext>
            </p:extLst>
          </p:nvPr>
        </p:nvGraphicFramePr>
        <p:xfrm>
          <a:off x="-11113" y="3068638"/>
          <a:ext cx="4438651" cy="278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7" imgW="4438631" imgH="2781374" progId="Excel.Chart.8">
                  <p:embed/>
                </p:oleObj>
              </mc:Choice>
              <mc:Fallback>
                <p:oleObj name="Gráfico" r:id="rId7" imgW="4438631" imgH="2781374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113" y="3068638"/>
                        <a:ext cx="4438651" cy="278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457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6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6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36886" grpId="0"/>
      <p:bldP spid="36873" grpId="0" animBg="1"/>
      <p:bldP spid="36875" grpId="0" animBg="1"/>
      <p:bldP spid="36876" grpId="0" animBg="1"/>
      <p:bldP spid="36877" grpId="0"/>
      <p:bldP spid="36878" grpId="0"/>
      <p:bldP spid="36879" grpId="0" animBg="1"/>
      <p:bldP spid="36880" grpId="0"/>
      <p:bldP spid="36881" grpId="0"/>
      <p:bldP spid="36882" grpId="0" animBg="1"/>
      <p:bldP spid="3688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9" name="Rectangle 30"/>
          <p:cNvSpPr>
            <a:spLocks noChangeArrowheads="1"/>
          </p:cNvSpPr>
          <p:nvPr/>
        </p:nvSpPr>
        <p:spPr bwMode="auto">
          <a:xfrm>
            <a:off x="0" y="752475"/>
            <a:ext cx="9143999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chemeClr val="tx1"/>
                </a:solidFill>
              </a:rPr>
              <a:t>	Qual a relação entre t e d?</a:t>
            </a: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b="0" dirty="0">
                <a:solidFill>
                  <a:schemeClr val="tx1"/>
                </a:solidFill>
              </a:rPr>
              <a:t>	Estudando a relação de t como função de </a:t>
            </a:r>
            <a:r>
              <a:rPr lang="pt-BR" b="0" dirty="0">
                <a:solidFill>
                  <a:srgbClr val="FF0000"/>
                </a:solidFill>
              </a:rPr>
              <a:t>d</a:t>
            </a:r>
            <a:r>
              <a:rPr lang="pt-BR" b="0" baseline="30000" dirty="0">
                <a:solidFill>
                  <a:srgbClr val="FF0000"/>
                </a:solidFill>
              </a:rPr>
              <a:t>-X</a:t>
            </a:r>
            <a:r>
              <a:rPr lang="pt-BR" b="0" dirty="0">
                <a:solidFill>
                  <a:schemeClr val="tx1"/>
                </a:solidFill>
              </a:rPr>
              <a:t> para h constante.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pt-BR" b="0" dirty="0">
              <a:solidFill>
                <a:schemeClr val="tx1"/>
              </a:solidFill>
            </a:endParaRPr>
          </a:p>
        </p:txBody>
      </p:sp>
      <p:sp>
        <p:nvSpPr>
          <p:cNvPr id="13" name="Text Box 26"/>
          <p:cNvSpPr txBox="1">
            <a:spLocks noChangeArrowheads="1"/>
          </p:cNvSpPr>
          <p:nvPr/>
        </p:nvSpPr>
        <p:spPr bwMode="auto">
          <a:xfrm>
            <a:off x="7287020" y="2057967"/>
            <a:ext cx="1655763" cy="1123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sz="1400" b="0" dirty="0">
                <a:solidFill>
                  <a:schemeClr val="tx1"/>
                </a:solidFill>
              </a:rPr>
              <a:t>Índice de correlação</a:t>
            </a:r>
          </a:p>
          <a:p>
            <a:pPr algn="ctr"/>
            <a:r>
              <a:rPr lang="pt-BR" sz="1400" b="0" dirty="0">
                <a:solidFill>
                  <a:schemeClr val="tx1"/>
                </a:solidFill>
              </a:rPr>
              <a:t>(diz o quanto a equação sugerida está correta)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827712" y="5802878"/>
            <a:ext cx="15970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200" dirty="0">
                <a:solidFill>
                  <a:schemeClr val="tx1"/>
                </a:solidFill>
              </a:rPr>
              <a:t>t(d) = </a:t>
            </a:r>
            <a:r>
              <a:rPr lang="pt-BR" sz="2200" dirty="0" err="1">
                <a:solidFill>
                  <a:schemeClr val="tx1"/>
                </a:solidFill>
              </a:rPr>
              <a:t>C.d</a:t>
            </a:r>
            <a:r>
              <a:rPr lang="pt-BR" sz="2200" baseline="30000" dirty="0">
                <a:solidFill>
                  <a:schemeClr val="tx1"/>
                </a:solidFill>
              </a:rPr>
              <a:t>-X</a:t>
            </a:r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 rotWithShape="1">
          <a:blip r:embed="rId2"/>
          <a:srcRect l="11153" t="28994" r="37896" b="17187"/>
          <a:stretch/>
        </p:blipFill>
        <p:spPr>
          <a:xfrm>
            <a:off x="531812" y="2611589"/>
            <a:ext cx="5359400" cy="3182785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1621718" y="1978303"/>
            <a:ext cx="3179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Medidas experimentais</a:t>
            </a:r>
          </a:p>
        </p:txBody>
      </p:sp>
      <p:cxnSp>
        <p:nvCxnSpPr>
          <p:cNvPr id="17" name="Conector de seta reta 16"/>
          <p:cNvCxnSpPr>
            <a:stCxn id="16" idx="2"/>
          </p:cNvCxnSpPr>
          <p:nvPr/>
        </p:nvCxnSpPr>
        <p:spPr>
          <a:xfrm flipH="1">
            <a:off x="2286000" y="2439968"/>
            <a:ext cx="925512" cy="4842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16" idx="2"/>
          </p:cNvCxnSpPr>
          <p:nvPr/>
        </p:nvCxnSpPr>
        <p:spPr>
          <a:xfrm flipH="1">
            <a:off x="2286000" y="2439968"/>
            <a:ext cx="925512" cy="13486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16" idx="2"/>
          </p:cNvCxnSpPr>
          <p:nvPr/>
        </p:nvCxnSpPr>
        <p:spPr>
          <a:xfrm flipH="1">
            <a:off x="2659857" y="2439968"/>
            <a:ext cx="551655" cy="2360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/>
          <p:cNvCxnSpPr>
            <a:stCxn id="16" idx="2"/>
          </p:cNvCxnSpPr>
          <p:nvPr/>
        </p:nvCxnSpPr>
        <p:spPr>
          <a:xfrm>
            <a:off x="3211512" y="2439968"/>
            <a:ext cx="178198" cy="26527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4" idx="0"/>
          </p:cNvCxnSpPr>
          <p:nvPr/>
        </p:nvCxnSpPr>
        <p:spPr>
          <a:xfrm flipH="1" flipV="1">
            <a:off x="5232400" y="4597400"/>
            <a:ext cx="1393825" cy="12054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/>
          <p:cNvCxnSpPr>
            <a:stCxn id="14" idx="0"/>
          </p:cNvCxnSpPr>
          <p:nvPr/>
        </p:nvCxnSpPr>
        <p:spPr>
          <a:xfrm flipH="1" flipV="1">
            <a:off x="5143500" y="3962400"/>
            <a:ext cx="1482725" cy="18404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14" idx="0"/>
          </p:cNvCxnSpPr>
          <p:nvPr/>
        </p:nvCxnSpPr>
        <p:spPr>
          <a:xfrm flipH="1" flipV="1">
            <a:off x="5143500" y="3355975"/>
            <a:ext cx="1482725" cy="24469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/>
          <p:cNvCxnSpPr>
            <a:stCxn id="14" idx="0"/>
          </p:cNvCxnSpPr>
          <p:nvPr/>
        </p:nvCxnSpPr>
        <p:spPr>
          <a:xfrm flipH="1" flipV="1">
            <a:off x="5143500" y="2794000"/>
            <a:ext cx="1482725" cy="3008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Line 29"/>
          <p:cNvSpPr>
            <a:spLocks noChangeShapeType="1"/>
          </p:cNvSpPr>
          <p:nvPr/>
        </p:nvSpPr>
        <p:spPr bwMode="auto">
          <a:xfrm flipH="1">
            <a:off x="5613400" y="2655887"/>
            <a:ext cx="1811337" cy="2682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5787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0"/>
          <p:cNvSpPr>
            <a:spLocks noChangeArrowheads="1"/>
          </p:cNvSpPr>
          <p:nvPr/>
        </p:nvSpPr>
        <p:spPr bwMode="auto">
          <a:xfrm>
            <a:off x="0" y="752475"/>
            <a:ext cx="9143999" cy="1031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chemeClr val="tx1"/>
                </a:solidFill>
              </a:rPr>
              <a:t>	Qual a relação entre t e d?</a:t>
            </a: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b="0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15" name="Rectangle 30"/>
          <p:cNvSpPr>
            <a:spLocks noChangeArrowheads="1"/>
          </p:cNvSpPr>
          <p:nvPr/>
        </p:nvSpPr>
        <p:spPr bwMode="auto">
          <a:xfrm>
            <a:off x="0" y="752475"/>
            <a:ext cx="9143999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chemeClr val="tx1"/>
                </a:solidFill>
              </a:rPr>
              <a:t>	Qual a relação entre t e d?</a:t>
            </a: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  <a:p>
            <a:pPr algn="just" eaLnBrk="1" hangingPunct="1"/>
            <a:r>
              <a:rPr lang="pt-BR" b="0" dirty="0">
                <a:solidFill>
                  <a:schemeClr val="tx1"/>
                </a:solidFill>
              </a:rPr>
              <a:t>	t é inversamente proporcional ao quadrado de d.</a:t>
            </a:r>
          </a:p>
          <a:p>
            <a:pPr lvl="1" algn="just">
              <a:buFont typeface="Arial" panose="020B0604020202020204" pitchFamily="34" charset="0"/>
              <a:buChar char="•"/>
            </a:pPr>
            <a:endParaRPr lang="pt-BR" b="0" dirty="0">
              <a:solidFill>
                <a:schemeClr val="tx1"/>
              </a:solidFill>
            </a:endParaRPr>
          </a:p>
        </p:txBody>
      </p:sp>
      <p:pic>
        <p:nvPicPr>
          <p:cNvPr id="28" name="Imagem 27"/>
          <p:cNvPicPr>
            <a:picLocks noChangeAspect="1"/>
          </p:cNvPicPr>
          <p:nvPr/>
        </p:nvPicPr>
        <p:blipFill rotWithShape="1">
          <a:blip r:embed="rId2"/>
          <a:srcRect l="11153" t="28994" r="37896" b="17187"/>
          <a:stretch/>
        </p:blipFill>
        <p:spPr>
          <a:xfrm>
            <a:off x="0" y="1887689"/>
            <a:ext cx="7000713" cy="4157511"/>
          </a:xfrm>
          <a:prstGeom prst="rect">
            <a:avLst/>
          </a:prstGeom>
        </p:spPr>
      </p:pic>
      <p:sp>
        <p:nvSpPr>
          <p:cNvPr id="49" name="Elipse 48"/>
          <p:cNvSpPr/>
          <p:nvPr/>
        </p:nvSpPr>
        <p:spPr>
          <a:xfrm>
            <a:off x="6313489" y="1862289"/>
            <a:ext cx="611024" cy="254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/>
          <p:cNvSpPr/>
          <p:nvPr/>
        </p:nvSpPr>
        <p:spPr>
          <a:xfrm>
            <a:off x="6313489" y="2663870"/>
            <a:ext cx="611024" cy="254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Elipse 50"/>
          <p:cNvSpPr/>
          <p:nvPr/>
        </p:nvSpPr>
        <p:spPr>
          <a:xfrm>
            <a:off x="6313489" y="3476670"/>
            <a:ext cx="611024" cy="254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6313489" y="4238670"/>
            <a:ext cx="611024" cy="254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Text Box 14"/>
          <p:cNvSpPr txBox="1">
            <a:spLocks noChangeArrowheads="1"/>
          </p:cNvSpPr>
          <p:nvPr/>
        </p:nvSpPr>
        <p:spPr bwMode="auto">
          <a:xfrm>
            <a:off x="7273843" y="5419770"/>
            <a:ext cx="15970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200" dirty="0">
                <a:solidFill>
                  <a:schemeClr val="tx1"/>
                </a:solidFill>
              </a:rPr>
              <a:t>t(d) = </a:t>
            </a:r>
            <a:r>
              <a:rPr lang="pt-BR" sz="2200" dirty="0" err="1">
                <a:solidFill>
                  <a:schemeClr val="tx1"/>
                </a:solidFill>
              </a:rPr>
              <a:t>C.d</a:t>
            </a:r>
            <a:r>
              <a:rPr lang="pt-BR" sz="2200" baseline="30000" dirty="0">
                <a:solidFill>
                  <a:schemeClr val="tx1"/>
                </a:solidFill>
              </a:rPr>
              <a:t>-X</a:t>
            </a:r>
          </a:p>
        </p:txBody>
      </p:sp>
      <p:cxnSp>
        <p:nvCxnSpPr>
          <p:cNvPr id="55" name="Conector de seta reta 54"/>
          <p:cNvCxnSpPr>
            <a:endCxn id="52" idx="6"/>
          </p:cNvCxnSpPr>
          <p:nvPr/>
        </p:nvCxnSpPr>
        <p:spPr>
          <a:xfrm flipH="1" flipV="1">
            <a:off x="6924513" y="4365670"/>
            <a:ext cx="1724187" cy="10541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/>
          <p:cNvCxnSpPr>
            <a:endCxn id="51" idx="5"/>
          </p:cNvCxnSpPr>
          <p:nvPr/>
        </p:nvCxnSpPr>
        <p:spPr>
          <a:xfrm flipH="1" flipV="1">
            <a:off x="6835031" y="3693473"/>
            <a:ext cx="1813669" cy="17262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de seta reta 58"/>
          <p:cNvCxnSpPr/>
          <p:nvPr/>
        </p:nvCxnSpPr>
        <p:spPr>
          <a:xfrm flipH="1" flipV="1">
            <a:off x="6835031" y="2917870"/>
            <a:ext cx="1813669" cy="2501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>
            <a:endCxn id="49" idx="5"/>
          </p:cNvCxnSpPr>
          <p:nvPr/>
        </p:nvCxnSpPr>
        <p:spPr>
          <a:xfrm flipH="1" flipV="1">
            <a:off x="6835031" y="2079092"/>
            <a:ext cx="1813669" cy="33406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 Box 14"/>
          <p:cNvSpPr txBox="1">
            <a:spLocks noChangeArrowheads="1"/>
          </p:cNvSpPr>
          <p:nvPr/>
        </p:nvSpPr>
        <p:spPr bwMode="auto">
          <a:xfrm>
            <a:off x="7388900" y="6003012"/>
            <a:ext cx="795411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200" dirty="0">
                <a:solidFill>
                  <a:srgbClr val="FF0000"/>
                </a:solidFill>
              </a:rPr>
              <a:t>x</a:t>
            </a:r>
            <a:r>
              <a:rPr lang="pt-BR" sz="2200" baseline="30000" dirty="0">
                <a:solidFill>
                  <a:srgbClr val="FF0000"/>
                </a:solidFill>
              </a:rPr>
              <a:t> </a:t>
            </a:r>
            <a:r>
              <a:rPr lang="pt-BR" sz="2200" dirty="0">
                <a:solidFill>
                  <a:srgbClr val="FF0000"/>
                </a:solidFill>
              </a:rPr>
              <a:t>= 2</a:t>
            </a:r>
            <a:endParaRPr lang="pt-BR" sz="2200" baseline="3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647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0" y="752475"/>
            <a:ext cx="9144000" cy="1031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chemeClr val="tx1"/>
                </a:solidFill>
              </a:rPr>
              <a:t>	Qual a relação entre C(h) e h?</a:t>
            </a:r>
          </a:p>
          <a:p>
            <a:pPr algn="just" eaLnBrk="1" hangingPunct="1"/>
            <a:r>
              <a:rPr lang="pt-BR" b="0" dirty="0">
                <a:solidFill>
                  <a:schemeClr val="tx1"/>
                </a:solidFill>
              </a:rPr>
              <a:t>	</a:t>
            </a:r>
          </a:p>
          <a:p>
            <a:pPr algn="just" eaLnBrk="1" hangingPunct="1"/>
            <a:r>
              <a:rPr lang="pt-BR" b="0" dirty="0">
                <a:solidFill>
                  <a:schemeClr val="tx1"/>
                </a:solidFill>
              </a:rPr>
              <a:t>	Vamos descobrir...</a:t>
            </a: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 rotWithShape="1">
          <a:blip r:embed="rId2"/>
          <a:srcRect l="11153" t="28994" r="37896" b="17187"/>
          <a:stretch/>
        </p:blipFill>
        <p:spPr>
          <a:xfrm>
            <a:off x="0" y="2167089"/>
            <a:ext cx="5674833" cy="3370111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/>
        </p:nvPicPr>
        <p:blipFill rotWithShape="1">
          <a:blip r:embed="rId3"/>
          <a:srcRect l="51952" t="21007" r="33895" b="57986"/>
          <a:stretch/>
        </p:blipFill>
        <p:spPr>
          <a:xfrm>
            <a:off x="6129309" y="2167088"/>
            <a:ext cx="2379691" cy="198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81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3"/>
          <p:cNvSpPr>
            <a:spLocks noChangeArrowheads="1"/>
          </p:cNvSpPr>
          <p:nvPr/>
        </p:nvSpPr>
        <p:spPr bwMode="auto">
          <a:xfrm>
            <a:off x="0" y="752475"/>
            <a:ext cx="9144000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chemeClr val="tx1"/>
                </a:solidFill>
              </a:rPr>
              <a:t>	Qual a relação entre C(h) e h?</a:t>
            </a:r>
          </a:p>
        </p:txBody>
      </p: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3779838" y="2205038"/>
            <a:ext cx="2306637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C(h) = a.h</a:t>
            </a:r>
            <a:r>
              <a:rPr lang="pt-BR" baseline="30000">
                <a:solidFill>
                  <a:schemeClr val="tx1"/>
                </a:solidFill>
              </a:rPr>
              <a:t>2</a:t>
            </a:r>
            <a:r>
              <a:rPr lang="pt-BR">
                <a:solidFill>
                  <a:schemeClr val="tx1"/>
                </a:solidFill>
              </a:rPr>
              <a:t> + b.h + c</a:t>
            </a:r>
          </a:p>
        </p:txBody>
      </p:sp>
      <p:sp>
        <p:nvSpPr>
          <p:cNvPr id="39946" name="Text Box 10"/>
          <p:cNvSpPr txBox="1">
            <a:spLocks noChangeArrowheads="1"/>
          </p:cNvSpPr>
          <p:nvPr/>
        </p:nvSpPr>
        <p:spPr bwMode="auto">
          <a:xfrm>
            <a:off x="2176463" y="2317750"/>
            <a:ext cx="14033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Eu escolho</a:t>
            </a:r>
          </a:p>
        </p:txBody>
      </p:sp>
      <p:sp>
        <p:nvSpPr>
          <p:cNvPr id="39947" name="Line 11"/>
          <p:cNvSpPr>
            <a:spLocks noChangeShapeType="1"/>
          </p:cNvSpPr>
          <p:nvPr/>
        </p:nvSpPr>
        <p:spPr bwMode="auto">
          <a:xfrm>
            <a:off x="3492500" y="2636838"/>
            <a:ext cx="503238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9950" name="Text Box 14"/>
          <p:cNvSpPr txBox="1">
            <a:spLocks noChangeArrowheads="1"/>
          </p:cNvSpPr>
          <p:nvPr/>
        </p:nvSpPr>
        <p:spPr bwMode="auto">
          <a:xfrm>
            <a:off x="6516688" y="2276475"/>
            <a:ext cx="18605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O Excel calcula</a:t>
            </a:r>
          </a:p>
        </p:txBody>
      </p:sp>
      <p:sp>
        <p:nvSpPr>
          <p:cNvPr id="39951" name="Line 15"/>
          <p:cNvSpPr>
            <a:spLocks noChangeShapeType="1"/>
          </p:cNvSpPr>
          <p:nvPr/>
        </p:nvSpPr>
        <p:spPr bwMode="auto">
          <a:xfrm flipH="1">
            <a:off x="6300788" y="2636838"/>
            <a:ext cx="431800" cy="2159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54783" t="40451" r="8809" b="21528"/>
          <a:stretch/>
        </p:blipFill>
        <p:spPr>
          <a:xfrm>
            <a:off x="77787" y="3509964"/>
            <a:ext cx="4367213" cy="2564127"/>
          </a:xfrm>
          <a:prstGeom prst="rect">
            <a:avLst/>
          </a:prstGeom>
        </p:spPr>
      </p:pic>
      <p:pic>
        <p:nvPicPr>
          <p:cNvPr id="21507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1" t="50266" r="83055" b="38724"/>
          <a:stretch/>
        </p:blipFill>
        <p:spPr bwMode="auto">
          <a:xfrm>
            <a:off x="103078" y="1432731"/>
            <a:ext cx="1885889" cy="121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4"/>
          <a:srcRect l="48732" t="40625" r="14567" b="21701"/>
          <a:stretch/>
        </p:blipFill>
        <p:spPr>
          <a:xfrm>
            <a:off x="4723606" y="3521729"/>
            <a:ext cx="4402138" cy="2540595"/>
          </a:xfrm>
          <a:prstGeom prst="rect">
            <a:avLst/>
          </a:prstGeom>
        </p:spPr>
      </p:pic>
      <p:sp>
        <p:nvSpPr>
          <p:cNvPr id="39945" name="Line 9"/>
          <p:cNvSpPr>
            <a:spLocks noChangeShapeType="1"/>
          </p:cNvSpPr>
          <p:nvPr/>
        </p:nvSpPr>
        <p:spPr bwMode="auto">
          <a:xfrm flipV="1">
            <a:off x="2679701" y="2563812"/>
            <a:ext cx="1892300" cy="13001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9949" name="Line 13"/>
          <p:cNvSpPr>
            <a:spLocks noChangeShapeType="1"/>
          </p:cNvSpPr>
          <p:nvPr/>
        </p:nvSpPr>
        <p:spPr bwMode="auto">
          <a:xfrm>
            <a:off x="5795962" y="2492375"/>
            <a:ext cx="1375569" cy="1447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9952" name="Text Box 16"/>
          <p:cNvSpPr txBox="1">
            <a:spLocks noChangeArrowheads="1"/>
          </p:cNvSpPr>
          <p:nvPr/>
        </p:nvSpPr>
        <p:spPr bwMode="auto">
          <a:xfrm>
            <a:off x="6424613" y="3835400"/>
            <a:ext cx="3111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39953" name="Line 17"/>
          <p:cNvSpPr>
            <a:spLocks noChangeShapeType="1"/>
          </p:cNvSpPr>
          <p:nvPr/>
        </p:nvSpPr>
        <p:spPr bwMode="auto">
          <a:xfrm>
            <a:off x="6659563" y="4152900"/>
            <a:ext cx="354806" cy="316846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9954" name="Text Box 18"/>
          <p:cNvSpPr txBox="1">
            <a:spLocks noChangeArrowheads="1"/>
          </p:cNvSpPr>
          <p:nvPr/>
        </p:nvSpPr>
        <p:spPr bwMode="auto">
          <a:xfrm>
            <a:off x="7429500" y="3794125"/>
            <a:ext cx="3238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9955" name="Text Box 19"/>
          <p:cNvSpPr txBox="1">
            <a:spLocks noChangeArrowheads="1"/>
          </p:cNvSpPr>
          <p:nvPr/>
        </p:nvSpPr>
        <p:spPr bwMode="auto">
          <a:xfrm>
            <a:off x="8148638" y="3794125"/>
            <a:ext cx="3111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9956" name="Line 20"/>
          <p:cNvSpPr>
            <a:spLocks noChangeShapeType="1"/>
          </p:cNvSpPr>
          <p:nvPr/>
        </p:nvSpPr>
        <p:spPr bwMode="auto">
          <a:xfrm>
            <a:off x="7596188" y="4152900"/>
            <a:ext cx="157162" cy="316846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9957" name="Line 21"/>
          <p:cNvSpPr>
            <a:spLocks noChangeShapeType="1"/>
          </p:cNvSpPr>
          <p:nvPr/>
        </p:nvSpPr>
        <p:spPr bwMode="auto">
          <a:xfrm>
            <a:off x="8316913" y="4081463"/>
            <a:ext cx="119857" cy="38828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39958" name="Text Box 22"/>
          <p:cNvSpPr txBox="1">
            <a:spLocks noChangeArrowheads="1"/>
          </p:cNvSpPr>
          <p:nvPr/>
        </p:nvSpPr>
        <p:spPr bwMode="auto">
          <a:xfrm>
            <a:off x="7793038" y="3403600"/>
            <a:ext cx="7112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>
                <a:solidFill>
                  <a:schemeClr val="tx1"/>
                </a:solidFill>
              </a:rPr>
              <a:t>x = h</a:t>
            </a:r>
          </a:p>
        </p:txBody>
      </p:sp>
      <p:sp>
        <p:nvSpPr>
          <p:cNvPr id="39959" name="Text Box 23"/>
          <p:cNvSpPr txBox="1">
            <a:spLocks noChangeArrowheads="1"/>
          </p:cNvSpPr>
          <p:nvPr/>
        </p:nvSpPr>
        <p:spPr bwMode="auto">
          <a:xfrm>
            <a:off x="6169025" y="5167314"/>
            <a:ext cx="14160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dirty="0">
                <a:solidFill>
                  <a:schemeClr val="tx1"/>
                </a:solidFill>
              </a:rPr>
              <a:t>Muito bom!</a:t>
            </a:r>
          </a:p>
        </p:txBody>
      </p:sp>
      <p:sp>
        <p:nvSpPr>
          <p:cNvPr id="39961" name="Line 25"/>
          <p:cNvSpPr>
            <a:spLocks noChangeShapeType="1"/>
          </p:cNvSpPr>
          <p:nvPr/>
        </p:nvSpPr>
        <p:spPr bwMode="auto">
          <a:xfrm flipV="1">
            <a:off x="7092950" y="4889350"/>
            <a:ext cx="503238" cy="31367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361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9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3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/>
      <p:bldP spid="39946" grpId="0"/>
      <p:bldP spid="39947" grpId="0" animBg="1"/>
      <p:bldP spid="39950" grpId="0"/>
      <p:bldP spid="39951" grpId="0" animBg="1"/>
      <p:bldP spid="39945" grpId="0" animBg="1"/>
      <p:bldP spid="39949" grpId="0" animBg="1"/>
      <p:bldP spid="39952" grpId="0"/>
      <p:bldP spid="39953" grpId="0" animBg="1"/>
      <p:bldP spid="39954" grpId="0"/>
      <p:bldP spid="39955" grpId="0"/>
      <p:bldP spid="39956" grpId="0" animBg="1"/>
      <p:bldP spid="39957" grpId="0" animBg="1"/>
      <p:bldP spid="39958" grpId="0"/>
      <p:bldP spid="39959" grpId="0"/>
      <p:bldP spid="3996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3"/>
          <p:cNvSpPr>
            <a:spLocks noChangeArrowheads="1"/>
          </p:cNvSpPr>
          <p:nvPr/>
        </p:nvSpPr>
        <p:spPr bwMode="auto">
          <a:xfrm>
            <a:off x="0" y="752475"/>
            <a:ext cx="9143999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chemeClr val="tx1"/>
                </a:solidFill>
              </a:rPr>
              <a:t>	Qual a relação entre C(h) e h?</a:t>
            </a:r>
          </a:p>
          <a:p>
            <a:pPr algn="just" eaLnBrk="1" hangingPunct="1">
              <a:lnSpc>
                <a:spcPct val="150000"/>
              </a:lnSpc>
            </a:pPr>
            <a:r>
              <a:rPr lang="pt-BR" b="0" dirty="0">
                <a:solidFill>
                  <a:schemeClr val="tx1"/>
                </a:solidFill>
              </a:rPr>
              <a:t>	Estudando a relação </a:t>
            </a:r>
            <a:r>
              <a:rPr lang="pt-BR" b="0" dirty="0">
                <a:solidFill>
                  <a:srgbClr val="FF0000"/>
                </a:solidFill>
              </a:rPr>
              <a:t>C(h) x h </a:t>
            </a:r>
            <a:r>
              <a:rPr lang="pt-BR" b="0" dirty="0">
                <a:solidFill>
                  <a:schemeClr val="tx1"/>
                </a:solidFill>
              </a:rPr>
              <a:t>para </a:t>
            </a:r>
            <a:r>
              <a:rPr lang="pt-BR" b="0" dirty="0">
                <a:solidFill>
                  <a:srgbClr val="FF0000"/>
                </a:solidFill>
              </a:rPr>
              <a:t>d</a:t>
            </a:r>
            <a:r>
              <a:rPr lang="pt-BR" b="0" dirty="0">
                <a:solidFill>
                  <a:schemeClr val="tx1"/>
                </a:solidFill>
              </a:rPr>
              <a:t> constante. Observando o gráfico seguinte percebe-se que C(h) é uma função de segundo grau em h.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2"/>
          <a:srcRect l="51952" t="21007" r="33895" b="57986"/>
          <a:stretch/>
        </p:blipFill>
        <p:spPr>
          <a:xfrm>
            <a:off x="6129309" y="2167088"/>
            <a:ext cx="1973291" cy="1646677"/>
          </a:xfrm>
          <a:prstGeom prst="rect">
            <a:avLst/>
          </a:prstGeom>
        </p:spPr>
      </p:pic>
      <p:sp>
        <p:nvSpPr>
          <p:cNvPr id="22532" name="Text Box 15"/>
          <p:cNvSpPr txBox="1">
            <a:spLocks noChangeArrowheads="1"/>
          </p:cNvSpPr>
          <p:nvPr/>
        </p:nvSpPr>
        <p:spPr bwMode="auto">
          <a:xfrm>
            <a:off x="5508625" y="5006975"/>
            <a:ext cx="363537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b="0" dirty="0">
                <a:solidFill>
                  <a:schemeClr val="tx1"/>
                </a:solidFill>
              </a:rPr>
              <a:t>	A análise da curva de C(h) x h fornece a seguinte equação:</a:t>
            </a:r>
          </a:p>
        </p:txBody>
      </p:sp>
      <p:sp>
        <p:nvSpPr>
          <p:cNvPr id="22533" name="Rectangle 17"/>
          <p:cNvSpPr>
            <a:spLocks noChangeArrowheads="1"/>
          </p:cNvSpPr>
          <p:nvPr/>
        </p:nvSpPr>
        <p:spPr bwMode="auto">
          <a:xfrm>
            <a:off x="53975" y="5516563"/>
            <a:ext cx="395653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pt-BR" b="0" dirty="0">
                <a:solidFill>
                  <a:schemeClr val="tx1"/>
                </a:solidFill>
              </a:rPr>
              <a:t>C(h) = -0,1485h</a:t>
            </a:r>
            <a:r>
              <a:rPr lang="pt-BR" b="0" baseline="30000" dirty="0">
                <a:solidFill>
                  <a:schemeClr val="tx1"/>
                </a:solidFill>
              </a:rPr>
              <a:t>2</a:t>
            </a:r>
            <a:r>
              <a:rPr lang="pt-BR" b="0" dirty="0">
                <a:solidFill>
                  <a:schemeClr val="tx1"/>
                </a:solidFill>
              </a:rPr>
              <a:t> + 9,3049h + 22,328</a:t>
            </a: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3"/>
          <a:srcRect l="48732" t="40625" r="14567" b="21701"/>
          <a:stretch/>
        </p:blipFill>
        <p:spPr>
          <a:xfrm>
            <a:off x="-1" y="2167088"/>
            <a:ext cx="5421353" cy="312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89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"/>
          <p:cNvSpPr>
            <a:spLocks noChangeArrowheads="1"/>
          </p:cNvSpPr>
          <p:nvPr/>
        </p:nvSpPr>
        <p:spPr bwMode="auto">
          <a:xfrm>
            <a:off x="0" y="752475"/>
            <a:ext cx="9143999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chemeClr val="tx1"/>
                </a:solidFill>
              </a:rPr>
              <a:t>	Temos então:</a:t>
            </a: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  <a:p>
            <a:pPr algn="just" eaLnBrk="1" hangingPunct="1"/>
            <a:endParaRPr lang="pt-BR" b="0" dirty="0">
              <a:solidFill>
                <a:schemeClr val="tx1"/>
              </a:solidFill>
            </a:endParaRPr>
          </a:p>
        </p:txBody>
      </p:sp>
      <p:sp>
        <p:nvSpPr>
          <p:cNvPr id="23558" name="Rectangle 34"/>
          <p:cNvSpPr>
            <a:spLocks noChangeArrowheads="1"/>
          </p:cNvSpPr>
          <p:nvPr/>
        </p:nvSpPr>
        <p:spPr bwMode="auto">
          <a:xfrm>
            <a:off x="611188" y="5076825"/>
            <a:ext cx="2000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marL="342900" indent="-3429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349375" indent="-1349375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/>
            <a:r>
              <a:rPr lang="pt-BR" b="0">
                <a:solidFill>
                  <a:schemeClr val="tx1"/>
                </a:solidFill>
              </a:rPr>
              <a:t>t(d)=C(h).d</a:t>
            </a:r>
            <a:r>
              <a:rPr lang="pt-BR" b="0" baseline="30000">
                <a:solidFill>
                  <a:schemeClr val="tx1"/>
                </a:solidFill>
              </a:rPr>
              <a:t>−2</a:t>
            </a:r>
          </a:p>
        </p:txBody>
      </p:sp>
      <p:sp>
        <p:nvSpPr>
          <p:cNvPr id="23559" name="Rectangle 34"/>
          <p:cNvSpPr>
            <a:spLocks noChangeArrowheads="1"/>
          </p:cNvSpPr>
          <p:nvPr/>
        </p:nvSpPr>
        <p:spPr bwMode="auto">
          <a:xfrm>
            <a:off x="4191000" y="5045075"/>
            <a:ext cx="49530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 marL="342900" indent="-3429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1349375" indent="-1349375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/>
            <a:r>
              <a:rPr lang="pt-BR" b="0" dirty="0">
                <a:solidFill>
                  <a:srgbClr val="FF0000"/>
                </a:solidFill>
              </a:rPr>
              <a:t>t(</a:t>
            </a:r>
            <a:r>
              <a:rPr lang="pt-BR" b="0" dirty="0" err="1">
                <a:solidFill>
                  <a:srgbClr val="FF0000"/>
                </a:solidFill>
              </a:rPr>
              <a:t>d,h</a:t>
            </a:r>
            <a:r>
              <a:rPr lang="pt-BR" b="0" dirty="0">
                <a:solidFill>
                  <a:srgbClr val="FF0000"/>
                </a:solidFill>
              </a:rPr>
              <a:t>)= </a:t>
            </a:r>
            <a:r>
              <a:rPr lang="pt-BR" b="0" dirty="0">
                <a:solidFill>
                  <a:srgbClr val="FF0000"/>
                </a:solidFill>
                <a:cs typeface="Arial" panose="020B0604020202020204" pitchFamily="34" charset="0"/>
                <a:sym typeface="Symbol" panose="05050102010706020507" pitchFamily="18" charset="2"/>
              </a:rPr>
              <a:t>−</a:t>
            </a:r>
            <a:r>
              <a:rPr lang="pt-BR" b="0" dirty="0">
                <a:solidFill>
                  <a:srgbClr val="FF0000"/>
                </a:solidFill>
              </a:rPr>
              <a:t>0,1485h</a:t>
            </a:r>
            <a:r>
              <a:rPr lang="pt-BR" b="0" baseline="30000" dirty="0">
                <a:solidFill>
                  <a:srgbClr val="FF0000"/>
                </a:solidFill>
              </a:rPr>
              <a:t>2</a:t>
            </a:r>
            <a:r>
              <a:rPr lang="pt-BR" b="0" dirty="0">
                <a:solidFill>
                  <a:srgbClr val="FF0000"/>
                </a:solidFill>
              </a:rPr>
              <a:t>/d</a:t>
            </a:r>
            <a:r>
              <a:rPr lang="pt-BR" b="0" baseline="30000" dirty="0">
                <a:solidFill>
                  <a:srgbClr val="FF0000"/>
                </a:solidFill>
              </a:rPr>
              <a:t>2</a:t>
            </a:r>
            <a:r>
              <a:rPr lang="pt-BR" b="0" dirty="0">
                <a:solidFill>
                  <a:srgbClr val="FF0000"/>
                </a:solidFill>
              </a:rPr>
              <a:t>+ 9,3049h/d</a:t>
            </a:r>
            <a:r>
              <a:rPr lang="pt-BR" b="0" baseline="30000" dirty="0">
                <a:solidFill>
                  <a:srgbClr val="FF0000"/>
                </a:solidFill>
              </a:rPr>
              <a:t>2</a:t>
            </a:r>
            <a:r>
              <a:rPr lang="pt-BR" b="0" dirty="0">
                <a:solidFill>
                  <a:srgbClr val="FF0000"/>
                </a:solidFill>
              </a:rPr>
              <a:t> + 22,328/d</a:t>
            </a:r>
            <a:r>
              <a:rPr lang="pt-BR" b="0" baseline="30000" dirty="0">
                <a:solidFill>
                  <a:srgbClr val="FF0000"/>
                </a:solidFill>
              </a:rPr>
              <a:t>2</a:t>
            </a:r>
            <a:r>
              <a:rPr lang="pt-BR" b="0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23560" name="Line 16"/>
          <p:cNvSpPr>
            <a:spLocks noChangeShapeType="1"/>
          </p:cNvSpPr>
          <p:nvPr/>
        </p:nvSpPr>
        <p:spPr bwMode="auto">
          <a:xfrm flipV="1">
            <a:off x="2098675" y="5294313"/>
            <a:ext cx="185102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sp>
        <p:nvSpPr>
          <p:cNvPr id="23561" name="Line 17"/>
          <p:cNvSpPr>
            <a:spLocks noChangeShapeType="1"/>
          </p:cNvSpPr>
          <p:nvPr/>
        </p:nvSpPr>
        <p:spPr bwMode="auto">
          <a:xfrm flipV="1">
            <a:off x="3251200" y="5311775"/>
            <a:ext cx="0" cy="2873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bIns="0"/>
          <a:lstStyle/>
          <a:p>
            <a:endParaRPr lang="pt-BR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2"/>
          <a:srcRect l="48732" t="40625" r="14567" b="21701"/>
          <a:stretch/>
        </p:blipFill>
        <p:spPr>
          <a:xfrm>
            <a:off x="5059222" y="1694656"/>
            <a:ext cx="4084778" cy="2357438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 rotWithShape="1">
          <a:blip r:embed="rId3"/>
          <a:srcRect l="11153" t="28994" r="37896" b="17187"/>
          <a:stretch/>
        </p:blipFill>
        <p:spPr>
          <a:xfrm>
            <a:off x="0" y="1694656"/>
            <a:ext cx="4716463" cy="2800964"/>
          </a:xfrm>
          <a:prstGeom prst="rect">
            <a:avLst/>
          </a:prstGeom>
        </p:spPr>
      </p:pic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4716463" y="2779176"/>
            <a:ext cx="425116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pt-BR" sz="3200" b="0" dirty="0">
                <a:solidFill>
                  <a:schemeClr val="tx1"/>
                </a:solidFill>
              </a:rPr>
              <a:t>+</a:t>
            </a: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1272934" y="5655540"/>
            <a:ext cx="395653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pt-BR" b="0" dirty="0">
                <a:solidFill>
                  <a:schemeClr val="tx1"/>
                </a:solidFill>
              </a:rPr>
              <a:t>C(h) = -0,1485h</a:t>
            </a:r>
            <a:r>
              <a:rPr lang="pt-BR" b="0" baseline="30000" dirty="0">
                <a:solidFill>
                  <a:schemeClr val="tx1"/>
                </a:solidFill>
              </a:rPr>
              <a:t>2</a:t>
            </a:r>
            <a:r>
              <a:rPr lang="pt-BR" b="0" dirty="0">
                <a:solidFill>
                  <a:schemeClr val="tx1"/>
                </a:solidFill>
              </a:rPr>
              <a:t> + 9,3049h + 22,328</a:t>
            </a:r>
          </a:p>
        </p:txBody>
      </p:sp>
    </p:spTree>
    <p:extLst>
      <p:ext uri="{BB962C8B-B14F-4D97-AF65-F5344CB8AC3E}">
        <p14:creationId xmlns:p14="http://schemas.microsoft.com/office/powerpoint/2010/main" val="1800638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"/>
          <p:cNvSpPr>
            <a:spLocks noChangeArrowheads="1"/>
          </p:cNvSpPr>
          <p:nvPr/>
        </p:nvSpPr>
        <p:spPr bwMode="auto">
          <a:xfrm>
            <a:off x="1" y="752475"/>
            <a:ext cx="9144000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pt-BR" sz="2800" dirty="0">
                <a:solidFill>
                  <a:srgbClr val="FF0000"/>
                </a:solidFill>
              </a:rPr>
              <a:t>	Discussão:</a:t>
            </a:r>
          </a:p>
          <a:p>
            <a:pPr algn="just" eaLnBrk="1" hangingPunct="1"/>
            <a:r>
              <a:rPr lang="pt-BR" b="0" dirty="0"/>
              <a:t>	</a:t>
            </a:r>
            <a:r>
              <a:rPr lang="pt-BR" b="0" dirty="0">
                <a:solidFill>
                  <a:schemeClr val="tx1"/>
                </a:solidFill>
              </a:rPr>
              <a:t>As tabelas abaixo apresentam em (a) os resultados experimentais e em (b) os valores gerados pela equação obtida no item anterior. Como pode-se observar os valores dados pela equação estão de acordo com os valores experimentais.</a:t>
            </a:r>
          </a:p>
        </p:txBody>
      </p:sp>
      <p:sp>
        <p:nvSpPr>
          <p:cNvPr id="24579" name="Rectangle 34"/>
          <p:cNvSpPr>
            <a:spLocks noChangeArrowheads="1"/>
          </p:cNvSpPr>
          <p:nvPr/>
        </p:nvSpPr>
        <p:spPr bwMode="auto">
          <a:xfrm>
            <a:off x="34925" y="4491038"/>
            <a:ext cx="91090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bIns="0">
            <a:spAutoFit/>
          </a:bodyPr>
          <a:lstStyle>
            <a:lvl1pPr marL="342900" indent="-3429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355600" indent="-355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/>
            <a:r>
              <a:rPr lang="pt-BR" dirty="0">
                <a:solidFill>
                  <a:schemeClr val="tx1"/>
                </a:solidFill>
              </a:rPr>
              <a:t>Reconstruindo a tabela, utilizando o valor calculado pela formula:  </a:t>
            </a:r>
            <a:r>
              <a:rPr lang="pt-BR" b="0" dirty="0">
                <a:solidFill>
                  <a:schemeClr val="tx1"/>
                </a:solidFill>
              </a:rPr>
              <a:t>t(</a:t>
            </a:r>
            <a:r>
              <a:rPr lang="pt-BR" b="0" dirty="0" err="1">
                <a:solidFill>
                  <a:schemeClr val="tx1"/>
                </a:solidFill>
              </a:rPr>
              <a:t>d,h</a:t>
            </a:r>
            <a:r>
              <a:rPr lang="pt-BR" b="0" dirty="0">
                <a:solidFill>
                  <a:schemeClr val="tx1"/>
                </a:solidFill>
              </a:rPr>
              <a:t>)=C(h)/d</a:t>
            </a:r>
            <a:r>
              <a:rPr lang="pt-BR" b="0" baseline="30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581" name="Rectangle 34"/>
          <p:cNvSpPr>
            <a:spLocks noChangeArrowheads="1"/>
          </p:cNvSpPr>
          <p:nvPr/>
        </p:nvSpPr>
        <p:spPr bwMode="auto">
          <a:xfrm>
            <a:off x="41275" y="2097088"/>
            <a:ext cx="83470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>
            <a:spAutoFit/>
          </a:bodyPr>
          <a:lstStyle>
            <a:lvl1pPr marL="342900" indent="-3429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355600" indent="-355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lvl="1" algn="just"/>
            <a:r>
              <a:rPr lang="pt-BR" dirty="0">
                <a:solidFill>
                  <a:schemeClr val="tx1"/>
                </a:solidFill>
              </a:rPr>
              <a:t>Comparação observado e calculado:</a:t>
            </a:r>
            <a:endParaRPr lang="pt-BR" b="0" dirty="0">
              <a:solidFill>
                <a:schemeClr val="tx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8808" t="20486" r="58103" b="57942"/>
          <a:stretch/>
        </p:blipFill>
        <p:spPr>
          <a:xfrm>
            <a:off x="1885235" y="2465388"/>
            <a:ext cx="5373532" cy="196958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2"/>
          <a:srcRect l="8808" t="45044" r="58103" b="33496"/>
          <a:stretch/>
        </p:blipFill>
        <p:spPr>
          <a:xfrm>
            <a:off x="1902696" y="4880612"/>
            <a:ext cx="5373532" cy="1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05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ChangeArrowheads="1"/>
          </p:cNvSpPr>
          <p:nvPr/>
        </p:nvSpPr>
        <p:spPr bwMode="auto">
          <a:xfrm>
            <a:off x="3922713" y="2852738"/>
            <a:ext cx="2449512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0" anchor="ctr">
            <a:spAutoFit/>
          </a:bodyPr>
          <a:lstStyle>
            <a:lvl1pPr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03238" algn="l"/>
              </a:tabLst>
              <a:defRPr b="1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4000">
                <a:solidFill>
                  <a:srgbClr val="FF0000"/>
                </a:solidFill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2117687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387982"/>
            <a:ext cx="6694934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2025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930</TotalTime>
  <Words>1031</Words>
  <Application>Microsoft Office PowerPoint</Application>
  <PresentationFormat>Apresentação na tela (4:3)</PresentationFormat>
  <Paragraphs>137</Paragraphs>
  <Slides>23</Slides>
  <Notes>5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23</vt:i4>
      </vt:variant>
    </vt:vector>
  </HeadingPairs>
  <TitlesOfParts>
    <vt:vector size="38" baseType="lpstr">
      <vt:lpstr>Arial</vt:lpstr>
      <vt:lpstr>Calibri</vt:lpstr>
      <vt:lpstr>Gotham HTF</vt:lpstr>
      <vt:lpstr>Gotham HTF Book</vt:lpstr>
      <vt:lpstr>Gotham-Bold</vt:lpstr>
      <vt:lpstr>Gotham-Book</vt:lpstr>
      <vt:lpstr>Symbol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Gráfico</vt:lpstr>
      <vt:lpstr>Equation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Nivaldo Zafalon Junior</cp:lastModifiedBy>
  <cp:revision>217</cp:revision>
  <cp:lastPrinted>2016-02-22T01:24:17Z</cp:lastPrinted>
  <dcterms:created xsi:type="dcterms:W3CDTF">2015-02-07T21:24:47Z</dcterms:created>
  <dcterms:modified xsi:type="dcterms:W3CDTF">2025-04-07T01:37:24Z</dcterms:modified>
</cp:coreProperties>
</file>