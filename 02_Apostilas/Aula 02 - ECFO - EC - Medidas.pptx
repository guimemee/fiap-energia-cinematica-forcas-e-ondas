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40"/>
  </p:notesMasterIdLst>
  <p:handoutMasterIdLst>
    <p:handoutMasterId r:id="rId41"/>
  </p:handoutMasterIdLst>
  <p:sldIdLst>
    <p:sldId id="256" r:id="rId6"/>
    <p:sldId id="266" r:id="rId7"/>
    <p:sldId id="258" r:id="rId8"/>
    <p:sldId id="259" r:id="rId9"/>
    <p:sldId id="389" r:id="rId10"/>
    <p:sldId id="390" r:id="rId11"/>
    <p:sldId id="391" r:id="rId12"/>
    <p:sldId id="415" r:id="rId13"/>
    <p:sldId id="416" r:id="rId14"/>
    <p:sldId id="417" r:id="rId15"/>
    <p:sldId id="418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9" r:id="rId33"/>
    <p:sldId id="410" r:id="rId34"/>
    <p:sldId id="411" r:id="rId35"/>
    <p:sldId id="412" r:id="rId36"/>
    <p:sldId id="413" r:id="rId37"/>
    <p:sldId id="414" r:id="rId38"/>
    <p:sldId id="265" r:id="rId3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68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2648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04/03/2026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pt-B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968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5"/>
          <p:cNvSpPr txBox="1"/>
          <p:nvPr userDrawn="1"/>
        </p:nvSpPr>
        <p:spPr>
          <a:xfrm>
            <a:off x="947123" y="745668"/>
            <a:ext cx="705165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Cinemática, Força e Ondas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9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2026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/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Energia, Cinemática, Força e Ondas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73100" y="2043837"/>
            <a:ext cx="6299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Notação científica;</a:t>
            </a:r>
          </a:p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Ordem de grandeza;</a:t>
            </a:r>
          </a:p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Algarismos significativos;</a:t>
            </a:r>
          </a:p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Média ponderada;</a:t>
            </a:r>
          </a:p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Desvio padrão;</a:t>
            </a:r>
          </a:p>
          <a:p>
            <a:pPr algn="just"/>
            <a:r>
              <a:rPr lang="pt-BR" sz="2400" b="1" dirty="0">
                <a:solidFill>
                  <a:srgbClr val="FF0000"/>
                </a:solidFill>
                <a:latin typeface="Gotham-Book"/>
              </a:rPr>
              <a:t>*	Interpolação linear.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741363"/>
            <a:ext cx="9143999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Notação Científica</a:t>
            </a:r>
          </a:p>
          <a:p>
            <a:pPr algn="just" eaLnBrk="1" hangingPunct="1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Ao medirmos grandezas, é muito provável que nos deparemos com números gigantescos ou microscópicos. Como, por exemplo, a massa do planeta Terra e a massa do elétron, que correspondem respectivamente a 5 974 200 000 000 000 000 000 000 kg e 0,000 000 000 000 000 000 000 000 000 000 910 838 47 kg. Essa maneira de escrever inviabiliza tanto a leitura e escrita como os cálculos. A maneira mais “resumida” de se escrever estes números é utilizando a notação científica.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1.137.000 = 1,137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 (com três casas após a vírgula);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1.137.000 = 1,14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 (com duas casas após a vírgula);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0,00000001419 = 1,419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 = (com três casas após a vírgula);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0,00000001419 = 1,42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 = (com duas casas após a vírgula);</a:t>
            </a:r>
          </a:p>
        </p:txBody>
      </p:sp>
    </p:spTree>
    <p:extLst>
      <p:ext uri="{BB962C8B-B14F-4D97-AF65-F5344CB8AC3E}">
        <p14:creationId xmlns:p14="http://schemas.microsoft.com/office/powerpoint/2010/main" val="260212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417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rgbClr val="FF0000"/>
                </a:solidFill>
              </a:rPr>
              <a:t>		Exercício 1</a:t>
            </a:r>
          </a:p>
          <a:p>
            <a:pPr algn="just" eaLnBrk="1" hangingPunct="1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Coloque os seguintes números na forma de notação científica, com três e duas casas após a vírgula, utilize arredondamento por aproximação: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a)</a:t>
            </a:r>
            <a:r>
              <a:rPr lang="pt-BR" sz="1600" dirty="0">
                <a:solidFill>
                  <a:schemeClr val="tx1"/>
                </a:solidFill>
              </a:rPr>
              <a:t>	Velocidade da luz no vácuo: 299 792 458 m/s;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b)</a:t>
            </a:r>
            <a:r>
              <a:rPr lang="pt-BR" sz="1600" dirty="0">
                <a:solidFill>
                  <a:schemeClr val="tx1"/>
                </a:solidFill>
              </a:rPr>
              <a:t>	Número de Avogadro: 602.214.150.000.000.000.000.000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c)</a:t>
            </a:r>
            <a:r>
              <a:rPr lang="pt-BR" sz="1600" dirty="0">
                <a:solidFill>
                  <a:schemeClr val="tx1"/>
                </a:solidFill>
              </a:rPr>
              <a:t>	Raio atômico do H: 0,000 000 000 025 m;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d)</a:t>
            </a:r>
            <a:r>
              <a:rPr lang="pt-BR" sz="1600" dirty="0">
                <a:solidFill>
                  <a:schemeClr val="tx1"/>
                </a:solidFill>
              </a:rPr>
              <a:t>	Carga elétrica do elétron: 0,000 000 000 000 000 000 160 217 646 C;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e)</a:t>
            </a:r>
            <a:r>
              <a:rPr lang="pt-BR" sz="1600" dirty="0">
                <a:solidFill>
                  <a:schemeClr val="tx1"/>
                </a:solidFill>
              </a:rPr>
              <a:t>	Massa de repouso do elétron: 0,000 000 000 000 000 000 000 000 000 000 910 838 47 kg,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f)</a:t>
            </a:r>
            <a:r>
              <a:rPr lang="pt-BR" sz="1600" dirty="0">
                <a:solidFill>
                  <a:schemeClr val="tx1"/>
                </a:solidFill>
              </a:rPr>
              <a:t>	Massa de repouso do próton: 0,000 000 000 000 000 000 000 000 001 672 621 580 000  Kg.</a:t>
            </a:r>
          </a:p>
        </p:txBody>
      </p:sp>
    </p:spTree>
    <p:extLst>
      <p:ext uri="{BB962C8B-B14F-4D97-AF65-F5344CB8AC3E}">
        <p14:creationId xmlns:p14="http://schemas.microsoft.com/office/powerpoint/2010/main" val="373145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121016"/>
            <a:ext cx="9143999" cy="4263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Ordem de grandeza – Média Geométrica</a:t>
            </a: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A ordem de grandeza de um número é a potência de 10 “mais próxima” do resultado encontrado, em casos onde não nos interessa ou não é possível obter o resultado exato.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Tomemos como exemplo o número 65. Apesar de ser 6,5 x 10</a:t>
            </a:r>
            <a:r>
              <a:rPr lang="pt-BR" sz="1600" baseline="30000" dirty="0">
                <a:solidFill>
                  <a:schemeClr val="tx1"/>
                </a:solidFill>
              </a:rPr>
              <a:t>1</a:t>
            </a:r>
            <a:r>
              <a:rPr lang="pt-BR" sz="1600" dirty="0">
                <a:solidFill>
                  <a:schemeClr val="tx1"/>
                </a:solidFill>
              </a:rPr>
              <a:t> em notação científica, sua ordem grandeza é 10</a:t>
            </a:r>
            <a:r>
              <a:rPr lang="pt-BR" sz="1600" baseline="30000" dirty="0">
                <a:solidFill>
                  <a:schemeClr val="tx1"/>
                </a:solidFill>
              </a:rPr>
              <a:t>2</a:t>
            </a:r>
            <a:r>
              <a:rPr lang="pt-BR" sz="1600" dirty="0">
                <a:solidFill>
                  <a:schemeClr val="tx1"/>
                </a:solidFill>
              </a:rPr>
              <a:t> e não 10</a:t>
            </a:r>
            <a:r>
              <a:rPr lang="pt-BR" sz="1600" baseline="30000" dirty="0">
                <a:solidFill>
                  <a:schemeClr val="tx1"/>
                </a:solidFill>
              </a:rPr>
              <a:t>1</a:t>
            </a:r>
            <a:r>
              <a:rPr lang="pt-BR" sz="1600" dirty="0">
                <a:solidFill>
                  <a:schemeClr val="tx1"/>
                </a:solidFill>
              </a:rPr>
              <a:t> como poderia parecer à primeira vista. Basta uma rápida análise para verificarmos que o nº 65 está mais próximo de 100 do que de 10.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Para descobrirmos a ordem de grandeza de um número precisamos antes expressá-lo em notação científica, SEM ARREDONDAMENTO, compararmos a parte numérica com a raiz quadrada de 10, e temos as seguintes opções: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a)  Se a parte numérica é &lt; do que              -&gt; a parte numérica deve ser substituída por 1.</a:t>
            </a:r>
          </a:p>
          <a:p>
            <a:pPr algn="just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1.137.000		=	1,137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	→	1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	→	OG =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F84FD3-C881-40F6-90DE-F9B53627A6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993" y="4552722"/>
            <a:ext cx="5213838" cy="190671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7625842-36E7-41E0-97DB-148C5B9F4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96" t="48045" r="14390" b="40427"/>
          <a:stretch/>
        </p:blipFill>
        <p:spPr>
          <a:xfrm>
            <a:off x="3508131" y="3545872"/>
            <a:ext cx="589084" cy="3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4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595216"/>
            <a:ext cx="9143999" cy="115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b)  Se a parte numérica é &gt; do que              -&gt; a parte numérica deve ser substituída por 1.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0,00000004137	=	4,137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	→	10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	 = 1 x 10</a:t>
            </a:r>
            <a:r>
              <a:rPr lang="pt-BR" sz="1600" baseline="30000" dirty="0">
                <a:solidFill>
                  <a:schemeClr val="tx1"/>
                </a:solidFill>
              </a:rPr>
              <a:t>-7      </a:t>
            </a:r>
            <a:r>
              <a:rPr lang="pt-BR" sz="1600" dirty="0">
                <a:solidFill>
                  <a:schemeClr val="tx1"/>
                </a:solidFill>
              </a:rPr>
              <a:t>→    OG = 10</a:t>
            </a:r>
            <a:r>
              <a:rPr lang="pt-BR" sz="1600" baseline="30000" dirty="0">
                <a:solidFill>
                  <a:schemeClr val="tx1"/>
                </a:solidFill>
              </a:rPr>
              <a:t>-7</a:t>
            </a:r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2D0F76F-D3E0-4FD6-AD08-C4AB2FCAD6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075"/>
            <a:ext cx="9144000" cy="2867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202E75-E979-4FB9-A120-01E424EFFA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96" t="48045" r="14390" b="40427"/>
          <a:stretch/>
        </p:blipFill>
        <p:spPr>
          <a:xfrm>
            <a:off x="3508131" y="600451"/>
            <a:ext cx="589084" cy="3591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3623FB7-A344-4537-B7EE-6E7B32049C6E}"/>
              </a:ext>
            </a:extLst>
          </p:cNvPr>
          <p:cNvSpPr txBox="1"/>
          <p:nvPr/>
        </p:nvSpPr>
        <p:spPr>
          <a:xfrm>
            <a:off x="-1" y="5401865"/>
            <a:ext cx="9143999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00" b="1" dirty="0">
                <a:solidFill>
                  <a:schemeClr val="tx1"/>
                </a:solidFill>
              </a:rPr>
              <a:t>c)	Se a parte numérica é = do que </a:t>
            </a:r>
            <a:r>
              <a:rPr lang="pt-BR" b="1" dirty="0"/>
              <a:t>            </a:t>
            </a:r>
            <a:r>
              <a:rPr lang="pt-BR" sz="1800" b="1" dirty="0">
                <a:solidFill>
                  <a:schemeClr val="tx1"/>
                </a:solidFill>
              </a:rPr>
              <a:t>-&gt; você escolhe se a parte numérica deve ser substituída por 1 ou por 10.</a:t>
            </a:r>
            <a:endParaRPr lang="pt-BR" sz="1800" dirty="0">
              <a:solidFill>
                <a:schemeClr val="tx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4B70B91-31A2-41BC-8B35-BEFFB5B3C8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96" t="48045" r="14390" b="40427"/>
          <a:stretch/>
        </p:blipFill>
        <p:spPr>
          <a:xfrm>
            <a:off x="4097215" y="5482850"/>
            <a:ext cx="589084" cy="3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1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36242A-C681-4A81-B3E2-AD6BB2B2A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016"/>
            <a:ext cx="9143999" cy="25088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Ordem de grandeza – Média Aritmética</a:t>
            </a:r>
          </a:p>
          <a:p>
            <a:pPr algn="just" eaLnBrk="1" hangingPunct="1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Para descobrirmos a ordem de grandeza de um número precisamos antes expressá-lo em notação científica, SEM ARREDONDAMENTO, compararmos a parte numérica com 5,5, e temos as seguintes opções: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a)	Se a parte numérica é &lt; do que 5,5 -&gt; a parte numérica deve ser substituída por 1.</a:t>
            </a:r>
          </a:p>
          <a:p>
            <a:pPr algn="just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1.137.000		=	1,137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	→	1 x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r>
              <a:rPr lang="pt-BR" sz="1600" dirty="0">
                <a:solidFill>
                  <a:schemeClr val="tx1"/>
                </a:solidFill>
              </a:rPr>
              <a:t>	→	OG = 10</a:t>
            </a:r>
            <a:r>
              <a:rPr lang="pt-BR" sz="1600" baseline="30000" dirty="0">
                <a:solidFill>
                  <a:schemeClr val="tx1"/>
                </a:solidFill>
              </a:rPr>
              <a:t>6</a:t>
            </a:r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5C1EE3-3FCB-43A2-817E-6A78227691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42" y="2935172"/>
            <a:ext cx="7869115" cy="287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6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36242A-C681-4A81-B3E2-AD6BB2B2A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016"/>
            <a:ext cx="9143999" cy="25088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Ordem de grandeza – Média Aritmética</a:t>
            </a:r>
          </a:p>
          <a:p>
            <a:pPr algn="just" eaLnBrk="1" hangingPunct="1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Para descobrirmos a ordem de grandeza de um número precisamos antes expressá-lo em notação científica, SEM ARREDONDAMENTO, compararmos a parte numérica com 5,5, e temos as seguintes opções: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b)	Se a parte numérica é &gt; do que 5,5 -&gt; a parte numérica deve ser substituída por 10.</a:t>
            </a:r>
          </a:p>
          <a:p>
            <a:pPr algn="just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0,00000005537	=	5,537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	→	10 x 10</a:t>
            </a:r>
            <a:r>
              <a:rPr lang="pt-BR" sz="1600" baseline="30000" dirty="0">
                <a:solidFill>
                  <a:schemeClr val="tx1"/>
                </a:solidFill>
              </a:rPr>
              <a:t>-8</a:t>
            </a:r>
            <a:r>
              <a:rPr lang="pt-BR" sz="1600" dirty="0">
                <a:solidFill>
                  <a:schemeClr val="tx1"/>
                </a:solidFill>
              </a:rPr>
              <a:t>	 = 1 x 10</a:t>
            </a:r>
            <a:r>
              <a:rPr lang="pt-BR" sz="1600" baseline="30000" dirty="0">
                <a:solidFill>
                  <a:schemeClr val="tx1"/>
                </a:solidFill>
              </a:rPr>
              <a:t>-7      </a:t>
            </a:r>
            <a:r>
              <a:rPr lang="pt-BR" sz="1600" dirty="0">
                <a:solidFill>
                  <a:schemeClr val="tx1"/>
                </a:solidFill>
              </a:rPr>
              <a:t>→    OG = 10</a:t>
            </a:r>
            <a:r>
              <a:rPr lang="pt-BR" sz="1600" baseline="30000" dirty="0">
                <a:solidFill>
                  <a:schemeClr val="tx1"/>
                </a:solidFill>
              </a:rPr>
              <a:t>-7</a:t>
            </a:r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5C1EE3-3FCB-43A2-817E-6A78227691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442" y="3145617"/>
            <a:ext cx="7869115" cy="24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2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36242A-C681-4A81-B3E2-AD6BB2B2A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016"/>
            <a:ext cx="9143999" cy="2416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Ordem de grandeza – Média Aritmética</a:t>
            </a:r>
          </a:p>
          <a:p>
            <a:pPr algn="just" eaLnBrk="1" hangingPunct="1">
              <a:lnSpc>
                <a:spcPct val="150000"/>
              </a:lnSpc>
            </a:pPr>
            <a:endParaRPr lang="pt-BR" sz="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Para descobrirmos a ordem de grandeza de um número precisamos antes expressá-lo em notação científica, SEM ARREDONDAMENTO, compararmos a parte numérica com 5,5, e temos as seguintes opções:</a:t>
            </a:r>
          </a:p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chemeClr val="tx1"/>
                </a:solidFill>
              </a:rPr>
              <a:t>c)	Se a parte numérica é = do que 5,5 -&gt; você escolhe se a parte numérica deve ser substituída por 1 ou por 10.</a:t>
            </a:r>
            <a:endParaRPr lang="pt-B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638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741363"/>
            <a:ext cx="9143999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rgbClr val="FF0000"/>
                </a:solidFill>
              </a:rPr>
              <a:t>		Exercício 2</a:t>
            </a:r>
          </a:p>
          <a:p>
            <a:pPr algn="just" eaLnBrk="1" hangingPunct="1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Qual a ordem de grandeza pela média aritmética dos seguintes valores: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a)	Velocidade da luz no vácuo:</a:t>
            </a:r>
          </a:p>
          <a:p>
            <a:pPr algn="just">
              <a:lnSpc>
                <a:spcPct val="150000"/>
              </a:lnSpc>
              <a:buFontTx/>
              <a:buAutoNum type="alphaLcParenR" startAt="2"/>
            </a:pPr>
            <a:r>
              <a:rPr lang="pt-BR" sz="1600" dirty="0">
                <a:solidFill>
                  <a:schemeClr val="tx1"/>
                </a:solidFill>
              </a:rPr>
              <a:t>Número de Avogadro: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c)	Raio atômico do H: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d)	Carga elétrica do elétron: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e)	Massa de repouso do elétron:</a:t>
            </a: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f)	Massa de repouso do próton:</a:t>
            </a:r>
          </a:p>
        </p:txBody>
      </p:sp>
    </p:spTree>
    <p:extLst>
      <p:ext uri="{BB962C8B-B14F-4D97-AF65-F5344CB8AC3E}">
        <p14:creationId xmlns:p14="http://schemas.microsoft.com/office/powerpoint/2010/main" val="41122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File?id=dc6z37dr_29zs27bg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941888"/>
            <a:ext cx="3379788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754063"/>
            <a:ext cx="9143999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Algarismos Significativos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	Ao fazermos uma medida com um determinado instrumento, estamos sujeitos a incertezas no valor obtido. Dizemos que a nossa medida possui apenas algarismos significativos quando ela apresentar os algarismos que nós temos certeza mais o primeiro algarismo duvidoso.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Vamos medir o objeto abaixo utilizando a régua disponível:</a:t>
            </a:r>
          </a:p>
          <a:p>
            <a:pPr algn="just"/>
            <a:r>
              <a:rPr lang="pt-BR" sz="1000" dirty="0">
                <a:solidFill>
                  <a:schemeClr val="tx1"/>
                </a:solidFill>
              </a:rPr>
              <a:t>  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	Os resultados 4,6 cm ou 4,7 cm são aceitáveis, pois, nós temos certeza do algarismo 4, porém, os algarismos 6 e 7 são duvidosos e correspondem a uma estimativa de quem está medindo. Portanto, 4,6 cm e 4,7 cm são boas medidas e possuem apenas 2 algarismos significativos. Se, no entanto, alguém propuser um valor igual a 4,658 cm para o objeto acima, usando a régua disponível, diremos que esta é uma medida “sem noção”. Utilizando uma régua cuja menor divisão é o centímetro, não faz o menor sentido medir o objeto em milésimos de centímetro. Os algarismos 5 e 8 não possuem significado nenhum. Não são significativos.</a:t>
            </a:r>
          </a:p>
        </p:txBody>
      </p:sp>
    </p:spTree>
    <p:extLst>
      <p:ext uri="{BB962C8B-B14F-4D97-AF65-F5344CB8AC3E}">
        <p14:creationId xmlns:p14="http://schemas.microsoft.com/office/powerpoint/2010/main" val="180941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6513" y="741363"/>
            <a:ext cx="89281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rgbClr val="FF0000"/>
                </a:solidFill>
              </a:rPr>
              <a:t>	Exercício 3</a:t>
            </a:r>
          </a:p>
          <a:p>
            <a:pPr algn="just" eaLnBrk="1" hangingPunct="1">
              <a:lnSpc>
                <a:spcPct val="150000"/>
              </a:lnSpc>
            </a:pPr>
            <a:endParaRPr lang="pt-BR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Qual o tamanho do objeto medido na figura abaixo? Quantos algarismos significativos temos no resultado?</a:t>
            </a:r>
          </a:p>
        </p:txBody>
      </p:sp>
      <p:pic>
        <p:nvPicPr>
          <p:cNvPr id="12292" name="Picture 4" descr="Fig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565400"/>
            <a:ext cx="78073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933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5175"/>
            <a:ext cx="623887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4" descr="termomet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" r="4492"/>
          <a:stretch>
            <a:fillRect/>
          </a:stretch>
        </p:blipFill>
        <p:spPr bwMode="auto">
          <a:xfrm>
            <a:off x="4089400" y="1916113"/>
            <a:ext cx="5054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98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94" t="43109" r="12367" b="8656"/>
          <a:stretch>
            <a:fillRect/>
          </a:stretch>
        </p:blipFill>
        <p:spPr bwMode="auto">
          <a:xfrm>
            <a:off x="114300" y="1628775"/>
            <a:ext cx="9029700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39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0" y="754063"/>
            <a:ext cx="9143999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Dicas: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a)</a:t>
            </a:r>
            <a:r>
              <a:rPr lang="pt-BR" sz="1600" dirty="0">
                <a:solidFill>
                  <a:schemeClr val="tx1"/>
                </a:solidFill>
              </a:rPr>
              <a:t>	O algarismo 0 (zero) quando serve apenas para localizar a vírgula decimal não é significativo: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u="sng" dirty="0">
                <a:solidFill>
                  <a:schemeClr val="tx1"/>
                </a:solidFill>
              </a:rPr>
              <a:t>0,000</a:t>
            </a:r>
            <a:r>
              <a:rPr lang="pt-BR" sz="1600" dirty="0">
                <a:solidFill>
                  <a:schemeClr val="tx1"/>
                </a:solidFill>
              </a:rPr>
              <a:t>60528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não são significativos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b)</a:t>
            </a:r>
            <a:r>
              <a:rPr lang="pt-BR" sz="1600" dirty="0">
                <a:solidFill>
                  <a:schemeClr val="tx1"/>
                </a:solidFill>
              </a:rPr>
              <a:t>	As medidas 3,2 m e 3,200 m do ponto de vista matemático são iguais, no entanto possuem significados físicos diferentes. A medida 3,200 m possui 4 algarismos significativos sendo portanto muito mais precisa que a medida 3,2 m que possui apenas 2 algarismos significativos.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c)</a:t>
            </a:r>
            <a:r>
              <a:rPr lang="pt-BR" sz="1600" dirty="0">
                <a:solidFill>
                  <a:schemeClr val="tx1"/>
                </a:solidFill>
              </a:rPr>
              <a:t>	Quando efetuamos operações matemáticas com grandezas devemos sempre levar em conta o número de algarismos significativos para não sobrecarregarmos inutilmente nossas operações. Neste caso fazemos arredondamentos, sendo que, o mais simples é o arredondamento por aproximação.</a:t>
            </a:r>
          </a:p>
        </p:txBody>
      </p:sp>
    </p:spTree>
    <p:extLst>
      <p:ext uri="{BB962C8B-B14F-4D97-AF65-F5344CB8AC3E}">
        <p14:creationId xmlns:p14="http://schemas.microsoft.com/office/powerpoint/2010/main" val="2664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345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Arredondamento: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Arredondamentos podem ser necessários quando operamos algebricamente com valores de medições. Dois tipos de arredondamentos podem ser feitos, consideremos abaixo estes tipos aplicados a situações onde desejamos um resultado com apenas três algarismos significativos (N é o algarismo a ser desprezado):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a)</a:t>
            </a: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Por truncamento:</a:t>
            </a:r>
            <a:r>
              <a:rPr lang="pt-BR" sz="1600" dirty="0">
                <a:solidFill>
                  <a:schemeClr val="tx1"/>
                </a:solidFill>
              </a:rPr>
              <a:t> 1,759	</a:t>
            </a:r>
            <a:r>
              <a:rPr lang="pt-BR" sz="1600" dirty="0">
                <a:solidFill>
                  <a:schemeClr val="tx1"/>
                </a:solidFill>
                <a:cs typeface="Arial" panose="020B0604020202020204" pitchFamily="34" charset="0"/>
              </a:rPr>
              <a:t>→	1,75:	despreza-se os algarismos excedentes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  <a:cs typeface="Arial" panose="020B0604020202020204" pitchFamily="34" charset="0"/>
              </a:rPr>
              <a:t>b)</a:t>
            </a:r>
            <a:r>
              <a:rPr lang="pt-BR" sz="1600" dirty="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pt-BR" sz="1600" b="1" dirty="0">
                <a:solidFill>
                  <a:schemeClr val="tx1"/>
                </a:solidFill>
                <a:cs typeface="Arial" panose="020B0604020202020204" pitchFamily="34" charset="0"/>
              </a:rPr>
              <a:t>Por aproximação:</a:t>
            </a:r>
            <a:r>
              <a:rPr lang="pt-BR" sz="1600" dirty="0">
                <a:solidFill>
                  <a:schemeClr val="tx1"/>
                </a:solidFill>
                <a:cs typeface="Arial" panose="020B0604020202020204" pitchFamily="34" charset="0"/>
              </a:rPr>
              <a:t> 1,759	 →	1,76;	se N ≥ 5 acrescenta-se 1 ao algarismo menos significativo e despreza-se o algarismo, se N &lt; 5 simplesmente despreza-se o algarismo.</a:t>
            </a:r>
          </a:p>
        </p:txBody>
      </p:sp>
    </p:spTree>
    <p:extLst>
      <p:ext uri="{BB962C8B-B14F-4D97-AF65-F5344CB8AC3E}">
        <p14:creationId xmlns:p14="http://schemas.microsoft.com/office/powerpoint/2010/main" val="258972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0" y="754063"/>
            <a:ext cx="9143999" cy="467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Operações com algarismos significativos: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a)</a:t>
            </a: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Adição:	</a:t>
            </a:r>
            <a:r>
              <a:rPr lang="pt-BR" sz="1600" dirty="0">
                <a:solidFill>
                  <a:schemeClr val="tx1"/>
                </a:solidFill>
              </a:rPr>
              <a:t>Ao somarmos ou subtrairmos grandezas, o número de casas decimais do resultado deve ser igual ao menor número de casas decimais encontrados entre os termos adicionados.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b)	Multiplicação:</a:t>
            </a:r>
            <a:r>
              <a:rPr lang="pt-BR" sz="1600" dirty="0">
                <a:solidFill>
                  <a:schemeClr val="tx1"/>
                </a:solidFill>
              </a:rPr>
              <a:t>	Na multiplicação e na divisão de medidas, o número de algarismos significativos no resultado é igual ao menor número de algarismos significativos encontrados entre as medidas multiplicadas (ou divididas).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34,21 x 0,010 x 2,10 = 0,71841 = 0,72</a:t>
            </a:r>
          </a:p>
        </p:txBody>
      </p:sp>
      <p:pic>
        <p:nvPicPr>
          <p:cNvPr id="17411" name="Picture 5" descr="Fig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349500"/>
            <a:ext cx="244792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2987675" y="2492375"/>
            <a:ext cx="611981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1600">
                <a:solidFill>
                  <a:srgbClr val="000000"/>
                </a:solidFill>
              </a:rPr>
              <a:t>este é o algarismo a ser arredondado. O resultado correto desta soma deverá ser 101,3.</a:t>
            </a:r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1661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ChangeArrowheads="1"/>
          </p:cNvSpPr>
          <p:nvPr/>
        </p:nvSpPr>
        <p:spPr bwMode="auto">
          <a:xfrm>
            <a:off x="0" y="754063"/>
            <a:ext cx="9143999" cy="467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Operações com algarismos significativos: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a)</a:t>
            </a:r>
            <a:r>
              <a:rPr lang="pt-BR" sz="1600" dirty="0">
                <a:solidFill>
                  <a:schemeClr val="tx1"/>
                </a:solidFill>
              </a:rPr>
              <a:t>	</a:t>
            </a:r>
            <a:r>
              <a:rPr lang="pt-BR" sz="1600" b="1" dirty="0">
                <a:solidFill>
                  <a:schemeClr val="tx1"/>
                </a:solidFill>
              </a:rPr>
              <a:t>Adição:	</a:t>
            </a:r>
            <a:r>
              <a:rPr lang="pt-BR" sz="1600" dirty="0">
                <a:solidFill>
                  <a:schemeClr val="tx1"/>
                </a:solidFill>
              </a:rPr>
              <a:t>Ao somarmos ou subtrairmos grandezas, o número de casas decimais do resultado deve ser igual ao menor número de casas decimais encontrados entre os termos adicionados.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b)	Multiplicação:</a:t>
            </a:r>
            <a:r>
              <a:rPr lang="pt-BR" sz="1600" dirty="0">
                <a:solidFill>
                  <a:schemeClr val="tx1"/>
                </a:solidFill>
              </a:rPr>
              <a:t>	Na multiplicação e na divisão de medidas, o número de algarismos significativos no resultado é igual ao menor número de algarismos significativos encontrados entre as medidas multiplicadas (ou divididas).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b="1" dirty="0">
                <a:solidFill>
                  <a:schemeClr val="tx1"/>
                </a:solidFill>
              </a:rPr>
              <a:t>34,21 x 0,010 x 2,10 = 0,71841 = 0,72</a:t>
            </a:r>
          </a:p>
        </p:txBody>
      </p:sp>
    </p:spTree>
    <p:extLst>
      <p:ext uri="{BB962C8B-B14F-4D97-AF65-F5344CB8AC3E}">
        <p14:creationId xmlns:p14="http://schemas.microsoft.com/office/powerpoint/2010/main" val="3430591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Erros:</a:t>
            </a:r>
          </a:p>
          <a:p>
            <a:pPr algn="just" eaLnBrk="1" hangingPunct="1"/>
            <a:endParaRPr lang="pt-BR" sz="14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	Em ciência e tecnologia, é fundamental a realização de medidas de grandezas físicas. Estas grandezas podem ser, por exemplo, comprimentos, intervalos de tempo, voltagem entre dois pontos, carga elétrica transportada, intensidade luminosa, e muitas outras. Para se caracterizar o sistema de freios de um automóvel, por exemplo, realiza-se uma medida da distância percorrida após o acionamento dos freios quando o carro se movia a uma certa velocidade. Ao se realizar uma medida, há sempre fontes de erro que a afetam. As fontes de erro fazem com que toda medida realizada, por mais cuidadosa que seja, esteja afetada por um erro experimental.</a:t>
            </a:r>
          </a:p>
          <a:p>
            <a:pPr algn="just" eaLnBrk="1" hangingPunct="1"/>
            <a:endParaRPr lang="pt-BR" sz="14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	Os </a:t>
            </a:r>
            <a:r>
              <a:rPr lang="pt-BR" sz="1400" b="1" dirty="0">
                <a:solidFill>
                  <a:schemeClr val="tx1"/>
                </a:solidFill>
              </a:rPr>
              <a:t>erros sistemáticos</a:t>
            </a:r>
            <a:r>
              <a:rPr lang="pt-BR" sz="1400" dirty="0">
                <a:solidFill>
                  <a:schemeClr val="tx1"/>
                </a:solidFill>
              </a:rPr>
              <a:t> são causados por fontes identificáveis, e, em princípio, podem ser eliminados ou compensados. Erros sistemáticos fazem com que as medidas feitas estejam consistentemente acima ou abaixo do valor real, prejudicando a </a:t>
            </a:r>
            <a:r>
              <a:rPr lang="pt-BR" sz="1400" b="1" dirty="0">
                <a:solidFill>
                  <a:srgbClr val="FF0000"/>
                </a:solidFill>
              </a:rPr>
              <a:t>exatidão</a:t>
            </a:r>
            <a:r>
              <a:rPr lang="pt-BR" sz="1400" dirty="0">
                <a:solidFill>
                  <a:srgbClr val="FF0000"/>
                </a:solidFill>
              </a:rPr>
              <a:t> </a:t>
            </a:r>
            <a:r>
              <a:rPr lang="pt-BR" sz="1400" dirty="0">
                <a:solidFill>
                  <a:schemeClr val="tx1"/>
                </a:solidFill>
              </a:rPr>
              <a:t>("</a:t>
            </a:r>
            <a:r>
              <a:rPr lang="pt-BR" sz="1400" dirty="0" err="1">
                <a:solidFill>
                  <a:schemeClr val="tx1"/>
                </a:solidFill>
              </a:rPr>
              <a:t>accuracy</a:t>
            </a:r>
            <a:r>
              <a:rPr lang="pt-BR" sz="1400" dirty="0">
                <a:solidFill>
                  <a:schemeClr val="tx1"/>
                </a:solidFill>
              </a:rPr>
              <a:t>") da medida  Erros sistemáticos podem ser causados devido:</a:t>
            </a: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*	ao instrumento que foi utilizado: por exemplo, erros causados em medidas de intervalos de tempo feitas com um relógio que atrasa;</a:t>
            </a: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*	ao método de observação utilizado: por exemplo, medir o instante de ocorrência de um relâmpago pelo ruído do trovão associado;</a:t>
            </a: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*	a efeitos ambientais: por exemplo, a medida de frequência da luz emitida por um laser, que pode depender ligeiramente da temperatura ambiente;</a:t>
            </a:r>
          </a:p>
          <a:p>
            <a:pPr algn="just" eaLnBrk="1" hangingPunct="1"/>
            <a:endParaRPr lang="pt-BR" sz="14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	Uma das principais tarefas do idealizador ou realizador de medidas é identificar e eliminar o maior número possível de fontes de erro sistemático.</a:t>
            </a:r>
          </a:p>
        </p:txBody>
      </p:sp>
    </p:spTree>
    <p:extLst>
      <p:ext uri="{BB962C8B-B14F-4D97-AF65-F5344CB8AC3E}">
        <p14:creationId xmlns:p14="http://schemas.microsoft.com/office/powerpoint/2010/main" val="3494801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1" y="919163"/>
            <a:ext cx="91440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	Os </a:t>
            </a:r>
            <a:r>
              <a:rPr lang="pt-BR" sz="1400" b="1" dirty="0">
                <a:solidFill>
                  <a:schemeClr val="tx1"/>
                </a:solidFill>
              </a:rPr>
              <a:t>erros aleatórios</a:t>
            </a:r>
            <a:r>
              <a:rPr lang="pt-BR" sz="1400" dirty="0">
                <a:solidFill>
                  <a:schemeClr val="tx1"/>
                </a:solidFill>
              </a:rPr>
              <a:t> são flutuações, para cima ou para baixo, que fazem com que aproximadamente a metade das medidas realizadas de uma mesma grandeza numa mesma situação experimental esteja desviada para mais, e a outra metade esteja desviada para menos. Os erros aleatórios afetam a precisão ("</a:t>
            </a:r>
            <a:r>
              <a:rPr lang="pt-BR" sz="1400" dirty="0" err="1">
                <a:solidFill>
                  <a:schemeClr val="tx1"/>
                </a:solidFill>
              </a:rPr>
              <a:t>precision</a:t>
            </a:r>
            <a:r>
              <a:rPr lang="pt-BR" sz="1400" dirty="0">
                <a:solidFill>
                  <a:schemeClr val="tx1"/>
                </a:solidFill>
              </a:rPr>
              <a:t>") da medida. Nem sempre se pode identificar as fontes de erros aleatórios. Algumas fontes típicas de erros aleatórios são:</a:t>
            </a:r>
          </a:p>
          <a:p>
            <a:pPr algn="just" eaLnBrk="1" hangingPunct="1"/>
            <a:endParaRPr lang="pt-BR" sz="14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*	método de observação: erros devidos ao julgamento feito pelo observador ao fazer uma leitura abaixo da menor divisão de uma escala, como por exemplo, medir o comprimento de uma folha de papel com uma régua cuja menor divisão é 1 mm com precisão na medida de 0,5 mm;</a:t>
            </a:r>
          </a:p>
          <a:p>
            <a:pPr algn="just" eaLnBrk="1" hangingPunct="1"/>
            <a:endParaRPr lang="pt-BR" sz="14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*	flutuações ambientais: mudanças não previsíveis na temperatura, voltagem da linha, correntes de ar, vibrações (por exemplo causadas por passagem de pessoas perto do aparato experimental ou veículos nas vizinhanças).</a:t>
            </a:r>
          </a:p>
          <a:p>
            <a:pPr algn="just" eaLnBrk="1" hangingPunct="1"/>
            <a:endParaRPr lang="pt-BR" sz="14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400" dirty="0">
                <a:solidFill>
                  <a:schemeClr val="tx1"/>
                </a:solidFill>
              </a:rPr>
              <a:t>	Erros aleatórios podem ser tratados quantitativamente através de métodos estatísticos, de maneira que seus efeitos na grandeza física medida podem ser, em geral, determinados.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4733925"/>
            <a:ext cx="4176713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44C8D0-5DA6-4C54-9430-D0157F42798F}"/>
              </a:ext>
            </a:extLst>
          </p:cNvPr>
          <p:cNvSpPr txBox="1"/>
          <p:nvPr/>
        </p:nvSpPr>
        <p:spPr>
          <a:xfrm>
            <a:off x="1" y="4516765"/>
            <a:ext cx="4591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</a:rPr>
              <a:t>Precisão: </a:t>
            </a:r>
            <a:r>
              <a:rPr lang="pt-BR" sz="1400" dirty="0">
                <a:latin typeface="Arial" panose="020B0604020202020204" pitchFamily="34" charset="0"/>
              </a:rPr>
              <a:t>A precisão refere-se com quão próximos estão os resultados uns dos outros.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30408D-5402-4768-A94C-3C1779D44125}"/>
              </a:ext>
            </a:extLst>
          </p:cNvPr>
          <p:cNvSpPr txBox="1"/>
          <p:nvPr/>
        </p:nvSpPr>
        <p:spPr>
          <a:xfrm>
            <a:off x="-19050" y="5237173"/>
            <a:ext cx="4591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b="1" dirty="0">
                <a:latin typeface="Arial" panose="020B0604020202020204" pitchFamily="34" charset="0"/>
              </a:rPr>
              <a:t>Exatidão: </a:t>
            </a:r>
            <a:r>
              <a:rPr lang="pt-BR" sz="1400" dirty="0">
                <a:latin typeface="Arial" panose="020B0604020202020204" pitchFamily="34" charset="0"/>
              </a:rPr>
              <a:t>Refere-se a quão próximo do valor real estão as medidas realizadas</a:t>
            </a:r>
            <a:r>
              <a:rPr lang="pt-BR" b="1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pt-BR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32905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Resolução: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Resolução é uma propriedade dos instrumentos de medida e está associada a sua capacidade de executar medidas com maior ou menor precisão. A resolução de um instrumento de medida corresponde à </a:t>
            </a:r>
            <a:r>
              <a:rPr lang="pt-BR" sz="1600" b="1" dirty="0">
                <a:solidFill>
                  <a:srgbClr val="FF0000"/>
                </a:solidFill>
              </a:rPr>
              <a:t>metade</a:t>
            </a:r>
            <a:r>
              <a:rPr lang="pt-BR" sz="1600" dirty="0">
                <a:solidFill>
                  <a:schemeClr val="tx1"/>
                </a:solidFill>
              </a:rPr>
              <a:t> do valor da </a:t>
            </a:r>
            <a:r>
              <a:rPr lang="pt-BR" sz="1600" b="1" dirty="0">
                <a:solidFill>
                  <a:srgbClr val="FF0000"/>
                </a:solidFill>
              </a:rPr>
              <a:t>menor escala </a:t>
            </a:r>
            <a:r>
              <a:rPr lang="pt-BR" sz="1600" dirty="0">
                <a:solidFill>
                  <a:schemeClr val="tx1"/>
                </a:solidFill>
              </a:rPr>
              <a:t>do instrumento.</a:t>
            </a: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Em uma medida a quantidade de algarismos significativos nunca deve ultrapassar este valor, vejamos:</a:t>
            </a:r>
          </a:p>
        </p:txBody>
      </p:sp>
      <p:pic>
        <p:nvPicPr>
          <p:cNvPr id="21507" name="Picture 4" descr="File?id=dc6z37dr_29zs27bg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068638"/>
            <a:ext cx="3379788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36513" y="4475163"/>
            <a:ext cx="169703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Medida: 4,6 </a:t>
            </a:r>
            <a:r>
              <a:rPr lang="en-US" sz="1600" b="1" dirty="0">
                <a:solidFill>
                  <a:srgbClr val="FF0000"/>
                </a:solidFill>
                <a:cs typeface="Arial" panose="020B0604020202020204" pitchFamily="34" charset="0"/>
              </a:rPr>
              <a:t>±0,5</a:t>
            </a:r>
            <a:endParaRPr lang="pt-BR" sz="1600" dirty="0">
              <a:solidFill>
                <a:srgbClr val="FF0000"/>
              </a:solidFill>
            </a:endParaRP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884238" y="5233988"/>
            <a:ext cx="254317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>
                <a:solidFill>
                  <a:schemeClr val="tx1"/>
                </a:solidFill>
              </a:rPr>
              <a:t>Resolução do instrumento</a:t>
            </a:r>
          </a:p>
        </p:txBody>
      </p:sp>
      <p:sp>
        <p:nvSpPr>
          <p:cNvPr id="21510" name="Line 7"/>
          <p:cNvSpPr>
            <a:spLocks noChangeShapeType="1"/>
          </p:cNvSpPr>
          <p:nvPr/>
        </p:nvSpPr>
        <p:spPr bwMode="auto">
          <a:xfrm flipH="1" flipV="1">
            <a:off x="1587500" y="4765674"/>
            <a:ext cx="444500" cy="4683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21511" name="Text Box 10"/>
          <p:cNvSpPr txBox="1">
            <a:spLocks noChangeArrowheads="1"/>
          </p:cNvSpPr>
          <p:nvPr/>
        </p:nvSpPr>
        <p:spPr bwMode="auto">
          <a:xfrm>
            <a:off x="7310438" y="5084763"/>
            <a:ext cx="906462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>
                <a:solidFill>
                  <a:schemeClr val="tx1"/>
                </a:solidFill>
              </a:rPr>
              <a:t>Medida:</a:t>
            </a:r>
          </a:p>
        </p:txBody>
      </p:sp>
      <p:pic>
        <p:nvPicPr>
          <p:cNvPr id="2151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9"/>
          <a:stretch>
            <a:fillRect/>
          </a:stretch>
        </p:blipFill>
        <p:spPr bwMode="auto">
          <a:xfrm>
            <a:off x="3930650" y="3359150"/>
            <a:ext cx="3390900" cy="259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3674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Estimativa do valor correto da grandeza medida: Valor médio</a:t>
            </a:r>
          </a:p>
          <a:p>
            <a:pPr algn="just" eaLnBrk="1" hangingPunct="1"/>
            <a:endParaRPr lang="pt-BR" sz="14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Como os erros aleatórios tendem a desviar aleatoriamente as medidas feitas, se forem realizadas muitas medições aproximadamente a metade das medidas feitas estará acima e a outra metade estará abaixo do valor correto. Por isso, uma boa estimativa para o valor correto da grandeza será a </a:t>
            </a:r>
            <a:r>
              <a:rPr lang="pt-BR" sz="1600" b="1" dirty="0">
                <a:solidFill>
                  <a:schemeClr val="tx1"/>
                </a:solidFill>
              </a:rPr>
              <a:t>média aritmética</a:t>
            </a:r>
            <a:r>
              <a:rPr lang="pt-BR" sz="1600" dirty="0">
                <a:solidFill>
                  <a:schemeClr val="tx1"/>
                </a:solidFill>
              </a:rPr>
              <a:t> dos valores medidos: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Onde: onde </a:t>
            </a:r>
            <a:r>
              <a:rPr lang="pt-BR" sz="1600" i="1" dirty="0">
                <a:solidFill>
                  <a:schemeClr val="tx1"/>
                </a:solidFill>
              </a:rPr>
              <a:t>x</a:t>
            </a:r>
            <a:r>
              <a:rPr lang="pt-BR" sz="1600" i="1" baseline="-25000" dirty="0">
                <a:solidFill>
                  <a:schemeClr val="tx1"/>
                </a:solidFill>
              </a:rPr>
              <a:t>i</a:t>
            </a:r>
            <a:r>
              <a:rPr lang="pt-BR" sz="1600" dirty="0">
                <a:solidFill>
                  <a:schemeClr val="tx1"/>
                </a:solidFill>
              </a:rPr>
              <a:t> é o resultado da </a:t>
            </a:r>
            <a:r>
              <a:rPr lang="pt-BR" sz="1600" i="1" dirty="0">
                <a:solidFill>
                  <a:schemeClr val="tx1"/>
                </a:solidFill>
              </a:rPr>
              <a:t>i</a:t>
            </a:r>
            <a:r>
              <a:rPr lang="pt-BR" sz="1600" dirty="0">
                <a:solidFill>
                  <a:schemeClr val="tx1"/>
                </a:solidFill>
              </a:rPr>
              <a:t>-</a:t>
            </a:r>
            <a:r>
              <a:rPr lang="pt-BR" sz="1600" dirty="0" err="1">
                <a:solidFill>
                  <a:schemeClr val="tx1"/>
                </a:solidFill>
              </a:rPr>
              <a:t>ésima</a:t>
            </a:r>
            <a:r>
              <a:rPr lang="pt-BR" sz="1600" dirty="0">
                <a:solidFill>
                  <a:schemeClr val="tx1"/>
                </a:solidFill>
              </a:rPr>
              <a:t> medida e N é o número total de medidas feitas.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20" t="62593" r="44225" b="29832"/>
          <a:stretch>
            <a:fillRect/>
          </a:stretch>
        </p:blipFill>
        <p:spPr bwMode="auto">
          <a:xfrm>
            <a:off x="1042988" y="3067050"/>
            <a:ext cx="187325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78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3940" name="Group 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15831"/>
              </p:ext>
            </p:extLst>
          </p:nvPr>
        </p:nvGraphicFramePr>
        <p:xfrm>
          <a:off x="2627313" y="2133600"/>
          <a:ext cx="5520054" cy="2763838"/>
        </p:xfrm>
        <a:graphic>
          <a:graphicData uri="http://schemas.openxmlformats.org/drawingml/2006/table">
            <a:tbl>
              <a:tblPr/>
              <a:tblGrid>
                <a:gridCol w="2711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4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Valor medido (cm -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±0,05cm</a:t>
                      </a: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1,53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1,50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1,55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1,49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Somatório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Número de amostras (N)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4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Valor médio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3589" name="Picture 1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20" t="62593" r="44225" b="29832"/>
          <a:stretch>
            <a:fillRect/>
          </a:stretch>
        </p:blipFill>
        <p:spPr bwMode="auto">
          <a:xfrm>
            <a:off x="179388" y="4508500"/>
            <a:ext cx="187325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02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Dispersão das medidas e precisão da estimativa: Desvio Padrão</a:t>
            </a:r>
          </a:p>
          <a:p>
            <a:pPr algn="just" eaLnBrk="1" hangingPunct="1"/>
            <a:endParaRPr lang="pt-BR" sz="14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Ao se realizar várias medições da mesma grandeza nas mesmas condições, a incidência de erros aleatórios faz com que os valores medidos estejam distribuídos em torno da média. Quando eles se afastam muito da média, a medida é pouco precisa e o conjunto de valores medidos tem alta dispersão. Quando o conjunto de medidas feitas está mais concentrado em torno da média diz-se que a precisão da medida é alta, e os valores medidos tem uma distribuição de baixa dispersão. Quantitativamente a dispersão de conjunto de medidas realizadas pode ser caracterizada pelo </a:t>
            </a:r>
            <a:r>
              <a:rPr lang="pt-BR" sz="1600" b="1" dirty="0">
                <a:solidFill>
                  <a:schemeClr val="tx1"/>
                </a:solidFill>
              </a:rPr>
              <a:t>desvio padrão</a:t>
            </a:r>
            <a:r>
              <a:rPr lang="pt-BR" sz="1600" dirty="0">
                <a:solidFill>
                  <a:schemeClr val="tx1"/>
                </a:solidFill>
              </a:rPr>
              <a:t> do conjunto de medidas, definido como: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Conjuntos de medidas com desvio padrão baixo são mais precisas do que quando o desvio padrão é alto. Adicionalmente, pode-se demonstrar que o desvio padrão caracteriza o intervalo dentro do qual há 68% de probabilidade de ocorrência de um valor medido. Dito de outra forma, isto significa que se for feito um conjunto muito grande de medições, 68% delas estarão dentro do intervalo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ssss</a:t>
            </a:r>
            <a:r>
              <a:rPr lang="pt-BR" sz="1600" dirty="0">
                <a:solidFill>
                  <a:schemeClr val="tx1"/>
                </a:solidFill>
              </a:rPr>
              <a:t>       -S  e      +S.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77" t="39926" r="40555" b="52518"/>
          <a:stretch>
            <a:fillRect/>
          </a:stretch>
        </p:blipFill>
        <p:spPr bwMode="auto">
          <a:xfrm>
            <a:off x="3059113" y="3789363"/>
            <a:ext cx="25193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5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63070"/>
              </p:ext>
            </p:extLst>
          </p:nvPr>
        </p:nvGraphicFramePr>
        <p:xfrm>
          <a:off x="669927" y="5907880"/>
          <a:ext cx="2127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80" imgH="215526" progId="Equation.3">
                  <p:embed/>
                </p:oleObj>
              </mc:Choice>
              <mc:Fallback>
                <p:oleObj name="Equation" r:id="rId3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7" y="5907880"/>
                        <a:ext cx="21272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835741"/>
              </p:ext>
            </p:extLst>
          </p:nvPr>
        </p:nvGraphicFramePr>
        <p:xfrm>
          <a:off x="1520827" y="5895179"/>
          <a:ext cx="2127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80" imgH="215526" progId="Equation.3">
                  <p:embed/>
                </p:oleObj>
              </mc:Choice>
              <mc:Fallback>
                <p:oleObj name="Equation" r:id="rId5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827" y="5895179"/>
                        <a:ext cx="2127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8988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1787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34419"/>
              </p:ext>
            </p:extLst>
          </p:nvPr>
        </p:nvGraphicFramePr>
        <p:xfrm>
          <a:off x="468313" y="2133600"/>
          <a:ext cx="7704137" cy="2762250"/>
        </p:xfrm>
        <a:graphic>
          <a:graphicData uri="http://schemas.openxmlformats.org/drawingml/2006/table">
            <a:tbl>
              <a:tblPr/>
              <a:tblGrid>
                <a:gridCol w="287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41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Valor medido (cm -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±0,05cm</a:t>
                      </a: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(x -    )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(x -    )</a:t>
                      </a:r>
                      <a:r>
                        <a:rPr kumimoji="0" lang="pt-BR" sz="16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2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1,53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1,50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1,55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1,49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2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Número de amostras (N)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4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Valor médio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quare721 BT" pitchFamily="32" charset="0"/>
                        </a:rPr>
                        <a:t>S</a:t>
                      </a: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pt-B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quare721 BT" pitchFamily="32" charset="0"/>
                      </a:endParaRPr>
                    </a:p>
                  </a:txBody>
                  <a:tcPr marT="4573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5663" name="Object 49"/>
          <p:cNvGraphicFramePr>
            <a:graphicFrameLocks noChangeAspect="1"/>
          </p:cNvGraphicFramePr>
          <p:nvPr/>
        </p:nvGraphicFramePr>
        <p:xfrm>
          <a:off x="6516688" y="2349500"/>
          <a:ext cx="2127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80" imgH="215526" progId="Equation.3">
                  <p:embed/>
                </p:oleObj>
              </mc:Choice>
              <mc:Fallback>
                <p:oleObj name="Equation" r:id="rId2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349500"/>
                        <a:ext cx="2127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4" name="Object 68"/>
          <p:cNvGraphicFramePr>
            <a:graphicFrameLocks noChangeAspect="1"/>
          </p:cNvGraphicFramePr>
          <p:nvPr/>
        </p:nvGraphicFramePr>
        <p:xfrm>
          <a:off x="7524750" y="2349500"/>
          <a:ext cx="2127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80" imgH="215526" progId="Equation.3">
                  <p:embed/>
                </p:oleObj>
              </mc:Choice>
              <mc:Fallback>
                <p:oleObj name="Equation" r:id="rId2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2349500"/>
                        <a:ext cx="2127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65" name="Picture 6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77" t="39926" r="40555" b="52518"/>
          <a:stretch>
            <a:fillRect/>
          </a:stretch>
        </p:blipFill>
        <p:spPr bwMode="auto">
          <a:xfrm>
            <a:off x="2973388" y="1228726"/>
            <a:ext cx="25193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66" name="Picture 7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20" t="62593" r="44225" b="29832"/>
          <a:stretch>
            <a:fillRect/>
          </a:stretch>
        </p:blipFill>
        <p:spPr bwMode="auto">
          <a:xfrm>
            <a:off x="912813" y="1190626"/>
            <a:ext cx="13684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816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ChangeArrowheads="1"/>
          </p:cNvSpPr>
          <p:nvPr/>
        </p:nvSpPr>
        <p:spPr bwMode="auto">
          <a:xfrm>
            <a:off x="0" y="754063"/>
            <a:ext cx="9143999" cy="418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Propagação de erros em cálculos</a:t>
            </a:r>
          </a:p>
          <a:p>
            <a:pPr algn="just" eaLnBrk="1" hangingPunct="1"/>
            <a:endParaRPr lang="pt-BR" sz="14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Geralmente é necessário usar valores medidos e afetados por erros para realizar cálculos a fim de se obter o valor de outras grandezas. É necessário conhecer como o erro na medida original afeta a grandeza final.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a)	Soma e subtração de grandezas afetadas por erros: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A análise estatística rigorosa mostra que ao somarmos ou subtrairmos grandezas estatisticamente independentes o erro no resultado será dado pela raiz quadrada da soma dos quadrados dos erros de cada uma das grandezas. Por exemplo, se tivermos três grandezas </a:t>
            </a:r>
            <a:r>
              <a:rPr lang="pt-BR" sz="1600" dirty="0" err="1">
                <a:solidFill>
                  <a:schemeClr val="bg1"/>
                </a:solidFill>
              </a:rPr>
              <a:t>ssss</a:t>
            </a:r>
            <a:r>
              <a:rPr lang="pt-BR" sz="1600" dirty="0">
                <a:solidFill>
                  <a:schemeClr val="bg1"/>
                </a:solidFill>
              </a:rPr>
              <a:t>  </a:t>
            </a:r>
            <a:r>
              <a:rPr lang="pt-BR" sz="1600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dadas por:                     ,                      e                    , a soma (ou subtração) delas,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será afetada por erro de valor</a:t>
            </a:r>
          </a:p>
        </p:txBody>
      </p:sp>
      <p:graphicFrame>
        <p:nvGraphicFramePr>
          <p:cNvPr id="276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408496"/>
              </p:ext>
            </p:extLst>
          </p:nvPr>
        </p:nvGraphicFramePr>
        <p:xfrm>
          <a:off x="1187450" y="3570288"/>
          <a:ext cx="8636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253890" progId="Equation.3">
                  <p:embed/>
                </p:oleObj>
              </mc:Choice>
              <mc:Fallback>
                <p:oleObj name="Equation" r:id="rId2" imgW="571252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570288"/>
                        <a:ext cx="8636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184543"/>
              </p:ext>
            </p:extLst>
          </p:nvPr>
        </p:nvGraphicFramePr>
        <p:xfrm>
          <a:off x="2555875" y="3594100"/>
          <a:ext cx="8636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253890" progId="Equation.3">
                  <p:embed/>
                </p:oleObj>
              </mc:Choice>
              <mc:Fallback>
                <p:oleObj name="Equation" r:id="rId4" imgW="571252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94100"/>
                        <a:ext cx="8636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876835"/>
              </p:ext>
            </p:extLst>
          </p:nvPr>
        </p:nvGraphicFramePr>
        <p:xfrm>
          <a:off x="3871913" y="3594100"/>
          <a:ext cx="84455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558" imgH="253890" progId="Equation.3">
                  <p:embed/>
                </p:oleObj>
              </mc:Choice>
              <mc:Fallback>
                <p:oleObj name="Equation" r:id="rId6" imgW="558558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3" y="3594100"/>
                        <a:ext cx="84455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406541"/>
              </p:ext>
            </p:extLst>
          </p:nvPr>
        </p:nvGraphicFramePr>
        <p:xfrm>
          <a:off x="3619501" y="4152106"/>
          <a:ext cx="187166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200" imgH="190500" progId="Equation.3">
                  <p:embed/>
                </p:oleObj>
              </mc:Choice>
              <mc:Fallback>
                <p:oleObj name="Equation" r:id="rId8" imgW="8382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1" y="4152106"/>
                        <a:ext cx="187166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4"/>
          <p:cNvGraphicFramePr>
            <a:graphicFrameLocks noChangeAspect="1"/>
          </p:cNvGraphicFramePr>
          <p:nvPr/>
        </p:nvGraphicFramePr>
        <p:xfrm>
          <a:off x="2530475" y="5194300"/>
          <a:ext cx="394176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65300" imgH="292100" progId="Equation.3">
                  <p:embed/>
                </p:oleObj>
              </mc:Choice>
              <mc:Fallback>
                <p:oleObj name="Equation" r:id="rId10" imgW="1765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5194300"/>
                        <a:ext cx="394176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980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/>
          <p:cNvSpPr>
            <a:spLocks noChangeArrowheads="1"/>
          </p:cNvSpPr>
          <p:nvPr/>
        </p:nvSpPr>
        <p:spPr bwMode="auto">
          <a:xfrm>
            <a:off x="36513" y="881063"/>
            <a:ext cx="8928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	b)	Multiplicação e divisão de grandezas afetadas por erros:</a:t>
            </a:r>
          </a:p>
          <a:p>
            <a:pPr algn="just" eaLnBrk="1" hangingPunct="1"/>
            <a:endParaRPr lang="pt-BR" sz="16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Neste caso, o </a:t>
            </a:r>
            <a:r>
              <a:rPr lang="pt-BR" sz="1600" b="1" dirty="0">
                <a:solidFill>
                  <a:schemeClr val="tx1"/>
                </a:solidFill>
              </a:rPr>
              <a:t>erro relativo</a:t>
            </a:r>
            <a:r>
              <a:rPr lang="pt-BR" sz="1600" dirty="0">
                <a:solidFill>
                  <a:schemeClr val="tx1"/>
                </a:solidFill>
              </a:rPr>
              <a:t> do resultado será dado pela raiz quadrada da soma dos quadrados dos </a:t>
            </a:r>
            <a:r>
              <a:rPr lang="pt-BR" sz="1600" b="1" dirty="0">
                <a:solidFill>
                  <a:schemeClr val="tx1"/>
                </a:solidFill>
              </a:rPr>
              <a:t>erros relativos</a:t>
            </a:r>
            <a:r>
              <a:rPr lang="pt-BR" sz="1600" dirty="0">
                <a:solidFill>
                  <a:schemeClr val="tx1"/>
                </a:solidFill>
              </a:rPr>
              <a:t> de cada fator. Por exemplo, se w = x/y teremos:</a:t>
            </a: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600" dirty="0">
              <a:solidFill>
                <a:schemeClr val="tx1"/>
              </a:solidFill>
            </a:endParaRPr>
          </a:p>
        </p:txBody>
      </p:sp>
      <p:pic>
        <p:nvPicPr>
          <p:cNvPr id="2867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2835275"/>
            <a:ext cx="2665413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67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495351"/>
              </p:ext>
            </p:extLst>
          </p:nvPr>
        </p:nvGraphicFramePr>
        <p:xfrm>
          <a:off x="174625" y="2144713"/>
          <a:ext cx="109061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474" imgH="190417" progId="Equation.3">
                  <p:embed/>
                </p:oleObj>
              </mc:Choice>
              <mc:Fallback>
                <p:oleObj name="Equation" r:id="rId3" imgW="520474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" y="2144713"/>
                        <a:ext cx="1090613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4703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754063"/>
            <a:ext cx="9143999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Interpolação linear</a:t>
            </a:r>
          </a:p>
          <a:p>
            <a:pPr algn="just" eaLnBrk="1" hangingPunct="1"/>
            <a:endParaRPr lang="pt-BR" sz="1400" b="1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sz="1600" dirty="0">
                <a:solidFill>
                  <a:schemeClr val="tx1"/>
                </a:solidFill>
              </a:rPr>
              <a:t>	Considere um experimento onde duas grandezas (x e y) são medidas, você ainda não sabe como tais grandezas relacionam-se matematicamente.  O resultados obtidos estão na tabela abaixo e no gráfico ao lado temos y como função de x (y(x)). Por observação percebemos que a relação entre as grandezas é linear, ou seja, é uma reta, queremos então descobrir a reta que mais adequadamente se ajusta aos resultados, ou seja, queremos fazer uma interpolação linear.</a:t>
            </a:r>
          </a:p>
        </p:txBody>
      </p:sp>
      <p:graphicFrame>
        <p:nvGraphicFramePr>
          <p:cNvPr id="553042" name="Group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624095"/>
              </p:ext>
            </p:extLst>
          </p:nvPr>
        </p:nvGraphicFramePr>
        <p:xfrm>
          <a:off x="107950" y="3525838"/>
          <a:ext cx="863600" cy="181328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0,1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2,1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4,3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6,2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8,5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989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10,1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72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251349"/>
              </p:ext>
            </p:extLst>
          </p:nvPr>
        </p:nvGraphicFramePr>
        <p:xfrm>
          <a:off x="1042988" y="3238500"/>
          <a:ext cx="2159000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2428736" imgH="3667088" progId="Excel.Chart.8">
                  <p:embed/>
                </p:oleObj>
              </mc:Choice>
              <mc:Fallback>
                <p:oleObj name="Gráfico" r:id="rId2" imgW="2428736" imgH="3667088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948" t="3896" r="5164" b="3810"/>
                      <a:stretch>
                        <a:fillRect/>
                      </a:stretch>
                    </p:blipFill>
                    <p:spPr bwMode="auto">
                      <a:xfrm>
                        <a:off x="1042988" y="3238500"/>
                        <a:ext cx="2159000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Text Box 76"/>
          <p:cNvSpPr txBox="1">
            <a:spLocks noChangeArrowheads="1"/>
          </p:cNvSpPr>
          <p:nvPr/>
        </p:nvSpPr>
        <p:spPr bwMode="auto">
          <a:xfrm>
            <a:off x="3517900" y="3448050"/>
            <a:ext cx="5626099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600" dirty="0">
                <a:solidFill>
                  <a:schemeClr val="tx1"/>
                </a:solidFill>
              </a:rPr>
              <a:t>	Procuramos a e b, tais que, y(x) = </a:t>
            </a:r>
            <a:r>
              <a:rPr lang="pt-BR" sz="1600" dirty="0" err="1">
                <a:solidFill>
                  <a:schemeClr val="tx1"/>
                </a:solidFill>
              </a:rPr>
              <a:t>ax</a:t>
            </a:r>
            <a:r>
              <a:rPr lang="pt-BR" sz="1600" dirty="0">
                <a:solidFill>
                  <a:schemeClr val="tx1"/>
                </a:solidFill>
              </a:rPr>
              <a:t> + b (</a:t>
            </a:r>
            <a:r>
              <a:rPr lang="el-GR" sz="1600" dirty="0">
                <a:solidFill>
                  <a:schemeClr val="tx1"/>
                </a:solidFill>
              </a:rPr>
              <a:t>β</a:t>
            </a:r>
            <a:r>
              <a:rPr lang="pt-BR" sz="1600" dirty="0">
                <a:solidFill>
                  <a:schemeClr val="tx1"/>
                </a:solidFill>
              </a:rPr>
              <a:t>) esteja o menos distante possível dos pontos obtidos experimentalmente. Estes valores são obtidos com as seguintes equações:</a:t>
            </a:r>
          </a:p>
        </p:txBody>
      </p:sp>
      <p:pic>
        <p:nvPicPr>
          <p:cNvPr id="29727" name="Picture 7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5" t="51685" r="16667" b="34038"/>
          <a:stretch>
            <a:fillRect/>
          </a:stretch>
        </p:blipFill>
        <p:spPr bwMode="auto">
          <a:xfrm>
            <a:off x="3203575" y="4533900"/>
            <a:ext cx="5795963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468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018" name="Group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60994"/>
              </p:ext>
            </p:extLst>
          </p:nvPr>
        </p:nvGraphicFramePr>
        <p:xfrm>
          <a:off x="250825" y="2276475"/>
          <a:ext cx="2160588" cy="2102075"/>
        </p:xfrm>
        <a:graphic>
          <a:graphicData uri="http://schemas.openxmlformats.org/drawingml/2006/table">
            <a:tbl>
              <a:tblPr/>
              <a:tblGrid>
                <a:gridCol w="309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732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.y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marT="45689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(x</a:t>
                      </a:r>
                      <a:r>
                        <a:rPr kumimoji="0" lang="en-US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  <a:r>
                        <a:rPr kumimoji="0" 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689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0,1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2,1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2,1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4,3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4,6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6,2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18,6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8,5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34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17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10,1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50,5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1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113,8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55</a:t>
                      </a:r>
                    </a:p>
                  </a:txBody>
                  <a:tcPr marT="45689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0768" name="Picture 29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5" t="51685" r="16667" b="34038"/>
          <a:stretch>
            <a:fillRect/>
          </a:stretch>
        </p:blipFill>
        <p:spPr bwMode="auto">
          <a:xfrm>
            <a:off x="107950" y="692150"/>
            <a:ext cx="8712200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9" name="Text Box 83"/>
          <p:cNvSpPr txBox="1">
            <a:spLocks noChangeArrowheads="1"/>
          </p:cNvSpPr>
          <p:nvPr/>
        </p:nvSpPr>
        <p:spPr bwMode="auto">
          <a:xfrm>
            <a:off x="231775" y="4575175"/>
            <a:ext cx="19494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>
                <a:solidFill>
                  <a:schemeClr val="tx1"/>
                </a:solidFill>
              </a:rPr>
              <a:t>a = 113,8/55 = 2,07</a:t>
            </a:r>
          </a:p>
          <a:p>
            <a:r>
              <a:rPr lang="pt-BR" sz="1600">
                <a:solidFill>
                  <a:schemeClr val="tx1"/>
                </a:solidFill>
              </a:rPr>
              <a:t>b = 0</a:t>
            </a:r>
          </a:p>
        </p:txBody>
      </p:sp>
      <p:graphicFrame>
        <p:nvGraphicFramePr>
          <p:cNvPr id="30770" name="Object 84"/>
          <p:cNvGraphicFramePr>
            <a:graphicFrameLocks noChangeAspect="1"/>
          </p:cNvGraphicFramePr>
          <p:nvPr/>
        </p:nvGraphicFramePr>
        <p:xfrm>
          <a:off x="4500563" y="2276475"/>
          <a:ext cx="2160587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3" imgW="2428736" imgH="3667088" progId="Excel.Chart.8">
                  <p:embed/>
                </p:oleObj>
              </mc:Choice>
              <mc:Fallback>
                <p:oleObj name="Gráfico" r:id="rId3" imgW="2428736" imgH="3667088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882" t="3940" r="5162" b="5714"/>
                      <a:stretch>
                        <a:fillRect/>
                      </a:stretch>
                    </p:blipFill>
                    <p:spPr bwMode="auto">
                      <a:xfrm>
                        <a:off x="4500563" y="2276475"/>
                        <a:ext cx="2160587" cy="331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1722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22f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367347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5" descr="n1a10f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271838"/>
            <a:ext cx="4810125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7" descr="a11fig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850" y="836613"/>
            <a:ext cx="3105150" cy="27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1171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 b="1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991579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2026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947</TotalTime>
  <Words>2876</Words>
  <Application>Microsoft Office PowerPoint</Application>
  <PresentationFormat>Apresentação na tela (4:3)</PresentationFormat>
  <Paragraphs>266</Paragraphs>
  <Slides>34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34</vt:i4>
      </vt:variant>
    </vt:vector>
  </HeadingPairs>
  <TitlesOfParts>
    <vt:vector size="51" baseType="lpstr">
      <vt:lpstr>-apple-system</vt:lpstr>
      <vt:lpstr>Arial</vt:lpstr>
      <vt:lpstr>Calibri</vt:lpstr>
      <vt:lpstr>Gotham HTF</vt:lpstr>
      <vt:lpstr>Gotham HTF Book</vt:lpstr>
      <vt:lpstr>Gotham-Bold</vt:lpstr>
      <vt:lpstr>Gotham-Book</vt:lpstr>
      <vt:lpstr>Square721 BT</vt:lpstr>
      <vt:lpstr>Times New Roman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Equation</vt:lpstr>
      <vt:lpstr>Gráfico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</cp:lastModifiedBy>
  <cp:revision>221</cp:revision>
  <cp:lastPrinted>2016-02-24T15:49:21Z</cp:lastPrinted>
  <dcterms:created xsi:type="dcterms:W3CDTF">2015-02-07T21:24:47Z</dcterms:created>
  <dcterms:modified xsi:type="dcterms:W3CDTF">2026-03-04T11:31:20Z</dcterms:modified>
</cp:coreProperties>
</file>