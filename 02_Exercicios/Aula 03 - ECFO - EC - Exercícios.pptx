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8"/>
  </p:notesMasterIdLst>
  <p:handoutMasterIdLst>
    <p:handoutMasterId r:id="rId19"/>
  </p:handoutMasterIdLst>
  <p:sldIdLst>
    <p:sldId id="256" r:id="rId6"/>
    <p:sldId id="266" r:id="rId7"/>
    <p:sldId id="258" r:id="rId8"/>
    <p:sldId id="259" r:id="rId9"/>
    <p:sldId id="420" r:id="rId10"/>
    <p:sldId id="421" r:id="rId11"/>
    <p:sldId id="422" r:id="rId12"/>
    <p:sldId id="423" r:id="rId13"/>
    <p:sldId id="424" r:id="rId14"/>
    <p:sldId id="425" r:id="rId15"/>
    <p:sldId id="428" r:id="rId16"/>
    <p:sldId id="265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00"/>
    <a:srgbClr val="F0265D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68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26/03/2026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613131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b="1" kern="1200" noProof="0" dirty="0">
                <a:solidFill>
                  <a:srgbClr val="303030"/>
                </a:solidFill>
                <a:latin typeface="Gotham HTF" pitchFamily="2" charset="0"/>
                <a:ea typeface="+mn-ea"/>
                <a:cs typeface="Gotham-Bold"/>
              </a:rPr>
              <a:t>Energia,</a:t>
            </a:r>
            <a:r>
              <a:rPr lang="pt-BR" sz="2800" b="1" kern="1200" baseline="0" noProof="0" dirty="0">
                <a:solidFill>
                  <a:srgbClr val="303030"/>
                </a:solidFill>
                <a:latin typeface="Gotham HTF" pitchFamily="2" charset="0"/>
                <a:ea typeface="+mn-ea"/>
                <a:cs typeface="Gotham-Bold"/>
              </a:rPr>
              <a:t> Cinemática, Força e Ondas</a:t>
            </a:r>
            <a:endParaRPr lang="pt-BR" sz="2800" b="1" noProof="0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2026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4" name="TextBox 20"/>
          <p:cNvSpPr txBox="1"/>
          <p:nvPr/>
        </p:nvSpPr>
        <p:spPr>
          <a:xfrm>
            <a:off x="1042704" y="3898936"/>
            <a:ext cx="498979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FFFFFF"/>
                </a:solidFill>
                <a:latin typeface="Gotham-Book"/>
                <a:cs typeface="Gotham-Book"/>
              </a:rPr>
              <a:t>Energia, Cinemática, Forças e Ondas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73100" y="2043837"/>
            <a:ext cx="629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solidFill>
                  <a:srgbClr val="FF0000"/>
                </a:solidFill>
                <a:latin typeface="Gotham-Book"/>
              </a:rPr>
              <a:t>*	Exercícios.</a:t>
            </a:r>
          </a:p>
        </p:txBody>
      </p:sp>
      <p:pic>
        <p:nvPicPr>
          <p:cNvPr id="3" name="Imagem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2274669"/>
            <a:ext cx="260032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" y="747713"/>
            <a:ext cx="9144000" cy="603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Exercício 01</a:t>
            </a:r>
          </a:p>
          <a:p>
            <a:pPr algn="just" eaLnBrk="1" hangingPunct="1">
              <a:lnSpc>
                <a:spcPct val="150000"/>
              </a:lnSpc>
            </a:pPr>
            <a:endParaRPr lang="pt-BR" sz="800" dirty="0">
              <a:solidFill>
                <a:schemeClr val="tx1"/>
              </a:solidFill>
            </a:endParaRPr>
          </a:p>
          <a:p>
            <a:r>
              <a:rPr lang="pt-BR" sz="1500" dirty="0">
                <a:solidFill>
                  <a:schemeClr val="tx1"/>
                </a:solidFill>
              </a:rPr>
              <a:t>	Um marco importante para a evolução do Universo logo após o Big-</a:t>
            </a:r>
            <a:r>
              <a:rPr lang="pt-BR" sz="1500" dirty="0" err="1">
                <a:solidFill>
                  <a:schemeClr val="tx1"/>
                </a:solidFill>
              </a:rPr>
              <a:t>Bang</a:t>
            </a:r>
            <a:r>
              <a:rPr lang="pt-BR" sz="1500" dirty="0">
                <a:solidFill>
                  <a:schemeClr val="tx1"/>
                </a:solidFill>
              </a:rPr>
              <a:t> é o tempo de Planck, </a:t>
            </a:r>
            <a:r>
              <a:rPr lang="pt-BR" sz="1500" i="1" dirty="0" err="1">
                <a:solidFill>
                  <a:schemeClr val="tx1"/>
                </a:solidFill>
              </a:rPr>
              <a:t>t</a:t>
            </a:r>
            <a:r>
              <a:rPr lang="pt-BR" sz="1500" i="1" baseline="-25000" dirty="0" err="1">
                <a:solidFill>
                  <a:schemeClr val="tx1"/>
                </a:solidFill>
              </a:rPr>
              <a:t>p</a:t>
            </a:r>
            <a:r>
              <a:rPr lang="pt-BR" sz="1500" dirty="0">
                <a:solidFill>
                  <a:schemeClr val="tx1"/>
                </a:solidFill>
              </a:rPr>
              <a:t>, cujo valor depende de quatro constantes:</a:t>
            </a:r>
          </a:p>
          <a:p>
            <a:r>
              <a:rPr lang="pt-BR" sz="1500" dirty="0">
                <a:solidFill>
                  <a:schemeClr val="tx1"/>
                </a:solidFill>
              </a:rPr>
              <a:t> </a:t>
            </a:r>
          </a:p>
          <a:p>
            <a:r>
              <a:rPr lang="pt-BR" sz="1500" dirty="0">
                <a:solidFill>
                  <a:schemeClr val="tx1"/>
                </a:solidFill>
              </a:rPr>
              <a:t>*	A velocidade da luz no vácuo: </a:t>
            </a:r>
            <a:r>
              <a:rPr lang="pt-BR" sz="1500" b="1" dirty="0">
                <a:solidFill>
                  <a:schemeClr val="tx1"/>
                </a:solidFill>
              </a:rPr>
              <a:t>c </a:t>
            </a:r>
            <a:r>
              <a:rPr lang="pt-BR" sz="1500" dirty="0">
                <a:solidFill>
                  <a:schemeClr val="tx1"/>
                </a:solidFill>
              </a:rPr>
              <a:t>= 3,00 x 10</a:t>
            </a:r>
            <a:r>
              <a:rPr lang="pt-BR" sz="1500" baseline="30000" dirty="0">
                <a:solidFill>
                  <a:schemeClr val="tx1"/>
                </a:solidFill>
              </a:rPr>
              <a:t>8</a:t>
            </a:r>
            <a:r>
              <a:rPr lang="pt-BR" sz="1500" dirty="0">
                <a:solidFill>
                  <a:schemeClr val="tx1"/>
                </a:solidFill>
              </a:rPr>
              <a:t> </a:t>
            </a:r>
            <a:r>
              <a:rPr lang="pt-BR" sz="1500" b="1" dirty="0">
                <a:solidFill>
                  <a:schemeClr val="tx1"/>
                </a:solidFill>
              </a:rPr>
              <a:t>m/s</a:t>
            </a:r>
            <a:r>
              <a:rPr lang="pt-BR" sz="1500" dirty="0">
                <a:solidFill>
                  <a:schemeClr val="tx1"/>
                </a:solidFill>
              </a:rPr>
              <a:t>;</a:t>
            </a:r>
          </a:p>
          <a:p>
            <a:r>
              <a:rPr lang="pt-BR" sz="1500" dirty="0">
                <a:solidFill>
                  <a:schemeClr val="tx1"/>
                </a:solidFill>
              </a:rPr>
              <a:t>*	A constante gravitacional de Newton: </a:t>
            </a:r>
            <a:r>
              <a:rPr lang="pt-BR" sz="1500" b="1" dirty="0">
                <a:solidFill>
                  <a:schemeClr val="tx1"/>
                </a:solidFill>
              </a:rPr>
              <a:t>G </a:t>
            </a:r>
            <a:r>
              <a:rPr lang="pt-BR" sz="1500" dirty="0">
                <a:solidFill>
                  <a:schemeClr val="tx1"/>
                </a:solidFill>
              </a:rPr>
              <a:t>= 6,6710</a:t>
            </a:r>
            <a:r>
              <a:rPr lang="pt-BR" sz="1500" baseline="30000" dirty="0">
                <a:solidFill>
                  <a:schemeClr val="tx1"/>
                </a:solidFill>
              </a:rPr>
              <a:t>–11</a:t>
            </a:r>
            <a:r>
              <a:rPr lang="pt-BR" sz="1500" dirty="0">
                <a:solidFill>
                  <a:schemeClr val="tx1"/>
                </a:solidFill>
              </a:rPr>
              <a:t> </a:t>
            </a:r>
            <a:r>
              <a:rPr lang="pt-BR" sz="1500" b="1" dirty="0">
                <a:solidFill>
                  <a:schemeClr val="tx1"/>
                </a:solidFill>
              </a:rPr>
              <a:t>m</a:t>
            </a:r>
            <a:r>
              <a:rPr lang="pt-BR" sz="1500" b="1" baseline="30000" dirty="0">
                <a:solidFill>
                  <a:schemeClr val="tx1"/>
                </a:solidFill>
              </a:rPr>
              <a:t>3</a:t>
            </a:r>
            <a:r>
              <a:rPr lang="pt-BR" sz="1500" b="1" dirty="0">
                <a:solidFill>
                  <a:schemeClr val="tx1"/>
                </a:solidFill>
              </a:rPr>
              <a:t>/(s</a:t>
            </a:r>
            <a:r>
              <a:rPr lang="pt-BR" sz="1500" b="1" baseline="30000" dirty="0">
                <a:solidFill>
                  <a:schemeClr val="tx1"/>
                </a:solidFill>
              </a:rPr>
              <a:t>2</a:t>
            </a:r>
            <a:r>
              <a:rPr lang="pt-BR" sz="1500" b="1" dirty="0">
                <a:solidFill>
                  <a:schemeClr val="tx1"/>
                </a:solidFill>
              </a:rPr>
              <a:t>.kg)</a:t>
            </a:r>
            <a:r>
              <a:rPr lang="pt-BR" sz="1500" dirty="0">
                <a:solidFill>
                  <a:schemeClr val="tx1"/>
                </a:solidFill>
              </a:rPr>
              <a:t>; e</a:t>
            </a:r>
          </a:p>
          <a:p>
            <a:r>
              <a:rPr lang="pt-BR" sz="1500" dirty="0">
                <a:solidFill>
                  <a:schemeClr val="tx1"/>
                </a:solidFill>
              </a:rPr>
              <a:t>*	A constante de Planck: </a:t>
            </a:r>
            <a:r>
              <a:rPr lang="pt-BR" sz="1500" b="1" dirty="0">
                <a:solidFill>
                  <a:schemeClr val="tx1"/>
                </a:solidFill>
              </a:rPr>
              <a:t>h </a:t>
            </a:r>
            <a:r>
              <a:rPr lang="pt-BR" sz="1500" dirty="0">
                <a:solidFill>
                  <a:schemeClr val="tx1"/>
                </a:solidFill>
              </a:rPr>
              <a:t>= 6,63x10</a:t>
            </a:r>
            <a:r>
              <a:rPr lang="pt-BR" sz="1500" baseline="30000" dirty="0">
                <a:solidFill>
                  <a:schemeClr val="tx1"/>
                </a:solidFill>
              </a:rPr>
              <a:t>–34</a:t>
            </a:r>
            <a:r>
              <a:rPr lang="pt-BR" sz="1500" dirty="0">
                <a:solidFill>
                  <a:schemeClr val="tx1"/>
                </a:solidFill>
              </a:rPr>
              <a:t> </a:t>
            </a:r>
            <a:r>
              <a:rPr lang="pt-BR" sz="1500" b="1" dirty="0">
                <a:solidFill>
                  <a:schemeClr val="tx1"/>
                </a:solidFill>
              </a:rPr>
              <a:t>kg.m</a:t>
            </a:r>
            <a:r>
              <a:rPr lang="pt-BR" sz="1500" b="1" baseline="30000" dirty="0">
                <a:solidFill>
                  <a:schemeClr val="tx1"/>
                </a:solidFill>
              </a:rPr>
              <a:t>2</a:t>
            </a:r>
            <a:r>
              <a:rPr lang="pt-BR" sz="1500" b="1" dirty="0">
                <a:solidFill>
                  <a:schemeClr val="tx1"/>
                </a:solidFill>
              </a:rPr>
              <a:t>/s</a:t>
            </a:r>
            <a:r>
              <a:rPr lang="pt-BR" sz="1500" dirty="0">
                <a:solidFill>
                  <a:schemeClr val="tx1"/>
                </a:solidFill>
              </a:rPr>
              <a:t>.</a:t>
            </a:r>
          </a:p>
          <a:p>
            <a:r>
              <a:rPr lang="pt-BR" sz="1500" b="1" dirty="0">
                <a:solidFill>
                  <a:schemeClr val="tx1"/>
                </a:solidFill>
              </a:rPr>
              <a:t>*</a:t>
            </a:r>
            <a:r>
              <a:rPr lang="pt-BR" sz="1500" dirty="0">
                <a:solidFill>
                  <a:schemeClr val="tx1"/>
                </a:solidFill>
              </a:rPr>
              <a:t>	A constante π = 3,141593</a:t>
            </a:r>
          </a:p>
          <a:p>
            <a:r>
              <a:rPr lang="pt-BR" sz="1500" b="1" dirty="0">
                <a:solidFill>
                  <a:schemeClr val="tx1"/>
                </a:solidFill>
              </a:rPr>
              <a:t> </a:t>
            </a:r>
            <a:endParaRPr lang="pt-BR" sz="1500" dirty="0">
              <a:solidFill>
                <a:schemeClr val="tx1"/>
              </a:solidFill>
            </a:endParaRPr>
          </a:p>
          <a:p>
            <a:r>
              <a:rPr lang="pt-BR" sz="1500" dirty="0">
                <a:solidFill>
                  <a:schemeClr val="tx1"/>
                </a:solidFill>
              </a:rPr>
              <a:t>O tempo de Planck equivale ao tempo em que o Universo começa a criar as primeiras partículas e é dado pela seguinte fórmula:</a:t>
            </a:r>
          </a:p>
          <a:p>
            <a:endParaRPr lang="pt-BR" sz="1500" dirty="0">
              <a:solidFill>
                <a:schemeClr val="tx1"/>
              </a:solidFill>
            </a:endParaRPr>
          </a:p>
          <a:p>
            <a:endParaRPr lang="pt-BR" sz="1500" dirty="0">
              <a:solidFill>
                <a:schemeClr val="tx1"/>
              </a:solidFill>
            </a:endParaRPr>
          </a:p>
          <a:p>
            <a:endParaRPr lang="pt-BR" sz="1500" dirty="0">
              <a:solidFill>
                <a:schemeClr val="tx1"/>
              </a:solidFill>
            </a:endParaRPr>
          </a:p>
          <a:p>
            <a:endParaRPr lang="pt-BR" sz="1500" dirty="0">
              <a:solidFill>
                <a:schemeClr val="tx1"/>
              </a:solidFill>
            </a:endParaRPr>
          </a:p>
          <a:p>
            <a:r>
              <a:rPr lang="pt-BR" sz="1500" b="1" dirty="0">
                <a:solidFill>
                  <a:schemeClr val="tx1"/>
                </a:solidFill>
              </a:rPr>
              <a:t>a)</a:t>
            </a:r>
            <a:r>
              <a:rPr lang="pt-BR" sz="1500" dirty="0">
                <a:solidFill>
                  <a:schemeClr val="tx1"/>
                </a:solidFill>
              </a:rPr>
              <a:t>	Obtenha o valor do </a:t>
            </a:r>
            <a:r>
              <a:rPr lang="pt-BR" sz="1500" dirty="0" err="1">
                <a:solidFill>
                  <a:schemeClr val="tx1"/>
                </a:solidFill>
              </a:rPr>
              <a:t>t</a:t>
            </a:r>
            <a:r>
              <a:rPr lang="pt-BR" sz="1500" baseline="-25000" dirty="0" err="1">
                <a:solidFill>
                  <a:schemeClr val="tx1"/>
                </a:solidFill>
              </a:rPr>
              <a:t>p</a:t>
            </a:r>
            <a:r>
              <a:rPr lang="pt-BR" sz="1500" dirty="0">
                <a:solidFill>
                  <a:schemeClr val="tx1"/>
                </a:solidFill>
              </a:rPr>
              <a:t> com duas e três casa após a vírgula usando aproximação por arredondamento. Qual a ordem de grandeza de </a:t>
            </a:r>
            <a:r>
              <a:rPr lang="pt-BR" sz="1500" dirty="0" err="1">
                <a:solidFill>
                  <a:schemeClr val="tx1"/>
                </a:solidFill>
              </a:rPr>
              <a:t>t</a:t>
            </a:r>
            <a:r>
              <a:rPr lang="pt-BR" sz="1500" baseline="-25000" dirty="0" err="1">
                <a:solidFill>
                  <a:schemeClr val="tx1"/>
                </a:solidFill>
              </a:rPr>
              <a:t>p</a:t>
            </a:r>
            <a:r>
              <a:rPr lang="pt-BR" sz="1500" dirty="0">
                <a:solidFill>
                  <a:schemeClr val="tx1"/>
                </a:solidFill>
              </a:rPr>
              <a:t>?</a:t>
            </a:r>
          </a:p>
          <a:p>
            <a:r>
              <a:rPr lang="pt-BR" sz="1500" b="1" dirty="0">
                <a:solidFill>
                  <a:schemeClr val="tx1"/>
                </a:solidFill>
              </a:rPr>
              <a:t> </a:t>
            </a:r>
            <a:endParaRPr lang="pt-BR" sz="1500" dirty="0">
              <a:solidFill>
                <a:schemeClr val="tx1"/>
              </a:solidFill>
            </a:endParaRPr>
          </a:p>
          <a:p>
            <a:r>
              <a:rPr lang="pt-BR" sz="1500" b="1" dirty="0">
                <a:solidFill>
                  <a:schemeClr val="tx1"/>
                </a:solidFill>
              </a:rPr>
              <a:t>b)	</a:t>
            </a:r>
            <a:r>
              <a:rPr lang="pt-BR" sz="1500" dirty="0">
                <a:solidFill>
                  <a:schemeClr val="tx1"/>
                </a:solidFill>
              </a:rPr>
              <a:t>Aproxime o valor da constante gravitacional de Newton para uma casa após a vírgula, use aproximação por arredondamento. Qual a ordem de grandeza da constante gravitacional de Newton?</a:t>
            </a:r>
          </a:p>
          <a:p>
            <a:r>
              <a:rPr lang="pt-BR" sz="1500" dirty="0">
                <a:solidFill>
                  <a:schemeClr val="tx1"/>
                </a:solidFill>
              </a:rPr>
              <a:t> </a:t>
            </a:r>
          </a:p>
          <a:p>
            <a:r>
              <a:rPr lang="pt-BR" sz="1500" b="1" dirty="0">
                <a:solidFill>
                  <a:schemeClr val="tx1"/>
                </a:solidFill>
              </a:rPr>
              <a:t>c)	</a:t>
            </a:r>
            <a:r>
              <a:rPr lang="pt-BR" sz="1500" dirty="0">
                <a:solidFill>
                  <a:schemeClr val="tx1"/>
                </a:solidFill>
              </a:rPr>
              <a:t>Mostre manipulando as unidades da fórmula de </a:t>
            </a:r>
            <a:r>
              <a:rPr lang="pt-BR" sz="1500" dirty="0" err="1">
                <a:solidFill>
                  <a:schemeClr val="tx1"/>
                </a:solidFill>
              </a:rPr>
              <a:t>t</a:t>
            </a:r>
            <a:r>
              <a:rPr lang="pt-BR" sz="1500" baseline="-25000" dirty="0" err="1">
                <a:solidFill>
                  <a:schemeClr val="tx1"/>
                </a:solidFill>
              </a:rPr>
              <a:t>p</a:t>
            </a:r>
            <a:r>
              <a:rPr lang="pt-BR" sz="1500" dirty="0">
                <a:solidFill>
                  <a:schemeClr val="tx1"/>
                </a:solidFill>
              </a:rPr>
              <a:t> que realmente sua unidade equivale à unidade de tempo. Isto se chama fazer analisa dimensional.</a:t>
            </a:r>
          </a:p>
          <a:p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1331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1" t="57533" r="63274" b="33635"/>
          <a:stretch>
            <a:fillRect/>
          </a:stretch>
        </p:blipFill>
        <p:spPr bwMode="auto">
          <a:xfrm>
            <a:off x="2933700" y="3213100"/>
            <a:ext cx="1655763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416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1" y="747713"/>
            <a:ext cx="9144000" cy="55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Exercício 01</a:t>
            </a:r>
          </a:p>
          <a:p>
            <a:pPr algn="just" eaLnBrk="1" hangingPunct="1">
              <a:lnSpc>
                <a:spcPct val="150000"/>
              </a:lnSpc>
            </a:pPr>
            <a:endParaRPr lang="pt-BR" sz="800" dirty="0">
              <a:solidFill>
                <a:schemeClr val="tx1"/>
              </a:solidFill>
            </a:endParaRPr>
          </a:p>
          <a:p>
            <a:r>
              <a:rPr lang="pt-BR" sz="1500" dirty="0">
                <a:solidFill>
                  <a:schemeClr val="tx1"/>
                </a:solidFill>
              </a:rPr>
              <a:t>	Um marco importante para a evolução do Universo logo após o Big-</a:t>
            </a:r>
            <a:r>
              <a:rPr lang="pt-BR" sz="1500" dirty="0" err="1">
                <a:solidFill>
                  <a:schemeClr val="tx1"/>
                </a:solidFill>
              </a:rPr>
              <a:t>Bang</a:t>
            </a:r>
            <a:r>
              <a:rPr lang="pt-BR" sz="1500" dirty="0">
                <a:solidFill>
                  <a:schemeClr val="tx1"/>
                </a:solidFill>
              </a:rPr>
              <a:t> é o tempo de Planck, </a:t>
            </a:r>
            <a:r>
              <a:rPr lang="pt-BR" sz="1500" i="1" dirty="0" err="1">
                <a:solidFill>
                  <a:schemeClr val="tx1"/>
                </a:solidFill>
              </a:rPr>
              <a:t>t</a:t>
            </a:r>
            <a:r>
              <a:rPr lang="pt-BR" sz="1500" i="1" baseline="-25000" dirty="0" err="1">
                <a:solidFill>
                  <a:schemeClr val="tx1"/>
                </a:solidFill>
              </a:rPr>
              <a:t>p</a:t>
            </a:r>
            <a:r>
              <a:rPr lang="pt-BR" sz="1500" dirty="0">
                <a:solidFill>
                  <a:schemeClr val="tx1"/>
                </a:solidFill>
              </a:rPr>
              <a:t>, cujo valor depende de quatro constantes:</a:t>
            </a:r>
          </a:p>
          <a:p>
            <a:r>
              <a:rPr lang="pt-BR" sz="1500" dirty="0">
                <a:solidFill>
                  <a:schemeClr val="tx1"/>
                </a:solidFill>
              </a:rPr>
              <a:t> </a:t>
            </a:r>
          </a:p>
          <a:p>
            <a:r>
              <a:rPr lang="pt-BR" sz="1500" dirty="0">
                <a:solidFill>
                  <a:schemeClr val="tx1"/>
                </a:solidFill>
              </a:rPr>
              <a:t>*	A velocidade da luz no vácuo: </a:t>
            </a:r>
            <a:r>
              <a:rPr lang="pt-BR" sz="1500" b="1" dirty="0">
                <a:solidFill>
                  <a:schemeClr val="tx1"/>
                </a:solidFill>
              </a:rPr>
              <a:t>c </a:t>
            </a:r>
            <a:r>
              <a:rPr lang="pt-BR" sz="1500" dirty="0">
                <a:solidFill>
                  <a:schemeClr val="tx1"/>
                </a:solidFill>
              </a:rPr>
              <a:t>= 3,00 x 10</a:t>
            </a:r>
            <a:r>
              <a:rPr lang="pt-BR" sz="1500" baseline="30000" dirty="0">
                <a:solidFill>
                  <a:schemeClr val="tx1"/>
                </a:solidFill>
              </a:rPr>
              <a:t>8</a:t>
            </a:r>
            <a:r>
              <a:rPr lang="pt-BR" sz="1500" dirty="0">
                <a:solidFill>
                  <a:schemeClr val="tx1"/>
                </a:solidFill>
              </a:rPr>
              <a:t> </a:t>
            </a:r>
            <a:r>
              <a:rPr lang="pt-BR" sz="1500" b="1" dirty="0">
                <a:solidFill>
                  <a:schemeClr val="tx1"/>
                </a:solidFill>
              </a:rPr>
              <a:t>m/s</a:t>
            </a:r>
            <a:r>
              <a:rPr lang="pt-BR" sz="1500" dirty="0">
                <a:solidFill>
                  <a:schemeClr val="tx1"/>
                </a:solidFill>
              </a:rPr>
              <a:t>;</a:t>
            </a:r>
          </a:p>
          <a:p>
            <a:r>
              <a:rPr lang="pt-BR" sz="1500" dirty="0">
                <a:solidFill>
                  <a:schemeClr val="tx1"/>
                </a:solidFill>
              </a:rPr>
              <a:t>*	A constante gravitacional de Newton: </a:t>
            </a:r>
            <a:r>
              <a:rPr lang="pt-BR" sz="1500" b="1" dirty="0">
                <a:solidFill>
                  <a:schemeClr val="tx1"/>
                </a:solidFill>
              </a:rPr>
              <a:t>G </a:t>
            </a:r>
            <a:r>
              <a:rPr lang="pt-BR" sz="1500" dirty="0">
                <a:solidFill>
                  <a:schemeClr val="tx1"/>
                </a:solidFill>
              </a:rPr>
              <a:t>= 6,67x10</a:t>
            </a:r>
            <a:r>
              <a:rPr lang="pt-BR" sz="1500" baseline="30000" dirty="0">
                <a:solidFill>
                  <a:schemeClr val="tx1"/>
                </a:solidFill>
              </a:rPr>
              <a:t>–11</a:t>
            </a:r>
            <a:r>
              <a:rPr lang="pt-BR" sz="1500" dirty="0">
                <a:solidFill>
                  <a:schemeClr val="tx1"/>
                </a:solidFill>
              </a:rPr>
              <a:t> </a:t>
            </a:r>
            <a:r>
              <a:rPr lang="pt-BR" sz="1500" b="1" dirty="0">
                <a:solidFill>
                  <a:schemeClr val="tx1"/>
                </a:solidFill>
              </a:rPr>
              <a:t>m</a:t>
            </a:r>
            <a:r>
              <a:rPr lang="pt-BR" sz="1500" b="1" baseline="30000" dirty="0">
                <a:solidFill>
                  <a:schemeClr val="tx1"/>
                </a:solidFill>
              </a:rPr>
              <a:t>3</a:t>
            </a:r>
            <a:r>
              <a:rPr lang="pt-BR" sz="1500" b="1" dirty="0">
                <a:solidFill>
                  <a:schemeClr val="tx1"/>
                </a:solidFill>
              </a:rPr>
              <a:t>/(s</a:t>
            </a:r>
            <a:r>
              <a:rPr lang="pt-BR" sz="1500" b="1" baseline="30000" dirty="0">
                <a:solidFill>
                  <a:schemeClr val="tx1"/>
                </a:solidFill>
              </a:rPr>
              <a:t>2</a:t>
            </a:r>
            <a:r>
              <a:rPr lang="pt-BR" sz="1500" b="1" dirty="0">
                <a:solidFill>
                  <a:schemeClr val="tx1"/>
                </a:solidFill>
              </a:rPr>
              <a:t>.kg)</a:t>
            </a:r>
            <a:r>
              <a:rPr lang="pt-BR" sz="1500" dirty="0">
                <a:solidFill>
                  <a:schemeClr val="tx1"/>
                </a:solidFill>
              </a:rPr>
              <a:t>; e</a:t>
            </a:r>
          </a:p>
          <a:p>
            <a:r>
              <a:rPr lang="pt-BR" sz="1500" dirty="0">
                <a:solidFill>
                  <a:schemeClr val="tx1"/>
                </a:solidFill>
              </a:rPr>
              <a:t>*	A constante de Planck: </a:t>
            </a:r>
            <a:r>
              <a:rPr lang="pt-BR" sz="1500" b="1" dirty="0">
                <a:solidFill>
                  <a:schemeClr val="tx1"/>
                </a:solidFill>
              </a:rPr>
              <a:t>h </a:t>
            </a:r>
            <a:r>
              <a:rPr lang="pt-BR" sz="1500" dirty="0">
                <a:solidFill>
                  <a:schemeClr val="tx1"/>
                </a:solidFill>
              </a:rPr>
              <a:t>= 6,63x10</a:t>
            </a:r>
            <a:r>
              <a:rPr lang="pt-BR" sz="1500" baseline="30000" dirty="0">
                <a:solidFill>
                  <a:schemeClr val="tx1"/>
                </a:solidFill>
              </a:rPr>
              <a:t>–34</a:t>
            </a:r>
            <a:r>
              <a:rPr lang="pt-BR" sz="1500" dirty="0">
                <a:solidFill>
                  <a:schemeClr val="tx1"/>
                </a:solidFill>
              </a:rPr>
              <a:t> </a:t>
            </a:r>
            <a:r>
              <a:rPr lang="pt-BR" sz="1500" b="1" dirty="0">
                <a:solidFill>
                  <a:schemeClr val="tx1"/>
                </a:solidFill>
              </a:rPr>
              <a:t>kg.m</a:t>
            </a:r>
            <a:r>
              <a:rPr lang="pt-BR" sz="1500" b="1" baseline="30000" dirty="0">
                <a:solidFill>
                  <a:schemeClr val="tx1"/>
                </a:solidFill>
              </a:rPr>
              <a:t>2</a:t>
            </a:r>
            <a:r>
              <a:rPr lang="pt-BR" sz="1500" b="1" dirty="0">
                <a:solidFill>
                  <a:schemeClr val="tx1"/>
                </a:solidFill>
              </a:rPr>
              <a:t>/s</a:t>
            </a:r>
            <a:r>
              <a:rPr lang="pt-BR" sz="1500" dirty="0">
                <a:solidFill>
                  <a:schemeClr val="tx1"/>
                </a:solidFill>
              </a:rPr>
              <a:t>.</a:t>
            </a:r>
          </a:p>
          <a:p>
            <a:r>
              <a:rPr lang="pt-BR" sz="1500" b="1" dirty="0">
                <a:solidFill>
                  <a:schemeClr val="tx1"/>
                </a:solidFill>
              </a:rPr>
              <a:t>*</a:t>
            </a:r>
            <a:r>
              <a:rPr lang="pt-BR" sz="1500" dirty="0">
                <a:solidFill>
                  <a:schemeClr val="tx1"/>
                </a:solidFill>
              </a:rPr>
              <a:t>	A constante π = 3,141593</a:t>
            </a:r>
          </a:p>
          <a:p>
            <a:r>
              <a:rPr lang="pt-BR" sz="1500" b="1" dirty="0">
                <a:solidFill>
                  <a:schemeClr val="tx1"/>
                </a:solidFill>
              </a:rPr>
              <a:t> </a:t>
            </a:r>
            <a:endParaRPr lang="pt-BR" sz="1500" dirty="0">
              <a:solidFill>
                <a:schemeClr val="tx1"/>
              </a:solidFill>
            </a:endParaRPr>
          </a:p>
          <a:p>
            <a:r>
              <a:rPr lang="pt-BR" sz="1500" dirty="0">
                <a:solidFill>
                  <a:schemeClr val="tx1"/>
                </a:solidFill>
              </a:rPr>
              <a:t>O tempo de Planck equivale ao tempo em que o Universo começa a criar as primeiras partículas e é dado pela seguinte fórmula:</a:t>
            </a:r>
          </a:p>
          <a:p>
            <a:endParaRPr lang="pt-BR" sz="1500" dirty="0">
              <a:solidFill>
                <a:schemeClr val="tx1"/>
              </a:solidFill>
            </a:endParaRPr>
          </a:p>
          <a:p>
            <a:endParaRPr lang="pt-BR" sz="1500" dirty="0">
              <a:solidFill>
                <a:schemeClr val="tx1"/>
              </a:solidFill>
            </a:endParaRPr>
          </a:p>
          <a:p>
            <a:endParaRPr lang="pt-BR" sz="1500" dirty="0">
              <a:solidFill>
                <a:schemeClr val="tx1"/>
              </a:solidFill>
            </a:endParaRPr>
          </a:p>
          <a:p>
            <a:endParaRPr lang="pt-BR" sz="1500" dirty="0">
              <a:solidFill>
                <a:schemeClr val="tx1"/>
              </a:solidFill>
            </a:endParaRPr>
          </a:p>
          <a:p>
            <a:r>
              <a:rPr lang="pt-BR" sz="1500" b="1" dirty="0">
                <a:solidFill>
                  <a:schemeClr val="tx1"/>
                </a:solidFill>
              </a:rPr>
              <a:t>a)</a:t>
            </a:r>
            <a:r>
              <a:rPr lang="pt-BR" sz="1500" dirty="0">
                <a:solidFill>
                  <a:schemeClr val="tx1"/>
                </a:solidFill>
              </a:rPr>
              <a:t>	R: 5,382x10</a:t>
            </a:r>
            <a:r>
              <a:rPr lang="pt-BR" sz="1500" baseline="30000" dirty="0">
                <a:solidFill>
                  <a:schemeClr val="tx1"/>
                </a:solidFill>
              </a:rPr>
              <a:t>-44</a:t>
            </a:r>
            <a:r>
              <a:rPr lang="pt-BR" sz="1500" dirty="0">
                <a:solidFill>
                  <a:schemeClr val="tx1"/>
                </a:solidFill>
              </a:rPr>
              <a:t>; 5,38x10</a:t>
            </a:r>
            <a:r>
              <a:rPr lang="pt-BR" sz="1500" baseline="30000" dirty="0">
                <a:solidFill>
                  <a:schemeClr val="tx1"/>
                </a:solidFill>
              </a:rPr>
              <a:t>-44</a:t>
            </a:r>
            <a:r>
              <a:rPr lang="pt-BR" sz="1500" dirty="0">
                <a:solidFill>
                  <a:schemeClr val="tx1"/>
                </a:solidFill>
              </a:rPr>
              <a:t> s; OG = -43</a:t>
            </a:r>
            <a:endParaRPr lang="pt-BR" sz="1500" baseline="30000" dirty="0">
              <a:solidFill>
                <a:schemeClr val="tx1"/>
              </a:solidFill>
            </a:endParaRPr>
          </a:p>
          <a:p>
            <a:r>
              <a:rPr lang="pt-BR" sz="1500" b="1" dirty="0">
                <a:solidFill>
                  <a:schemeClr val="tx1"/>
                </a:solidFill>
              </a:rPr>
              <a:t> </a:t>
            </a:r>
            <a:endParaRPr lang="pt-BR" sz="1500" dirty="0">
              <a:solidFill>
                <a:schemeClr val="tx1"/>
              </a:solidFill>
            </a:endParaRPr>
          </a:p>
          <a:p>
            <a:r>
              <a:rPr lang="pt-BR" sz="1500" b="1" dirty="0">
                <a:solidFill>
                  <a:schemeClr val="tx1"/>
                </a:solidFill>
              </a:rPr>
              <a:t>b)	</a:t>
            </a:r>
            <a:r>
              <a:rPr lang="pt-BR" sz="1500" dirty="0">
                <a:solidFill>
                  <a:schemeClr val="tx1"/>
                </a:solidFill>
              </a:rPr>
              <a:t>R: 6,7x10</a:t>
            </a:r>
            <a:r>
              <a:rPr lang="pt-BR" sz="1500" baseline="30000" dirty="0">
                <a:solidFill>
                  <a:schemeClr val="tx1"/>
                </a:solidFill>
              </a:rPr>
              <a:t>–11</a:t>
            </a:r>
            <a:r>
              <a:rPr lang="pt-BR" sz="1500" dirty="0">
                <a:solidFill>
                  <a:schemeClr val="tx1"/>
                </a:solidFill>
              </a:rPr>
              <a:t> m</a:t>
            </a:r>
            <a:r>
              <a:rPr lang="pt-BR" sz="1500" baseline="30000" dirty="0">
                <a:solidFill>
                  <a:schemeClr val="tx1"/>
                </a:solidFill>
              </a:rPr>
              <a:t>3</a:t>
            </a:r>
            <a:r>
              <a:rPr lang="pt-BR" sz="1500" dirty="0">
                <a:solidFill>
                  <a:schemeClr val="tx1"/>
                </a:solidFill>
              </a:rPr>
              <a:t>/(s</a:t>
            </a:r>
            <a:r>
              <a:rPr lang="pt-BR" sz="1500" baseline="30000" dirty="0">
                <a:solidFill>
                  <a:schemeClr val="tx1"/>
                </a:solidFill>
              </a:rPr>
              <a:t>2</a:t>
            </a:r>
            <a:r>
              <a:rPr lang="pt-BR" sz="1500" dirty="0">
                <a:solidFill>
                  <a:schemeClr val="tx1"/>
                </a:solidFill>
              </a:rPr>
              <a:t>.kg).</a:t>
            </a:r>
          </a:p>
          <a:p>
            <a:r>
              <a:rPr lang="pt-BR" sz="1500" dirty="0">
                <a:solidFill>
                  <a:schemeClr val="tx1"/>
                </a:solidFill>
              </a:rPr>
              <a:t> </a:t>
            </a:r>
          </a:p>
          <a:p>
            <a:r>
              <a:rPr lang="pt-BR" sz="1500" b="1" dirty="0">
                <a:solidFill>
                  <a:schemeClr val="tx1"/>
                </a:solidFill>
              </a:rPr>
              <a:t>c)	</a:t>
            </a:r>
            <a:r>
              <a:rPr lang="pt-BR" sz="1500" dirty="0">
                <a:solidFill>
                  <a:schemeClr val="tx1"/>
                </a:solidFill>
              </a:rPr>
              <a:t>Mostre manipulando as unidades da fórmula de </a:t>
            </a:r>
            <a:r>
              <a:rPr lang="pt-BR" sz="1500" dirty="0" err="1">
                <a:solidFill>
                  <a:schemeClr val="tx1"/>
                </a:solidFill>
              </a:rPr>
              <a:t>t</a:t>
            </a:r>
            <a:r>
              <a:rPr lang="pt-BR" sz="1500" baseline="-25000" dirty="0" err="1">
                <a:solidFill>
                  <a:schemeClr val="tx1"/>
                </a:solidFill>
              </a:rPr>
              <a:t>p</a:t>
            </a:r>
            <a:r>
              <a:rPr lang="pt-BR" sz="1500" dirty="0">
                <a:solidFill>
                  <a:schemeClr val="tx1"/>
                </a:solidFill>
              </a:rPr>
              <a:t> que realmente sua unidade equivale à unidade de tempo. Isto se chama fazer analisa dimensional.</a:t>
            </a:r>
          </a:p>
          <a:p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1" t="57533" r="63274" b="33635"/>
          <a:stretch>
            <a:fillRect/>
          </a:stretch>
        </p:blipFill>
        <p:spPr bwMode="auto">
          <a:xfrm>
            <a:off x="2927062" y="3543300"/>
            <a:ext cx="1662401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83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" y="747713"/>
            <a:ext cx="91440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Exercício 02</a:t>
            </a:r>
          </a:p>
          <a:p>
            <a:pPr algn="just" eaLnBrk="1" hangingPunct="1">
              <a:lnSpc>
                <a:spcPct val="150000"/>
              </a:lnSpc>
            </a:pPr>
            <a:endParaRPr lang="pt-BR" sz="800" dirty="0">
              <a:solidFill>
                <a:schemeClr val="tx1"/>
              </a:solidFill>
            </a:endParaRPr>
          </a:p>
          <a:p>
            <a:pPr algn="just"/>
            <a:r>
              <a:rPr lang="pt-BR" sz="1500" dirty="0">
                <a:solidFill>
                  <a:schemeClr val="tx1"/>
                </a:solidFill>
              </a:rPr>
              <a:t>	</a:t>
            </a:r>
            <a:r>
              <a:rPr lang="pt-BR" sz="1600" dirty="0">
                <a:solidFill>
                  <a:schemeClr val="tx1"/>
                </a:solidFill>
              </a:rPr>
              <a:t>Um fabricante de sacolas plásticas fabrica as sacolas e assegura que a sacola é capaz de suportar (2,30 ± 0,25) kg, se uma pessoa juntar duas sacolas (uma dentro da outra): </a:t>
            </a:r>
            <a:r>
              <a:rPr lang="pt-BR" sz="1600" b="1" dirty="0">
                <a:solidFill>
                  <a:schemeClr val="tx1"/>
                </a:solidFill>
              </a:rPr>
              <a:t>(a) </a:t>
            </a:r>
            <a:r>
              <a:rPr lang="pt-BR" sz="1600" dirty="0">
                <a:solidFill>
                  <a:schemeClr val="tx1"/>
                </a:solidFill>
              </a:rPr>
              <a:t>Qual será a nova capacidade do conjunto? </a:t>
            </a:r>
            <a:r>
              <a:rPr lang="pt-BR" sz="1600" b="1" dirty="0">
                <a:solidFill>
                  <a:schemeClr val="tx1"/>
                </a:solidFill>
              </a:rPr>
              <a:t>(b) </a:t>
            </a:r>
            <a:r>
              <a:rPr lang="pt-BR" sz="1600" dirty="0">
                <a:solidFill>
                  <a:schemeClr val="tx1"/>
                </a:solidFill>
              </a:rPr>
              <a:t>Qual será a incerteza do conjunto? Por outro lado, uma garrafa de refrigerante de dois litros tem a seguinte especificação de massa: (2,00 ± 0,10) kg, se uma pessoa juntar duas garrafas: </a:t>
            </a:r>
            <a:r>
              <a:rPr lang="pt-BR" sz="1600" b="1" dirty="0">
                <a:solidFill>
                  <a:schemeClr val="tx1"/>
                </a:solidFill>
              </a:rPr>
              <a:t>(c) </a:t>
            </a:r>
            <a:r>
              <a:rPr lang="pt-BR" sz="1600" dirty="0">
                <a:solidFill>
                  <a:schemeClr val="tx1"/>
                </a:solidFill>
              </a:rPr>
              <a:t>Qual será a massa do conjunto? </a:t>
            </a:r>
            <a:r>
              <a:rPr lang="pt-BR" sz="1600" b="1" dirty="0">
                <a:solidFill>
                  <a:schemeClr val="tx1"/>
                </a:solidFill>
              </a:rPr>
              <a:t>(d) </a:t>
            </a:r>
            <a:r>
              <a:rPr lang="pt-BR" sz="1600" dirty="0">
                <a:solidFill>
                  <a:schemeClr val="tx1"/>
                </a:solidFill>
              </a:rPr>
              <a:t>Qual será a incerteza da massa do conjunto? </a:t>
            </a:r>
            <a:r>
              <a:rPr lang="pt-BR" sz="1600" b="1" dirty="0">
                <a:solidFill>
                  <a:schemeClr val="tx1"/>
                </a:solidFill>
              </a:rPr>
              <a:t>(e) </a:t>
            </a:r>
            <a:r>
              <a:rPr lang="pt-BR" sz="1600" dirty="0">
                <a:solidFill>
                  <a:schemeClr val="tx1"/>
                </a:solidFill>
              </a:rPr>
              <a:t>Baseando-se nos resultados dos itens anteriores o que podemos concluir sobre a estratégia de juntar duas sacolas para carregar duas garrafas de refrigerante sobre a estratégia de carregar cada uma das garrafas sozinha em uma única sacola?</a:t>
            </a:r>
          </a:p>
        </p:txBody>
      </p:sp>
    </p:spTree>
    <p:extLst>
      <p:ext uri="{BB962C8B-B14F-4D97-AF65-F5344CB8AC3E}">
        <p14:creationId xmlns:p14="http://schemas.microsoft.com/office/powerpoint/2010/main" val="206627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" y="747713"/>
            <a:ext cx="9144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Exercício 02</a:t>
            </a:r>
          </a:p>
          <a:p>
            <a:pPr algn="just" eaLnBrk="1" hangingPunct="1">
              <a:lnSpc>
                <a:spcPct val="150000"/>
              </a:lnSpc>
            </a:pPr>
            <a:endParaRPr lang="pt-BR" sz="800" dirty="0">
              <a:solidFill>
                <a:schemeClr val="tx1"/>
              </a:solidFill>
            </a:endParaRPr>
          </a:p>
          <a:p>
            <a:pPr algn="just"/>
            <a:r>
              <a:rPr lang="pt-BR" sz="1500" dirty="0">
                <a:solidFill>
                  <a:schemeClr val="tx1"/>
                </a:solidFill>
              </a:rPr>
              <a:t>	</a:t>
            </a:r>
            <a:r>
              <a:rPr lang="pt-BR" sz="1600" dirty="0">
                <a:solidFill>
                  <a:schemeClr val="tx1"/>
                </a:solidFill>
              </a:rPr>
              <a:t>Um fabricante de sacolas plásticas fabrica as sacolas e assegura que a sacola é capaz de suportar (2,30 ± 0,25) kg, se uma pessoa juntar duas sacolas (uma dentro da outra): </a:t>
            </a:r>
            <a:r>
              <a:rPr lang="pt-BR" sz="1600" b="1" dirty="0">
                <a:solidFill>
                  <a:schemeClr val="tx1"/>
                </a:solidFill>
              </a:rPr>
              <a:t>(a) </a:t>
            </a:r>
            <a:r>
              <a:rPr lang="pt-BR" sz="1600" dirty="0">
                <a:solidFill>
                  <a:schemeClr val="tx1"/>
                </a:solidFill>
              </a:rPr>
              <a:t>Qual será a nova capacidade do conjunto? </a:t>
            </a:r>
            <a:r>
              <a:rPr lang="pt-BR" sz="1600" b="1" dirty="0">
                <a:solidFill>
                  <a:schemeClr val="tx1"/>
                </a:solidFill>
              </a:rPr>
              <a:t>(b) </a:t>
            </a:r>
            <a:r>
              <a:rPr lang="pt-BR" sz="1600" dirty="0">
                <a:solidFill>
                  <a:schemeClr val="tx1"/>
                </a:solidFill>
              </a:rPr>
              <a:t>Qual será a incerteza do conjunto? Por outro lado, uma garrafa de refrigerante de dois litros tem a seguinte especificação de massa: (2,00 ± 0,10) kg, se uma pessoa juntar duas garrafas: </a:t>
            </a:r>
            <a:r>
              <a:rPr lang="pt-BR" sz="1600" b="1" dirty="0">
                <a:solidFill>
                  <a:schemeClr val="tx1"/>
                </a:solidFill>
              </a:rPr>
              <a:t>(c) </a:t>
            </a:r>
            <a:r>
              <a:rPr lang="pt-BR" sz="1600" dirty="0">
                <a:solidFill>
                  <a:schemeClr val="tx1"/>
                </a:solidFill>
              </a:rPr>
              <a:t>Qual será a massa do conjunto? </a:t>
            </a:r>
            <a:r>
              <a:rPr lang="pt-BR" sz="1600" b="1" dirty="0">
                <a:solidFill>
                  <a:schemeClr val="tx1"/>
                </a:solidFill>
              </a:rPr>
              <a:t>(d) </a:t>
            </a:r>
            <a:r>
              <a:rPr lang="pt-BR" sz="1600" dirty="0">
                <a:solidFill>
                  <a:schemeClr val="tx1"/>
                </a:solidFill>
              </a:rPr>
              <a:t>Qual será a incerteza da massa do conjunto? </a:t>
            </a:r>
            <a:r>
              <a:rPr lang="pt-BR" sz="1600" b="1" dirty="0">
                <a:solidFill>
                  <a:schemeClr val="tx1"/>
                </a:solidFill>
              </a:rPr>
              <a:t>(e) </a:t>
            </a:r>
            <a:r>
              <a:rPr lang="pt-BR" sz="1600" dirty="0">
                <a:solidFill>
                  <a:schemeClr val="tx1"/>
                </a:solidFill>
              </a:rPr>
              <a:t>Baseando-se nos resultados dos itens anteriores o que podemos concluir sobre a estratégia de juntar duas sacolas para carregar duas garrafas de refrigerante sobre a estratégia de carregar cada uma das garrafas sozinha em uma única sacola?</a:t>
            </a:r>
          </a:p>
          <a:p>
            <a:pPr algn="just"/>
            <a:endParaRPr lang="pt-BR" sz="1600" b="1" dirty="0">
              <a:solidFill>
                <a:srgbClr val="FF0000"/>
              </a:solidFill>
            </a:endParaRPr>
          </a:p>
          <a:p>
            <a:pPr algn="just"/>
            <a:r>
              <a:rPr lang="pt-BR" sz="1600" b="1" dirty="0">
                <a:solidFill>
                  <a:srgbClr val="FF0000"/>
                </a:solidFill>
              </a:rPr>
              <a:t>a) 	4,60 kg;</a:t>
            </a:r>
          </a:p>
          <a:p>
            <a:pPr algn="just"/>
            <a:r>
              <a:rPr lang="pt-BR" sz="1600" b="1" dirty="0">
                <a:solidFill>
                  <a:srgbClr val="FF0000"/>
                </a:solidFill>
              </a:rPr>
              <a:t>b)	±0,35 kg;</a:t>
            </a:r>
          </a:p>
          <a:p>
            <a:pPr algn="just"/>
            <a:r>
              <a:rPr lang="pt-BR" sz="1600" b="1" dirty="0">
                <a:solidFill>
                  <a:srgbClr val="FF0000"/>
                </a:solidFill>
              </a:rPr>
              <a:t>c)	4,00 kg;</a:t>
            </a:r>
          </a:p>
          <a:p>
            <a:pPr algn="just"/>
            <a:r>
              <a:rPr lang="pt-BR" sz="1600" b="1" dirty="0">
                <a:solidFill>
                  <a:srgbClr val="FF0000"/>
                </a:solidFill>
              </a:rPr>
              <a:t>d)	±0,14 kg;</a:t>
            </a:r>
          </a:p>
          <a:p>
            <a:pPr algn="just"/>
            <a:r>
              <a:rPr lang="pt-BR" sz="1600" b="1" dirty="0">
                <a:solidFill>
                  <a:srgbClr val="FF0000"/>
                </a:solidFill>
              </a:rPr>
              <a:t>e)	A melhor estratégia é juntar as duas sacolas.</a:t>
            </a:r>
          </a:p>
          <a:p>
            <a:pPr algn="just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55871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" y="747713"/>
            <a:ext cx="91440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Exercício 03</a:t>
            </a:r>
          </a:p>
          <a:p>
            <a:pPr algn="just" eaLnBrk="1" hangingPunct="1">
              <a:lnSpc>
                <a:spcPct val="150000"/>
              </a:lnSpc>
            </a:pPr>
            <a:endParaRPr lang="pt-BR" sz="800" dirty="0">
              <a:solidFill>
                <a:schemeClr val="tx1"/>
              </a:solidFill>
            </a:endParaRPr>
          </a:p>
          <a:p>
            <a:pPr algn="just"/>
            <a:r>
              <a:rPr lang="pt-BR" sz="1500" dirty="0">
                <a:solidFill>
                  <a:schemeClr val="tx1"/>
                </a:solidFill>
              </a:rPr>
              <a:t>	</a:t>
            </a:r>
            <a:r>
              <a:rPr lang="pt-BR" sz="1600" dirty="0">
                <a:solidFill>
                  <a:schemeClr val="tx1"/>
                </a:solidFill>
              </a:rPr>
              <a:t>As seguintes medições foram feitas em uma peça de metal semelhantes a mostrada na figura seguinte. L1 = (31,5 ± 0,5)mm (régua); L2 = (10,54 ± 0,02)mm (paquímetro) e L3 = (1,120 ± 0,005)mm (micrômetro). Qual o tamanho da menor escala de cada um dos instrumentos utilizados? Qual o volume do objeto (mm</a:t>
            </a:r>
            <a:r>
              <a:rPr lang="pt-BR" sz="1600" baseline="30000" dirty="0">
                <a:solidFill>
                  <a:schemeClr val="tx1"/>
                </a:solidFill>
              </a:rPr>
              <a:t>3</a:t>
            </a:r>
            <a:r>
              <a:rPr lang="pt-BR" sz="1600" dirty="0">
                <a:solidFill>
                  <a:schemeClr val="tx1"/>
                </a:solidFill>
              </a:rPr>
              <a:t>)? Qual a incerteza no volume (use as fórmulas de propagação de erros)? </a:t>
            </a:r>
            <a:r>
              <a:rPr lang="pt-BR" sz="1600" b="1" dirty="0">
                <a:solidFill>
                  <a:schemeClr val="tx1"/>
                </a:solidFill>
              </a:rPr>
              <a:t>OBS: </a:t>
            </a:r>
            <a:r>
              <a:rPr lang="pt-BR" sz="1600" dirty="0">
                <a:solidFill>
                  <a:schemeClr val="tx1"/>
                </a:solidFill>
              </a:rPr>
              <a:t>Utilize nas contas o valor integral das medidas e, somente depois aproxime o valor.</a:t>
            </a:r>
          </a:p>
        </p:txBody>
      </p:sp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4" t="52208" r="23149" b="22362"/>
          <a:stretch>
            <a:fillRect/>
          </a:stretch>
        </p:blipFill>
        <p:spPr bwMode="auto">
          <a:xfrm>
            <a:off x="36513" y="3124200"/>
            <a:ext cx="2043112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924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CaixaDeTexto 4"/>
          <p:cNvSpPr txBox="1">
            <a:spLocks noChangeArrowheads="1"/>
          </p:cNvSpPr>
          <p:nvPr/>
        </p:nvSpPr>
        <p:spPr bwMode="auto">
          <a:xfrm>
            <a:off x="2484438" y="2997200"/>
            <a:ext cx="6551612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 b="1">
                <a:solidFill>
                  <a:srgbClr val="FF0000"/>
                </a:solidFill>
              </a:rPr>
              <a:t>(a)	Régua: menor escala = 1 mm;</a:t>
            </a:r>
          </a:p>
          <a:p>
            <a:r>
              <a:rPr lang="pt-BR" sz="1600" b="1">
                <a:solidFill>
                  <a:srgbClr val="FF0000"/>
                </a:solidFill>
              </a:rPr>
              <a:t>	Paquímetro: menor escala = 0,04 mm;</a:t>
            </a:r>
          </a:p>
          <a:p>
            <a:r>
              <a:rPr lang="pt-BR" sz="1600" b="1">
                <a:solidFill>
                  <a:srgbClr val="FF0000"/>
                </a:solidFill>
              </a:rPr>
              <a:t>	Micrômetro: menor escala = 0,01 mm;</a:t>
            </a:r>
          </a:p>
          <a:p>
            <a:endParaRPr lang="pt-BR" sz="1600" b="1">
              <a:solidFill>
                <a:srgbClr val="FF0000"/>
              </a:solidFill>
            </a:endParaRPr>
          </a:p>
          <a:p>
            <a:r>
              <a:rPr lang="pt-BR" sz="1600" b="1">
                <a:solidFill>
                  <a:srgbClr val="FF0000"/>
                </a:solidFill>
              </a:rPr>
              <a:t>(b)	V = (371,9 ± 6,2) mm</a:t>
            </a:r>
            <a:r>
              <a:rPr lang="pt-BR" sz="1600" b="1" baseline="30000">
                <a:solidFill>
                  <a:srgbClr val="FF0000"/>
                </a:solidFill>
              </a:rPr>
              <a:t>3</a:t>
            </a:r>
            <a:r>
              <a:rPr lang="pt-BR" sz="1600" b="1">
                <a:solidFill>
                  <a:srgbClr val="FF0000"/>
                </a:solidFill>
              </a:rPr>
              <a:t> → (372 ± 6) mm</a:t>
            </a:r>
            <a:r>
              <a:rPr lang="pt-BR" sz="1600" b="1" baseline="30000">
                <a:solidFill>
                  <a:srgbClr val="FF0000"/>
                </a:solidFill>
              </a:rPr>
              <a:t>3</a:t>
            </a:r>
            <a:endParaRPr lang="pt-BR" sz="1600" b="1">
              <a:solidFill>
                <a:srgbClr val="FF0000"/>
              </a:solidFill>
            </a:endParaRPr>
          </a:p>
          <a:p>
            <a:endParaRPr lang="pt-BR"/>
          </a:p>
          <a:p>
            <a:endParaRPr lang="pt-BR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747713"/>
            <a:ext cx="914400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Exercício 03</a:t>
            </a:r>
          </a:p>
          <a:p>
            <a:pPr algn="just" eaLnBrk="1" hangingPunct="1">
              <a:lnSpc>
                <a:spcPct val="150000"/>
              </a:lnSpc>
            </a:pPr>
            <a:endParaRPr lang="pt-BR" sz="800" dirty="0">
              <a:solidFill>
                <a:schemeClr val="tx1"/>
              </a:solidFill>
            </a:endParaRPr>
          </a:p>
          <a:p>
            <a:pPr algn="just"/>
            <a:r>
              <a:rPr lang="pt-BR" sz="1500" dirty="0">
                <a:solidFill>
                  <a:schemeClr val="tx1"/>
                </a:solidFill>
              </a:rPr>
              <a:t>	</a:t>
            </a:r>
            <a:r>
              <a:rPr lang="pt-BR" sz="1600" dirty="0">
                <a:solidFill>
                  <a:schemeClr val="tx1"/>
                </a:solidFill>
              </a:rPr>
              <a:t> As seguintes medições foram feitas em uma peça de metal semelhantes a mostrada na figura seguinte. L1 = (31,5 ± 0,5)mm (régua); L2 = (10,54 ± 0,02)mm (paquímetro) e L3 = (1,120 ± 0,005)mm (micrômetro). Qual o tamanho da menor escala de cada um dos instrumentos utilizados? Qual o volume do objeto (mm</a:t>
            </a:r>
            <a:r>
              <a:rPr lang="pt-BR" sz="1600" baseline="30000" dirty="0">
                <a:solidFill>
                  <a:schemeClr val="tx1"/>
                </a:solidFill>
              </a:rPr>
              <a:t>3</a:t>
            </a:r>
            <a:r>
              <a:rPr lang="pt-BR" sz="1600" dirty="0">
                <a:solidFill>
                  <a:schemeClr val="tx1"/>
                </a:solidFill>
              </a:rPr>
              <a:t>)? Qual a incerteza no volume (use as fórmulas de propagação de erros)? </a:t>
            </a:r>
            <a:r>
              <a:rPr lang="pt-BR" sz="1600" b="1" dirty="0">
                <a:solidFill>
                  <a:schemeClr val="tx1"/>
                </a:solidFill>
              </a:rPr>
              <a:t>OBS: </a:t>
            </a:r>
            <a:r>
              <a:rPr lang="pt-BR" sz="1600" dirty="0">
                <a:solidFill>
                  <a:schemeClr val="tx1"/>
                </a:solidFill>
              </a:rPr>
              <a:t>Utilize nas contas o valor integral das medidas e, somente depois aproxime o valor.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4" t="52208" r="23149" b="22362"/>
          <a:stretch>
            <a:fillRect/>
          </a:stretch>
        </p:blipFill>
        <p:spPr bwMode="auto">
          <a:xfrm>
            <a:off x="36513" y="3124200"/>
            <a:ext cx="2043112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94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4000" b="1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78401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387982"/>
            <a:ext cx="6906262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2026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937</TotalTime>
  <Words>1127</Words>
  <Application>Microsoft Office PowerPoint</Application>
  <PresentationFormat>Apresentação na tela (4:3)</PresentationFormat>
  <Paragraphs>75</Paragraphs>
  <Slides>12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12</vt:i4>
      </vt:variant>
    </vt:vector>
  </HeadingPairs>
  <TitlesOfParts>
    <vt:vector size="24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</cp:lastModifiedBy>
  <cp:revision>217</cp:revision>
  <cp:lastPrinted>2016-02-22T01:24:17Z</cp:lastPrinted>
  <dcterms:created xsi:type="dcterms:W3CDTF">2015-02-07T21:24:47Z</dcterms:created>
  <dcterms:modified xsi:type="dcterms:W3CDTF">2026-03-26T22:41:16Z</dcterms:modified>
</cp:coreProperties>
</file>